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21.jpg" ContentType="image/gif"/>
  <Override PartName="/ppt/media/image22.jpg" ContentType="image/png"/>
  <Override PartName="/ppt/media/image23.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332" r:id="rId11"/>
    <p:sldId id="335" r:id="rId12"/>
    <p:sldId id="336" r:id="rId13"/>
    <p:sldId id="333" r:id="rId14"/>
    <p:sldId id="33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31"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3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44DAF9C-7B24-44ED-9D81-970804A1C7C8}"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5347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spTree>
    <p:extLst>
      <p:ext uri="{BB962C8B-B14F-4D97-AF65-F5344CB8AC3E}">
        <p14:creationId xmlns:p14="http://schemas.microsoft.com/office/powerpoint/2010/main" val="1671461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214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8C7872-B183-4344-A81A-62A28581A062}"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DAF9C-7B24-44ED-9D81-970804A1C7C8}" type="slidenum">
              <a:rPr lang="en-US" smtClean="0"/>
              <a:t>‹#›</a:t>
            </a:fld>
            <a:endParaRPr lang="en-US"/>
          </a:p>
        </p:txBody>
      </p:sp>
    </p:spTree>
    <p:extLst>
      <p:ext uri="{BB962C8B-B14F-4D97-AF65-F5344CB8AC3E}">
        <p14:creationId xmlns:p14="http://schemas.microsoft.com/office/powerpoint/2010/main" val="1864682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98C7872-B183-4344-A81A-62A28581A062}"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4DAF9C-7B24-44ED-9D81-970804A1C7C8}"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7766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98C7872-B183-4344-A81A-62A28581A062}"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4DAF9C-7B24-44ED-9D81-970804A1C7C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972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8C7872-B183-4344-A81A-62A28581A062}"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4DAF9C-7B24-44ED-9D81-970804A1C7C8}" type="slidenum">
              <a:rPr lang="en-US" smtClean="0"/>
              <a:t>‹#›</a:t>
            </a:fld>
            <a:endParaRPr lang="en-US"/>
          </a:p>
        </p:txBody>
      </p:sp>
    </p:spTree>
    <p:extLst>
      <p:ext uri="{BB962C8B-B14F-4D97-AF65-F5344CB8AC3E}">
        <p14:creationId xmlns:p14="http://schemas.microsoft.com/office/powerpoint/2010/main" val="2353526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8C7872-B183-4344-A81A-62A28581A062}"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DAF9C-7B24-44ED-9D81-970804A1C7C8}"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7928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8C7872-B183-4344-A81A-62A28581A062}"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DAF9C-7B24-44ED-9D81-970804A1C7C8}" type="slidenum">
              <a:rPr lang="en-US" smtClean="0"/>
              <a:t>‹#›</a:t>
            </a:fld>
            <a:endParaRPr lang="en-US"/>
          </a:p>
        </p:txBody>
      </p:sp>
    </p:spTree>
    <p:extLst>
      <p:ext uri="{BB962C8B-B14F-4D97-AF65-F5344CB8AC3E}">
        <p14:creationId xmlns:p14="http://schemas.microsoft.com/office/powerpoint/2010/main" val="1382127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8C7872-B183-4344-A81A-62A28581A062}"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4DAF9C-7B24-44ED-9D81-970804A1C7C8}" type="slidenum">
              <a:rPr lang="en-US" smtClean="0"/>
              <a:t>‹#›</a:t>
            </a:fld>
            <a:endParaRPr lang="en-US"/>
          </a:p>
        </p:txBody>
      </p:sp>
    </p:spTree>
    <p:extLst>
      <p:ext uri="{BB962C8B-B14F-4D97-AF65-F5344CB8AC3E}">
        <p14:creationId xmlns:p14="http://schemas.microsoft.com/office/powerpoint/2010/main" val="4179167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703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024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spTree>
    <p:extLst>
      <p:ext uri="{BB962C8B-B14F-4D97-AF65-F5344CB8AC3E}">
        <p14:creationId xmlns:p14="http://schemas.microsoft.com/office/powerpoint/2010/main" val="3236746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8296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1720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0701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8C7872-B183-4344-A81A-62A28581A062}"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DAF9C-7B24-44ED-9D81-970804A1C7C8}"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0597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8C7872-B183-4344-A81A-62A28581A062}" type="datetimeFigureOut">
              <a:rPr lang="en-US" smtClean="0"/>
              <a:t>12/6/2025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44DAF9C-7B24-44ED-9D81-970804A1C7C8}" type="slidenum">
              <a:rPr lang="en-US" smtClean="0"/>
              <a:t>‹#›</a:t>
            </a:fld>
            <a:endParaRPr lang="en-US"/>
          </a:p>
        </p:txBody>
      </p:sp>
    </p:spTree>
    <p:extLst>
      <p:ext uri="{BB962C8B-B14F-4D97-AF65-F5344CB8AC3E}">
        <p14:creationId xmlns:p14="http://schemas.microsoft.com/office/powerpoint/2010/main" val="1160177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computer-networks/introduction-of-a-router/" TargetMode="External"/><Relationship Id="rId2" Type="http://schemas.openxmlformats.org/officeDocument/2006/relationships/hyperlink" Target="https://www.geeksforgeeks.org/computer-networks/what-is-server/"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what-is-wi-fiwireless-fidelity/" TargetMode="External"/><Relationship Id="rId5" Type="http://schemas.openxmlformats.org/officeDocument/2006/relationships/hyperlink" Target="https://www.geeksforgeeks.org/computer-networks/types-of-ethernet-cable/" TargetMode="External"/><Relationship Id="rId4" Type="http://schemas.openxmlformats.org/officeDocument/2006/relationships/hyperlink" Target="https://www.geeksforgeeks.org/computer-networks/types-of-switches-in-computer-network/"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computer-networks/dynamic-host-configuration-protocol-dhc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computer-networks/carrier-sense-multiple-access-csma/" TargetMode="External"/><Relationship Id="rId2" Type="http://schemas.openxmlformats.org/officeDocument/2006/relationships/hyperlink" Target="https://www.geeksforgeeks.org/computer-networks/what-is-ethernet/"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s://www.tutorialspoint.com/data_communication_computer_network/bus_network_topology.ht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eeksforgeeks.org/computer-networks/carrier-sense-multiple-access-csma/"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computer-networks/differences-between-point-to-point-and-multi-point-communication/" TargetMode="External"/><Relationship Id="rId2" Type="http://schemas.openxmlformats.org/officeDocument/2006/relationships/hyperlink" Target="https://www.geeksforgeeks.org/computer-networks/dynamic-host-configuration-protocol-dhcp/"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eeksforgeeks.org/computer-networks/error-control-in-data-link-layer/" TargetMode="External"/><Relationship Id="rId2" Type="http://schemas.openxmlformats.org/officeDocument/2006/relationships/hyperlink" Target="https://www.geeksforgeeks.org/computer-networks/flow-control-in-data-link-layer/" TargetMode="External"/><Relationship Id="rId1" Type="http://schemas.openxmlformats.org/officeDocument/2006/relationships/slideLayout" Target="../slideLayouts/slideLayout2.xml"/><Relationship Id="rId4" Type="http://schemas.openxmlformats.org/officeDocument/2006/relationships/hyperlink" Target="https://www.geeksforgeeks.org/computer-networks/difference-between-data-security-and-data-integrity/"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geeksforgeeks.org/computer-networks/bluetooth/" TargetMode="External"/><Relationship Id="rId13" Type="http://schemas.openxmlformats.org/officeDocument/2006/relationships/hyperlink" Target="https://www.geeksforgeeks.org/computer-networks/difference-between-secure-socket-layer-ssl-and-transport-layer-security-tls/" TargetMode="External"/><Relationship Id="rId3" Type="http://schemas.openxmlformats.org/officeDocument/2006/relationships/hyperlink" Target="https://www.geeksforgeeks.org/computer-networks/what-is-transmission-control-protocol-tcp/" TargetMode="External"/><Relationship Id="rId7" Type="http://schemas.openxmlformats.org/officeDocument/2006/relationships/hyperlink" Target="https://www.geeksforgeeks.org/computer-networks/simple-mail-transfer-protocol-smtp/" TargetMode="External"/><Relationship Id="rId12" Type="http://schemas.openxmlformats.org/officeDocument/2006/relationships/hyperlink" Target="https://www.geeksforgeeks.org/computer-networks/border-gateway-protocol-bgp/" TargetMode="External"/><Relationship Id="rId2" Type="http://schemas.openxmlformats.org/officeDocument/2006/relationships/hyperlink" Target="https://www.geeksforgeeks.org/computer-networks/internet-control-message-protocol-icmp/"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file-transfer-protocol-ftp-in-application-layer/" TargetMode="External"/><Relationship Id="rId11" Type="http://schemas.openxmlformats.org/officeDocument/2006/relationships/hyperlink" Target="https://www.geeksforgeeks.org/computer-networks/open-shortest-path-first-ospf-protocol-states/" TargetMode="External"/><Relationship Id="rId5" Type="http://schemas.openxmlformats.org/officeDocument/2006/relationships/hyperlink" Target="https://www.geeksforgeeks.org/blogs/http-full-form/" TargetMode="External"/><Relationship Id="rId10" Type="http://schemas.openxmlformats.org/officeDocument/2006/relationships/hyperlink" Target="https://www.geeksforgeeks.org/computer-networks/routing-information-protocol-rip/" TargetMode="External"/><Relationship Id="rId4" Type="http://schemas.openxmlformats.org/officeDocument/2006/relationships/hyperlink" Target="https://www.geeksforgeeks.org/computer-networks/user-datagram-protocol-udp/" TargetMode="External"/><Relationship Id="rId9" Type="http://schemas.openxmlformats.org/officeDocument/2006/relationships/hyperlink" Target="https://www.geeksforgeeks.org/computer-networks/what-is-wi-fiwireless-fidelity/"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blogs/iso-full-form/" TargetMode="External"/><Relationship Id="rId2" Type="http://schemas.openxmlformats.org/officeDocument/2006/relationships/hyperlink" Target="https://www.geeksforgeeks.org/ethical-hacking/what-is-ansi/"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user-datagram-protocol-udp/" TargetMode="External"/><Relationship Id="rId5" Type="http://schemas.openxmlformats.org/officeDocument/2006/relationships/hyperlink" Target="https://www.geeksforgeeks.org/computer-networks/simple-mail-transfer-protocol-smtp/" TargetMode="External"/><Relationship Id="rId4" Type="http://schemas.openxmlformats.org/officeDocument/2006/relationships/hyperlink" Target="https://www.geeksforgeeks.org/computer-networks/difference-between-ieee-802-3-802-4-and-802-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hyperlink" Target="https://www.geeksforgeeks.org/computer-networks/application-layer-in-osi-model/" TargetMode="External"/><Relationship Id="rId3" Type="http://schemas.openxmlformats.org/officeDocument/2006/relationships/hyperlink" Target="https://www.geeksforgeeks.org/computer-networks/data-link-layer/" TargetMode="External"/><Relationship Id="rId7" Type="http://schemas.openxmlformats.org/officeDocument/2006/relationships/hyperlink" Target="https://www.geeksforgeeks.org/computer-networks/presentation-layer-in-osi-model/" TargetMode="External"/><Relationship Id="rId2" Type="http://schemas.openxmlformats.org/officeDocument/2006/relationships/hyperlink" Target="https://www.geeksforgeeks.org/computer-networks/physical-layer-in-osi-model/"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session-layer-in-osi-model/" TargetMode="External"/><Relationship Id="rId5" Type="http://schemas.openxmlformats.org/officeDocument/2006/relationships/hyperlink" Target="https://www.geeksforgeeks.org/computer-networks/transport-layer-in-osi-model/" TargetMode="External"/><Relationship Id="rId4" Type="http://schemas.openxmlformats.org/officeDocument/2006/relationships/hyperlink" Target="https://www.geeksforgeeks.org/computer-networks/network-layer-in-osi-model/" TargetMode="External"/><Relationship Id="rId9" Type="http://schemas.openxmlformats.org/officeDocument/2006/relationships/image" Target="../media/image19.png"/></Relationships>
</file>

<file path=ppt/slides/_rels/slide50.xml.rels><?xml version="1.0" encoding="UTF-8" standalone="yes"?>
<Relationships xmlns="http://schemas.openxmlformats.org/package/2006/relationships"><Relationship Id="rId3" Type="http://schemas.openxmlformats.org/officeDocument/2006/relationships/hyperlink" Target="https://www.geeksforgeeks.org/computer-networks/repeaters-in-computer-network/" TargetMode="External"/><Relationship Id="rId2" Type="http://schemas.openxmlformats.org/officeDocument/2006/relationships/hyperlink" Target="https://www.geeksforgeeks.org/computer-networks/what-is-network-hub-and-how-it-works/" TargetMode="Externa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s://www.geeksforgeeks.org/computer-networks/types-of-ethernet-cable/" TargetMode="External"/><Relationship Id="rId4" Type="http://schemas.openxmlformats.org/officeDocument/2006/relationships/hyperlink" Target="https://www.geeksforgeeks.org/computer-networks/difference-between-modem-and-router/"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www.geeksforgeeks.org/computer-networks/difference-between-switch-and-bridge/" TargetMode="External"/><Relationship Id="rId2" Type="http://schemas.openxmlformats.org/officeDocument/2006/relationships/hyperlink" Target="https://www.geeksforgeeks.org/computer-networks/mac-address-in-computer-network/" TargetMode="External"/><Relationship Id="rId1" Type="http://schemas.openxmlformats.org/officeDocument/2006/relationships/slideLayout" Target="../slideLayouts/slideLayout2.xml"/><Relationship Id="rId5" Type="http://schemas.openxmlformats.org/officeDocument/2006/relationships/hyperlink" Target="https://www.geeksforgeeks.org/ethical-hacking/how-address-resolution-protocol-arp-works/" TargetMode="External"/><Relationship Id="rId4" Type="http://schemas.openxmlformats.org/officeDocument/2006/relationships/hyperlink" Target="https://www.geeksforgeeks.org/computer-networks/nic-full-form/"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www.geeksforgeeks.org/computer-networks/difference-between-router-and-switch/" TargetMode="External"/><Relationship Id="rId2" Type="http://schemas.openxmlformats.org/officeDocument/2006/relationships/hyperlink" Target="https://www.geeksforgeeks.org/computer-science-fundamentals/what-is-an-ip-address/"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geeksforgeeks.org/computer-networks/user-datagram-protocol-udp/" TargetMode="External"/><Relationship Id="rId2" Type="http://schemas.openxmlformats.org/officeDocument/2006/relationships/hyperlink" Target="https://www.geeksforgeeks.org/computer-networks/what-is-transmission-control-protocol-tcp/"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what-is-ports-in-networking/" TargetMode="External"/><Relationship Id="rId5" Type="http://schemas.openxmlformats.org/officeDocument/2006/relationships/hyperlink" Target="https://www.geeksforgeeks.org/computer-networks/pptp-full-form/" TargetMode="External"/><Relationship Id="rId4" Type="http://schemas.openxmlformats.org/officeDocument/2006/relationships/hyperlink" Target="https://www.geeksforgeeks.org/ethical-hacking/what-is-netbios-enumeration/"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geeksforgeeks.org/computer-graphics/difference-between-jpeg-and-mpeg/" TargetMode="External"/><Relationship Id="rId2" Type="http://schemas.openxmlformats.org/officeDocument/2006/relationships/hyperlink" Target="https://www.geeksforgeeks.org/computer-networks/difference-between-secure-socket-layer-ssl-and-transport-layer-security-tls/" TargetMode="External"/><Relationship Id="rId1" Type="http://schemas.openxmlformats.org/officeDocument/2006/relationships/slideLayout" Target="../slideLayouts/slideLayout2.xml"/><Relationship Id="rId4" Type="http://schemas.openxmlformats.org/officeDocument/2006/relationships/hyperlink" Target="https://www.geeksforgeeks.org/computer-organization-architecture/difference-between-ascii-and-ebcdic/"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geeksforgeeks.org/computer-networks/file-transfer-protocol-ftp-in-application-layer/" TargetMode="External"/><Relationship Id="rId2" Type="http://schemas.openxmlformats.org/officeDocument/2006/relationships/hyperlink" Target="https://www.geeksforgeeks.org/computer-networks/simple-mail-transfer-protocol-smtp/" TargetMode="External"/><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hyperlink" Target="https://www.geeksforgeeks.org/computer-networks/domain-name-system-dns-in-application-layer/"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hyperlink" Target="https://www.geeksforgeeks.org/computer-networks/open-systems-interconnection-model-osi/"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www.example.com/"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geeksforgeeks.org/computer-networks/transmission-modes-computer-networks/" TargetMode="External"/><Relationship Id="rId2" Type="http://schemas.openxmlformats.org/officeDocument/2006/relationships/hyperlink" Target="https://www.geeksforgeeks.org/computer-networks/mac-address-in-computer-network/" TargetMode="External"/><Relationship Id="rId1" Type="http://schemas.openxmlformats.org/officeDocument/2006/relationships/slideLayout" Target="../slideLayouts/slideLayout2.xml"/><Relationship Id="rId4" Type="http://schemas.openxmlformats.org/officeDocument/2006/relationships/hyperlink" Target="https://www.geeksforgeeks.org/computer-networks/virtual-lan-vlan/" TargetMode="External"/></Relationships>
</file>

<file path=ppt/slides/_rels/slide7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www.geeksforgeeks.org/computer-networks/wireless-mobile-computing-technologies/" TargetMode="External"/><Relationship Id="rId2" Type="http://schemas.openxmlformats.org/officeDocument/2006/relationships/hyperlink" Target="https://www.geeksforgeeks.org/computer-networks/advanced-mobile-phone-system/" TargetMode="External"/><Relationship Id="rId1" Type="http://schemas.openxmlformats.org/officeDocument/2006/relationships/slideLayout" Target="../slideLayouts/slideLayout2.xml"/><Relationship Id="rId5" Type="http://schemas.openxmlformats.org/officeDocument/2006/relationships/hyperlink" Target="https://www.geeksforgeeks.org/computer-networks/what-is-ethernet/" TargetMode="External"/><Relationship Id="rId4" Type="http://schemas.openxmlformats.org/officeDocument/2006/relationships/hyperlink" Target="https://www.geeksforgeeks.org/computer-networks/what-is-wi-fiwireless-fidelity/"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www.geeksforgeeks.org/computer-networks/difference-between-broadcast-and-multicast/" TargetMode="External"/><Relationship Id="rId2" Type="http://schemas.openxmlformats.org/officeDocument/2006/relationships/hyperlink" Target="https://www.geeksforgeeks.org/computer-networks/cellular-networks/" TargetMode="External"/><Relationship Id="rId1" Type="http://schemas.openxmlformats.org/officeDocument/2006/relationships/slideLayout" Target="../slideLayouts/slideLayout2.xml"/><Relationship Id="rId5" Type="http://schemas.openxmlformats.org/officeDocument/2006/relationships/hyperlink" Target="https://www.geeksforgeeks.org/computer-networks/optical-communication-in-ccna/" TargetMode="External"/><Relationship Id="rId4" Type="http://schemas.openxmlformats.org/officeDocument/2006/relationships/hyperlink" Target="https://www.geeksforgeeks.org/computer-networks/lan-full-form/"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geeksforgeeks.org/computer-science-fundamentals/what-is-bandwidth-definition-working-importance-uses/"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geeksforgeeks.org/computer-networks/lan-full-form/" TargetMode="External"/><Relationship Id="rId2" Type="http://schemas.openxmlformats.org/officeDocument/2006/relationships/hyperlink" Target="https://www.geeksforgeeks.org/computer-networks/open-systems-interconnection-model-osi/" TargetMode="External"/><Relationship Id="rId1" Type="http://schemas.openxmlformats.org/officeDocument/2006/relationships/slideLayout" Target="../slideLayouts/slideLayout2.xml"/><Relationship Id="rId5" Type="http://schemas.openxmlformats.org/officeDocument/2006/relationships/hyperlink" Target="https://www.geeksforgeeks.org/artificial-intelligence/what-is-artificial-intelligence-ai/" TargetMode="External"/><Relationship Id="rId4" Type="http://schemas.openxmlformats.org/officeDocument/2006/relationships/hyperlink" Target="https://www.geeksforgeeks.org/computer-networks/transmission-modes-computer-networks/" TargetMode="External"/></Relationships>
</file>

<file path=ppt/slides/_rels/slide7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geeksforgeeks.org/computer-networks/what-is-packet-sniffing/" TargetMode="External"/><Relationship Id="rId2" Type="http://schemas.openxmlformats.org/officeDocument/2006/relationships/hyperlink" Target="https://www.geeksforgeeks.org/computer-networks/open-systems-interconnection-model-osi/"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Network</a:t>
            </a:r>
            <a:endParaRPr lang="en-US" dirty="0"/>
          </a:p>
        </p:txBody>
      </p:sp>
      <p:sp>
        <p:nvSpPr>
          <p:cNvPr id="3" name="Subtitle 2"/>
          <p:cNvSpPr>
            <a:spLocks noGrp="1"/>
          </p:cNvSpPr>
          <p:nvPr>
            <p:ph type="subTitle" idx="1"/>
          </p:nvPr>
        </p:nvSpPr>
        <p:spPr/>
        <p:txBody>
          <a:bodyPr/>
          <a:lstStyle/>
          <a:p>
            <a:r>
              <a:rPr lang="en-US" dirty="0" smtClean="0"/>
              <a:t>Chapter-1 </a:t>
            </a:r>
            <a:endParaRPr lang="en-US" dirty="0"/>
          </a:p>
        </p:txBody>
      </p:sp>
    </p:spTree>
    <p:extLst>
      <p:ext uri="{BB962C8B-B14F-4D97-AF65-F5344CB8AC3E}">
        <p14:creationId xmlns:p14="http://schemas.microsoft.com/office/powerpoint/2010/main" val="2476604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Network</a:t>
            </a:r>
            <a:endParaRPr lang="en-US" dirty="0"/>
          </a:p>
        </p:txBody>
      </p:sp>
      <p:sp>
        <p:nvSpPr>
          <p:cNvPr id="3" name="Content Placeholder 2"/>
          <p:cNvSpPr>
            <a:spLocks noGrp="1"/>
          </p:cNvSpPr>
          <p:nvPr>
            <p:ph idx="1"/>
          </p:nvPr>
        </p:nvSpPr>
        <p:spPr/>
        <p:txBody>
          <a:bodyPr>
            <a:normAutofit fontScale="70000" lnSpcReduction="20000"/>
          </a:bodyPr>
          <a:lstStyle/>
          <a:p>
            <a:r>
              <a:rPr lang="en-US" dirty="0"/>
              <a:t>A network is a set of devices (often referred to as nodes) connected by communication links. A node can be a computer, printer, or any other device capable of sending and/or receiving data generated by other nodes on the network. </a:t>
            </a:r>
            <a:endParaRPr lang="en-US" dirty="0" smtClean="0"/>
          </a:p>
          <a:p>
            <a:r>
              <a:rPr lang="en-US" dirty="0" smtClean="0"/>
              <a:t>“</a:t>
            </a:r>
            <a:r>
              <a:rPr lang="en-US" dirty="0"/>
              <a:t>Computer network’’ to mean a collection of autonomous computers interconnected by a single technology. </a:t>
            </a:r>
            <a:endParaRPr lang="en-US" dirty="0" smtClean="0"/>
          </a:p>
          <a:p>
            <a:r>
              <a:rPr lang="en-US" dirty="0" smtClean="0"/>
              <a:t>Two </a:t>
            </a:r>
            <a:r>
              <a:rPr lang="en-US" dirty="0"/>
              <a:t>computers are said to be interconnected if they are able to exchange information</a:t>
            </a:r>
            <a:r>
              <a:rPr lang="en-US" dirty="0" smtClean="0"/>
              <a:t>.</a:t>
            </a:r>
          </a:p>
          <a:p>
            <a:r>
              <a:rPr lang="en-US" dirty="0"/>
              <a:t>These devices communicate using:</a:t>
            </a:r>
          </a:p>
          <a:p>
            <a:r>
              <a:rPr lang="en-US" b="1" dirty="0"/>
              <a:t>Wired connections</a:t>
            </a:r>
            <a:r>
              <a:rPr lang="en-US" dirty="0"/>
              <a:t> (Ethernet cables)</a:t>
            </a:r>
          </a:p>
          <a:p>
            <a:r>
              <a:rPr lang="en-US" b="1" dirty="0"/>
              <a:t>Wireless connections</a:t>
            </a:r>
            <a:r>
              <a:rPr lang="en-US" dirty="0"/>
              <a:t> (Wi-Fi, Bluetooth, cellular networks)</a:t>
            </a:r>
          </a:p>
          <a:p>
            <a:r>
              <a:rPr lang="en-US" dirty="0"/>
              <a:t>A network allows devices to exchange data quickly and reliably based on standard rules called </a:t>
            </a:r>
            <a:r>
              <a:rPr lang="en-US" b="1" dirty="0"/>
              <a:t>network protocols</a:t>
            </a:r>
            <a:r>
              <a:rPr lang="en-US" dirty="0"/>
              <a:t> (like TCP/IP).</a:t>
            </a:r>
          </a:p>
          <a:p>
            <a:endParaRPr lang="en-US" dirty="0"/>
          </a:p>
        </p:txBody>
      </p:sp>
    </p:spTree>
    <p:extLst>
      <p:ext uri="{BB962C8B-B14F-4D97-AF65-F5344CB8AC3E}">
        <p14:creationId xmlns:p14="http://schemas.microsoft.com/office/powerpoint/2010/main" val="30475575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2943" y="1366887"/>
            <a:ext cx="6297105" cy="4508451"/>
          </a:xfrm>
        </p:spPr>
      </p:pic>
    </p:spTree>
    <p:extLst>
      <p:ext uri="{BB962C8B-B14F-4D97-AF65-F5344CB8AC3E}">
        <p14:creationId xmlns:p14="http://schemas.microsoft.com/office/powerpoint/2010/main" val="2867603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Computer Networks</a:t>
            </a:r>
          </a:p>
        </p:txBody>
      </p:sp>
      <p:sp>
        <p:nvSpPr>
          <p:cNvPr id="31" name="Rectangle 30"/>
          <p:cNvSpPr/>
          <p:nvPr/>
        </p:nvSpPr>
        <p:spPr>
          <a:xfrm>
            <a:off x="1018096" y="2425334"/>
            <a:ext cx="10765410" cy="3582584"/>
          </a:xfrm>
          <a:prstGeom prst="rect">
            <a:avLst/>
          </a:prstGeom>
        </p:spPr>
        <p:txBody>
          <a:bodyPr wrap="square">
            <a:spAutoFit/>
          </a:bodyPr>
          <a:lstStyle/>
          <a:p>
            <a:pPr marL="171450" indent="-171450">
              <a:lnSpc>
                <a:spcPct val="107000"/>
              </a:lnSpc>
              <a:spcAft>
                <a:spcPts val="800"/>
              </a:spcAft>
              <a:buFont typeface="Arial" panose="020B0604020202020204" pitchFamily="34" charset="0"/>
              <a:buChar char="•"/>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 Faster and Easier Communication</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Computer networks make communication instant and cost-effective. They support:</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Email, Messaging, Voice calls (VoIP), Video meetings, File sharing, etc.</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Whether it’s a small team or a global company, networks help people connect without delays.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Sharing of Resources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Networks allow multiple users to share expensive devices and services, such as: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Printers, Scanners, Storage servers, Internet connection, Special software (licensed for network use)</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This removes the need to buy separate devices for each user and reduces operating costs.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Centralized Data Storage and Management</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Instead of storing files separately on each computer, networks allow organizations to keep data in central servers or cloud systems. This brings several advantages: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Consistent data for everyone, Easy backup and restoration, Better access control, Faster data retrieval, Reduced duplication</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Centralized systems make the whole organization more organized and efficient</a:t>
            </a:r>
            <a:r>
              <a:rPr lang="en-US" sz="1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50702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219986" y="2377823"/>
            <a:ext cx="9601196" cy="3318936"/>
          </a:xfrm>
        </p:spPr>
        <p:txBody>
          <a:bodyPr>
            <a:noAutofit/>
          </a:bodyPr>
          <a:lstStyle/>
          <a:p>
            <a:pPr>
              <a:lnSpc>
                <a:spcPct val="107000"/>
              </a:lnSpc>
              <a:spcAft>
                <a:spcPts val="800"/>
              </a:spcAft>
            </a:pPr>
            <a:r>
              <a:rPr lang="en-US" sz="1100" b="1" dirty="0">
                <a:latin typeface="Times New Roman" panose="02020603050405020304" pitchFamily="18" charset="0"/>
                <a:ea typeface="Times New Roman" panose="02020603050405020304" pitchFamily="18" charset="0"/>
                <a:cs typeface="Times New Roman" panose="02020603050405020304" pitchFamily="18" charset="0"/>
              </a:rPr>
              <a:t>Supports Collaboration and Teamwork</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Teams can work together even when they are in different locations.</a:t>
            </a:r>
            <a:br>
              <a:rPr lang="en-US" sz="1100" dirty="0">
                <a:latin typeface="Times New Roman" panose="02020603050405020304" pitchFamily="18" charset="0"/>
                <a:ea typeface="Times New Roman" panose="02020603050405020304" pitchFamily="18" charset="0"/>
                <a:cs typeface="Times New Roman" panose="02020603050405020304" pitchFamily="18" charset="0"/>
              </a:rPr>
            </a:br>
            <a:r>
              <a:rPr lang="en-US" sz="1100" dirty="0">
                <a:latin typeface="Times New Roman" panose="02020603050405020304" pitchFamily="18" charset="0"/>
                <a:ea typeface="Times New Roman" panose="02020603050405020304" pitchFamily="18" charset="0"/>
                <a:cs typeface="Times New Roman" panose="02020603050405020304" pitchFamily="18" charset="0"/>
              </a:rPr>
              <a:t>Networks enable: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Real-time document editing, Shared workspaces, Project management tools, Online meetings, Remote support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This improves productivity and makes group work smoother.</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100" b="1" dirty="0">
                <a:latin typeface="Times New Roman" panose="02020603050405020304" pitchFamily="18" charset="0"/>
                <a:ea typeface="Times New Roman" panose="02020603050405020304" pitchFamily="18" charset="0"/>
                <a:cs typeface="Times New Roman" panose="02020603050405020304" pitchFamily="18" charset="0"/>
              </a:rPr>
              <a:t>Enhanced Security and Access Control</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Modern networks include strong security features such as: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Firewalls, Encryption, Authentication, User-level permissions, Monitoring tools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This helps protect sensitive data and prevents </a:t>
            </a:r>
            <a:r>
              <a:rPr lang="en-US" sz="1100" dirty="0" err="1">
                <a:latin typeface="Times New Roman" panose="02020603050405020304" pitchFamily="18" charset="0"/>
                <a:ea typeface="Times New Roman" panose="02020603050405020304" pitchFamily="18" charset="0"/>
                <a:cs typeface="Times New Roman" panose="02020603050405020304" pitchFamily="18" charset="0"/>
              </a:rPr>
              <a:t>unauthorised</a:t>
            </a:r>
            <a:r>
              <a:rPr lang="en-US" sz="1100" dirty="0">
                <a:latin typeface="Times New Roman" panose="02020603050405020304" pitchFamily="18" charset="0"/>
                <a:ea typeface="Times New Roman" panose="02020603050405020304" pitchFamily="18" charset="0"/>
                <a:cs typeface="Times New Roman" panose="02020603050405020304" pitchFamily="18" charset="0"/>
              </a:rPr>
              <a:t> access. Administrators can control who can view, edit or manage information</a:t>
            </a:r>
            <a:r>
              <a:rPr lang="en-US" sz="1100" dirty="0" smtClean="0">
                <a:latin typeface="Times New Roman" panose="02020603050405020304" pitchFamily="18" charset="0"/>
                <a:ea typeface="Times New Roman" panose="02020603050405020304" pitchFamily="18" charset="0"/>
                <a:cs typeface="Times New Roman" panose="02020603050405020304" pitchFamily="18" charset="0"/>
              </a:rPr>
              <a:t>.</a:t>
            </a:r>
          </a:p>
          <a:p>
            <a:r>
              <a:rPr lang="en-US" sz="1100" b="1" dirty="0" smtClean="0"/>
              <a:t> </a:t>
            </a:r>
            <a:r>
              <a:rPr lang="en-US" sz="1100" b="1" dirty="0"/>
              <a:t>Supports Remote Access and Mobility</a:t>
            </a:r>
          </a:p>
          <a:p>
            <a:r>
              <a:rPr lang="en-US" sz="1100" dirty="0"/>
              <a:t>Computer networks allow users to work from anywhere.</a:t>
            </a:r>
            <a:br>
              <a:rPr lang="en-US" sz="1100" dirty="0"/>
            </a:br>
            <a:r>
              <a:rPr lang="en-US" sz="1100" dirty="0"/>
              <a:t>Employees can:</a:t>
            </a:r>
          </a:p>
          <a:p>
            <a:r>
              <a:rPr lang="en-US" sz="1100" dirty="0"/>
              <a:t>Access company files from </a:t>
            </a:r>
            <a:r>
              <a:rPr lang="en-US" sz="1100" dirty="0" smtClean="0"/>
              <a:t>home, Use </a:t>
            </a:r>
            <a:r>
              <a:rPr lang="en-US" sz="1100" dirty="0"/>
              <a:t>cloud-based </a:t>
            </a:r>
            <a:r>
              <a:rPr lang="en-US" sz="1100" dirty="0" smtClean="0"/>
              <a:t>systems, Connect </a:t>
            </a:r>
            <a:r>
              <a:rPr lang="en-US" sz="1100" dirty="0"/>
              <a:t>to remote servers</a:t>
            </a:r>
          </a:p>
          <a:p>
            <a:r>
              <a:rPr lang="en-US" sz="1100" dirty="0"/>
              <a:t>This is essential for modern businesses, especially those using hybrid or remote work models.</a:t>
            </a:r>
          </a:p>
          <a:p>
            <a:pPr marL="0" indent="0">
              <a:lnSpc>
                <a:spcPct val="107000"/>
              </a:lnSpc>
              <a:spcAft>
                <a:spcPts val="800"/>
              </a:spcAft>
              <a:buNone/>
            </a:pPr>
            <a:endParaRPr lang="en-US"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1828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Computer Network</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Education and E-Learning</a:t>
            </a:r>
          </a:p>
          <a:p>
            <a:pPr marL="0" indent="0">
              <a:buNone/>
            </a:pPr>
            <a:r>
              <a:rPr lang="en-US" dirty="0"/>
              <a:t>Networks allow students and teachers to access online classes, digital libraries and learning platforms. They support virtual classrooms and collaborative tools. This makes learning flexible, interactive and available from anywhere</a:t>
            </a:r>
            <a:r>
              <a:rPr lang="en-US" dirty="0" smtClean="0"/>
              <a:t>.</a:t>
            </a:r>
            <a:endParaRPr lang="en-US" dirty="0"/>
          </a:p>
          <a:p>
            <a:r>
              <a:rPr lang="en-US" dirty="0" smtClean="0"/>
              <a:t> </a:t>
            </a:r>
            <a:r>
              <a:rPr lang="en-US" b="1" dirty="0"/>
              <a:t>Banking and Financial Services</a:t>
            </a:r>
          </a:p>
          <a:p>
            <a:pPr marL="0" indent="0">
              <a:buNone/>
            </a:pPr>
            <a:r>
              <a:rPr lang="en-US" dirty="0"/>
              <a:t>Banks use networks to run ATMs, online banking, mobile wallets and secure transactions. Customer data is stored centrally and accessed through secure connections. Networks help maintain accuracy, speed and safety in financial operations.</a:t>
            </a:r>
          </a:p>
          <a:p>
            <a:r>
              <a:rPr lang="en-US" dirty="0"/>
              <a:t> </a:t>
            </a:r>
            <a:r>
              <a:rPr lang="en-US" b="1" dirty="0" smtClean="0"/>
              <a:t>Healthcare </a:t>
            </a:r>
            <a:r>
              <a:rPr lang="en-US" b="1" dirty="0"/>
              <a:t>and Telemedicine</a:t>
            </a:r>
          </a:p>
          <a:p>
            <a:pPr marL="0" indent="0">
              <a:buNone/>
            </a:pPr>
            <a:r>
              <a:rPr lang="en-US" dirty="0"/>
              <a:t>Hospitals use networks for electronic patient records, imaging systems and remote consultations. Doctors can access medical data instantly, improving diagnosis and treatment. Telemedicine allows patients to get care without visiting the hospital physically.</a:t>
            </a:r>
          </a:p>
        </p:txBody>
      </p:sp>
    </p:spTree>
    <p:extLst>
      <p:ext uri="{BB962C8B-B14F-4D97-AF65-F5344CB8AC3E}">
        <p14:creationId xmlns:p14="http://schemas.microsoft.com/office/powerpoint/2010/main" val="19991768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Government </a:t>
            </a:r>
            <a:r>
              <a:rPr lang="en-US" b="1" dirty="0"/>
              <a:t>and Public Services</a:t>
            </a:r>
          </a:p>
          <a:p>
            <a:pPr marL="0" indent="0">
              <a:buNone/>
            </a:pPr>
            <a:r>
              <a:rPr lang="en-US" dirty="0"/>
              <a:t>Networks support e-governance, digital ID systems, tax platforms and public information services. They help governments deliver services faster and reduce paperwork. Citizens can access many services online without visiting offices.</a:t>
            </a:r>
          </a:p>
          <a:p>
            <a:r>
              <a:rPr lang="en-US" dirty="0"/>
              <a:t> </a:t>
            </a:r>
            <a:r>
              <a:rPr lang="en-US" dirty="0" smtClean="0"/>
              <a:t> </a:t>
            </a:r>
            <a:r>
              <a:rPr lang="en-US" b="1" dirty="0"/>
              <a:t>Entertainment and Media</a:t>
            </a:r>
          </a:p>
          <a:p>
            <a:pPr marL="0" indent="0">
              <a:buNone/>
            </a:pPr>
            <a:r>
              <a:rPr lang="en-US" dirty="0"/>
              <a:t>Online gaming, streaming platforms, social media and digital content delivery all depend on networks. Users can watch movies, play games and share content in real time. This has transformed the entertainment industry globally.</a:t>
            </a:r>
          </a:p>
          <a:p>
            <a:r>
              <a:rPr lang="en-US" dirty="0"/>
              <a:t> </a:t>
            </a:r>
            <a:r>
              <a:rPr lang="en-US" b="1" dirty="0" smtClean="0"/>
              <a:t>Industrial </a:t>
            </a:r>
            <a:r>
              <a:rPr lang="en-US" b="1" dirty="0"/>
              <a:t>Automation and Manufacturing</a:t>
            </a:r>
          </a:p>
          <a:p>
            <a:pPr marL="0" indent="0">
              <a:buNone/>
            </a:pPr>
            <a:r>
              <a:rPr lang="en-US" dirty="0"/>
              <a:t>Factories use networks to connect machines, sensors and control systems. Technologies like SCADA and </a:t>
            </a:r>
            <a:r>
              <a:rPr lang="en-US" dirty="0" err="1"/>
              <a:t>IoT</a:t>
            </a:r>
            <a:r>
              <a:rPr lang="en-US" dirty="0"/>
              <a:t> depend on continuous data exchange. This improves production quality, reduces downtime and supports smart manufacturing.</a:t>
            </a:r>
          </a:p>
        </p:txBody>
      </p:sp>
    </p:spTree>
    <p:extLst>
      <p:ext uri="{BB962C8B-B14F-4D97-AF65-F5344CB8AC3E}">
        <p14:creationId xmlns:p14="http://schemas.microsoft.com/office/powerpoint/2010/main" val="20672127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Computer Network</a:t>
            </a:r>
            <a:endParaRPr lang="en-US" dirty="0"/>
          </a:p>
        </p:txBody>
      </p:sp>
      <p:sp>
        <p:nvSpPr>
          <p:cNvPr id="3" name="Content Placeholder 2"/>
          <p:cNvSpPr>
            <a:spLocks noGrp="1"/>
          </p:cNvSpPr>
          <p:nvPr>
            <p:ph idx="1"/>
          </p:nvPr>
        </p:nvSpPr>
        <p:spPr>
          <a:xfrm>
            <a:off x="1295402" y="2462664"/>
            <a:ext cx="9601196" cy="3318936"/>
          </a:xfrm>
        </p:spPr>
        <p:txBody>
          <a:bodyPr>
            <a:noAutofit/>
          </a:bodyPr>
          <a:lstStyle/>
          <a:p>
            <a:r>
              <a:rPr lang="en-US" sz="900" b="1" dirty="0"/>
              <a:t>Personal Area Network (PAN)</a:t>
            </a:r>
          </a:p>
          <a:p>
            <a:r>
              <a:rPr lang="en-US" sz="900" dirty="0"/>
              <a:t>A </a:t>
            </a:r>
            <a:r>
              <a:rPr lang="en-US" sz="900" b="1" dirty="0"/>
              <a:t>PAN</a:t>
            </a:r>
            <a:r>
              <a:rPr lang="en-US" sz="900" dirty="0"/>
              <a:t> is the smallest type of network and covers the range around a single person, usually within a few </a:t>
            </a:r>
            <a:r>
              <a:rPr lang="en-US" sz="900" dirty="0" smtClean="0"/>
              <a:t>meters. </a:t>
            </a:r>
          </a:p>
          <a:p>
            <a:r>
              <a:rPr lang="en-US" sz="900" dirty="0" smtClean="0"/>
              <a:t>It </a:t>
            </a:r>
            <a:r>
              <a:rPr lang="en-US" sz="900" dirty="0"/>
              <a:t>connects personal devices like smartphones, tablets, laptops, smartwatches and Bluetooth </a:t>
            </a:r>
            <a:r>
              <a:rPr lang="en-US" sz="900" dirty="0" smtClean="0"/>
              <a:t>devices.</a:t>
            </a:r>
            <a:r>
              <a:rPr lang="en-US" sz="900" dirty="0"/>
              <a:t> </a:t>
            </a:r>
            <a:endParaRPr lang="en-US" sz="900" dirty="0" smtClean="0"/>
          </a:p>
          <a:p>
            <a:r>
              <a:rPr lang="en-US" sz="900" dirty="0" smtClean="0"/>
              <a:t>PANs </a:t>
            </a:r>
            <a:r>
              <a:rPr lang="en-US" sz="900" dirty="0"/>
              <a:t>are often used for transferring files, syncing data or connecting wireless </a:t>
            </a:r>
            <a:r>
              <a:rPr lang="en-US" sz="900" dirty="0" smtClean="0"/>
              <a:t>accessories. </a:t>
            </a:r>
          </a:p>
          <a:p>
            <a:r>
              <a:rPr lang="en-US" sz="900" dirty="0" smtClean="0"/>
              <a:t>Examples </a:t>
            </a:r>
            <a:r>
              <a:rPr lang="en-US" sz="900" dirty="0"/>
              <a:t>include Bluetooth connections, USB networks and a hotspot created by your phone.</a:t>
            </a:r>
          </a:p>
          <a:p>
            <a:r>
              <a:rPr lang="en-US" sz="900" b="1" dirty="0"/>
              <a:t>Local Area Network (LAN)</a:t>
            </a:r>
          </a:p>
          <a:p>
            <a:r>
              <a:rPr lang="en-US" sz="900" dirty="0"/>
              <a:t>A </a:t>
            </a:r>
            <a:r>
              <a:rPr lang="en-US" sz="900" b="1" dirty="0"/>
              <a:t>LAN</a:t>
            </a:r>
            <a:r>
              <a:rPr lang="en-US" sz="900" dirty="0"/>
              <a:t> covers a small geographical area such as a home, office, school or a </a:t>
            </a:r>
            <a:r>
              <a:rPr lang="en-US" sz="900" dirty="0" smtClean="0"/>
              <a:t>building. </a:t>
            </a:r>
          </a:p>
          <a:p>
            <a:r>
              <a:rPr lang="en-US" sz="900" dirty="0" smtClean="0"/>
              <a:t>It </a:t>
            </a:r>
            <a:r>
              <a:rPr lang="en-US" sz="900" dirty="0"/>
              <a:t>allows connected devices to share files, printers and internet </a:t>
            </a:r>
            <a:r>
              <a:rPr lang="en-US" sz="900" dirty="0" smtClean="0"/>
              <a:t>connections.</a:t>
            </a:r>
          </a:p>
          <a:p>
            <a:r>
              <a:rPr lang="en-US" sz="900" dirty="0" smtClean="0"/>
              <a:t>LANs </a:t>
            </a:r>
            <a:r>
              <a:rPr lang="en-US" sz="900" dirty="0"/>
              <a:t>provide high-speed data transfer and are easy to </a:t>
            </a:r>
            <a:r>
              <a:rPr lang="en-US" sz="900" dirty="0" smtClean="0"/>
              <a:t>manage.</a:t>
            </a:r>
          </a:p>
          <a:p>
            <a:r>
              <a:rPr lang="en-US" sz="900" dirty="0" smtClean="0"/>
              <a:t>Most </a:t>
            </a:r>
            <a:r>
              <a:rPr lang="en-US" sz="900" dirty="0" err="1"/>
              <a:t>organisations</a:t>
            </a:r>
            <a:r>
              <a:rPr lang="en-US" sz="900" dirty="0"/>
              <a:t> use LANs for internal communication and resource sharing.</a:t>
            </a:r>
          </a:p>
          <a:p>
            <a:r>
              <a:rPr lang="en-US" sz="900" b="1" dirty="0"/>
              <a:t>Wireless Local Area Network (WLAN)</a:t>
            </a:r>
          </a:p>
          <a:p>
            <a:r>
              <a:rPr lang="en-US" sz="900" dirty="0"/>
              <a:t>A </a:t>
            </a:r>
            <a:r>
              <a:rPr lang="en-US" sz="900" b="1" dirty="0"/>
              <a:t>WLAN</a:t>
            </a:r>
            <a:r>
              <a:rPr lang="en-US" sz="900" dirty="0"/>
              <a:t> is similar to a LAN but uses </a:t>
            </a:r>
            <a:r>
              <a:rPr lang="en-US" sz="900" b="1" dirty="0"/>
              <a:t>wireless</a:t>
            </a:r>
            <a:r>
              <a:rPr lang="en-US" sz="900" dirty="0"/>
              <a:t> technology like Wi-Fi instead of </a:t>
            </a:r>
            <a:r>
              <a:rPr lang="en-US" sz="900" dirty="0" smtClean="0"/>
              <a:t>cables.</a:t>
            </a:r>
          </a:p>
          <a:p>
            <a:r>
              <a:rPr lang="en-US" sz="900" dirty="0" smtClean="0"/>
              <a:t>It </a:t>
            </a:r>
            <a:r>
              <a:rPr lang="en-US" sz="900" dirty="0"/>
              <a:t>enables users to move freely within an area while staying connected to the </a:t>
            </a:r>
            <a:r>
              <a:rPr lang="en-US" sz="900" dirty="0" smtClean="0"/>
              <a:t>network.</a:t>
            </a:r>
          </a:p>
          <a:p>
            <a:r>
              <a:rPr lang="en-US" sz="900" dirty="0" smtClean="0"/>
              <a:t>WLANs </a:t>
            </a:r>
            <a:r>
              <a:rPr lang="en-US" sz="900" dirty="0"/>
              <a:t>are common in homes, offices, restaurants, libraries and public </a:t>
            </a:r>
            <a:r>
              <a:rPr lang="en-US" sz="900" dirty="0" smtClean="0"/>
              <a:t>places.</a:t>
            </a:r>
          </a:p>
          <a:p>
            <a:r>
              <a:rPr lang="en-US" sz="900" dirty="0" smtClean="0"/>
              <a:t>They </a:t>
            </a:r>
            <a:r>
              <a:rPr lang="en-US" sz="900" dirty="0"/>
              <a:t>are flexible, cost-effective and easy to install compared to wired LANs.</a:t>
            </a:r>
          </a:p>
        </p:txBody>
      </p:sp>
    </p:spTree>
    <p:extLst>
      <p:ext uri="{BB962C8B-B14F-4D97-AF65-F5344CB8AC3E}">
        <p14:creationId xmlns:p14="http://schemas.microsoft.com/office/powerpoint/2010/main" val="34037432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62500" lnSpcReduction="20000"/>
          </a:bodyPr>
          <a:lstStyle/>
          <a:p>
            <a:r>
              <a:rPr lang="en-US" b="1" dirty="0"/>
              <a:t>Metropolitan Area Network (MAN)</a:t>
            </a:r>
          </a:p>
          <a:p>
            <a:r>
              <a:rPr lang="en-US" dirty="0"/>
              <a:t>A </a:t>
            </a:r>
            <a:r>
              <a:rPr lang="en-US" b="1" dirty="0"/>
              <a:t>MAN</a:t>
            </a:r>
            <a:r>
              <a:rPr lang="en-US" dirty="0"/>
              <a:t> covers a larger area than a LAN, usually a city or a cluster of nearby </a:t>
            </a:r>
            <a:r>
              <a:rPr lang="en-US" dirty="0" smtClean="0"/>
              <a:t>towns.</a:t>
            </a:r>
          </a:p>
          <a:p>
            <a:r>
              <a:rPr lang="en-US" dirty="0" smtClean="0"/>
              <a:t>It </a:t>
            </a:r>
            <a:r>
              <a:rPr lang="en-US" dirty="0"/>
              <a:t>connects multiple LANs to create a bigger network for </a:t>
            </a:r>
            <a:r>
              <a:rPr lang="en-US" dirty="0" err="1"/>
              <a:t>organisations</a:t>
            </a:r>
            <a:r>
              <a:rPr lang="en-US" dirty="0"/>
              <a:t>, municipal systems or </a:t>
            </a:r>
            <a:r>
              <a:rPr lang="en-US" dirty="0" smtClean="0"/>
              <a:t>universities.</a:t>
            </a:r>
          </a:p>
          <a:p>
            <a:r>
              <a:rPr lang="en-US" dirty="0" smtClean="0"/>
              <a:t>MANs </a:t>
            </a:r>
            <a:r>
              <a:rPr lang="en-US" dirty="0"/>
              <a:t>are often used by internet service providers (ISPs) and government </a:t>
            </a:r>
            <a:r>
              <a:rPr lang="en-US" dirty="0" smtClean="0"/>
              <a:t>agencies.</a:t>
            </a:r>
          </a:p>
          <a:p>
            <a:r>
              <a:rPr lang="en-US" dirty="0" smtClean="0"/>
              <a:t>It </a:t>
            </a:r>
            <a:r>
              <a:rPr lang="en-US" dirty="0"/>
              <a:t>provides high-speed connectivity across long distances within the same metropolitan region.</a:t>
            </a:r>
          </a:p>
          <a:p>
            <a:r>
              <a:rPr lang="en-US" b="1" dirty="0"/>
              <a:t>Wide Area Network (WAN)</a:t>
            </a:r>
          </a:p>
          <a:p>
            <a:r>
              <a:rPr lang="en-US" dirty="0"/>
              <a:t>A </a:t>
            </a:r>
            <a:r>
              <a:rPr lang="en-US" b="1" dirty="0"/>
              <a:t>WAN</a:t>
            </a:r>
            <a:r>
              <a:rPr lang="en-US" dirty="0"/>
              <a:t> spans a very large geographical area such as a country, continent or even the whole </a:t>
            </a:r>
            <a:r>
              <a:rPr lang="en-US" dirty="0" smtClean="0"/>
              <a:t>world.</a:t>
            </a:r>
          </a:p>
          <a:p>
            <a:r>
              <a:rPr lang="en-US" dirty="0" smtClean="0"/>
              <a:t>It </a:t>
            </a:r>
            <a:r>
              <a:rPr lang="en-US" dirty="0"/>
              <a:t>connects multiple LANs and MANs using leased communication lines, satellites or undersea </a:t>
            </a:r>
            <a:r>
              <a:rPr lang="en-US" dirty="0" smtClean="0"/>
              <a:t>cables.</a:t>
            </a:r>
          </a:p>
          <a:p>
            <a:r>
              <a:rPr lang="en-US" dirty="0" smtClean="0"/>
              <a:t>The </a:t>
            </a:r>
            <a:r>
              <a:rPr lang="en-US" dirty="0"/>
              <a:t>internet is the biggest example of a </a:t>
            </a:r>
            <a:r>
              <a:rPr lang="en-US" dirty="0" smtClean="0"/>
              <a:t>WAN.</a:t>
            </a:r>
          </a:p>
          <a:p>
            <a:r>
              <a:rPr lang="en-US" dirty="0" smtClean="0"/>
              <a:t>WANs </a:t>
            </a:r>
            <a:r>
              <a:rPr lang="en-US" dirty="0"/>
              <a:t>are essential for multinational companies, banks, airlines and any </a:t>
            </a:r>
            <a:r>
              <a:rPr lang="en-US" dirty="0" err="1"/>
              <a:t>organisation</a:t>
            </a:r>
            <a:r>
              <a:rPr lang="en-US" dirty="0"/>
              <a:t> with branches in different locations.</a:t>
            </a:r>
          </a:p>
        </p:txBody>
      </p:sp>
    </p:spTree>
    <p:extLst>
      <p:ext uri="{BB962C8B-B14F-4D97-AF65-F5344CB8AC3E}">
        <p14:creationId xmlns:p14="http://schemas.microsoft.com/office/powerpoint/2010/main" val="37562572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Controller Area Network (CAN)</a:t>
            </a:r>
            <a:endParaRPr lang="en-US" dirty="0"/>
          </a:p>
        </p:txBody>
      </p:sp>
      <p:sp>
        <p:nvSpPr>
          <p:cNvPr id="3" name="Content Placeholder 2"/>
          <p:cNvSpPr>
            <a:spLocks noGrp="1"/>
          </p:cNvSpPr>
          <p:nvPr>
            <p:ph idx="1"/>
          </p:nvPr>
        </p:nvSpPr>
        <p:spPr>
          <a:xfrm>
            <a:off x="1069157" y="2123299"/>
            <a:ext cx="10327849" cy="3318936"/>
          </a:xfrm>
        </p:spPr>
        <p:txBody>
          <a:bodyPr>
            <a:noAutofit/>
          </a:bodyPr>
          <a:lstStyle/>
          <a:p>
            <a:r>
              <a:rPr lang="en-US" sz="1600" b="1" dirty="0"/>
              <a:t>CAN (Controller Area Network)</a:t>
            </a:r>
            <a:r>
              <a:rPr lang="en-US" sz="1600" dirty="0"/>
              <a:t> is a </a:t>
            </a:r>
            <a:r>
              <a:rPr lang="en-US" sz="1600" b="1" dirty="0"/>
              <a:t>communication protocol</a:t>
            </a:r>
            <a:r>
              <a:rPr lang="en-US" sz="1600" dirty="0"/>
              <a:t> and </a:t>
            </a:r>
            <a:r>
              <a:rPr lang="en-US" sz="1600" b="1" dirty="0"/>
              <a:t>networking technology</a:t>
            </a:r>
            <a:r>
              <a:rPr lang="en-US" sz="1600" dirty="0"/>
              <a:t> primarily used in </a:t>
            </a:r>
            <a:r>
              <a:rPr lang="en-US" sz="1600" b="1" dirty="0"/>
              <a:t>embedded systems</a:t>
            </a:r>
            <a:r>
              <a:rPr lang="en-US" sz="1600" dirty="0"/>
              <a:t> and </a:t>
            </a:r>
            <a:r>
              <a:rPr lang="en-US" sz="1600" b="1" dirty="0"/>
              <a:t>automotive networks</a:t>
            </a:r>
            <a:r>
              <a:rPr lang="en-US" sz="1600" dirty="0"/>
              <a:t>. It's designed to allow microcontrollers and devices to communicate with each other without the need for a host computer. CAN is often used in environments where real-time communication and high reliability are critical.</a:t>
            </a:r>
            <a:endParaRPr lang="en-US" sz="1400" dirty="0"/>
          </a:p>
          <a:p>
            <a:r>
              <a:rPr lang="en-US" sz="1600" b="1" dirty="0"/>
              <a:t>Key Features of CAN in Computer Networks:</a:t>
            </a:r>
            <a:endParaRPr lang="en-US" sz="1200" dirty="0"/>
          </a:p>
          <a:p>
            <a:pPr lvl="0"/>
            <a:r>
              <a:rPr lang="en-US" sz="1600" b="1" dirty="0"/>
              <a:t>Real-Time Communication:</a:t>
            </a:r>
            <a:endParaRPr lang="en-US" sz="1400" dirty="0"/>
          </a:p>
          <a:p>
            <a:pPr lvl="1"/>
            <a:r>
              <a:rPr lang="en-US" sz="1400" b="1" dirty="0"/>
              <a:t>CAN</a:t>
            </a:r>
            <a:r>
              <a:rPr lang="en-US" sz="1400" dirty="0"/>
              <a:t> allows for </a:t>
            </a:r>
            <a:r>
              <a:rPr lang="en-US" sz="1400" b="1" dirty="0"/>
              <a:t>real-time</a:t>
            </a:r>
            <a:r>
              <a:rPr lang="en-US" sz="1400" dirty="0"/>
              <a:t> communication between devices, meaning messages can be transmitted almost instantly between devices.</a:t>
            </a:r>
            <a:endParaRPr lang="en-US" sz="1200" dirty="0"/>
          </a:p>
          <a:p>
            <a:pPr lvl="1"/>
            <a:r>
              <a:rPr lang="en-US" sz="1400" dirty="0"/>
              <a:t>This is especially important in applications where timing is crucial, such as in </a:t>
            </a:r>
            <a:r>
              <a:rPr lang="en-US" sz="1400" b="1" dirty="0"/>
              <a:t>automotive</a:t>
            </a:r>
            <a:r>
              <a:rPr lang="en-US" sz="1400" dirty="0"/>
              <a:t> systems (e.g., ABS, airbag control), </a:t>
            </a:r>
            <a:r>
              <a:rPr lang="en-US" sz="1400" b="1" dirty="0"/>
              <a:t>industrial automation</a:t>
            </a:r>
            <a:r>
              <a:rPr lang="en-US" sz="1400" dirty="0"/>
              <a:t>, and </a:t>
            </a:r>
            <a:r>
              <a:rPr lang="en-US" sz="1400" b="1" dirty="0"/>
              <a:t>robotics</a:t>
            </a:r>
            <a:r>
              <a:rPr lang="en-US" sz="1400" dirty="0"/>
              <a:t>.</a:t>
            </a:r>
            <a:endParaRPr lang="en-US" sz="1200" dirty="0"/>
          </a:p>
          <a:p>
            <a:pPr lvl="0"/>
            <a:r>
              <a:rPr lang="en-US" sz="1600" b="1" dirty="0"/>
              <a:t>Bus-Based Architecture:</a:t>
            </a:r>
            <a:endParaRPr lang="en-US" sz="1400" dirty="0"/>
          </a:p>
          <a:p>
            <a:pPr lvl="1"/>
            <a:r>
              <a:rPr lang="en-US" sz="1400" dirty="0"/>
              <a:t>CAN is typically implemented as a </a:t>
            </a:r>
            <a:r>
              <a:rPr lang="en-US" sz="1400" b="1" dirty="0"/>
              <a:t>bus topology</a:t>
            </a:r>
            <a:r>
              <a:rPr lang="en-US" sz="1400" dirty="0"/>
              <a:t> where all devices (called </a:t>
            </a:r>
            <a:r>
              <a:rPr lang="en-US" sz="1400" b="1" dirty="0"/>
              <a:t>nodes</a:t>
            </a:r>
            <a:r>
              <a:rPr lang="en-US" sz="1400" dirty="0"/>
              <a:t>) are connected to a single communication line (the bus).</a:t>
            </a:r>
            <a:endParaRPr lang="en-US" sz="1200" dirty="0"/>
          </a:p>
          <a:p>
            <a:pPr lvl="1"/>
            <a:r>
              <a:rPr lang="en-US" sz="1400" dirty="0"/>
              <a:t>Each node on the bus can send and receive messages, allowing for </a:t>
            </a:r>
            <a:r>
              <a:rPr lang="en-US" sz="1400" b="1" dirty="0"/>
              <a:t>decentralized control</a:t>
            </a:r>
            <a:r>
              <a:rPr lang="en-US" sz="1400" dirty="0"/>
              <a:t> without the need for a central controller.</a:t>
            </a:r>
            <a:endParaRPr lang="en-US" sz="1200" dirty="0"/>
          </a:p>
          <a:p>
            <a:endParaRPr lang="en-US" sz="1000" dirty="0"/>
          </a:p>
        </p:txBody>
      </p:sp>
    </p:spTree>
    <p:extLst>
      <p:ext uri="{BB962C8B-B14F-4D97-AF65-F5344CB8AC3E}">
        <p14:creationId xmlns:p14="http://schemas.microsoft.com/office/powerpoint/2010/main" val="24206829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229414" y="2123299"/>
            <a:ext cx="9601196" cy="3318936"/>
          </a:xfrm>
        </p:spPr>
        <p:txBody>
          <a:bodyPr>
            <a:noAutofit/>
          </a:bodyPr>
          <a:lstStyle/>
          <a:p>
            <a:pPr lvl="0"/>
            <a:r>
              <a:rPr lang="en-US" sz="1400" b="1" dirty="0" err="1"/>
              <a:t>Multimaster</a:t>
            </a:r>
            <a:r>
              <a:rPr lang="en-US" sz="1400" b="1" dirty="0"/>
              <a:t> System:</a:t>
            </a:r>
            <a:endParaRPr lang="en-US" sz="1200" dirty="0"/>
          </a:p>
          <a:p>
            <a:pPr lvl="1"/>
            <a:r>
              <a:rPr lang="en-US" sz="1200" dirty="0"/>
              <a:t>CAN is a </a:t>
            </a:r>
            <a:r>
              <a:rPr lang="en-US" sz="1200" b="1" dirty="0" err="1"/>
              <a:t>multimaster</a:t>
            </a:r>
            <a:r>
              <a:rPr lang="en-US" sz="1200" dirty="0"/>
              <a:t> network, meaning any device (node) can initiate communication. There is no single master device controlling the network.</a:t>
            </a:r>
            <a:endParaRPr lang="en-US" sz="1100" dirty="0"/>
          </a:p>
          <a:p>
            <a:pPr lvl="1"/>
            <a:r>
              <a:rPr lang="en-US" sz="1200" dirty="0"/>
              <a:t>If one device fails, the network continues to operate, making CAN highly </a:t>
            </a:r>
            <a:r>
              <a:rPr lang="en-US" sz="1200" b="1" dirty="0"/>
              <a:t>reliable</a:t>
            </a:r>
            <a:r>
              <a:rPr lang="en-US" sz="1200" dirty="0"/>
              <a:t> and </a:t>
            </a:r>
            <a:r>
              <a:rPr lang="en-US" sz="1200" b="1" dirty="0"/>
              <a:t>robust</a:t>
            </a:r>
            <a:r>
              <a:rPr lang="en-US" sz="1200" dirty="0"/>
              <a:t> in critical systems.</a:t>
            </a:r>
            <a:endParaRPr lang="en-US" sz="1100" dirty="0"/>
          </a:p>
          <a:p>
            <a:pPr lvl="0"/>
            <a:r>
              <a:rPr lang="en-US" sz="1400" b="1" dirty="0"/>
              <a:t>Error Detection and Handling:</a:t>
            </a:r>
            <a:endParaRPr lang="en-US" sz="1200" dirty="0"/>
          </a:p>
          <a:p>
            <a:pPr lvl="1"/>
            <a:r>
              <a:rPr lang="en-US" sz="1200" dirty="0"/>
              <a:t>CAN includes </a:t>
            </a:r>
            <a:r>
              <a:rPr lang="en-US" sz="1200" b="1" dirty="0"/>
              <a:t>built-in error detection</a:t>
            </a:r>
            <a:r>
              <a:rPr lang="en-US" sz="1200" dirty="0"/>
              <a:t> mechanisms, ensuring reliable communication. Errors such as bit errors, stuff errors, or checksum errors are automatically detected and corrected.</a:t>
            </a:r>
            <a:endParaRPr lang="en-US" sz="1100" dirty="0"/>
          </a:p>
          <a:p>
            <a:pPr lvl="1"/>
            <a:r>
              <a:rPr lang="en-US" sz="1200" dirty="0"/>
              <a:t>In case of a severe error, the system is capable of </a:t>
            </a:r>
            <a:r>
              <a:rPr lang="en-US" sz="1200" b="1" dirty="0"/>
              <a:t>self-healing</a:t>
            </a:r>
            <a:r>
              <a:rPr lang="en-US" sz="1200" dirty="0"/>
              <a:t>, meaning devices can automatically retransmit data if errors are detected.</a:t>
            </a:r>
            <a:endParaRPr lang="en-US" sz="1100" dirty="0"/>
          </a:p>
          <a:p>
            <a:pPr lvl="0"/>
            <a:r>
              <a:rPr lang="en-US" sz="1400" b="1" dirty="0"/>
              <a:t>Speed and Efficiency:</a:t>
            </a:r>
            <a:endParaRPr lang="en-US" sz="1200" dirty="0"/>
          </a:p>
          <a:p>
            <a:pPr lvl="1"/>
            <a:r>
              <a:rPr lang="en-US" sz="1200" dirty="0"/>
              <a:t>CAN supports speeds of up to </a:t>
            </a:r>
            <a:r>
              <a:rPr lang="en-US" sz="1200" b="1" dirty="0"/>
              <a:t>1 Mbps</a:t>
            </a:r>
            <a:r>
              <a:rPr lang="en-US" sz="1200" dirty="0"/>
              <a:t> (though this can vary depending on the physical layer and application).</a:t>
            </a:r>
            <a:endParaRPr lang="en-US" sz="1100" dirty="0"/>
          </a:p>
          <a:p>
            <a:pPr lvl="1"/>
            <a:r>
              <a:rPr lang="en-US" sz="1200" dirty="0"/>
              <a:t>It uses a </a:t>
            </a:r>
            <a:r>
              <a:rPr lang="en-US" sz="1200" b="1" dirty="0"/>
              <a:t>priority-based arbitration</a:t>
            </a:r>
            <a:r>
              <a:rPr lang="en-US" sz="1200" dirty="0"/>
              <a:t> system where messages with higher priority (lower numerical IDs) are sent first. This ensures time-sensitive data is transmitted promptly.</a:t>
            </a:r>
            <a:endParaRPr lang="en-US" sz="1100" dirty="0"/>
          </a:p>
          <a:p>
            <a:pPr lvl="0"/>
            <a:r>
              <a:rPr lang="en-US" sz="1400" b="1" dirty="0"/>
              <a:t>Message Formats:</a:t>
            </a:r>
            <a:endParaRPr lang="en-US" sz="1200" dirty="0"/>
          </a:p>
          <a:p>
            <a:pPr lvl="1"/>
            <a:r>
              <a:rPr lang="en-US" sz="1200" dirty="0"/>
              <a:t>CAN messages are compact and efficient, with </a:t>
            </a:r>
            <a:r>
              <a:rPr lang="en-US" sz="1200" b="1" dirty="0"/>
              <a:t>standard</a:t>
            </a:r>
            <a:r>
              <a:rPr lang="en-US" sz="1200" dirty="0"/>
              <a:t> (11-bit) and </a:t>
            </a:r>
            <a:r>
              <a:rPr lang="en-US" sz="1200" b="1" dirty="0"/>
              <a:t>extended</a:t>
            </a:r>
            <a:r>
              <a:rPr lang="en-US" sz="1200" dirty="0"/>
              <a:t> (29-bit) identifier formats for each message.</a:t>
            </a:r>
            <a:endParaRPr lang="en-US" sz="1100" dirty="0"/>
          </a:p>
          <a:p>
            <a:pPr lvl="1"/>
            <a:r>
              <a:rPr lang="en-US" sz="1200" dirty="0"/>
              <a:t>A CAN message consists of several fields, including the </a:t>
            </a:r>
            <a:r>
              <a:rPr lang="en-US" sz="1200" b="1" dirty="0"/>
              <a:t>identifier</a:t>
            </a:r>
            <a:r>
              <a:rPr lang="en-US" sz="1200" dirty="0"/>
              <a:t>, </a:t>
            </a:r>
            <a:r>
              <a:rPr lang="en-US" sz="1200" b="1" dirty="0"/>
              <a:t>data</a:t>
            </a:r>
            <a:r>
              <a:rPr lang="en-US" sz="1200" dirty="0"/>
              <a:t>, </a:t>
            </a:r>
            <a:r>
              <a:rPr lang="en-US" sz="1200" b="1" dirty="0"/>
              <a:t>checksum</a:t>
            </a:r>
            <a:r>
              <a:rPr lang="en-US" sz="1200" dirty="0"/>
              <a:t>, and </a:t>
            </a:r>
            <a:r>
              <a:rPr lang="en-US" sz="1200" b="1" dirty="0"/>
              <a:t>acknowledgment</a:t>
            </a:r>
            <a:r>
              <a:rPr lang="en-US" sz="1200" dirty="0"/>
              <a:t>.</a:t>
            </a:r>
            <a:endParaRPr lang="en-US" sz="1100" dirty="0"/>
          </a:p>
        </p:txBody>
      </p:sp>
    </p:spTree>
    <p:extLst>
      <p:ext uri="{BB962C8B-B14F-4D97-AF65-F5344CB8AC3E}">
        <p14:creationId xmlns:p14="http://schemas.microsoft.com/office/powerpoint/2010/main" val="38087224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Real-Life Applications of CAN:</a:t>
            </a:r>
            <a:r>
              <a:rPr lang="en-US" sz="3600" dirty="0"/>
              <a:t/>
            </a:r>
            <a:br>
              <a:rPr lang="en-US" sz="3600" dirty="0"/>
            </a:br>
            <a:endParaRPr lang="en-US" dirty="0"/>
          </a:p>
        </p:txBody>
      </p:sp>
      <p:sp>
        <p:nvSpPr>
          <p:cNvPr id="3" name="Content Placeholder 2"/>
          <p:cNvSpPr>
            <a:spLocks noGrp="1"/>
          </p:cNvSpPr>
          <p:nvPr>
            <p:ph idx="1"/>
          </p:nvPr>
        </p:nvSpPr>
        <p:spPr/>
        <p:txBody>
          <a:bodyPr>
            <a:normAutofit fontScale="47500" lnSpcReduction="20000"/>
          </a:bodyPr>
          <a:lstStyle/>
          <a:p>
            <a:pPr lvl="0"/>
            <a:r>
              <a:rPr lang="en-US" b="1" dirty="0" smtClean="0"/>
              <a:t>Automotive </a:t>
            </a:r>
            <a:r>
              <a:rPr lang="en-US" b="1" dirty="0"/>
              <a:t>Networks:</a:t>
            </a:r>
            <a:endParaRPr lang="en-US" sz="2000" dirty="0"/>
          </a:p>
          <a:p>
            <a:pPr lvl="1"/>
            <a:r>
              <a:rPr lang="en-US" dirty="0"/>
              <a:t>One of the most common uses of </a:t>
            </a:r>
            <a:r>
              <a:rPr lang="en-US" b="1" dirty="0"/>
              <a:t>CAN</a:t>
            </a:r>
            <a:r>
              <a:rPr lang="en-US" dirty="0"/>
              <a:t> is in </a:t>
            </a:r>
            <a:r>
              <a:rPr lang="en-US" b="1" dirty="0"/>
              <a:t>automobiles</a:t>
            </a:r>
            <a:r>
              <a:rPr lang="en-US" dirty="0"/>
              <a:t>. Modern vehicles contain many </a:t>
            </a:r>
            <a:r>
              <a:rPr lang="en-US" b="1" dirty="0"/>
              <a:t>ECUs (Electronic Control Units)</a:t>
            </a:r>
            <a:r>
              <a:rPr lang="en-US" dirty="0"/>
              <a:t> that control different parts of the car, such as the </a:t>
            </a:r>
            <a:r>
              <a:rPr lang="en-US" b="1" dirty="0"/>
              <a:t>engine</a:t>
            </a:r>
            <a:r>
              <a:rPr lang="en-US" dirty="0"/>
              <a:t>, </a:t>
            </a:r>
            <a:r>
              <a:rPr lang="en-US" b="1" dirty="0"/>
              <a:t>brakes</a:t>
            </a:r>
            <a:r>
              <a:rPr lang="en-US" dirty="0"/>
              <a:t>, </a:t>
            </a:r>
            <a:r>
              <a:rPr lang="en-US" b="1" dirty="0"/>
              <a:t>airbags</a:t>
            </a:r>
            <a:r>
              <a:rPr lang="en-US" dirty="0"/>
              <a:t>, </a:t>
            </a:r>
            <a:r>
              <a:rPr lang="en-US" b="1" dirty="0"/>
              <a:t>infotainment systems</a:t>
            </a:r>
            <a:r>
              <a:rPr lang="en-US" dirty="0"/>
              <a:t>, and </a:t>
            </a:r>
            <a:r>
              <a:rPr lang="en-US" b="1" dirty="0"/>
              <a:t>lights</a:t>
            </a:r>
            <a:r>
              <a:rPr lang="en-US" dirty="0"/>
              <a:t>.</a:t>
            </a:r>
            <a:endParaRPr lang="en-US" sz="1800" dirty="0"/>
          </a:p>
          <a:p>
            <a:pPr lvl="1"/>
            <a:r>
              <a:rPr lang="en-US" dirty="0"/>
              <a:t>CAN connects these ECUs, allowing them to send and receive messages to control various functions efficiently. For example, the </a:t>
            </a:r>
            <a:r>
              <a:rPr lang="en-US" b="1" dirty="0"/>
              <a:t>ABS</a:t>
            </a:r>
            <a:r>
              <a:rPr lang="en-US" dirty="0"/>
              <a:t> system in cars uses CAN to communicate between the wheel sensors and the braking system to prevent skidding.</a:t>
            </a:r>
            <a:endParaRPr lang="en-US" sz="1800" dirty="0"/>
          </a:p>
          <a:p>
            <a:pPr lvl="0"/>
            <a:r>
              <a:rPr lang="en-US" b="1" dirty="0"/>
              <a:t>Industrial Automation:</a:t>
            </a:r>
            <a:endParaRPr lang="en-US" sz="2000" dirty="0"/>
          </a:p>
          <a:p>
            <a:pPr lvl="1"/>
            <a:r>
              <a:rPr lang="en-US" dirty="0"/>
              <a:t>CAN is widely used in </a:t>
            </a:r>
            <a:r>
              <a:rPr lang="en-US" b="1" dirty="0"/>
              <a:t>industrial control systems</a:t>
            </a:r>
            <a:r>
              <a:rPr lang="en-US" dirty="0"/>
              <a:t> to connect various devices such as </a:t>
            </a:r>
            <a:r>
              <a:rPr lang="en-US" b="1" dirty="0"/>
              <a:t>sensors</a:t>
            </a:r>
            <a:r>
              <a:rPr lang="en-US" dirty="0"/>
              <a:t>, </a:t>
            </a:r>
            <a:r>
              <a:rPr lang="en-US" b="1" dirty="0"/>
              <a:t>actuators</a:t>
            </a:r>
            <a:r>
              <a:rPr lang="en-US" dirty="0"/>
              <a:t>, and </a:t>
            </a:r>
            <a:r>
              <a:rPr lang="en-US" b="1" dirty="0"/>
              <a:t>motors</a:t>
            </a:r>
            <a:r>
              <a:rPr lang="en-US" dirty="0"/>
              <a:t>. The robust and fault-tolerant nature of CAN makes it ideal for automation applications.</a:t>
            </a:r>
            <a:endParaRPr lang="en-US" sz="1800" dirty="0"/>
          </a:p>
          <a:p>
            <a:pPr lvl="1"/>
            <a:r>
              <a:rPr lang="en-US" dirty="0"/>
              <a:t>For example, in manufacturing plants, CAN networks might control robotic arms, conveyor belts, and assembly line sensors to ensure smooth and coordinated operation.</a:t>
            </a:r>
            <a:endParaRPr lang="en-US" sz="1800" dirty="0"/>
          </a:p>
          <a:p>
            <a:pPr lvl="0"/>
            <a:r>
              <a:rPr lang="en-US" b="1" dirty="0"/>
              <a:t>Medical Devices:</a:t>
            </a:r>
            <a:endParaRPr lang="en-US" sz="2000" dirty="0"/>
          </a:p>
          <a:p>
            <a:pPr lvl="1"/>
            <a:r>
              <a:rPr lang="en-US" dirty="0"/>
              <a:t>CAN is also used in </a:t>
            </a:r>
            <a:r>
              <a:rPr lang="en-US" b="1" dirty="0"/>
              <a:t>medical devices</a:t>
            </a:r>
            <a:r>
              <a:rPr lang="en-US" dirty="0"/>
              <a:t> like </a:t>
            </a:r>
            <a:r>
              <a:rPr lang="en-US" b="1" dirty="0"/>
              <a:t>patient monitoring systems</a:t>
            </a:r>
            <a:r>
              <a:rPr lang="en-US" dirty="0"/>
              <a:t>, </a:t>
            </a:r>
            <a:r>
              <a:rPr lang="en-US" b="1" dirty="0"/>
              <a:t>ambulance equipment</a:t>
            </a:r>
            <a:r>
              <a:rPr lang="en-US" dirty="0"/>
              <a:t>, and </a:t>
            </a:r>
            <a:r>
              <a:rPr lang="en-US" b="1" dirty="0"/>
              <a:t>diagnostic tools</a:t>
            </a:r>
            <a:r>
              <a:rPr lang="en-US" dirty="0"/>
              <a:t>. CAN ensures that critical data is exchanged reliably between different medical devices in real-time.</a:t>
            </a:r>
            <a:endParaRPr lang="en-US" sz="1800" dirty="0"/>
          </a:p>
          <a:p>
            <a:pPr lvl="0"/>
            <a:r>
              <a:rPr lang="en-US" b="1" dirty="0"/>
              <a:t>Embedded Systems and Robotics:</a:t>
            </a:r>
            <a:endParaRPr lang="en-US" sz="2000" dirty="0"/>
          </a:p>
          <a:p>
            <a:pPr lvl="1"/>
            <a:r>
              <a:rPr lang="en-US" dirty="0"/>
              <a:t>CAN is used in </a:t>
            </a:r>
            <a:r>
              <a:rPr lang="en-US" b="1" dirty="0"/>
              <a:t>robotic systems</a:t>
            </a:r>
            <a:r>
              <a:rPr lang="en-US" dirty="0"/>
              <a:t> and </a:t>
            </a:r>
            <a:r>
              <a:rPr lang="en-US" b="1" dirty="0"/>
              <a:t>embedded devices</a:t>
            </a:r>
            <a:r>
              <a:rPr lang="en-US" dirty="0"/>
              <a:t> where </a:t>
            </a:r>
            <a:r>
              <a:rPr lang="en-US" b="1" dirty="0"/>
              <a:t>low latency</a:t>
            </a:r>
            <a:r>
              <a:rPr lang="en-US" dirty="0"/>
              <a:t>, </a:t>
            </a:r>
            <a:r>
              <a:rPr lang="en-US" b="1" dirty="0"/>
              <a:t>high reliability</a:t>
            </a:r>
            <a:r>
              <a:rPr lang="en-US" dirty="0"/>
              <a:t>, and </a:t>
            </a:r>
            <a:r>
              <a:rPr lang="en-US" b="1" dirty="0"/>
              <a:t>real-time performance</a:t>
            </a:r>
            <a:r>
              <a:rPr lang="en-US" dirty="0"/>
              <a:t> are necessary.</a:t>
            </a:r>
            <a:endParaRPr lang="en-US" sz="1800" dirty="0"/>
          </a:p>
          <a:p>
            <a:pPr lvl="1"/>
            <a:r>
              <a:rPr lang="en-US" dirty="0"/>
              <a:t>For instance, a robot might use a CAN network to communicate between different sensors (e.g., cameras, ultrasonic sensors) and actuators (e.g., motors, arms) to perform tasks like navigation or object manipulation.</a:t>
            </a:r>
            <a:endParaRPr lang="en-US" sz="1800" dirty="0"/>
          </a:p>
        </p:txBody>
      </p:sp>
    </p:spTree>
    <p:extLst>
      <p:ext uri="{BB962C8B-B14F-4D97-AF65-F5344CB8AC3E}">
        <p14:creationId xmlns:p14="http://schemas.microsoft.com/office/powerpoint/2010/main" val="12158933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Wired Network</a:t>
            </a:r>
            <a:endParaRPr lang="en-US" dirty="0"/>
          </a:p>
        </p:txBody>
      </p:sp>
      <p:sp>
        <p:nvSpPr>
          <p:cNvPr id="3" name="Content Placeholder 2"/>
          <p:cNvSpPr>
            <a:spLocks noGrp="1"/>
          </p:cNvSpPr>
          <p:nvPr>
            <p:ph idx="1"/>
          </p:nvPr>
        </p:nvSpPr>
        <p:spPr>
          <a:xfrm>
            <a:off x="983923" y="2038458"/>
            <a:ext cx="10224154" cy="3318936"/>
          </a:xfrm>
        </p:spPr>
        <p:txBody>
          <a:bodyPr>
            <a:noAutofit/>
          </a:bodyPr>
          <a:lstStyle/>
          <a:p>
            <a:r>
              <a:rPr lang="en-US" sz="700" dirty="0"/>
              <a:t>A </a:t>
            </a:r>
            <a:r>
              <a:rPr lang="en-US" sz="700" b="1" dirty="0"/>
              <a:t>wired network</a:t>
            </a:r>
            <a:r>
              <a:rPr lang="en-US" sz="700" dirty="0"/>
              <a:t> is a network that uses physical cables to connect devices. These cables could be copper (e.g., Ethernet cables) or fiber optic cables.</a:t>
            </a:r>
          </a:p>
          <a:p>
            <a:r>
              <a:rPr lang="en-US" sz="700" b="1" i="1" dirty="0"/>
              <a:t>Key Features:</a:t>
            </a:r>
          </a:p>
          <a:p>
            <a:pPr lvl="0"/>
            <a:r>
              <a:rPr lang="en-US" sz="700" b="1" dirty="0"/>
              <a:t>Physical Medium</a:t>
            </a:r>
            <a:r>
              <a:rPr lang="en-US" sz="700" dirty="0"/>
              <a:t>: Wired networks rely on physical cables to transmit data between devices.</a:t>
            </a:r>
          </a:p>
          <a:p>
            <a:pPr lvl="1"/>
            <a:r>
              <a:rPr lang="en-US" sz="600" dirty="0"/>
              <a:t>Common types of cables:</a:t>
            </a:r>
          </a:p>
          <a:p>
            <a:pPr lvl="2"/>
            <a:r>
              <a:rPr lang="en-US" sz="600" b="1" dirty="0"/>
              <a:t>Ethernet cables</a:t>
            </a:r>
            <a:r>
              <a:rPr lang="en-US" sz="600" dirty="0"/>
              <a:t> (Cat5, Cat6, Cat7) for local area networks (LANs).</a:t>
            </a:r>
          </a:p>
          <a:p>
            <a:pPr lvl="2"/>
            <a:r>
              <a:rPr lang="en-US" sz="600" b="1" dirty="0"/>
              <a:t>Fiber optic cables</a:t>
            </a:r>
            <a:r>
              <a:rPr lang="en-US" sz="600" dirty="0"/>
              <a:t> for high-speed and long-distance communication (e.g., in WANs).</a:t>
            </a:r>
          </a:p>
          <a:p>
            <a:pPr lvl="0"/>
            <a:r>
              <a:rPr lang="en-US" sz="700" b="1" dirty="0"/>
              <a:t>Speed and Stability</a:t>
            </a:r>
            <a:r>
              <a:rPr lang="en-US" sz="700" dirty="0"/>
              <a:t>: Wired networks generally offer higher speeds and more stable connections compared to wireless networks. Speeds in wired connections can range from 10 Mbps to 100 </a:t>
            </a:r>
            <a:r>
              <a:rPr lang="en-US" sz="700" dirty="0" err="1"/>
              <a:t>Gbps</a:t>
            </a:r>
            <a:r>
              <a:rPr lang="en-US" sz="700" dirty="0"/>
              <a:t> or more, depending on the technology (e.g., fiber optics).</a:t>
            </a:r>
          </a:p>
          <a:p>
            <a:pPr lvl="0"/>
            <a:r>
              <a:rPr lang="en-US" sz="700" b="1" dirty="0"/>
              <a:t>Reliability</a:t>
            </a:r>
            <a:r>
              <a:rPr lang="en-US" sz="700" dirty="0"/>
              <a:t>: Since wired networks are not affected by environmental factors like interference or signal blockage, they tend to be more reliable for continuous data transmission.</a:t>
            </a:r>
          </a:p>
          <a:p>
            <a:pPr lvl="0"/>
            <a:r>
              <a:rPr lang="en-US" sz="700" b="1" dirty="0"/>
              <a:t>Security</a:t>
            </a:r>
            <a:r>
              <a:rPr lang="en-US" sz="700" dirty="0"/>
              <a:t>: Wired networks are generally more secure than wireless networks because the physical connection requires direct access to the network. It is harder for unauthorized users to tap into a wired connection without physical access.</a:t>
            </a:r>
          </a:p>
          <a:p>
            <a:pPr lvl="0"/>
            <a:r>
              <a:rPr lang="en-US" sz="700" b="1" dirty="0"/>
              <a:t>Setup and Maintenance</a:t>
            </a:r>
            <a:r>
              <a:rPr lang="en-US" sz="700" dirty="0"/>
              <a:t>: Installing a wired network requires laying down cables and setting up routers, switches, and other networking devices. It can be more time-consuming and expensive to deploy, especially in large spaces. Maintenance is also more involved since cables and hardware may need regular checks or replacement.</a:t>
            </a:r>
          </a:p>
          <a:p>
            <a:pPr lvl="0"/>
            <a:r>
              <a:rPr lang="en-US" sz="700" b="1" dirty="0"/>
              <a:t>Distance Limitations</a:t>
            </a:r>
            <a:r>
              <a:rPr lang="en-US" sz="700" dirty="0"/>
              <a:t>: While fiber optic cables can carry signals over long distances, copper cables (Ethernet) have distance limitations (e.g., 100 meters for standard Ethernet cables before signal degradation).</a:t>
            </a:r>
          </a:p>
          <a:p>
            <a:pPr lvl="0"/>
            <a:r>
              <a:rPr lang="en-US" sz="700" b="1" dirty="0"/>
              <a:t>Cost</a:t>
            </a:r>
            <a:r>
              <a:rPr lang="en-US" sz="700" dirty="0"/>
              <a:t>: Setting up a wired network can be more expensive initially due to the cost of cables and networking equipment, particularly in large installations.</a:t>
            </a:r>
          </a:p>
          <a:p>
            <a:r>
              <a:rPr lang="en-US" sz="700" b="1" i="1" dirty="0"/>
              <a:t>Common Technologies:</a:t>
            </a:r>
          </a:p>
          <a:p>
            <a:pPr lvl="0"/>
            <a:r>
              <a:rPr lang="en-US" sz="700" b="1" dirty="0"/>
              <a:t>Ethernet</a:t>
            </a:r>
            <a:r>
              <a:rPr lang="en-US" sz="700" dirty="0"/>
              <a:t>: Used primarily in LANs, Ethernet provides fast and reliable data transfer.</a:t>
            </a:r>
          </a:p>
          <a:p>
            <a:pPr lvl="0"/>
            <a:r>
              <a:rPr lang="en-US" sz="700" b="1" dirty="0"/>
              <a:t>Fiber Optic Networks</a:t>
            </a:r>
            <a:r>
              <a:rPr lang="en-US" sz="700" dirty="0"/>
              <a:t>: These are used for high-speed internet connections and long-distance communication, especially in WANs.</a:t>
            </a:r>
          </a:p>
          <a:p>
            <a:pPr lvl="0"/>
            <a:r>
              <a:rPr lang="en-US" sz="700" b="1" dirty="0"/>
              <a:t>Coaxial Cables</a:t>
            </a:r>
            <a:r>
              <a:rPr lang="en-US" sz="700" dirty="0"/>
              <a:t>: Used in some cable internet connections and older LAN setups.</a:t>
            </a:r>
          </a:p>
          <a:p>
            <a:r>
              <a:rPr lang="en-US" sz="700" b="1" i="1" dirty="0"/>
              <a:t>Examples of Use:</a:t>
            </a:r>
          </a:p>
          <a:p>
            <a:pPr lvl="0"/>
            <a:r>
              <a:rPr lang="en-US" sz="700" b="1" dirty="0"/>
              <a:t>Local Area Networks (LANs)</a:t>
            </a:r>
            <a:r>
              <a:rPr lang="en-US" sz="700" dirty="0"/>
              <a:t>: Offices, homes, schools.</a:t>
            </a:r>
          </a:p>
          <a:p>
            <a:pPr lvl="0"/>
            <a:r>
              <a:rPr lang="en-US" sz="700" b="1" dirty="0"/>
              <a:t>Data Centers</a:t>
            </a:r>
            <a:r>
              <a:rPr lang="en-US" sz="700" dirty="0"/>
              <a:t>: Servers are often connected by high-speed fiber optic cables.</a:t>
            </a:r>
          </a:p>
          <a:p>
            <a:r>
              <a:rPr lang="en-US" sz="700" b="1" dirty="0"/>
              <a:t>Long-Distance Networks</a:t>
            </a:r>
            <a:r>
              <a:rPr lang="en-US" sz="700" dirty="0"/>
              <a:t>: Fiber optic cables for internet backbone connections.</a:t>
            </a:r>
          </a:p>
        </p:txBody>
      </p:sp>
    </p:spTree>
    <p:extLst>
      <p:ext uri="{BB962C8B-B14F-4D97-AF65-F5344CB8AC3E}">
        <p14:creationId xmlns:p14="http://schemas.microsoft.com/office/powerpoint/2010/main" val="41604725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Wireless network</a:t>
            </a:r>
            <a:endParaRPr lang="en-US" dirty="0"/>
          </a:p>
        </p:txBody>
      </p:sp>
      <p:sp>
        <p:nvSpPr>
          <p:cNvPr id="3" name="Content Placeholder 2"/>
          <p:cNvSpPr>
            <a:spLocks noGrp="1"/>
          </p:cNvSpPr>
          <p:nvPr>
            <p:ph idx="1"/>
          </p:nvPr>
        </p:nvSpPr>
        <p:spPr>
          <a:xfrm>
            <a:off x="1035770" y="2217567"/>
            <a:ext cx="10120459" cy="3318936"/>
          </a:xfrm>
        </p:spPr>
        <p:txBody>
          <a:bodyPr>
            <a:noAutofit/>
          </a:bodyPr>
          <a:lstStyle/>
          <a:p>
            <a:r>
              <a:rPr lang="en-US" sz="800" b="1" dirty="0"/>
              <a:t>Wireless Network</a:t>
            </a:r>
          </a:p>
          <a:p>
            <a:r>
              <a:rPr lang="en-US" sz="800" dirty="0"/>
              <a:t>A </a:t>
            </a:r>
            <a:r>
              <a:rPr lang="en-US" sz="800" b="1" dirty="0"/>
              <a:t>wireless network</a:t>
            </a:r>
            <a:r>
              <a:rPr lang="en-US" sz="800" dirty="0"/>
              <a:t> uses radio waves or other types of electromagnetic waves to transmit data without the need for physical cables.</a:t>
            </a:r>
          </a:p>
          <a:p>
            <a:r>
              <a:rPr lang="en-US" sz="800" b="1" i="1" dirty="0"/>
              <a:t>Key Features:</a:t>
            </a:r>
          </a:p>
          <a:p>
            <a:pPr lvl="0"/>
            <a:r>
              <a:rPr lang="en-US" sz="800" b="1" dirty="0"/>
              <a:t>No Physical Cables</a:t>
            </a:r>
            <a:r>
              <a:rPr lang="en-US" sz="800" dirty="0"/>
              <a:t>: Wireless networks transmit data through the air using radio waves, infrared, or other wireless communication technologies.</a:t>
            </a:r>
          </a:p>
          <a:p>
            <a:pPr lvl="0"/>
            <a:r>
              <a:rPr lang="en-US" sz="800" b="1" dirty="0"/>
              <a:t>Mobility and Flexibility</a:t>
            </a:r>
            <a:r>
              <a:rPr lang="en-US" sz="800" dirty="0"/>
              <a:t>: One of the primary advantages of wireless networks is that they offer mobility. Users can connect to the network from anywhere within the coverage area without needing to be physically connected.</a:t>
            </a:r>
          </a:p>
          <a:p>
            <a:pPr lvl="0"/>
            <a:r>
              <a:rPr lang="en-US" sz="800" b="1" dirty="0"/>
              <a:t>Speed and Coverage</a:t>
            </a:r>
            <a:r>
              <a:rPr lang="en-US" sz="800" dirty="0"/>
              <a:t>: Wireless networks typically offer lower speeds compared to wired networks due to interference and signal attenuation. However, technologies like Wi-Fi 6 (802.11ax) and 5G are improving wireless speeds significantly. Coverage can vary, and signal strength decreases with distance or obstructions like walls.</a:t>
            </a:r>
          </a:p>
          <a:p>
            <a:pPr lvl="0"/>
            <a:r>
              <a:rPr lang="en-US" sz="800" b="1" dirty="0"/>
              <a:t>Reliability</a:t>
            </a:r>
            <a:r>
              <a:rPr lang="en-US" sz="800" dirty="0"/>
              <a:t>: Wireless networks are susceptible to interference from physical obstacles (walls, metal objects) and other electronic devices (microwaves, cordless phones). This can result in decreased speed and connectivity issues.</a:t>
            </a:r>
          </a:p>
          <a:p>
            <a:pPr lvl="0"/>
            <a:r>
              <a:rPr lang="en-US" sz="800" b="1" dirty="0"/>
              <a:t>Security</a:t>
            </a:r>
            <a:r>
              <a:rPr lang="en-US" sz="800" dirty="0"/>
              <a:t>: Wireless networks are more vulnerable to security risks like eavesdropping, unauthorized access, and interference. Encryption protocols (e.g., WPA3 for Wi-Fi) are used to enhance security, but the risk is still higher compared to wired networks.</a:t>
            </a:r>
          </a:p>
          <a:p>
            <a:pPr lvl="0"/>
            <a:r>
              <a:rPr lang="en-US" sz="800" b="1" dirty="0"/>
              <a:t>Setup and Maintenance</a:t>
            </a:r>
            <a:r>
              <a:rPr lang="en-US" sz="800" dirty="0"/>
              <a:t>: Wireless networks are easier and quicker to set up because they don't require physical cables. However, signal strength and coverage can be challenging to manage, especially in large or obstructed areas.</a:t>
            </a:r>
          </a:p>
          <a:p>
            <a:pPr lvl="0"/>
            <a:r>
              <a:rPr lang="en-US" sz="800" b="1" dirty="0"/>
              <a:t>Cost</a:t>
            </a:r>
            <a:r>
              <a:rPr lang="en-US" sz="800" dirty="0"/>
              <a:t>: Wireless networks are generally cheaper to set up because they eliminate the need for cables and physical connections. However, more advanced wireless technologies like 5G can incur higher operational costs for both users and service providers.</a:t>
            </a:r>
          </a:p>
          <a:p>
            <a:pPr lvl="0"/>
            <a:r>
              <a:rPr lang="en-US" sz="800" b="1" dirty="0"/>
              <a:t>Distance Limitations</a:t>
            </a:r>
            <a:r>
              <a:rPr lang="en-US" sz="800" dirty="0"/>
              <a:t>: Wireless networks are limited by the range of the signal. Wi-Fi typically covers ranges from 30 meters (indoors) to over 100 meters (outdoors) depending on the standard (e.g., Wi-Fi 4, Wi-Fi 5, Wi-Fi 6).</a:t>
            </a:r>
          </a:p>
          <a:p>
            <a:r>
              <a:rPr lang="en-US" sz="800" b="1" i="1" dirty="0"/>
              <a:t>Common Technologies:</a:t>
            </a:r>
          </a:p>
          <a:p>
            <a:pPr lvl="0"/>
            <a:r>
              <a:rPr lang="en-US" sz="800" b="1" dirty="0"/>
              <a:t>Wi-Fi</a:t>
            </a:r>
            <a:r>
              <a:rPr lang="en-US" sz="800" dirty="0"/>
              <a:t>: Most commonly used for wireless local area networks (WLANs) in homes, offices, and public places.</a:t>
            </a:r>
          </a:p>
          <a:p>
            <a:pPr lvl="0"/>
            <a:r>
              <a:rPr lang="en-US" sz="800" b="1" dirty="0"/>
              <a:t>Bluetooth</a:t>
            </a:r>
            <a:r>
              <a:rPr lang="en-US" sz="800" dirty="0"/>
              <a:t>: Used for short-range communication between devices like phones, computers, and peripherals (e.g., headsets, keyboards).</a:t>
            </a:r>
          </a:p>
          <a:p>
            <a:pPr lvl="0"/>
            <a:r>
              <a:rPr lang="en-US" sz="800" b="1" dirty="0"/>
              <a:t>5G / 4G LTE</a:t>
            </a:r>
            <a:r>
              <a:rPr lang="en-US" sz="800" dirty="0"/>
              <a:t>: Mobile wireless technologies that provide high-speed internet to smartphones and mobile devices over wide areas.</a:t>
            </a:r>
          </a:p>
          <a:p>
            <a:pPr lvl="0"/>
            <a:r>
              <a:rPr lang="en-US" sz="800" b="1" dirty="0" err="1"/>
              <a:t>Zigbee</a:t>
            </a:r>
            <a:r>
              <a:rPr lang="en-US" sz="800" b="1" dirty="0"/>
              <a:t> / </a:t>
            </a:r>
            <a:r>
              <a:rPr lang="en-US" sz="800" b="1" dirty="0" err="1"/>
              <a:t>LoRa</a:t>
            </a:r>
            <a:r>
              <a:rPr lang="en-US" sz="800" dirty="0"/>
              <a:t>: Low-power, low-range technologies for the Internet of Things (</a:t>
            </a:r>
            <a:r>
              <a:rPr lang="en-US" sz="800" dirty="0" err="1"/>
              <a:t>IoT</a:t>
            </a:r>
            <a:r>
              <a:rPr lang="en-US" sz="800" dirty="0"/>
              <a:t>) applications.</a:t>
            </a:r>
          </a:p>
          <a:p>
            <a:r>
              <a:rPr lang="en-US" sz="800" dirty="0"/>
              <a:t> </a:t>
            </a:r>
          </a:p>
        </p:txBody>
      </p:sp>
    </p:spTree>
    <p:extLst>
      <p:ext uri="{BB962C8B-B14F-4D97-AF65-F5344CB8AC3E}">
        <p14:creationId xmlns:p14="http://schemas.microsoft.com/office/powerpoint/2010/main" val="37066974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Topologies</a:t>
            </a: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dirty="0"/>
              <a:t>A network topology is the arrangement of devices (nodes) and connections (links) in a computer network. It shows how computers, servers, and other devices are connected and how data flows between them. There are two main types of topology:</a:t>
            </a:r>
          </a:p>
          <a:p>
            <a:pPr fontAlgn="base"/>
            <a:r>
              <a:rPr lang="en-US" b="1" dirty="0"/>
              <a:t>Physical Topology: </a:t>
            </a:r>
            <a:r>
              <a:rPr lang="en-US" dirty="0"/>
              <a:t>The actual physical layout of cables and devices.</a:t>
            </a:r>
          </a:p>
          <a:p>
            <a:pPr fontAlgn="base"/>
            <a:r>
              <a:rPr lang="en-US" b="1" dirty="0"/>
              <a:t>Logical Topology:</a:t>
            </a:r>
            <a:r>
              <a:rPr lang="en-US" dirty="0"/>
              <a:t> How data moves across the network, regardless of physical layout</a:t>
            </a:r>
            <a:r>
              <a:rPr lang="en-US" dirty="0" smtClean="0"/>
              <a:t>.</a:t>
            </a:r>
          </a:p>
          <a:p>
            <a:pPr fontAlgn="base"/>
            <a:r>
              <a:rPr lang="en-US" b="1" dirty="0"/>
              <a:t>Basic Terminology Related to Network Topology</a:t>
            </a:r>
          </a:p>
          <a:p>
            <a:pPr fontAlgn="base"/>
            <a:r>
              <a:rPr lang="en-US" b="1" dirty="0"/>
              <a:t>Node: </a:t>
            </a:r>
            <a:r>
              <a:rPr lang="en-US" dirty="0"/>
              <a:t>A node refers to any device or point in the network, such as computers</a:t>
            </a:r>
            <a:r>
              <a:rPr lang="en-US" u="sng" dirty="0">
                <a:hlinkClick r:id="rId2"/>
              </a:rPr>
              <a:t>, servers</a:t>
            </a:r>
            <a:r>
              <a:rPr lang="en-US" dirty="0"/>
              <a:t>, </a:t>
            </a:r>
            <a:r>
              <a:rPr lang="en-US" u="sng" dirty="0">
                <a:hlinkClick r:id="rId3"/>
              </a:rPr>
              <a:t>routers</a:t>
            </a:r>
            <a:r>
              <a:rPr lang="en-US" dirty="0"/>
              <a:t>, or </a:t>
            </a:r>
            <a:r>
              <a:rPr lang="en-US" u="sng" dirty="0">
                <a:hlinkClick r:id="rId4"/>
              </a:rPr>
              <a:t>switches</a:t>
            </a:r>
            <a:r>
              <a:rPr lang="en-US" dirty="0"/>
              <a:t>. These nodes are crucial for transmitting and receiving data within the network.</a:t>
            </a:r>
          </a:p>
          <a:p>
            <a:pPr fontAlgn="base"/>
            <a:r>
              <a:rPr lang="en-US" b="1" dirty="0"/>
              <a:t>Link: </a:t>
            </a:r>
            <a:r>
              <a:rPr lang="en-US" dirty="0"/>
              <a:t>A link signifies a physical or logical connection between two nodes, allowing data to flow between them. Links can be wired </a:t>
            </a:r>
            <a:r>
              <a:rPr lang="en-US" u="sng" dirty="0">
                <a:hlinkClick r:id="rId5"/>
              </a:rPr>
              <a:t>(Ethernet cables)</a:t>
            </a:r>
            <a:r>
              <a:rPr lang="en-US" dirty="0"/>
              <a:t> or wireless</a:t>
            </a:r>
            <a:r>
              <a:rPr lang="en-US" u="sng" dirty="0">
                <a:hlinkClick r:id="rId6"/>
              </a:rPr>
              <a:t> (Wi-Fi).</a:t>
            </a:r>
            <a:endParaRPr lang="en-US" dirty="0"/>
          </a:p>
          <a:p>
            <a:pPr fontAlgn="base"/>
            <a:r>
              <a:rPr lang="en-US" b="1" dirty="0"/>
              <a:t>Topology: </a:t>
            </a:r>
            <a:r>
              <a:rPr lang="en-US" dirty="0"/>
              <a:t>Topology is the arrangement or layout of nodes and links in a network. It determines how devices are interconnected and how data travels within the network</a:t>
            </a:r>
            <a:r>
              <a:rPr lang="en-US" dirty="0" smtClean="0"/>
              <a:t>.</a:t>
            </a:r>
            <a:endParaRPr lang="en-US" dirty="0"/>
          </a:p>
        </p:txBody>
      </p:sp>
    </p:spTree>
    <p:extLst>
      <p:ext uri="{BB962C8B-B14F-4D97-AF65-F5344CB8AC3E}">
        <p14:creationId xmlns:p14="http://schemas.microsoft.com/office/powerpoint/2010/main" val="4958223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Network Topologies</a:t>
            </a:r>
            <a:endParaRPr lang="en-US" dirty="0"/>
          </a:p>
        </p:txBody>
      </p:sp>
      <p:sp>
        <p:nvSpPr>
          <p:cNvPr id="3" name="Content Placeholder 2"/>
          <p:cNvSpPr>
            <a:spLocks noGrp="1"/>
          </p:cNvSpPr>
          <p:nvPr>
            <p:ph idx="1"/>
          </p:nvPr>
        </p:nvSpPr>
        <p:spPr>
          <a:xfrm>
            <a:off x="1295401" y="2556932"/>
            <a:ext cx="4973424" cy="3318936"/>
          </a:xfrm>
        </p:spPr>
        <p:txBody>
          <a:bodyPr>
            <a:normAutofit fontScale="92500"/>
          </a:bodyPr>
          <a:lstStyle/>
          <a:p>
            <a:r>
              <a:rPr lang="en-US" dirty="0" smtClean="0"/>
              <a:t>P Topology </a:t>
            </a:r>
          </a:p>
          <a:p>
            <a:r>
              <a:rPr lang="en-US" dirty="0"/>
              <a:t>Point-to-point topology is a type of topology that works on the functionality of the sender and receiver. </a:t>
            </a:r>
            <a:endParaRPr lang="en-US" dirty="0" smtClean="0"/>
          </a:p>
          <a:p>
            <a:r>
              <a:rPr lang="en-US" dirty="0" smtClean="0"/>
              <a:t>It </a:t>
            </a:r>
            <a:r>
              <a:rPr lang="en-US" dirty="0"/>
              <a:t>is the simplest communication between two nodes, in which one is the sender and the other one is the receiver. Point-to-Point provides high bandwidth.</a:t>
            </a:r>
          </a:p>
          <a:p>
            <a:endParaRPr lang="en-US" dirty="0"/>
          </a:p>
        </p:txBody>
      </p:sp>
      <p:sp>
        <p:nvSpPr>
          <p:cNvPr id="4" name="AutoShape 2" descr="types_of_physical_topology_2"/>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types_of_physical_topology_2"/>
          <p:cNvSpPr>
            <a:spLocks noChangeAspect="1" noChangeArrowheads="1"/>
          </p:cNvSpPr>
          <p:nvPr/>
        </p:nvSpPr>
        <p:spPr bwMode="auto">
          <a:xfrm>
            <a:off x="6842409" y="2168165"/>
            <a:ext cx="3817844" cy="38178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descr="P2P Top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9938" y="3360656"/>
            <a:ext cx="5334000" cy="96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4765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Mesh Topology</a:t>
            </a:r>
          </a:p>
        </p:txBody>
      </p:sp>
      <p:sp>
        <p:nvSpPr>
          <p:cNvPr id="3" name="Content Placeholder 2"/>
          <p:cNvSpPr>
            <a:spLocks noGrp="1"/>
          </p:cNvSpPr>
          <p:nvPr>
            <p:ph idx="1"/>
          </p:nvPr>
        </p:nvSpPr>
        <p:spPr>
          <a:xfrm>
            <a:off x="1295401" y="2556932"/>
            <a:ext cx="5284508" cy="3318936"/>
          </a:xfrm>
        </p:spPr>
        <p:txBody>
          <a:bodyPr>
            <a:normAutofit fontScale="92500" lnSpcReduction="20000"/>
          </a:bodyPr>
          <a:lstStyle/>
          <a:p>
            <a:pPr fontAlgn="base"/>
            <a:r>
              <a:rPr lang="en-US" dirty="0" smtClean="0"/>
              <a:t>In </a:t>
            </a:r>
            <a:r>
              <a:rPr lang="en-US" dirty="0"/>
              <a:t>a mesh topology, every device is connected to another device via a particular channel. </a:t>
            </a:r>
            <a:endParaRPr lang="en-US" dirty="0" smtClean="0"/>
          </a:p>
          <a:p>
            <a:pPr fontAlgn="base"/>
            <a:r>
              <a:rPr lang="en-US" dirty="0" smtClean="0"/>
              <a:t>Every </a:t>
            </a:r>
            <a:r>
              <a:rPr lang="en-US" dirty="0"/>
              <a:t>device is connected to another via dedicated channels. These channels are known as links. </a:t>
            </a:r>
            <a:endParaRPr lang="en-US" dirty="0" smtClean="0"/>
          </a:p>
          <a:p>
            <a:pPr fontAlgn="base"/>
            <a:r>
              <a:rPr lang="en-US" dirty="0" smtClean="0"/>
              <a:t>In </a:t>
            </a:r>
            <a:r>
              <a:rPr lang="en-US" dirty="0"/>
              <a:t>Mesh Topology, the protocols used are AHCP (Ad Hoc Configuration Protocols), </a:t>
            </a:r>
            <a:r>
              <a:rPr lang="en-US" u="sng" dirty="0">
                <a:hlinkClick r:id="rId2"/>
              </a:rPr>
              <a:t>DHCP </a:t>
            </a:r>
            <a:r>
              <a:rPr lang="en-US" dirty="0"/>
              <a:t>(Dynamic Host Configuration Protocol), etc.</a:t>
            </a:r>
          </a:p>
        </p:txBody>
      </p:sp>
      <p:pic>
        <p:nvPicPr>
          <p:cNvPr id="4" name="Picture 3" descr="Mesh-Topology"/>
          <p:cNvPicPr/>
          <p:nvPr/>
        </p:nvPicPr>
        <p:blipFill>
          <a:blip r:embed="rId3">
            <a:extLst>
              <a:ext uri="{28A0092B-C50C-407E-A947-70E740481C1C}">
                <a14:useLocalDpi xmlns:a14="http://schemas.microsoft.com/office/drawing/2010/main" val="0"/>
              </a:ext>
            </a:extLst>
          </a:blip>
          <a:srcRect/>
          <a:stretch>
            <a:fillRect/>
          </a:stretch>
        </p:blipFill>
        <p:spPr bwMode="auto">
          <a:xfrm>
            <a:off x="7041823" y="2285999"/>
            <a:ext cx="4103229" cy="3648549"/>
          </a:xfrm>
          <a:prstGeom prst="rect">
            <a:avLst/>
          </a:prstGeom>
          <a:noFill/>
          <a:ln>
            <a:noFill/>
          </a:ln>
        </p:spPr>
      </p:pic>
    </p:spTree>
    <p:extLst>
      <p:ext uri="{BB962C8B-B14F-4D97-AF65-F5344CB8AC3E}">
        <p14:creationId xmlns:p14="http://schemas.microsoft.com/office/powerpoint/2010/main" val="4611345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2556932"/>
            <a:ext cx="6575980" cy="3318936"/>
          </a:xfrm>
        </p:spPr>
        <p:txBody>
          <a:bodyPr>
            <a:noAutofit/>
          </a:bodyPr>
          <a:lstStyle/>
          <a:p>
            <a:pPr lvl="0" fontAlgn="base"/>
            <a:r>
              <a:rPr lang="en-US" sz="1100" dirty="0"/>
              <a:t>Suppose, the N number of devices are connected with each other in a mesh topology, the total number of ports that are required by each device is N−</a:t>
            </a:r>
            <a:r>
              <a:rPr lang="en-US" sz="1100" dirty="0" smtClean="0"/>
              <a:t>1. </a:t>
            </a:r>
            <a:r>
              <a:rPr lang="en-US" sz="1100" dirty="0"/>
              <a:t>In Figure , there are 6 devices connected to each other, hence the total number of ports required by each device is 5. The total number of ports required = N * (</a:t>
            </a:r>
            <a:r>
              <a:rPr lang="en-US" sz="1100" dirty="0" smtClean="0"/>
              <a:t>N-1)</a:t>
            </a:r>
            <a:endParaRPr lang="en-US" sz="1100" dirty="0"/>
          </a:p>
          <a:p>
            <a:pPr lvl="0" fontAlgn="base"/>
            <a:r>
              <a:rPr lang="en-US" sz="1100" dirty="0"/>
              <a:t>Suppose, N number of devices are connected with each other in a mesh topology, then the total number of dedicated links required to connect them is </a:t>
            </a:r>
            <a:r>
              <a:rPr lang="en-US" sz="1100" dirty="0" smtClean="0"/>
              <a:t>NC2</a:t>
            </a:r>
            <a:r>
              <a:rPr lang="en-US" sz="1100" i="1" dirty="0" smtClean="0"/>
              <a:t>​</a:t>
            </a:r>
            <a:r>
              <a:rPr lang="en-US" sz="1100" i="1" dirty="0"/>
              <a:t> i.e. N * (N-1</a:t>
            </a:r>
            <a:r>
              <a:rPr lang="en-US" sz="1100" i="1" dirty="0" smtClean="0"/>
              <a:t>)/2</a:t>
            </a:r>
            <a:r>
              <a:rPr lang="en-US" sz="1100" i="1" dirty="0"/>
              <a:t>. In Figure, there are 6 devices connected to each other, hence the total number of links required is 6 * 5/2 = </a:t>
            </a:r>
            <a:r>
              <a:rPr lang="en-US" sz="1100" i="1" dirty="0" smtClean="0"/>
              <a:t>15.</a:t>
            </a:r>
          </a:p>
          <a:p>
            <a:pPr lvl="0" fontAlgn="base"/>
            <a:r>
              <a:rPr lang="en-US" sz="1100" dirty="0" smtClean="0"/>
              <a:t> </a:t>
            </a:r>
            <a:r>
              <a:rPr lang="en-US" sz="1100" b="1" dirty="0"/>
              <a:t>Advantages of Mesh Topology</a:t>
            </a:r>
          </a:p>
          <a:p>
            <a:pPr lvl="0" fontAlgn="base"/>
            <a:r>
              <a:rPr lang="en-US" sz="1100" dirty="0"/>
              <a:t>Communication is very fast between the nodes.</a:t>
            </a:r>
          </a:p>
          <a:p>
            <a:pPr lvl="0" fontAlgn="base"/>
            <a:r>
              <a:rPr lang="en-US" sz="1100" dirty="0"/>
              <a:t>Mesh Topology is robust.</a:t>
            </a:r>
          </a:p>
          <a:p>
            <a:pPr lvl="0" fontAlgn="base"/>
            <a:r>
              <a:rPr lang="en-US" sz="1100" dirty="0"/>
              <a:t>The fault is diagnosed easily. Data is reliable because data is transferred among the devices through dedicated channels or links.</a:t>
            </a:r>
          </a:p>
          <a:p>
            <a:pPr lvl="0" fontAlgn="base"/>
            <a:r>
              <a:rPr lang="en-US" sz="1100" dirty="0"/>
              <a:t>Provides security and privacy.</a:t>
            </a:r>
          </a:p>
          <a:p>
            <a:pPr lvl="0" fontAlgn="base"/>
            <a:r>
              <a:rPr lang="en-US" sz="1100" b="1" dirty="0"/>
              <a:t>Disadvantages of Mesh Topology</a:t>
            </a:r>
          </a:p>
          <a:p>
            <a:pPr lvl="0" fontAlgn="base"/>
            <a:r>
              <a:rPr lang="en-US" sz="1100" dirty="0"/>
              <a:t>Installation and configuration are difficult.</a:t>
            </a:r>
          </a:p>
          <a:p>
            <a:pPr lvl="0" fontAlgn="base"/>
            <a:r>
              <a:rPr lang="en-US" sz="1100" dirty="0"/>
              <a:t>The cost of cables is high as bulk wiring is required, hence suitable for less number of devices.</a:t>
            </a:r>
          </a:p>
          <a:p>
            <a:pPr lvl="0" fontAlgn="base"/>
            <a:r>
              <a:rPr lang="en-US" sz="1100" dirty="0"/>
              <a:t>The cost of maintenance is high</a:t>
            </a:r>
            <a:r>
              <a:rPr lang="en-US" sz="1100" dirty="0" smtClean="0"/>
              <a:t>.</a:t>
            </a:r>
          </a:p>
        </p:txBody>
      </p:sp>
      <p:sp>
        <p:nvSpPr>
          <p:cNvPr id="4" name="Rectangle 3"/>
          <p:cNvSpPr/>
          <p:nvPr/>
        </p:nvSpPr>
        <p:spPr>
          <a:xfrm>
            <a:off x="7619999" y="3384223"/>
            <a:ext cx="4003250" cy="2308324"/>
          </a:xfrm>
          <a:prstGeom prst="rect">
            <a:avLst/>
          </a:prstGeom>
        </p:spPr>
        <p:txBody>
          <a:bodyPr wrap="square">
            <a:spAutoFit/>
          </a:bodyPr>
          <a:lstStyle/>
          <a:p>
            <a:r>
              <a:rPr lang="en-US" b="1" i="1" spc="10" dirty="0">
                <a:solidFill>
                  <a:srgbClr val="273239"/>
                </a:solidFill>
                <a:latin typeface="Arial" panose="020B0604020202020204" pitchFamily="34" charset="0"/>
                <a:ea typeface="Times New Roman" panose="02020603050405020304" pitchFamily="18" charset="0"/>
              </a:rPr>
              <a:t>Note: </a:t>
            </a:r>
            <a:r>
              <a:rPr lang="en-US" i="1" spc="10" dirty="0">
                <a:solidFill>
                  <a:srgbClr val="273239"/>
                </a:solidFill>
                <a:latin typeface="Arial" panose="020B0604020202020204" pitchFamily="34" charset="0"/>
                <a:ea typeface="Times New Roman" panose="02020603050405020304" pitchFamily="18" charset="0"/>
              </a:rPr>
              <a:t>A common example of mesh topology is the internet backbone, where various internet service providers are connected to each other via dedicated channels. This topology is also used in military communication systems and aircraft navigation systems. </a:t>
            </a:r>
            <a:endParaRPr lang="en-US" dirty="0"/>
          </a:p>
        </p:txBody>
      </p:sp>
    </p:spTree>
    <p:extLst>
      <p:ext uri="{BB962C8B-B14F-4D97-AF65-F5344CB8AC3E}">
        <p14:creationId xmlns:p14="http://schemas.microsoft.com/office/powerpoint/2010/main" val="37965651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 Topology</a:t>
            </a:r>
            <a:endParaRPr lang="en-US" dirty="0"/>
          </a:p>
        </p:txBody>
      </p:sp>
      <p:sp>
        <p:nvSpPr>
          <p:cNvPr id="3" name="Content Placeholder 2"/>
          <p:cNvSpPr>
            <a:spLocks noGrp="1"/>
          </p:cNvSpPr>
          <p:nvPr>
            <p:ph idx="1"/>
          </p:nvPr>
        </p:nvSpPr>
        <p:spPr>
          <a:xfrm>
            <a:off x="1295401" y="2556932"/>
            <a:ext cx="5491898" cy="3318936"/>
          </a:xfrm>
        </p:spPr>
        <p:txBody>
          <a:bodyPr>
            <a:normAutofit fontScale="77500" lnSpcReduction="20000"/>
          </a:bodyPr>
          <a:lstStyle/>
          <a:p>
            <a:pPr fontAlgn="base"/>
            <a:r>
              <a:rPr lang="en-US" dirty="0"/>
              <a:t>In Star Topology, all the devices are connected to a single hub through a cable. </a:t>
            </a:r>
            <a:endParaRPr lang="en-US" dirty="0" smtClean="0"/>
          </a:p>
          <a:p>
            <a:pPr fontAlgn="base"/>
            <a:r>
              <a:rPr lang="en-US" dirty="0" smtClean="0"/>
              <a:t>This </a:t>
            </a:r>
            <a:r>
              <a:rPr lang="en-US" dirty="0"/>
              <a:t>hub is the central node and all other nodes are connected to the central node. </a:t>
            </a:r>
            <a:endParaRPr lang="en-US" dirty="0" smtClean="0"/>
          </a:p>
          <a:p>
            <a:pPr fontAlgn="base"/>
            <a:r>
              <a:rPr lang="en-US" dirty="0" smtClean="0"/>
              <a:t>The </a:t>
            </a:r>
            <a:r>
              <a:rPr lang="en-US" dirty="0"/>
              <a:t>hub can be passive in nature i.e., not an intelligent hub such as broadcasting devices, at the same time the hub can be intelligent known as an active hub. Active hubs have repeaters in them</a:t>
            </a:r>
            <a:r>
              <a:rPr lang="en-US" dirty="0" smtClean="0"/>
              <a:t>.</a:t>
            </a:r>
          </a:p>
          <a:p>
            <a:pPr fontAlgn="base"/>
            <a:r>
              <a:rPr lang="en-US" b="1" i="1" dirty="0"/>
              <a:t>Note: </a:t>
            </a:r>
            <a:r>
              <a:rPr lang="en-US" i="1" dirty="0"/>
              <a:t>Here, Coaxial cables or RJ-45 cables are used to connect the computers &amp; many popular </a:t>
            </a:r>
            <a:r>
              <a:rPr lang="en-US" i="1" u="sng" dirty="0">
                <a:hlinkClick r:id="rId2"/>
              </a:rPr>
              <a:t>Ethernet </a:t>
            </a:r>
            <a:r>
              <a:rPr lang="en-US" i="1" dirty="0"/>
              <a:t>LAN protocols are used as CD(Collision Detection), </a:t>
            </a:r>
            <a:r>
              <a:rPr lang="en-US" i="1" u="sng" dirty="0">
                <a:hlinkClick r:id="rId3"/>
              </a:rPr>
              <a:t>CSMA </a:t>
            </a:r>
            <a:r>
              <a:rPr lang="en-US" i="1" dirty="0"/>
              <a:t>(Carrier Sense Multiple Access), etc. </a:t>
            </a:r>
            <a:endParaRPr lang="en-US" dirty="0"/>
          </a:p>
        </p:txBody>
      </p:sp>
      <p:pic>
        <p:nvPicPr>
          <p:cNvPr id="4" name="Picture 3" descr="Star-Topology"/>
          <p:cNvPicPr/>
          <p:nvPr/>
        </p:nvPicPr>
        <p:blipFill>
          <a:blip r:embed="rId4">
            <a:extLst>
              <a:ext uri="{28A0092B-C50C-407E-A947-70E740481C1C}">
                <a14:useLocalDpi xmlns:a14="http://schemas.microsoft.com/office/drawing/2010/main" val="0"/>
              </a:ext>
            </a:extLst>
          </a:blip>
          <a:srcRect/>
          <a:stretch>
            <a:fillRect/>
          </a:stretch>
        </p:blipFill>
        <p:spPr bwMode="auto">
          <a:xfrm>
            <a:off x="6787299" y="2894029"/>
            <a:ext cx="4232063" cy="2309942"/>
          </a:xfrm>
          <a:prstGeom prst="rect">
            <a:avLst/>
          </a:prstGeom>
          <a:noFill/>
          <a:ln>
            <a:noFill/>
          </a:ln>
        </p:spPr>
      </p:pic>
    </p:spTree>
    <p:extLst>
      <p:ext uri="{BB962C8B-B14F-4D97-AF65-F5344CB8AC3E}">
        <p14:creationId xmlns:p14="http://schemas.microsoft.com/office/powerpoint/2010/main" val="9672722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2556932"/>
            <a:ext cx="4926290" cy="3318936"/>
          </a:xfrm>
        </p:spPr>
        <p:txBody>
          <a:bodyPr>
            <a:noAutofit/>
          </a:bodyPr>
          <a:lstStyle/>
          <a:p>
            <a:pPr fontAlgn="base"/>
            <a:r>
              <a:rPr lang="en-US" sz="1200" b="1" dirty="0"/>
              <a:t>Advantages of Star Topology</a:t>
            </a:r>
          </a:p>
          <a:p>
            <a:pPr lvl="0" fontAlgn="base"/>
            <a:r>
              <a:rPr lang="en-US" sz="1200" dirty="0"/>
              <a:t>If N devices are connected to each other in a star topology, then the number of cables required to connect them is N. So, it is easy to set up.</a:t>
            </a:r>
          </a:p>
          <a:p>
            <a:pPr lvl="0" fontAlgn="base"/>
            <a:r>
              <a:rPr lang="en-US" sz="1200" dirty="0"/>
              <a:t>Each device requires only 1 port i.e. to connect to the hub, therefore the total number of ports required is N.</a:t>
            </a:r>
          </a:p>
          <a:p>
            <a:pPr lvl="0" fontAlgn="base"/>
            <a:r>
              <a:rPr lang="en-US" sz="1200" dirty="0"/>
              <a:t>It is Robust. If one link fails only that link will affect and not other than that.</a:t>
            </a:r>
          </a:p>
          <a:p>
            <a:pPr lvl="0" fontAlgn="base"/>
            <a:r>
              <a:rPr lang="en-US" sz="1200" dirty="0"/>
              <a:t>Easy to fault identification and fault isolation.</a:t>
            </a:r>
          </a:p>
          <a:p>
            <a:pPr lvl="0" fontAlgn="base"/>
            <a:r>
              <a:rPr lang="en-US" sz="1200" dirty="0"/>
              <a:t>Star topology is cost-effective as it uses inexpensive coaxial cable.</a:t>
            </a:r>
          </a:p>
          <a:p>
            <a:pPr fontAlgn="base"/>
            <a:r>
              <a:rPr lang="en-US" sz="1200" b="1" dirty="0"/>
              <a:t>Disadvantages of Star Topology</a:t>
            </a:r>
          </a:p>
          <a:p>
            <a:pPr lvl="0" fontAlgn="base"/>
            <a:r>
              <a:rPr lang="en-US" sz="1200" dirty="0"/>
              <a:t>If the concentrator (hub) on which the whole topology relies fails, the whole system will crash down.</a:t>
            </a:r>
          </a:p>
          <a:p>
            <a:pPr lvl="0" fontAlgn="base"/>
            <a:r>
              <a:rPr lang="en-US" sz="1200" dirty="0"/>
              <a:t>The cost of installation is high.</a:t>
            </a:r>
          </a:p>
          <a:p>
            <a:pPr lvl="0" fontAlgn="base"/>
            <a:r>
              <a:rPr lang="en-US" sz="1200" dirty="0"/>
              <a:t>Performance is based on the single concentrator i.e. hub.</a:t>
            </a:r>
          </a:p>
        </p:txBody>
      </p:sp>
      <p:sp>
        <p:nvSpPr>
          <p:cNvPr id="4" name="Rectangle 3"/>
          <p:cNvSpPr/>
          <p:nvPr/>
        </p:nvSpPr>
        <p:spPr>
          <a:xfrm>
            <a:off x="6221691" y="3180529"/>
            <a:ext cx="4879942" cy="1754326"/>
          </a:xfrm>
          <a:prstGeom prst="rect">
            <a:avLst/>
          </a:prstGeom>
        </p:spPr>
        <p:txBody>
          <a:bodyPr wrap="square">
            <a:spAutoFit/>
          </a:bodyPr>
          <a:lstStyle/>
          <a:p>
            <a:r>
              <a:rPr lang="en-US" b="1" i="1" spc="10" dirty="0">
                <a:solidFill>
                  <a:srgbClr val="273239"/>
                </a:solidFill>
                <a:latin typeface="Arial" panose="020B0604020202020204" pitchFamily="34" charset="0"/>
                <a:ea typeface="Times New Roman" panose="02020603050405020304" pitchFamily="18" charset="0"/>
              </a:rPr>
              <a:t>Note: </a:t>
            </a:r>
            <a:r>
              <a:rPr lang="en-US" i="1" spc="10" dirty="0">
                <a:solidFill>
                  <a:srgbClr val="273239"/>
                </a:solidFill>
                <a:latin typeface="Arial" panose="020B0604020202020204" pitchFamily="34" charset="0"/>
                <a:ea typeface="Times New Roman" panose="02020603050405020304" pitchFamily="18" charset="0"/>
              </a:rPr>
              <a:t>A common example of star topology is a local area network (LAN) in an office where all computers are connected to a central hub. This topology is also used in wireless networks where all devices are connected to a wireless access point. </a:t>
            </a:r>
            <a:endParaRPr lang="en-US" dirty="0"/>
          </a:p>
        </p:txBody>
      </p:sp>
    </p:spTree>
    <p:extLst>
      <p:ext uri="{BB962C8B-B14F-4D97-AF65-F5344CB8AC3E}">
        <p14:creationId xmlns:p14="http://schemas.microsoft.com/office/powerpoint/2010/main" val="2184024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 Topology</a:t>
            </a:r>
            <a:endParaRPr lang="en-US" dirty="0"/>
          </a:p>
        </p:txBody>
      </p:sp>
      <p:sp>
        <p:nvSpPr>
          <p:cNvPr id="3" name="Content Placeholder 2"/>
          <p:cNvSpPr>
            <a:spLocks noGrp="1"/>
          </p:cNvSpPr>
          <p:nvPr>
            <p:ph idx="1"/>
          </p:nvPr>
        </p:nvSpPr>
        <p:spPr>
          <a:xfrm>
            <a:off x="1295401" y="2556932"/>
            <a:ext cx="6198908" cy="3318936"/>
          </a:xfrm>
        </p:spPr>
        <p:txBody>
          <a:bodyPr>
            <a:normAutofit fontScale="70000" lnSpcReduction="20000"/>
          </a:bodyPr>
          <a:lstStyle/>
          <a:p>
            <a:r>
              <a:rPr lang="en-US" dirty="0"/>
              <a:t>In case of </a:t>
            </a:r>
            <a:r>
              <a:rPr lang="en-US" dirty="0">
                <a:hlinkClick r:id="rId2"/>
              </a:rPr>
              <a:t>Bus topology</a:t>
            </a:r>
            <a:r>
              <a:rPr lang="en-US" dirty="0"/>
              <a:t>, all devices share single communication line or </a:t>
            </a:r>
            <a:r>
              <a:rPr lang="en-US" dirty="0" err="1"/>
              <a:t>cable.Bus</a:t>
            </a:r>
            <a:r>
              <a:rPr lang="en-US" dirty="0"/>
              <a:t> topology may have problem while multiple hosts sending data at the same time. </a:t>
            </a:r>
            <a:endParaRPr lang="en-US" dirty="0" smtClean="0"/>
          </a:p>
          <a:p>
            <a:r>
              <a:rPr lang="en-US" dirty="0" smtClean="0"/>
              <a:t>Therefore</a:t>
            </a:r>
            <a:r>
              <a:rPr lang="en-US" dirty="0"/>
              <a:t>, Bus topology either uses CSMA/CD technology or recognizes one host as Bus Master to solve the issue. It is one of the simple forms of networking where a failure of a device does not affect the other devices. </a:t>
            </a:r>
            <a:endParaRPr lang="en-US" dirty="0" smtClean="0"/>
          </a:p>
          <a:p>
            <a:r>
              <a:rPr lang="en-US" dirty="0" smtClean="0"/>
              <a:t>But </a:t>
            </a:r>
            <a:r>
              <a:rPr lang="en-US" dirty="0"/>
              <a:t>failure of the shared communication line can make all other devices stop </a:t>
            </a:r>
            <a:r>
              <a:rPr lang="en-US" dirty="0" smtClean="0"/>
              <a:t>functioning. </a:t>
            </a:r>
          </a:p>
          <a:p>
            <a:r>
              <a:rPr lang="en-US" dirty="0" smtClean="0"/>
              <a:t>Both </a:t>
            </a:r>
            <a:r>
              <a:rPr lang="en-US" dirty="0"/>
              <a:t>ends of the shared channel have line terminator. The data is sent in only one direction and as soon as it reaches the extreme end, the terminator removes the data from the line.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9538" y="2686737"/>
            <a:ext cx="3602180" cy="2441443"/>
          </a:xfrm>
          <a:prstGeom prst="rect">
            <a:avLst/>
          </a:prstGeom>
        </p:spPr>
      </p:pic>
    </p:spTree>
    <p:extLst>
      <p:ext uri="{BB962C8B-B14F-4D97-AF65-F5344CB8AC3E}">
        <p14:creationId xmlns:p14="http://schemas.microsoft.com/office/powerpoint/2010/main" val="10564127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31451" y="2575785"/>
            <a:ext cx="7386686" cy="3318936"/>
          </a:xfrm>
        </p:spPr>
        <p:txBody>
          <a:bodyPr>
            <a:normAutofit fontScale="47500" lnSpcReduction="20000"/>
          </a:bodyPr>
          <a:lstStyle/>
          <a:p>
            <a:pPr fontAlgn="base"/>
            <a:r>
              <a:rPr lang="en-US" b="1" dirty="0"/>
              <a:t>Advantages of Bus Topology</a:t>
            </a:r>
          </a:p>
          <a:p>
            <a:pPr lvl="0" fontAlgn="base"/>
            <a:r>
              <a:rPr lang="en-US" dirty="0"/>
              <a:t>If N devices are connected to each other in a bus topology, then the number of cables required to connect them is 1, known as backbone cable, and N drop lines are required.</a:t>
            </a:r>
          </a:p>
          <a:p>
            <a:pPr lvl="0" fontAlgn="base"/>
            <a:r>
              <a:rPr lang="en-US" dirty="0"/>
              <a:t>Coaxial or twisted pair cables are mainly used in bus-based networks that support up to 10 Mbps.</a:t>
            </a:r>
          </a:p>
          <a:p>
            <a:pPr lvl="0" fontAlgn="base"/>
            <a:r>
              <a:rPr lang="en-US" dirty="0"/>
              <a:t>The cost of the cable is less compared to other topologies, but it is used to build small networks.</a:t>
            </a:r>
          </a:p>
          <a:p>
            <a:pPr lvl="0" fontAlgn="base"/>
            <a:r>
              <a:rPr lang="en-US" dirty="0"/>
              <a:t>Bus topology is familiar technology as installation and troubleshooting techniques are well known.</a:t>
            </a:r>
          </a:p>
          <a:p>
            <a:pPr lvl="0" fontAlgn="base"/>
            <a:r>
              <a:rPr lang="en-US" u="sng" dirty="0">
                <a:hlinkClick r:id="rId2"/>
              </a:rPr>
              <a:t>CSMA</a:t>
            </a:r>
            <a:r>
              <a:rPr lang="en-US" dirty="0"/>
              <a:t> is the most common method for this type of topology.</a:t>
            </a:r>
          </a:p>
          <a:p>
            <a:pPr fontAlgn="base"/>
            <a:r>
              <a:rPr lang="en-US" b="1" dirty="0"/>
              <a:t>Disadvantages of  Bus Topology</a:t>
            </a:r>
          </a:p>
          <a:p>
            <a:pPr lvl="0" fontAlgn="base"/>
            <a:r>
              <a:rPr lang="en-US" dirty="0"/>
              <a:t>A bus topology is quite simpler, but still, it requires a lot of cabling.</a:t>
            </a:r>
          </a:p>
          <a:p>
            <a:pPr lvl="0" fontAlgn="base"/>
            <a:r>
              <a:rPr lang="en-US" dirty="0"/>
              <a:t>If the common cable fails, then the whole system will crash down.</a:t>
            </a:r>
          </a:p>
          <a:p>
            <a:pPr lvl="0" fontAlgn="base"/>
            <a:r>
              <a:rPr lang="en-US" dirty="0"/>
              <a:t>If the network traffic is heavy, it increases collisions in the network. To avoid this, various protocols are used in the MAC layer known as Pure Aloha, Slotted Aloha, CSMA/CD, etc.</a:t>
            </a:r>
          </a:p>
          <a:p>
            <a:pPr lvl="0" fontAlgn="base"/>
            <a:r>
              <a:rPr lang="en-US" dirty="0"/>
              <a:t>Adding new devices to the network would slow down networks.</a:t>
            </a:r>
          </a:p>
          <a:p>
            <a:pPr lvl="0" fontAlgn="base"/>
            <a:r>
              <a:rPr lang="en-US" dirty="0"/>
              <a:t>Security is very low.</a:t>
            </a:r>
          </a:p>
          <a:p>
            <a:endParaRPr lang="en-US" dirty="0"/>
          </a:p>
        </p:txBody>
      </p:sp>
      <p:sp>
        <p:nvSpPr>
          <p:cNvPr id="4" name="Rectangle 3"/>
          <p:cNvSpPr/>
          <p:nvPr/>
        </p:nvSpPr>
        <p:spPr>
          <a:xfrm>
            <a:off x="7620000" y="3092787"/>
            <a:ext cx="3833567" cy="1754326"/>
          </a:xfrm>
          <a:prstGeom prst="rect">
            <a:avLst/>
          </a:prstGeom>
        </p:spPr>
        <p:txBody>
          <a:bodyPr wrap="square">
            <a:spAutoFit/>
          </a:bodyPr>
          <a:lstStyle/>
          <a:p>
            <a:r>
              <a:rPr lang="en-US" b="1" i="1" spc="10" dirty="0">
                <a:solidFill>
                  <a:srgbClr val="273239"/>
                </a:solidFill>
                <a:latin typeface="Arial" panose="020B0604020202020204" pitchFamily="34" charset="0"/>
                <a:ea typeface="Times New Roman" panose="02020603050405020304" pitchFamily="18" charset="0"/>
              </a:rPr>
              <a:t>Note: </a:t>
            </a:r>
            <a:r>
              <a:rPr lang="en-US" i="1" spc="10" dirty="0">
                <a:solidFill>
                  <a:srgbClr val="273239"/>
                </a:solidFill>
                <a:latin typeface="Arial" panose="020B0604020202020204" pitchFamily="34" charset="0"/>
                <a:ea typeface="Times New Roman" panose="02020603050405020304" pitchFamily="18" charset="0"/>
              </a:rPr>
              <a:t>A common example of bus topology is the Ethernet LAN, where all devices are connected to a single coaxial cable or twisted pair cable. This topology is also used in cable television networks. </a:t>
            </a:r>
            <a:endParaRPr lang="en-US" dirty="0"/>
          </a:p>
        </p:txBody>
      </p:sp>
    </p:spTree>
    <p:extLst>
      <p:ext uri="{BB962C8B-B14F-4D97-AF65-F5344CB8AC3E}">
        <p14:creationId xmlns:p14="http://schemas.microsoft.com/office/powerpoint/2010/main" val="3975619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Ring Topology</a:t>
            </a:r>
            <a:endParaRPr lang="en-US" dirty="0"/>
          </a:p>
        </p:txBody>
      </p:sp>
      <p:sp>
        <p:nvSpPr>
          <p:cNvPr id="3" name="Content Placeholder 2"/>
          <p:cNvSpPr>
            <a:spLocks noGrp="1"/>
          </p:cNvSpPr>
          <p:nvPr>
            <p:ph idx="1"/>
          </p:nvPr>
        </p:nvSpPr>
        <p:spPr>
          <a:xfrm>
            <a:off x="1295401" y="2556932"/>
            <a:ext cx="6123494" cy="3318936"/>
          </a:xfrm>
        </p:spPr>
        <p:txBody>
          <a:bodyPr>
            <a:noAutofit/>
          </a:bodyPr>
          <a:lstStyle/>
          <a:p>
            <a:pPr fontAlgn="base"/>
            <a:r>
              <a:rPr lang="en-US" sz="1600" dirty="0" smtClean="0"/>
              <a:t>In </a:t>
            </a:r>
            <a:r>
              <a:rPr lang="en-US" sz="1600" dirty="0"/>
              <a:t>a Ring Topology, it forms a ring connecting devices with exactly two neighboring devices. A number of repeaters are used for Ring topology with a large number of nodes, because if someone wants to send some data to the last node in the ring topology with 100 nodes, then the data will have to pass through 99 nodes to reach the 100th node. Hence to prevent data loss repeaters are used in the network.</a:t>
            </a:r>
          </a:p>
          <a:p>
            <a:pPr fontAlgn="base"/>
            <a:r>
              <a:rPr lang="en-US" sz="1600" dirty="0"/>
              <a:t>In-Ring Topology, the Token Ring Passing protocol is used by the workstations to transmit the data where, Token passing is a network access method in which a token is passed from one node to another node &amp; Token is a frame that circulates around the network</a:t>
            </a:r>
            <a:r>
              <a:rPr lang="en-US" sz="1600" dirty="0" smtClean="0"/>
              <a:t>.</a:t>
            </a:r>
          </a:p>
          <a:p>
            <a:pPr fontAlgn="base"/>
            <a:r>
              <a:rPr lang="en-US" sz="1600" b="1" dirty="0"/>
              <a:t>Note:</a:t>
            </a:r>
            <a:r>
              <a:rPr lang="en-US" sz="1600" dirty="0"/>
              <a:t> Here, data flows in one direction, but it can be made bidirectional by having 2 connections between each Network Node, it is called Dual Ring Topology. </a:t>
            </a:r>
          </a:p>
        </p:txBody>
      </p:sp>
      <p:pic>
        <p:nvPicPr>
          <p:cNvPr id="4" name="Picture 3" descr="Ring Topology"/>
          <p:cNvPicPr/>
          <p:nvPr/>
        </p:nvPicPr>
        <p:blipFill>
          <a:blip r:embed="rId2">
            <a:extLst>
              <a:ext uri="{28A0092B-C50C-407E-A947-70E740481C1C}">
                <a14:useLocalDpi xmlns:a14="http://schemas.microsoft.com/office/drawing/2010/main" val="0"/>
              </a:ext>
            </a:extLst>
          </a:blip>
          <a:srcRect/>
          <a:stretch>
            <a:fillRect/>
          </a:stretch>
        </p:blipFill>
        <p:spPr bwMode="auto">
          <a:xfrm>
            <a:off x="7418895" y="2780908"/>
            <a:ext cx="3823675" cy="2482152"/>
          </a:xfrm>
          <a:prstGeom prst="rect">
            <a:avLst/>
          </a:prstGeom>
          <a:noFill/>
          <a:ln>
            <a:noFill/>
          </a:ln>
        </p:spPr>
      </p:pic>
    </p:spTree>
    <p:extLst>
      <p:ext uri="{BB962C8B-B14F-4D97-AF65-F5344CB8AC3E}">
        <p14:creationId xmlns:p14="http://schemas.microsoft.com/office/powerpoint/2010/main" val="20747557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fontAlgn="base"/>
            <a:r>
              <a:rPr lang="en-US" sz="1200" b="1" dirty="0"/>
              <a:t>Operations of Ring Topology</a:t>
            </a:r>
          </a:p>
          <a:p>
            <a:pPr lvl="0" fontAlgn="base"/>
            <a:r>
              <a:rPr lang="en-US" sz="1200" dirty="0"/>
              <a:t>One station is known as a monitor station which takes all the responsibility for performing the operations.</a:t>
            </a:r>
          </a:p>
          <a:p>
            <a:pPr lvl="0" fontAlgn="base"/>
            <a:r>
              <a:rPr lang="en-US" sz="1200" dirty="0"/>
              <a:t>To transmit the data, the station has to hold the token. After the transmission is done, the token is to be released for other stations to use.</a:t>
            </a:r>
          </a:p>
          <a:p>
            <a:pPr lvl="0" fontAlgn="base"/>
            <a:r>
              <a:rPr lang="en-US" sz="1200" dirty="0"/>
              <a:t>When no station is transmitting the data, then the token will circulate in the ring.</a:t>
            </a:r>
          </a:p>
          <a:p>
            <a:pPr fontAlgn="base"/>
            <a:r>
              <a:rPr lang="en-US" sz="1200" b="1" dirty="0"/>
              <a:t>Advantages of Ring Topology</a:t>
            </a:r>
          </a:p>
          <a:p>
            <a:pPr lvl="0" fontAlgn="base"/>
            <a:r>
              <a:rPr lang="en-US" sz="1200" dirty="0"/>
              <a:t>The data transmission is high-speed.</a:t>
            </a:r>
          </a:p>
          <a:p>
            <a:pPr lvl="0" fontAlgn="base"/>
            <a:r>
              <a:rPr lang="en-US" sz="1200" dirty="0"/>
              <a:t>The possibility of collision is minimum in this type of topology.</a:t>
            </a:r>
          </a:p>
          <a:p>
            <a:pPr lvl="0" fontAlgn="base"/>
            <a:r>
              <a:rPr lang="en-US" sz="1200" dirty="0"/>
              <a:t>Cheap to install and expand.</a:t>
            </a:r>
          </a:p>
          <a:p>
            <a:pPr fontAlgn="base"/>
            <a:r>
              <a:rPr lang="en-US" sz="1200" b="1" dirty="0"/>
              <a:t>Disadvantages of Ring Topology</a:t>
            </a:r>
          </a:p>
          <a:p>
            <a:pPr lvl="0" fontAlgn="base"/>
            <a:r>
              <a:rPr lang="en-US" sz="1200" dirty="0"/>
              <a:t>The failure of a single node in the network can cause the entire network to fail.</a:t>
            </a:r>
          </a:p>
          <a:p>
            <a:pPr lvl="0" fontAlgn="base"/>
            <a:r>
              <a:rPr lang="en-US" sz="1200" dirty="0"/>
              <a:t>Troubleshooting is difficult in this topology.</a:t>
            </a:r>
          </a:p>
          <a:p>
            <a:pPr lvl="0" fontAlgn="base"/>
            <a:r>
              <a:rPr lang="en-US" sz="1200" dirty="0"/>
              <a:t>Less secure.</a:t>
            </a:r>
          </a:p>
          <a:p>
            <a:endParaRPr lang="en-US" sz="1200" dirty="0"/>
          </a:p>
        </p:txBody>
      </p:sp>
    </p:spTree>
    <p:extLst>
      <p:ext uri="{BB962C8B-B14F-4D97-AF65-F5344CB8AC3E}">
        <p14:creationId xmlns:p14="http://schemas.microsoft.com/office/powerpoint/2010/main" val="16678744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Topology</a:t>
            </a:r>
            <a:endParaRPr lang="en-US" dirty="0"/>
          </a:p>
        </p:txBody>
      </p:sp>
      <p:sp>
        <p:nvSpPr>
          <p:cNvPr id="3" name="Content Placeholder 2"/>
          <p:cNvSpPr>
            <a:spLocks noGrp="1"/>
          </p:cNvSpPr>
          <p:nvPr>
            <p:ph idx="1"/>
          </p:nvPr>
        </p:nvSpPr>
        <p:spPr>
          <a:xfrm>
            <a:off x="1295401" y="2556932"/>
            <a:ext cx="4850875" cy="3318936"/>
          </a:xfrm>
        </p:spPr>
        <p:txBody>
          <a:bodyPr>
            <a:normAutofit fontScale="70000" lnSpcReduction="20000"/>
          </a:bodyPr>
          <a:lstStyle/>
          <a:p>
            <a:pPr fontAlgn="base"/>
            <a:r>
              <a:rPr lang="en-US" dirty="0"/>
              <a:t>Tree topology is the variation of the Star topology. This topology has a hierarchical flow of data. In Tree Topology, protocols like </a:t>
            </a:r>
            <a:r>
              <a:rPr lang="en-US" u="sng" dirty="0">
                <a:hlinkClick r:id="rId2"/>
              </a:rPr>
              <a:t>DHCP</a:t>
            </a:r>
            <a:r>
              <a:rPr lang="en-US" dirty="0"/>
              <a:t> and SAC (Standard Automatic Configuration) are used.</a:t>
            </a:r>
          </a:p>
          <a:p>
            <a:pPr lvl="0" fontAlgn="base"/>
            <a:r>
              <a:rPr lang="en-US" dirty="0"/>
              <a:t>Here, various secondary hubs are connected to the central hub which contains the repeater.</a:t>
            </a:r>
          </a:p>
          <a:p>
            <a:pPr lvl="0" fontAlgn="base"/>
            <a:r>
              <a:rPr lang="en-US" dirty="0"/>
              <a:t>This data flow from top to bottom i.e. from the central hub to the secondary and then to the devices or from bottom to top i.e. devices to the secondary hub and then to the central hub. </a:t>
            </a:r>
          </a:p>
          <a:p>
            <a:pPr lvl="0" fontAlgn="base"/>
            <a:r>
              <a:rPr lang="en-US" dirty="0"/>
              <a:t>It is a </a:t>
            </a:r>
            <a:r>
              <a:rPr lang="en-US" u="sng" dirty="0">
                <a:hlinkClick r:id="rId3"/>
              </a:rPr>
              <a:t>multi-point connection</a:t>
            </a:r>
            <a:r>
              <a:rPr lang="en-US" dirty="0"/>
              <a:t> and a non-robust topology because if the backbone fails the topology crashes.</a:t>
            </a:r>
          </a:p>
        </p:txBody>
      </p:sp>
      <p:pic>
        <p:nvPicPr>
          <p:cNvPr id="4" name="Picture 3" descr="Tree-topology"/>
          <p:cNvPicPr/>
          <p:nvPr/>
        </p:nvPicPr>
        <p:blipFill>
          <a:blip r:embed="rId4">
            <a:extLst>
              <a:ext uri="{28A0092B-C50C-407E-A947-70E740481C1C}">
                <a14:useLocalDpi xmlns:a14="http://schemas.microsoft.com/office/drawing/2010/main" val="0"/>
              </a:ext>
            </a:extLst>
          </a:blip>
          <a:srcRect/>
          <a:stretch>
            <a:fillRect/>
          </a:stretch>
        </p:blipFill>
        <p:spPr bwMode="auto">
          <a:xfrm>
            <a:off x="6146276" y="2660977"/>
            <a:ext cx="4967353" cy="3110846"/>
          </a:xfrm>
          <a:prstGeom prst="rect">
            <a:avLst/>
          </a:prstGeom>
          <a:noFill/>
          <a:ln>
            <a:noFill/>
          </a:ln>
        </p:spPr>
      </p:pic>
    </p:spTree>
    <p:extLst>
      <p:ext uri="{BB962C8B-B14F-4D97-AF65-F5344CB8AC3E}">
        <p14:creationId xmlns:p14="http://schemas.microsoft.com/office/powerpoint/2010/main" val="32811792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fontAlgn="base"/>
            <a:r>
              <a:rPr lang="en-US" b="1" dirty="0"/>
              <a:t>Advantages of Tree Topology</a:t>
            </a:r>
          </a:p>
          <a:p>
            <a:pPr lvl="0" fontAlgn="base"/>
            <a:r>
              <a:rPr lang="en-US" dirty="0"/>
              <a:t>It allows more devices to be attached to a single central hub thus it decreases the distance that is traveled by the signal to come to the devices.</a:t>
            </a:r>
          </a:p>
          <a:p>
            <a:pPr lvl="0" fontAlgn="base"/>
            <a:r>
              <a:rPr lang="en-US" dirty="0"/>
              <a:t>It allows the network to get isolated and also prioritize from different computers.</a:t>
            </a:r>
          </a:p>
          <a:p>
            <a:pPr lvl="0" fontAlgn="base"/>
            <a:r>
              <a:rPr lang="en-US" dirty="0"/>
              <a:t>We can add new devices to the existing network.</a:t>
            </a:r>
          </a:p>
          <a:p>
            <a:pPr fontAlgn="base"/>
            <a:r>
              <a:rPr lang="en-US" b="1" dirty="0"/>
              <a:t>Disadvantages of Tree Topology</a:t>
            </a:r>
          </a:p>
          <a:p>
            <a:pPr lvl="0" fontAlgn="base"/>
            <a:r>
              <a:rPr lang="en-US" dirty="0"/>
              <a:t>If the central hub gets fails the entire system fails.</a:t>
            </a:r>
          </a:p>
          <a:p>
            <a:pPr lvl="0" fontAlgn="base"/>
            <a:r>
              <a:rPr lang="en-US" dirty="0"/>
              <a:t>The cost is high because of the cabling.</a:t>
            </a:r>
          </a:p>
          <a:p>
            <a:pPr lvl="0" fontAlgn="base"/>
            <a:r>
              <a:rPr lang="en-US" dirty="0"/>
              <a:t>If new devices are added, it becomes difficult to reconfigure.</a:t>
            </a:r>
          </a:p>
          <a:p>
            <a:r>
              <a:rPr lang="en-US" b="1" i="1" dirty="0"/>
              <a:t>Note: </a:t>
            </a:r>
            <a:r>
              <a:rPr lang="en-US" i="1" dirty="0"/>
              <a:t>A common example of a tree topology is the hierarchy in a large organization. CEO is the root, who is connected to the different departments(child nodes) of the company, managers overseeing different teams (grandchild nodes) &amp; team members (leaf nodes) are at the bottom of the hierarchy.</a:t>
            </a:r>
            <a:r>
              <a:rPr lang="en-US" dirty="0"/>
              <a:t> </a:t>
            </a:r>
          </a:p>
        </p:txBody>
      </p:sp>
    </p:spTree>
    <p:extLst>
      <p:ext uri="{BB962C8B-B14F-4D97-AF65-F5344CB8AC3E}">
        <p14:creationId xmlns:p14="http://schemas.microsoft.com/office/powerpoint/2010/main" val="6092477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Topology</a:t>
            </a:r>
            <a:endParaRPr lang="en-US" dirty="0"/>
          </a:p>
        </p:txBody>
      </p:sp>
      <p:sp>
        <p:nvSpPr>
          <p:cNvPr id="3" name="Content Placeholder 2"/>
          <p:cNvSpPr>
            <a:spLocks noGrp="1"/>
          </p:cNvSpPr>
          <p:nvPr>
            <p:ph idx="1"/>
          </p:nvPr>
        </p:nvSpPr>
        <p:spPr>
          <a:xfrm>
            <a:off x="1295401" y="2556932"/>
            <a:ext cx="5284508" cy="3318936"/>
          </a:xfrm>
        </p:spPr>
        <p:txBody>
          <a:bodyPr>
            <a:normAutofit fontScale="92500"/>
          </a:bodyPr>
          <a:lstStyle/>
          <a:p>
            <a:pPr fontAlgn="base"/>
            <a:r>
              <a:rPr lang="en-US" dirty="0"/>
              <a:t>Hybrid Topology is the combination of all the various types of topologies we have studied above. Hybrid Topology is used when the nodes are free to take any form. It means these can be individuals such as Ring or Star topology or can be a combination of various types of topologies seen above. Each individual topology uses the protocol that has been discussed earlier.</a:t>
            </a:r>
          </a:p>
        </p:txBody>
      </p:sp>
      <p:pic>
        <p:nvPicPr>
          <p:cNvPr id="4" name="Picture 3" descr="Hybrid-Topology"/>
          <p:cNvPicPr/>
          <p:nvPr/>
        </p:nvPicPr>
        <p:blipFill>
          <a:blip r:embed="rId2">
            <a:extLst>
              <a:ext uri="{28A0092B-C50C-407E-A947-70E740481C1C}">
                <a14:useLocalDpi xmlns:a14="http://schemas.microsoft.com/office/drawing/2010/main" val="0"/>
              </a:ext>
            </a:extLst>
          </a:blip>
          <a:srcRect/>
          <a:stretch>
            <a:fillRect/>
          </a:stretch>
        </p:blipFill>
        <p:spPr bwMode="auto">
          <a:xfrm>
            <a:off x="6796601" y="2802730"/>
            <a:ext cx="4185625" cy="3073138"/>
          </a:xfrm>
          <a:prstGeom prst="rect">
            <a:avLst/>
          </a:prstGeom>
          <a:noFill/>
          <a:ln>
            <a:noFill/>
          </a:ln>
        </p:spPr>
      </p:pic>
    </p:spTree>
    <p:extLst>
      <p:ext uri="{BB962C8B-B14F-4D97-AF65-F5344CB8AC3E}">
        <p14:creationId xmlns:p14="http://schemas.microsoft.com/office/powerpoint/2010/main" val="14602049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a:t>Advantages of Hybrid Topology</a:t>
            </a:r>
          </a:p>
          <a:p>
            <a:pPr lvl="0" fontAlgn="base"/>
            <a:r>
              <a:rPr lang="en-US" dirty="0"/>
              <a:t>This topology is very flexible.</a:t>
            </a:r>
          </a:p>
          <a:p>
            <a:pPr lvl="0" fontAlgn="base"/>
            <a:r>
              <a:rPr lang="en-US" dirty="0"/>
              <a:t>The size of the network can be easily expanded by adding new devices.</a:t>
            </a:r>
          </a:p>
          <a:p>
            <a:pPr fontAlgn="base"/>
            <a:r>
              <a:rPr lang="en-US" b="1" dirty="0"/>
              <a:t>Disadvantages of Hybrid Topology</a:t>
            </a:r>
          </a:p>
          <a:p>
            <a:pPr lvl="0" fontAlgn="base"/>
            <a:r>
              <a:rPr lang="en-US" dirty="0"/>
              <a:t>It is challenging to design the architecture of the Hybrid Network.</a:t>
            </a:r>
          </a:p>
          <a:p>
            <a:pPr lvl="0" fontAlgn="base"/>
            <a:r>
              <a:rPr lang="en-US" dirty="0"/>
              <a:t>Hubs used in this topology are very expensive.</a:t>
            </a:r>
          </a:p>
          <a:p>
            <a:pPr lvl="0" fontAlgn="base"/>
            <a:r>
              <a:rPr lang="en-US" dirty="0"/>
              <a:t>The infrastructure cost is very high as a hybrid network requires a lot of cabling and network devices .</a:t>
            </a:r>
          </a:p>
          <a:p>
            <a:r>
              <a:rPr lang="en-US" b="1" i="1" dirty="0"/>
              <a:t>Note: </a:t>
            </a:r>
            <a:r>
              <a:rPr lang="en-US" i="1" dirty="0"/>
              <a:t>A common example of a hybrid topology is a university campus network. The network may have a backbone of a star topology, with each building connected to the backbone through a switch or router. Within each building, there may be a bus or ring topology connecting the different rooms and offices. </a:t>
            </a:r>
            <a:endParaRPr lang="en-US" dirty="0"/>
          </a:p>
        </p:txBody>
      </p:sp>
    </p:spTree>
    <p:extLst>
      <p:ext uri="{BB962C8B-B14F-4D97-AF65-F5344CB8AC3E}">
        <p14:creationId xmlns:p14="http://schemas.microsoft.com/office/powerpoint/2010/main" val="38644983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 Server Model</a:t>
            </a:r>
            <a:endParaRPr lang="en-US" dirty="0"/>
          </a:p>
        </p:txBody>
      </p:sp>
      <p:sp>
        <p:nvSpPr>
          <p:cNvPr id="3" name="Content Placeholder 2"/>
          <p:cNvSpPr>
            <a:spLocks noGrp="1"/>
          </p:cNvSpPr>
          <p:nvPr>
            <p:ph idx="1"/>
          </p:nvPr>
        </p:nvSpPr>
        <p:spPr>
          <a:xfrm>
            <a:off x="1295401" y="2556932"/>
            <a:ext cx="6010372" cy="3318936"/>
          </a:xfrm>
        </p:spPr>
        <p:txBody>
          <a:bodyPr>
            <a:normAutofit fontScale="70000" lnSpcReduction="20000"/>
          </a:bodyPr>
          <a:lstStyle/>
          <a:p>
            <a:r>
              <a:rPr lang="en-US" dirty="0"/>
              <a:t>The </a:t>
            </a:r>
            <a:r>
              <a:rPr lang="en-US" b="1" dirty="0"/>
              <a:t>client–server model</a:t>
            </a:r>
            <a:r>
              <a:rPr lang="en-US" dirty="0"/>
              <a:t> is a network architecture where work is divided between two main components: </a:t>
            </a:r>
            <a:r>
              <a:rPr lang="en-US" b="1" dirty="0"/>
              <a:t>clients</a:t>
            </a:r>
            <a:r>
              <a:rPr lang="en-US" dirty="0"/>
              <a:t> and </a:t>
            </a:r>
            <a:r>
              <a:rPr lang="en-US" b="1" dirty="0"/>
              <a:t>servers</a:t>
            </a:r>
            <a:r>
              <a:rPr lang="en-US" dirty="0"/>
              <a:t>. It is one of the most widely used models in modern computing and forms the foundation of most business networks, web applications, banking systems and cloud services</a:t>
            </a:r>
            <a:r>
              <a:rPr lang="en-US" dirty="0" smtClean="0"/>
              <a:t>.</a:t>
            </a:r>
          </a:p>
          <a:p>
            <a:r>
              <a:rPr lang="en-US" dirty="0"/>
              <a:t>The client–server model is a system where multiple client devices request services, and a central server responds to those requests.</a:t>
            </a:r>
            <a:br>
              <a:rPr lang="en-US" dirty="0"/>
            </a:br>
            <a:r>
              <a:rPr lang="en-US" dirty="0"/>
              <a:t>Clients send a request such as “fetch this file,” “save this data,” or “authenticate this user,” and the server processes the request and sends back the result.</a:t>
            </a:r>
          </a:p>
          <a:p>
            <a:r>
              <a:rPr lang="en-US" dirty="0"/>
              <a:t>The client and server communicate over a network using standard protocols like </a:t>
            </a:r>
            <a:r>
              <a:rPr lang="en-US" b="1" dirty="0"/>
              <a:t>HTTP, TCP/IP, SMTP, FTP</a:t>
            </a:r>
            <a:r>
              <a:rPr lang="en-US" dirty="0"/>
              <a:t> and others.</a:t>
            </a:r>
          </a:p>
          <a:p>
            <a:endParaRPr lang="en-US" dirty="0"/>
          </a:p>
        </p:txBody>
      </p:sp>
      <p:sp>
        <p:nvSpPr>
          <p:cNvPr id="4" name="AutoShape 2" descr="Client–server model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6381" y="2717194"/>
            <a:ext cx="3949733" cy="2998411"/>
          </a:xfrm>
          <a:prstGeom prst="rect">
            <a:avLst/>
          </a:prstGeom>
        </p:spPr>
      </p:pic>
    </p:spTree>
    <p:extLst>
      <p:ext uri="{BB962C8B-B14F-4D97-AF65-F5344CB8AC3E}">
        <p14:creationId xmlns:p14="http://schemas.microsoft.com/office/powerpoint/2010/main" val="39902629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Client Server Model</a:t>
            </a:r>
            <a:endParaRPr lang="en-US" dirty="0"/>
          </a:p>
        </p:txBody>
      </p:sp>
      <p:sp>
        <p:nvSpPr>
          <p:cNvPr id="7" name="Rectangle 6"/>
          <p:cNvSpPr/>
          <p:nvPr/>
        </p:nvSpPr>
        <p:spPr>
          <a:xfrm>
            <a:off x="999241" y="2518436"/>
            <a:ext cx="9897357" cy="3575018"/>
          </a:xfrm>
          <a:prstGeom prst="rect">
            <a:avLst/>
          </a:prstGeom>
        </p:spPr>
        <p:txBody>
          <a:bodyPr wrap="square">
            <a:spAutoFit/>
          </a:bodyPr>
          <a:lstStyle/>
          <a:p>
            <a:pPr>
              <a:lnSpc>
                <a:spcPct val="107000"/>
              </a:lnSpc>
              <a:spcAft>
                <a:spcPts val="800"/>
              </a:spcAft>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Client</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A client is a device or software that asks for a service.</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It can be a computer, mobile phone, browser, or application.</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Clients initiate communication but do not typically provide services to other devices.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Examples: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a:r>
            <a:br>
              <a:rPr lang="en-US" sz="1200" dirty="0">
                <a:latin typeface="Times New Roman" panose="02020603050405020304" pitchFamily="18" charset="0"/>
                <a:ea typeface="Times New Roman" panose="02020603050405020304" pitchFamily="18" charset="0"/>
                <a:cs typeface="Times New Roman" panose="02020603050405020304" pitchFamily="18" charset="0"/>
              </a:rPr>
            </a:br>
            <a:r>
              <a:rPr lang="en-US" sz="1200" dirty="0">
                <a:latin typeface="Times New Roman" panose="02020603050405020304" pitchFamily="18" charset="0"/>
                <a:ea typeface="Times New Roman" panose="02020603050405020304" pitchFamily="18" charset="0"/>
                <a:cs typeface="Times New Roman" panose="02020603050405020304" pitchFamily="18" charset="0"/>
              </a:rPr>
              <a:t>Web browsers, mobile apps, ATMs, email clients, database clients.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Server</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A server is a powerful computer or program that stores data, manages resources, and provides services to clients.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It stays active 24/7 to handle incoming requests.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It processes requests, performs required operations and returns results.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Examples: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a:r>
            <a:br>
              <a:rPr lang="en-US" sz="1200" dirty="0">
                <a:latin typeface="Times New Roman" panose="02020603050405020304" pitchFamily="18" charset="0"/>
                <a:ea typeface="Times New Roman" panose="02020603050405020304" pitchFamily="18" charset="0"/>
                <a:cs typeface="Times New Roman" panose="02020603050405020304" pitchFamily="18" charset="0"/>
              </a:rPr>
            </a:br>
            <a:r>
              <a:rPr lang="en-US" sz="1200" dirty="0">
                <a:latin typeface="Times New Roman" panose="02020603050405020304" pitchFamily="18" charset="0"/>
                <a:ea typeface="Times New Roman" panose="02020603050405020304" pitchFamily="18" charset="0"/>
                <a:cs typeface="Times New Roman" panose="02020603050405020304" pitchFamily="18" charset="0"/>
              </a:rPr>
              <a:t>Web servers, database servers, application servers, file servers.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25999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Client Server works</a:t>
            </a:r>
            <a:endParaRPr lang="en-US" dirty="0"/>
          </a:p>
        </p:txBody>
      </p:sp>
      <p:sp>
        <p:nvSpPr>
          <p:cNvPr id="3" name="Content Placeholder 2"/>
          <p:cNvSpPr>
            <a:spLocks noGrp="1"/>
          </p:cNvSpPr>
          <p:nvPr>
            <p:ph idx="1"/>
          </p:nvPr>
        </p:nvSpPr>
        <p:spPr/>
        <p:txBody>
          <a:bodyPr>
            <a:normAutofit fontScale="25000" lnSpcReduction="20000"/>
          </a:bodyPr>
          <a:lstStyle/>
          <a:p>
            <a:pPr lvl="0"/>
            <a:r>
              <a:rPr lang="en-US" sz="5600" dirty="0"/>
              <a:t>The client sends a request to the server through the network.</a:t>
            </a:r>
          </a:p>
          <a:p>
            <a:pPr lvl="0"/>
            <a:r>
              <a:rPr lang="en-US" sz="5600" dirty="0"/>
              <a:t>The server receives the request, processes it, and retrieves or updates the data.</a:t>
            </a:r>
          </a:p>
          <a:p>
            <a:pPr lvl="0"/>
            <a:r>
              <a:rPr lang="en-US" sz="5600" dirty="0"/>
              <a:t>The server sends the response back to the client.</a:t>
            </a:r>
          </a:p>
          <a:p>
            <a:pPr lvl="0"/>
            <a:r>
              <a:rPr lang="en-US" sz="5600" dirty="0"/>
              <a:t>The client receives the output and displays or uses it.</a:t>
            </a:r>
          </a:p>
          <a:p>
            <a:r>
              <a:rPr lang="en-US" sz="5600" dirty="0"/>
              <a:t>This happens very quickly, often in milliseconds</a:t>
            </a:r>
            <a:r>
              <a:rPr lang="en-US" sz="5600" dirty="0" smtClean="0"/>
              <a:t>.</a:t>
            </a:r>
          </a:p>
          <a:p>
            <a:r>
              <a:rPr lang="en-US" sz="7200" b="1" dirty="0"/>
              <a:t>Types of Servers in the Client–Server </a:t>
            </a:r>
            <a:r>
              <a:rPr lang="en-US" sz="7200" b="1" dirty="0" smtClean="0"/>
              <a:t>Architecture</a:t>
            </a:r>
          </a:p>
          <a:p>
            <a:r>
              <a:rPr lang="en-US" sz="5600" b="1" dirty="0"/>
              <a:t>File </a:t>
            </a:r>
            <a:r>
              <a:rPr lang="en-US" sz="5600" b="1" dirty="0" smtClean="0"/>
              <a:t>Server</a:t>
            </a:r>
            <a:r>
              <a:rPr lang="en-US" sz="5600" dirty="0" smtClean="0"/>
              <a:t>: Stores </a:t>
            </a:r>
            <a:r>
              <a:rPr lang="en-US" sz="5600" dirty="0"/>
              <a:t>documents and files that clients can download, upload or edit.</a:t>
            </a:r>
          </a:p>
          <a:p>
            <a:r>
              <a:rPr lang="en-US" sz="5600" b="1" dirty="0"/>
              <a:t>Database </a:t>
            </a:r>
            <a:r>
              <a:rPr lang="en-US" sz="5600" b="1" dirty="0" smtClean="0"/>
              <a:t>Server</a:t>
            </a:r>
            <a:r>
              <a:rPr lang="en-US" sz="5600" dirty="0" smtClean="0"/>
              <a:t>: Manages </a:t>
            </a:r>
            <a:r>
              <a:rPr lang="en-US" sz="5600" dirty="0"/>
              <a:t>large databases and responds to client queries (SQL commands).</a:t>
            </a:r>
          </a:p>
          <a:p>
            <a:r>
              <a:rPr lang="en-US" sz="5600" b="1" dirty="0"/>
              <a:t>Web </a:t>
            </a:r>
            <a:r>
              <a:rPr lang="en-US" sz="5600" b="1" dirty="0" smtClean="0"/>
              <a:t>Server</a:t>
            </a:r>
            <a:r>
              <a:rPr lang="en-US" sz="5600" dirty="0" smtClean="0"/>
              <a:t>: Delivers </a:t>
            </a:r>
            <a:r>
              <a:rPr lang="en-US" sz="5600" dirty="0"/>
              <a:t>web pages and content to browsers.</a:t>
            </a:r>
          </a:p>
          <a:p>
            <a:r>
              <a:rPr lang="en-US" sz="5600" b="1" dirty="0"/>
              <a:t>Application </a:t>
            </a:r>
            <a:r>
              <a:rPr lang="en-US" sz="5600" b="1" dirty="0" smtClean="0"/>
              <a:t>Server</a:t>
            </a:r>
            <a:r>
              <a:rPr lang="en-US" sz="5600" dirty="0" smtClean="0"/>
              <a:t>: Runs </a:t>
            </a:r>
            <a:r>
              <a:rPr lang="en-US" sz="5600" dirty="0"/>
              <a:t>business logic and processes complex tasks for clients.</a:t>
            </a:r>
          </a:p>
          <a:p>
            <a:r>
              <a:rPr lang="en-US" sz="5600" b="1" dirty="0"/>
              <a:t>Mail </a:t>
            </a:r>
            <a:r>
              <a:rPr lang="en-US" sz="5600" b="1" dirty="0" smtClean="0"/>
              <a:t>Server</a:t>
            </a:r>
            <a:r>
              <a:rPr lang="en-US" sz="5600" dirty="0" smtClean="0"/>
              <a:t>: Handles </a:t>
            </a:r>
            <a:r>
              <a:rPr lang="en-US" sz="5600" dirty="0"/>
              <a:t>sending and receiving emails for users.</a:t>
            </a:r>
          </a:p>
          <a:p>
            <a:r>
              <a:rPr lang="en-US" sz="5600" b="1" dirty="0"/>
              <a:t>Print </a:t>
            </a:r>
            <a:r>
              <a:rPr lang="en-US" sz="5600" b="1" dirty="0" smtClean="0"/>
              <a:t>Server</a:t>
            </a:r>
            <a:r>
              <a:rPr lang="en-US" sz="5600" dirty="0" smtClean="0"/>
              <a:t>: Manages </a:t>
            </a:r>
            <a:r>
              <a:rPr lang="en-US" sz="5600" dirty="0"/>
              <a:t>printers and print requests in an </a:t>
            </a:r>
            <a:r>
              <a:rPr lang="en-US" sz="5600" dirty="0" err="1"/>
              <a:t>organisation</a:t>
            </a:r>
            <a:r>
              <a:rPr lang="en-US" sz="5600" dirty="0"/>
              <a:t>.</a:t>
            </a:r>
          </a:p>
          <a:p>
            <a:endParaRPr lang="en-US" dirty="0"/>
          </a:p>
        </p:txBody>
      </p:sp>
    </p:spTree>
    <p:extLst>
      <p:ext uri="{BB962C8B-B14F-4D97-AF65-F5344CB8AC3E}">
        <p14:creationId xmlns:p14="http://schemas.microsoft.com/office/powerpoint/2010/main" val="16304835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Features of the Client–Server Model</a:t>
            </a:r>
            <a:endParaRPr lang="en-US" dirty="0"/>
          </a:p>
        </p:txBody>
      </p:sp>
      <p:sp>
        <p:nvSpPr>
          <p:cNvPr id="3" name="Content Placeholder 2"/>
          <p:cNvSpPr>
            <a:spLocks noGrp="1"/>
          </p:cNvSpPr>
          <p:nvPr>
            <p:ph idx="1"/>
          </p:nvPr>
        </p:nvSpPr>
        <p:spPr/>
        <p:txBody>
          <a:bodyPr>
            <a:normAutofit fontScale="70000" lnSpcReduction="20000"/>
          </a:bodyPr>
          <a:lstStyle/>
          <a:p>
            <a:r>
              <a:rPr lang="en-US" b="1" dirty="0" err="1"/>
              <a:t>Centralised</a:t>
            </a:r>
            <a:r>
              <a:rPr lang="en-US" b="1" dirty="0"/>
              <a:t> Resources</a:t>
            </a:r>
            <a:endParaRPr lang="en-US" dirty="0"/>
          </a:p>
          <a:p>
            <a:pPr marL="0" indent="0">
              <a:buNone/>
            </a:pPr>
            <a:r>
              <a:rPr lang="en-US" dirty="0"/>
              <a:t>All important data, files, and applications are stored in one place—the server.</a:t>
            </a:r>
            <a:br>
              <a:rPr lang="en-US" dirty="0"/>
            </a:br>
            <a:r>
              <a:rPr lang="en-US" dirty="0"/>
              <a:t>This makes management easier and more secure.</a:t>
            </a:r>
          </a:p>
          <a:p>
            <a:r>
              <a:rPr lang="en-US" b="1" dirty="0"/>
              <a:t>Improved Security</a:t>
            </a:r>
            <a:endParaRPr lang="en-US" dirty="0"/>
          </a:p>
          <a:p>
            <a:pPr marL="0" indent="0">
              <a:buNone/>
            </a:pPr>
            <a:r>
              <a:rPr lang="en-US" dirty="0"/>
              <a:t>Since everything is controlled centrally, administrators can enforce strong security policies, passwords, access rules and backups.</a:t>
            </a:r>
          </a:p>
          <a:p>
            <a:r>
              <a:rPr lang="en-US" b="1" dirty="0"/>
              <a:t>Scalability</a:t>
            </a:r>
            <a:endParaRPr lang="en-US" dirty="0"/>
          </a:p>
          <a:p>
            <a:pPr marL="0" indent="0">
              <a:buNone/>
            </a:pPr>
            <a:r>
              <a:rPr lang="en-US" dirty="0"/>
              <a:t>More clients can be added easily without redesigning the whole network.</a:t>
            </a:r>
            <a:br>
              <a:rPr lang="en-US" dirty="0"/>
            </a:br>
            <a:r>
              <a:rPr lang="en-US" dirty="0"/>
              <a:t>Servers can be upgraded when the workload increases.</a:t>
            </a:r>
          </a:p>
          <a:p>
            <a:r>
              <a:rPr lang="en-US" b="1" dirty="0"/>
              <a:t>Reliability</a:t>
            </a:r>
            <a:endParaRPr lang="en-US" dirty="0"/>
          </a:p>
          <a:p>
            <a:pPr marL="0" indent="0">
              <a:buNone/>
            </a:pPr>
            <a:r>
              <a:rPr lang="en-US" dirty="0"/>
              <a:t>Servers are usually high-performance machines with backup systems, making the network stable and consistent.</a:t>
            </a:r>
          </a:p>
        </p:txBody>
      </p:sp>
    </p:spTree>
    <p:extLst>
      <p:ext uri="{BB962C8B-B14F-4D97-AF65-F5344CB8AC3E}">
        <p14:creationId xmlns:p14="http://schemas.microsoft.com/office/powerpoint/2010/main" val="10759841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and Disadvantages</a:t>
            </a:r>
            <a:endParaRPr lang="en-US" dirty="0"/>
          </a:p>
        </p:txBody>
      </p:sp>
      <p:sp>
        <p:nvSpPr>
          <p:cNvPr id="3" name="Content Placeholder 2"/>
          <p:cNvSpPr>
            <a:spLocks noGrp="1"/>
          </p:cNvSpPr>
          <p:nvPr>
            <p:ph idx="1"/>
          </p:nvPr>
        </p:nvSpPr>
        <p:spPr>
          <a:xfrm>
            <a:off x="1295401" y="2556932"/>
            <a:ext cx="4407815" cy="3318936"/>
          </a:xfrm>
        </p:spPr>
        <p:txBody>
          <a:bodyPr>
            <a:normAutofit fontScale="40000" lnSpcReduction="20000"/>
          </a:bodyPr>
          <a:lstStyle/>
          <a:p>
            <a:pPr lvl="0"/>
            <a:r>
              <a:rPr lang="en-US" sz="3400" b="1" dirty="0" smtClean="0"/>
              <a:t>Advantages</a:t>
            </a:r>
          </a:p>
          <a:p>
            <a:pPr lvl="0"/>
            <a:r>
              <a:rPr lang="en-US" b="1" dirty="0" err="1" smtClean="0"/>
              <a:t>Centralised</a:t>
            </a:r>
            <a:r>
              <a:rPr lang="en-US" b="1" dirty="0" smtClean="0"/>
              <a:t> </a:t>
            </a:r>
            <a:r>
              <a:rPr lang="en-US" b="1" dirty="0"/>
              <a:t>management</a:t>
            </a:r>
            <a:r>
              <a:rPr lang="en-US" dirty="0"/>
              <a:t> of data, security and resources.</a:t>
            </a:r>
          </a:p>
          <a:p>
            <a:pPr lvl="0"/>
            <a:r>
              <a:rPr lang="en-US" b="1" dirty="0"/>
              <a:t>High performance</a:t>
            </a:r>
            <a:r>
              <a:rPr lang="en-US" dirty="0"/>
              <a:t> because servers are powerful.</a:t>
            </a:r>
          </a:p>
          <a:p>
            <a:pPr lvl="0"/>
            <a:r>
              <a:rPr lang="en-US" b="1" dirty="0"/>
              <a:t>Easier maintenance</a:t>
            </a:r>
            <a:r>
              <a:rPr lang="en-US" dirty="0"/>
              <a:t> since updates can be applied in one place.</a:t>
            </a:r>
          </a:p>
          <a:p>
            <a:pPr lvl="0"/>
            <a:r>
              <a:rPr lang="en-US" b="1" dirty="0"/>
              <a:t>Better security</a:t>
            </a:r>
            <a:r>
              <a:rPr lang="en-US" dirty="0"/>
              <a:t> due to controlled access.</a:t>
            </a:r>
          </a:p>
          <a:p>
            <a:pPr lvl="0"/>
            <a:r>
              <a:rPr lang="en-US" b="1" dirty="0"/>
              <a:t>Supports large networks</a:t>
            </a:r>
            <a:r>
              <a:rPr lang="en-US" dirty="0"/>
              <a:t> with thousands of users.</a:t>
            </a:r>
          </a:p>
          <a:p>
            <a:pPr lvl="0"/>
            <a:r>
              <a:rPr lang="en-US" b="1" dirty="0"/>
              <a:t>Reliable backups</a:t>
            </a:r>
            <a:r>
              <a:rPr lang="en-US" dirty="0"/>
              <a:t> and disaster recovery options.</a:t>
            </a:r>
          </a:p>
          <a:p>
            <a:r>
              <a:rPr lang="en-US" sz="3400" b="1" dirty="0" smtClean="0"/>
              <a:t>Disadvantages </a:t>
            </a:r>
          </a:p>
          <a:p>
            <a:pPr lvl="0"/>
            <a:r>
              <a:rPr lang="en-US" b="1" dirty="0"/>
              <a:t>Expensive to set up</a:t>
            </a:r>
            <a:r>
              <a:rPr lang="en-US" dirty="0"/>
              <a:t>, because servers cost more.</a:t>
            </a:r>
          </a:p>
          <a:p>
            <a:pPr lvl="0"/>
            <a:r>
              <a:rPr lang="en-US" b="1" dirty="0"/>
              <a:t>Server becomes a single point of failure</a:t>
            </a:r>
            <a:r>
              <a:rPr lang="en-US" dirty="0"/>
              <a:t>; if it goes down, services stop.</a:t>
            </a:r>
          </a:p>
          <a:p>
            <a:pPr lvl="0"/>
            <a:r>
              <a:rPr lang="en-US" b="1" dirty="0"/>
              <a:t>Requires trained administrators</a:t>
            </a:r>
            <a:r>
              <a:rPr lang="en-US" dirty="0"/>
              <a:t> to maintain and secure the network.</a:t>
            </a:r>
          </a:p>
          <a:p>
            <a:pPr lvl="0"/>
            <a:r>
              <a:rPr lang="en-US" b="1" dirty="0"/>
              <a:t>Performance issues</a:t>
            </a:r>
            <a:r>
              <a:rPr lang="en-US" dirty="0"/>
              <a:t> may occur if too many clients request resources at once.</a:t>
            </a:r>
          </a:p>
          <a:p>
            <a:endParaRPr lang="en-US" dirty="0"/>
          </a:p>
        </p:txBody>
      </p:sp>
      <p:sp>
        <p:nvSpPr>
          <p:cNvPr id="4" name="Rectangle 3"/>
          <p:cNvSpPr/>
          <p:nvPr/>
        </p:nvSpPr>
        <p:spPr>
          <a:xfrm>
            <a:off x="5703216" y="2549773"/>
            <a:ext cx="5816339" cy="3679212"/>
          </a:xfrm>
          <a:prstGeom prst="rect">
            <a:avLst/>
          </a:prstGeom>
        </p:spPr>
        <p:txBody>
          <a:bodyPr wrap="square">
            <a:spAutoFit/>
          </a:bodyPr>
          <a:lstStyle/>
          <a:p>
            <a:pPr>
              <a:lnSpc>
                <a:spcPct val="107000"/>
              </a:lnSpc>
              <a:spcAft>
                <a:spcPts val="800"/>
              </a:spcAft>
            </a:pPr>
            <a:r>
              <a:rPr lang="en-US"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Real-Life Examples of the Client–Server Model</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b="1" dirty="0" smtClean="0">
                <a:effectLst/>
                <a:latin typeface="Times New Roman" panose="02020603050405020304" pitchFamily="18" charset="0"/>
                <a:ea typeface="Times New Roman" panose="02020603050405020304" pitchFamily="18" charset="0"/>
                <a:cs typeface="Times New Roman" panose="02020603050405020304" pitchFamily="18" charset="0"/>
              </a:rPr>
              <a:t>a. Online Banking</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Your phone (client) requests your balance; the bank’s server sends the balance.</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b="1" dirty="0" smtClean="0">
                <a:effectLst/>
                <a:latin typeface="Times New Roman" panose="02020603050405020304" pitchFamily="18" charset="0"/>
                <a:ea typeface="Times New Roman" panose="02020603050405020304" pitchFamily="18" charset="0"/>
                <a:cs typeface="Times New Roman" panose="02020603050405020304" pitchFamily="18" charset="0"/>
              </a:rPr>
              <a:t>b. Websites</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You open a website on your browser (client); the web server delivers HTML, images and data.</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b="1" dirty="0" smtClean="0">
                <a:effectLst/>
                <a:latin typeface="Times New Roman" panose="02020603050405020304" pitchFamily="18" charset="0"/>
                <a:ea typeface="Times New Roman" panose="02020603050405020304" pitchFamily="18" charset="0"/>
                <a:cs typeface="Times New Roman" panose="02020603050405020304" pitchFamily="18" charset="0"/>
              </a:rPr>
              <a:t>c. Email</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Your Gmail app (client) connects to Google’s mail servers to fetch or send emails.</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b="1" dirty="0" smtClean="0">
                <a:effectLst/>
                <a:latin typeface="Times New Roman" panose="02020603050405020304" pitchFamily="18" charset="0"/>
                <a:ea typeface="Times New Roman" panose="02020603050405020304" pitchFamily="18" charset="0"/>
                <a:cs typeface="Times New Roman" panose="02020603050405020304" pitchFamily="18" charset="0"/>
              </a:rPr>
              <a:t>d. Company Networks</a:t>
            </a:r>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Employees access shared files, databases or applications stored on central servers.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955584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(P2P) Network</a:t>
            </a:r>
          </a:p>
        </p:txBody>
      </p:sp>
      <p:sp>
        <p:nvSpPr>
          <p:cNvPr id="3" name="Content Placeholder 2"/>
          <p:cNvSpPr>
            <a:spLocks noGrp="1"/>
          </p:cNvSpPr>
          <p:nvPr>
            <p:ph idx="1"/>
          </p:nvPr>
        </p:nvSpPr>
        <p:spPr>
          <a:xfrm>
            <a:off x="1295401" y="2556932"/>
            <a:ext cx="5680434" cy="3318936"/>
          </a:xfrm>
        </p:spPr>
        <p:txBody>
          <a:bodyPr>
            <a:normAutofit fontScale="55000" lnSpcReduction="20000"/>
          </a:bodyPr>
          <a:lstStyle/>
          <a:p>
            <a:r>
              <a:rPr lang="en-US" dirty="0"/>
              <a:t>A </a:t>
            </a:r>
            <a:r>
              <a:rPr lang="en-US" b="1" dirty="0"/>
              <a:t>Peer-to-Peer (P2P)</a:t>
            </a:r>
            <a:r>
              <a:rPr lang="en-US" dirty="0"/>
              <a:t> network is a type of computer network where all devices, called </a:t>
            </a:r>
            <a:r>
              <a:rPr lang="en-US" b="1" dirty="0"/>
              <a:t>peers</a:t>
            </a:r>
            <a:r>
              <a:rPr lang="en-US" dirty="0"/>
              <a:t>, share resources and communicate directly with each other. Unlike the client–server model, there is </a:t>
            </a:r>
            <a:r>
              <a:rPr lang="en-US" b="1" dirty="0"/>
              <a:t>no central server</a:t>
            </a:r>
            <a:r>
              <a:rPr lang="en-US" dirty="0"/>
              <a:t> managing the network. Each device can act both as a </a:t>
            </a:r>
            <a:r>
              <a:rPr lang="en-US" b="1" dirty="0"/>
              <a:t>client</a:t>
            </a:r>
            <a:r>
              <a:rPr lang="en-US" dirty="0"/>
              <a:t> and a </a:t>
            </a:r>
            <a:r>
              <a:rPr lang="en-US" b="1" dirty="0"/>
              <a:t>server</a:t>
            </a:r>
            <a:r>
              <a:rPr lang="en-US" dirty="0"/>
              <a:t> at the same time.</a:t>
            </a:r>
          </a:p>
          <a:p>
            <a:r>
              <a:rPr lang="en-US" dirty="0"/>
              <a:t>P2P networks are commonly used in homes, small offices and applications like file sharing, </a:t>
            </a:r>
            <a:r>
              <a:rPr lang="en-US" dirty="0" err="1"/>
              <a:t>blockchain</a:t>
            </a:r>
            <a:r>
              <a:rPr lang="en-US" dirty="0"/>
              <a:t> and online collaboration</a:t>
            </a:r>
            <a:r>
              <a:rPr lang="en-US" dirty="0" smtClean="0"/>
              <a:t>.</a:t>
            </a:r>
          </a:p>
          <a:p>
            <a:r>
              <a:rPr lang="en-US" dirty="0"/>
              <a:t>A peer-to-peer network is a </a:t>
            </a:r>
            <a:r>
              <a:rPr lang="en-US" dirty="0" err="1"/>
              <a:t>decentralised</a:t>
            </a:r>
            <a:r>
              <a:rPr lang="en-US" dirty="0"/>
              <a:t> network where each computer (peer) has equal status and responsibilities.</a:t>
            </a:r>
            <a:br>
              <a:rPr lang="en-US" dirty="0"/>
            </a:br>
            <a:r>
              <a:rPr lang="en-US" dirty="0"/>
              <a:t>Every device can:</a:t>
            </a:r>
          </a:p>
          <a:p>
            <a:r>
              <a:rPr lang="en-US" dirty="0"/>
              <a:t>Store its own data</a:t>
            </a:r>
          </a:p>
          <a:p>
            <a:r>
              <a:rPr lang="en-US" dirty="0"/>
              <a:t>Share files or resources with others</a:t>
            </a:r>
          </a:p>
          <a:p>
            <a:r>
              <a:rPr lang="en-US" dirty="0"/>
              <a:t>Request data from other peers</a:t>
            </a:r>
          </a:p>
          <a:p>
            <a:r>
              <a:rPr lang="en-US" dirty="0"/>
              <a:t>There is no central authority controlling the network, which makes it simple, flexible and inexpensive.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7237" y="2724346"/>
            <a:ext cx="3903101" cy="2524288"/>
          </a:xfrm>
          <a:prstGeom prst="rect">
            <a:avLst/>
          </a:prstGeom>
        </p:spPr>
      </p:pic>
    </p:spTree>
    <p:extLst>
      <p:ext uri="{BB962C8B-B14F-4D97-AF65-F5344CB8AC3E}">
        <p14:creationId xmlns:p14="http://schemas.microsoft.com/office/powerpoint/2010/main" val="42673475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P2P Network Works</a:t>
            </a:r>
          </a:p>
        </p:txBody>
      </p:sp>
      <p:sp>
        <p:nvSpPr>
          <p:cNvPr id="3" name="Content Placeholder 2"/>
          <p:cNvSpPr>
            <a:spLocks noGrp="1"/>
          </p:cNvSpPr>
          <p:nvPr>
            <p:ph idx="1"/>
          </p:nvPr>
        </p:nvSpPr>
        <p:spPr>
          <a:xfrm>
            <a:off x="1295401" y="2556932"/>
            <a:ext cx="4398389" cy="3318936"/>
          </a:xfrm>
        </p:spPr>
        <p:txBody>
          <a:bodyPr>
            <a:normAutofit fontScale="77500" lnSpcReduction="20000"/>
          </a:bodyPr>
          <a:lstStyle/>
          <a:p>
            <a:r>
              <a:rPr lang="en-US" dirty="0"/>
              <a:t>Each peer connects to the network using wired or wireless connections.</a:t>
            </a:r>
          </a:p>
          <a:p>
            <a:r>
              <a:rPr lang="en-US" dirty="0"/>
              <a:t>When a peer needs a file or resource, it searches for it among other peers.</a:t>
            </a:r>
          </a:p>
          <a:p>
            <a:r>
              <a:rPr lang="en-US" dirty="0"/>
              <a:t>Another peer containing that resource shares it directly with the requesting peer.</a:t>
            </a:r>
          </a:p>
          <a:p>
            <a:r>
              <a:rPr lang="en-US" dirty="0"/>
              <a:t>Both peers communicate directly without involving a central server.</a:t>
            </a:r>
          </a:p>
          <a:p>
            <a:r>
              <a:rPr lang="en-US" dirty="0"/>
              <a:t>This direct communication reduces dependency and improves speed in many cases.</a:t>
            </a:r>
          </a:p>
        </p:txBody>
      </p:sp>
      <p:sp>
        <p:nvSpPr>
          <p:cNvPr id="4" name="Rectangle 3"/>
          <p:cNvSpPr/>
          <p:nvPr/>
        </p:nvSpPr>
        <p:spPr>
          <a:xfrm>
            <a:off x="5693790" y="2461300"/>
            <a:ext cx="6096000" cy="3544304"/>
          </a:xfrm>
          <a:prstGeom prst="rect">
            <a:avLst/>
          </a:prstGeom>
        </p:spPr>
        <p:txBody>
          <a:bodyPr>
            <a:spAutoFit/>
          </a:bodyPr>
          <a:lstStyle/>
          <a:p>
            <a:r>
              <a:rPr lang="en-US" sz="1400" b="1" dirty="0" smtClean="0">
                <a:effectLst/>
                <a:latin typeface="Times New Roman" panose="02020603050405020304" pitchFamily="18" charset="0"/>
                <a:ea typeface="Times New Roman" panose="02020603050405020304" pitchFamily="18" charset="0"/>
              </a:rPr>
              <a:t>Key Characteristics of P2P Networks</a:t>
            </a:r>
          </a:p>
          <a:p>
            <a:pPr marL="285750" indent="-285750">
              <a:buFont typeface="Arial" panose="020B0604020202020204" pitchFamily="34" charset="0"/>
              <a:buChar char="•"/>
            </a:pPr>
            <a:r>
              <a:rPr lang="en-US" sz="1400" b="1" dirty="0" smtClean="0">
                <a:effectLst/>
                <a:latin typeface="Times New Roman" panose="02020603050405020304" pitchFamily="18" charset="0"/>
                <a:ea typeface="Times New Roman" panose="02020603050405020304" pitchFamily="18" charset="0"/>
              </a:rPr>
              <a:t>No Central Server</a:t>
            </a:r>
          </a:p>
          <a:p>
            <a:r>
              <a:rPr lang="en-US" sz="1400" dirty="0">
                <a:latin typeface="Times New Roman" panose="02020603050405020304" pitchFamily="18" charset="0"/>
                <a:ea typeface="Times New Roman" panose="02020603050405020304" pitchFamily="18" charset="0"/>
              </a:rPr>
              <a:t>Resources are distributed among all devices.</a:t>
            </a:r>
            <a:br>
              <a:rPr lang="en-US" sz="1400" dirty="0">
                <a:latin typeface="Times New Roman" panose="02020603050405020304" pitchFamily="18" charset="0"/>
                <a:ea typeface="Times New Roman" panose="02020603050405020304" pitchFamily="18" charset="0"/>
              </a:rPr>
            </a:br>
            <a:r>
              <a:rPr lang="en-US" sz="1400" dirty="0">
                <a:latin typeface="Times New Roman" panose="02020603050405020304" pitchFamily="18" charset="0"/>
                <a:ea typeface="Times New Roman" panose="02020603050405020304" pitchFamily="18" charset="0"/>
              </a:rPr>
              <a:t>Each peer manages its own files, permissions and processing tasks.</a:t>
            </a:r>
          </a:p>
          <a:p>
            <a:pPr marL="285750" indent="-285750">
              <a:buFont typeface="Arial" panose="020B0604020202020204" pitchFamily="34" charset="0"/>
              <a:buChar char="•"/>
            </a:pPr>
            <a:r>
              <a:rPr lang="en-US" sz="1400" b="1" dirty="0" smtClean="0">
                <a:effectLst/>
                <a:latin typeface="Times New Roman" panose="02020603050405020304" pitchFamily="18" charset="0"/>
                <a:ea typeface="Times New Roman" panose="02020603050405020304" pitchFamily="18" charset="0"/>
              </a:rPr>
              <a:t>Equal Participation</a:t>
            </a:r>
          </a:p>
          <a:p>
            <a:r>
              <a:rPr lang="en-US" sz="1400" dirty="0">
                <a:latin typeface="Times New Roman" panose="02020603050405020304" pitchFamily="18" charset="0"/>
                <a:ea typeface="Times New Roman" panose="02020603050405020304" pitchFamily="18" charset="0"/>
              </a:rPr>
              <a:t>All devices are equal.</a:t>
            </a:r>
            <a:br>
              <a:rPr lang="en-US" sz="1400" dirty="0">
                <a:latin typeface="Times New Roman" panose="02020603050405020304" pitchFamily="18" charset="0"/>
                <a:ea typeface="Times New Roman" panose="02020603050405020304" pitchFamily="18" charset="0"/>
              </a:rPr>
            </a:br>
            <a:r>
              <a:rPr lang="en-US" sz="1400" dirty="0">
                <a:latin typeface="Times New Roman" panose="02020603050405020304" pitchFamily="18" charset="0"/>
                <a:ea typeface="Times New Roman" panose="02020603050405020304" pitchFamily="18" charset="0"/>
              </a:rPr>
              <a:t>A peer can be both a service requester and a service provider.</a:t>
            </a:r>
          </a:p>
          <a:p>
            <a:pPr marL="285750" indent="-285750">
              <a:buFont typeface="Arial" panose="020B0604020202020204" pitchFamily="34" charset="0"/>
              <a:buChar char="•"/>
            </a:pPr>
            <a:r>
              <a:rPr lang="en-US" sz="1400" b="1" dirty="0" smtClean="0">
                <a:effectLst/>
                <a:latin typeface="Times New Roman" panose="02020603050405020304" pitchFamily="18" charset="0"/>
                <a:ea typeface="Times New Roman" panose="02020603050405020304" pitchFamily="18" charset="0"/>
              </a:rPr>
              <a:t>Easy to Set Up</a:t>
            </a:r>
          </a:p>
          <a:p>
            <a:r>
              <a:rPr lang="en-US" sz="1400" dirty="0">
                <a:latin typeface="Times New Roman" panose="02020603050405020304" pitchFamily="18" charset="0"/>
                <a:ea typeface="Times New Roman" panose="02020603050405020304" pitchFamily="18" charset="0"/>
              </a:rPr>
              <a:t>There is no complex server installation.</a:t>
            </a:r>
            <a:br>
              <a:rPr lang="en-US" sz="1400" dirty="0">
                <a:latin typeface="Times New Roman" panose="02020603050405020304" pitchFamily="18" charset="0"/>
                <a:ea typeface="Times New Roman" panose="02020603050405020304" pitchFamily="18" charset="0"/>
              </a:rPr>
            </a:br>
            <a:r>
              <a:rPr lang="en-US" sz="1400" dirty="0">
                <a:latin typeface="Times New Roman" panose="02020603050405020304" pitchFamily="18" charset="0"/>
                <a:ea typeface="Times New Roman" panose="02020603050405020304" pitchFamily="18" charset="0"/>
              </a:rPr>
              <a:t>Anyone can create a small P2P network at home or in a small office.</a:t>
            </a:r>
          </a:p>
          <a:p>
            <a:pPr marL="285750" indent="-285750">
              <a:buFont typeface="Arial" panose="020B0604020202020204" pitchFamily="34" charset="0"/>
              <a:buChar char="•"/>
            </a:pPr>
            <a:r>
              <a:rPr lang="en-US" sz="1400" b="1" dirty="0" smtClean="0">
                <a:effectLst/>
                <a:latin typeface="Times New Roman" panose="02020603050405020304" pitchFamily="18" charset="0"/>
                <a:ea typeface="Times New Roman" panose="02020603050405020304" pitchFamily="18" charset="0"/>
              </a:rPr>
              <a:t>Lower Cost</a:t>
            </a:r>
          </a:p>
          <a:p>
            <a:r>
              <a:rPr lang="en-US" sz="1400" dirty="0">
                <a:latin typeface="Times New Roman" panose="02020603050405020304" pitchFamily="18" charset="0"/>
                <a:ea typeface="Times New Roman" panose="02020603050405020304" pitchFamily="18" charset="0"/>
              </a:rPr>
              <a:t>No need for expensive servers or network administrators.</a:t>
            </a:r>
            <a:br>
              <a:rPr lang="en-US" sz="1400" dirty="0">
                <a:latin typeface="Times New Roman" panose="02020603050405020304" pitchFamily="18" charset="0"/>
                <a:ea typeface="Times New Roman" panose="02020603050405020304" pitchFamily="18" charset="0"/>
              </a:rPr>
            </a:br>
            <a:r>
              <a:rPr lang="en-US" sz="1400" dirty="0">
                <a:latin typeface="Times New Roman" panose="02020603050405020304" pitchFamily="18" charset="0"/>
                <a:ea typeface="Times New Roman" panose="02020603050405020304" pitchFamily="18" charset="0"/>
              </a:rPr>
              <a:t>It works well on regular computers and home devices.</a:t>
            </a:r>
          </a:p>
          <a:p>
            <a:pPr marL="285750" indent="-285750">
              <a:buFont typeface="Arial" panose="020B0604020202020204" pitchFamily="34" charset="0"/>
              <a:buChar char="•"/>
            </a:pPr>
            <a:r>
              <a:rPr lang="en-US" sz="1400" b="1" dirty="0" smtClean="0">
                <a:effectLst/>
                <a:latin typeface="Times New Roman" panose="02020603050405020304" pitchFamily="18" charset="0"/>
                <a:ea typeface="Times New Roman" panose="02020603050405020304" pitchFamily="18" charset="0"/>
              </a:rPr>
              <a:t>Distributed Resources</a:t>
            </a:r>
          </a:p>
          <a:p>
            <a:r>
              <a:rPr lang="en-US" sz="1400" dirty="0">
                <a:latin typeface="Times New Roman" panose="02020603050405020304" pitchFamily="18" charset="0"/>
                <a:ea typeface="Times New Roman" panose="02020603050405020304" pitchFamily="18" charset="0"/>
              </a:rPr>
              <a:t>Files and data are shared across multiple devices, not stored in one central place.</a:t>
            </a:r>
          </a:p>
          <a:p>
            <a:pPr>
              <a:lnSpc>
                <a:spcPct val="107000"/>
              </a:lnSpc>
              <a:spcAft>
                <a:spcPts val="800"/>
              </a:spcAft>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52135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and Disadvantages</a:t>
            </a:r>
            <a:endParaRPr lang="en-US" dirty="0"/>
          </a:p>
        </p:txBody>
      </p:sp>
      <p:sp>
        <p:nvSpPr>
          <p:cNvPr id="3" name="Content Placeholder 2"/>
          <p:cNvSpPr>
            <a:spLocks noGrp="1"/>
          </p:cNvSpPr>
          <p:nvPr>
            <p:ph idx="1"/>
          </p:nvPr>
        </p:nvSpPr>
        <p:spPr>
          <a:xfrm>
            <a:off x="1141430" y="2453237"/>
            <a:ext cx="4954570" cy="3318936"/>
          </a:xfrm>
        </p:spPr>
        <p:txBody>
          <a:bodyPr>
            <a:noAutofit/>
          </a:bodyPr>
          <a:lstStyle/>
          <a:p>
            <a:r>
              <a:rPr lang="en-US" sz="1600" b="1" dirty="0" smtClean="0"/>
              <a:t>Advantages</a:t>
            </a:r>
          </a:p>
          <a:p>
            <a:r>
              <a:rPr lang="en-US" sz="1600" b="1" dirty="0" smtClean="0"/>
              <a:t>Cost-Effective: </a:t>
            </a:r>
            <a:r>
              <a:rPr lang="en-US" sz="1600" dirty="0" smtClean="0"/>
              <a:t>No </a:t>
            </a:r>
            <a:r>
              <a:rPr lang="en-US" sz="1600" dirty="0"/>
              <a:t>expensive servers are required, making it perfect for small networks and personal use.</a:t>
            </a:r>
          </a:p>
          <a:p>
            <a:r>
              <a:rPr lang="en-US" sz="1600" b="1" dirty="0" smtClean="0"/>
              <a:t>Easy Maintenance: </a:t>
            </a:r>
            <a:r>
              <a:rPr lang="en-US" sz="1600" dirty="0" smtClean="0"/>
              <a:t>Users </a:t>
            </a:r>
            <a:r>
              <a:rPr lang="en-US" sz="1600" dirty="0"/>
              <a:t>manage their own devices.</a:t>
            </a:r>
            <a:br>
              <a:rPr lang="en-US" sz="1600" dirty="0"/>
            </a:br>
            <a:r>
              <a:rPr lang="en-US" sz="1600" dirty="0"/>
              <a:t>No need for dedicated IT staff.</a:t>
            </a:r>
          </a:p>
          <a:p>
            <a:r>
              <a:rPr lang="en-US" sz="1600" b="1" dirty="0" smtClean="0"/>
              <a:t>High Scalability: </a:t>
            </a:r>
            <a:r>
              <a:rPr lang="en-US" sz="1600" dirty="0" smtClean="0"/>
              <a:t>New </a:t>
            </a:r>
            <a:r>
              <a:rPr lang="en-US" sz="1600" dirty="0"/>
              <a:t>peers can join or leave without disturbing the network.</a:t>
            </a:r>
            <a:br>
              <a:rPr lang="en-US" sz="1600" dirty="0"/>
            </a:br>
            <a:r>
              <a:rPr lang="en-US" sz="1600" dirty="0"/>
              <a:t>More peers often means more shared resources.</a:t>
            </a:r>
          </a:p>
          <a:p>
            <a:r>
              <a:rPr lang="en-US" sz="1600" b="1" dirty="0" smtClean="0"/>
              <a:t>Reduced </a:t>
            </a:r>
            <a:r>
              <a:rPr lang="en-US" sz="1600" b="1" dirty="0"/>
              <a:t>Traffic on Central </a:t>
            </a:r>
            <a:r>
              <a:rPr lang="en-US" sz="1600" b="1" dirty="0" smtClean="0"/>
              <a:t>Server: </a:t>
            </a:r>
            <a:r>
              <a:rPr lang="en-US" sz="1600" dirty="0" smtClean="0"/>
              <a:t>Because </a:t>
            </a:r>
            <a:r>
              <a:rPr lang="en-US" sz="1600" dirty="0"/>
              <a:t>peers share directly, there is no overload on a single machine.</a:t>
            </a:r>
          </a:p>
          <a:p>
            <a:r>
              <a:rPr lang="en-US" sz="1600" b="1" dirty="0" smtClean="0"/>
              <a:t>Strong </a:t>
            </a:r>
            <a:r>
              <a:rPr lang="en-US" sz="1600" b="1" dirty="0"/>
              <a:t>in Distributed </a:t>
            </a:r>
            <a:r>
              <a:rPr lang="en-US" sz="1600" b="1" dirty="0" smtClean="0"/>
              <a:t>Applications: </a:t>
            </a:r>
            <a:r>
              <a:rPr lang="en-US" sz="1600" dirty="0" smtClean="0"/>
              <a:t>Many </a:t>
            </a:r>
            <a:r>
              <a:rPr lang="en-US" sz="1600" dirty="0"/>
              <a:t>modern distributed technologies use P2P principles, such as </a:t>
            </a:r>
            <a:r>
              <a:rPr lang="en-US" sz="1600" dirty="0" err="1"/>
              <a:t>blockchain</a:t>
            </a:r>
            <a:r>
              <a:rPr lang="en-US" sz="1600" dirty="0"/>
              <a:t>.</a:t>
            </a:r>
          </a:p>
        </p:txBody>
      </p:sp>
      <p:sp>
        <p:nvSpPr>
          <p:cNvPr id="4" name="Rectangle 3"/>
          <p:cNvSpPr/>
          <p:nvPr/>
        </p:nvSpPr>
        <p:spPr>
          <a:xfrm>
            <a:off x="6249972" y="2556932"/>
            <a:ext cx="4996205" cy="3785652"/>
          </a:xfrm>
          <a:prstGeom prst="rect">
            <a:avLst/>
          </a:prstGeom>
        </p:spPr>
        <p:txBody>
          <a:bodyPr wrap="square">
            <a:spAutoFit/>
          </a:bodyPr>
          <a:lstStyle/>
          <a:p>
            <a:r>
              <a:rPr lang="en-US" sz="1600" b="1" dirty="0" smtClean="0">
                <a:effectLst/>
                <a:latin typeface="Times New Roman" panose="02020603050405020304" pitchFamily="18" charset="0"/>
                <a:ea typeface="Times New Roman" panose="02020603050405020304" pitchFamily="18" charset="0"/>
              </a:rPr>
              <a:t> Disadvantages </a:t>
            </a:r>
          </a:p>
          <a:p>
            <a:r>
              <a:rPr lang="en-US" sz="1600" b="1" dirty="0" smtClean="0">
                <a:effectLst/>
                <a:latin typeface="Times New Roman" panose="02020603050405020304" pitchFamily="18" charset="0"/>
                <a:ea typeface="Times New Roman" panose="02020603050405020304" pitchFamily="18" charset="0"/>
              </a:rPr>
              <a:t>Weaker Security</a:t>
            </a:r>
          </a:p>
          <a:p>
            <a:r>
              <a:rPr lang="en-US" sz="1600" dirty="0">
                <a:latin typeface="Times New Roman" panose="02020603050405020304" pitchFamily="18" charset="0"/>
                <a:ea typeface="Times New Roman" panose="02020603050405020304" pitchFamily="18" charset="0"/>
              </a:rPr>
              <a:t>No central authority means each user must secure their own device.</a:t>
            </a:r>
            <a:br>
              <a:rPr lang="en-US" sz="1600" dirty="0">
                <a:latin typeface="Times New Roman" panose="02020603050405020304" pitchFamily="18" charset="0"/>
                <a:ea typeface="Times New Roman" panose="02020603050405020304" pitchFamily="18" charset="0"/>
              </a:rPr>
            </a:br>
            <a:r>
              <a:rPr lang="en-US" sz="1600" dirty="0">
                <a:latin typeface="Times New Roman" panose="02020603050405020304" pitchFamily="18" charset="0"/>
                <a:ea typeface="Times New Roman" panose="02020603050405020304" pitchFamily="18" charset="0"/>
              </a:rPr>
              <a:t>Malware or viruses can spread easily through shared files.</a:t>
            </a:r>
          </a:p>
          <a:p>
            <a:r>
              <a:rPr lang="en-US" sz="1600" b="1" dirty="0" smtClean="0">
                <a:effectLst/>
                <a:latin typeface="Times New Roman" panose="02020603050405020304" pitchFamily="18" charset="0"/>
                <a:ea typeface="Times New Roman" panose="02020603050405020304" pitchFamily="18" charset="0"/>
              </a:rPr>
              <a:t> Harder to Manage</a:t>
            </a:r>
          </a:p>
          <a:p>
            <a:r>
              <a:rPr lang="en-US" sz="1600" dirty="0">
                <a:latin typeface="Times New Roman" panose="02020603050405020304" pitchFamily="18" charset="0"/>
                <a:ea typeface="Times New Roman" panose="02020603050405020304" pitchFamily="18" charset="0"/>
              </a:rPr>
              <a:t>Since everyone controls their own resources, enforcing rules is difficult.</a:t>
            </a:r>
          </a:p>
          <a:p>
            <a:r>
              <a:rPr lang="en-US" sz="1600" b="1" dirty="0" smtClean="0">
                <a:effectLst/>
                <a:latin typeface="Times New Roman" panose="02020603050405020304" pitchFamily="18" charset="0"/>
                <a:ea typeface="Times New Roman" panose="02020603050405020304" pitchFamily="18" charset="0"/>
              </a:rPr>
              <a:t> Data Duplication or Inconsistency</a:t>
            </a:r>
          </a:p>
          <a:p>
            <a:r>
              <a:rPr lang="en-US" sz="1600" dirty="0">
                <a:latin typeface="Times New Roman" panose="02020603050405020304" pitchFamily="18" charset="0"/>
                <a:ea typeface="Times New Roman" panose="02020603050405020304" pitchFamily="18" charset="0"/>
              </a:rPr>
              <a:t>Files may not be updated everywhere because data is scattered among peers.</a:t>
            </a:r>
          </a:p>
          <a:p>
            <a:r>
              <a:rPr lang="en-US" sz="1600" b="1" dirty="0" smtClean="0">
                <a:effectLst/>
                <a:latin typeface="Times New Roman" panose="02020603050405020304" pitchFamily="18" charset="0"/>
                <a:ea typeface="Times New Roman" panose="02020603050405020304" pitchFamily="18" charset="0"/>
              </a:rPr>
              <a:t>Lower Performance for Large </a:t>
            </a:r>
            <a:r>
              <a:rPr lang="en-US" sz="1600" b="1" dirty="0" err="1" smtClean="0">
                <a:effectLst/>
                <a:latin typeface="Times New Roman" panose="02020603050405020304" pitchFamily="18" charset="0"/>
                <a:ea typeface="Times New Roman" panose="02020603050405020304" pitchFamily="18" charset="0"/>
              </a:rPr>
              <a:t>Organisations</a:t>
            </a:r>
            <a:endParaRPr lang="en-US" sz="1600" b="1" dirty="0" smtClean="0">
              <a:effectLst/>
              <a:latin typeface="Times New Roman" panose="02020603050405020304" pitchFamily="18" charset="0"/>
              <a:ea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rPr>
              <a:t>P2P is not ideal for large networks with heavy workloads.</a:t>
            </a:r>
            <a:br>
              <a:rPr lang="en-US" sz="1600" dirty="0">
                <a:latin typeface="Times New Roman" panose="02020603050405020304" pitchFamily="18" charset="0"/>
                <a:ea typeface="Times New Roman" panose="02020603050405020304" pitchFamily="18" charset="0"/>
              </a:rPr>
            </a:br>
            <a:r>
              <a:rPr lang="en-US" sz="1600" dirty="0">
                <a:latin typeface="Times New Roman" panose="02020603050405020304" pitchFamily="18" charset="0"/>
                <a:ea typeface="Times New Roman" panose="02020603050405020304" pitchFamily="18" charset="0"/>
              </a:rPr>
              <a:t>Client/server systems are more stable for such environments.</a:t>
            </a:r>
          </a:p>
        </p:txBody>
      </p:sp>
    </p:spTree>
    <p:extLst>
      <p:ext uri="{BB962C8B-B14F-4D97-AF65-F5344CB8AC3E}">
        <p14:creationId xmlns:p14="http://schemas.microsoft.com/office/powerpoint/2010/main" val="2266450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P2P</a:t>
            </a:r>
            <a:endParaRPr lang="en-US" dirty="0"/>
          </a:p>
        </p:txBody>
      </p:sp>
      <p:sp>
        <p:nvSpPr>
          <p:cNvPr id="3" name="Content Placeholder 2"/>
          <p:cNvSpPr>
            <a:spLocks noGrp="1"/>
          </p:cNvSpPr>
          <p:nvPr>
            <p:ph idx="1"/>
          </p:nvPr>
        </p:nvSpPr>
        <p:spPr>
          <a:xfrm>
            <a:off x="1295401" y="2556932"/>
            <a:ext cx="4115585" cy="3318936"/>
          </a:xfrm>
        </p:spPr>
        <p:txBody>
          <a:bodyPr>
            <a:normAutofit fontScale="62500" lnSpcReduction="20000"/>
          </a:bodyPr>
          <a:lstStyle/>
          <a:p>
            <a:r>
              <a:rPr lang="en-US" b="1" dirty="0" smtClean="0"/>
              <a:t>Pure </a:t>
            </a:r>
            <a:r>
              <a:rPr lang="en-US" b="1" dirty="0"/>
              <a:t>P2P</a:t>
            </a:r>
          </a:p>
          <a:p>
            <a:r>
              <a:rPr lang="en-US" dirty="0"/>
              <a:t>Every peer has equal roles without any central directory.</a:t>
            </a:r>
            <a:br>
              <a:rPr lang="en-US" dirty="0"/>
            </a:br>
            <a:r>
              <a:rPr lang="en-US" dirty="0"/>
              <a:t>Example: early file-sharing systems like Gnutella.</a:t>
            </a:r>
          </a:p>
          <a:p>
            <a:r>
              <a:rPr lang="en-US" b="1" dirty="0" smtClean="0"/>
              <a:t>Hybrid </a:t>
            </a:r>
            <a:r>
              <a:rPr lang="en-US" b="1" dirty="0"/>
              <a:t>P2P</a:t>
            </a:r>
          </a:p>
          <a:p>
            <a:r>
              <a:rPr lang="en-US" dirty="0"/>
              <a:t>A central server exists only to help peers find each other, but sharing happens directly between peers.</a:t>
            </a:r>
            <a:br>
              <a:rPr lang="en-US" dirty="0"/>
            </a:br>
            <a:r>
              <a:rPr lang="en-US" dirty="0"/>
              <a:t>Example: </a:t>
            </a:r>
            <a:r>
              <a:rPr lang="en-US" dirty="0" err="1"/>
              <a:t>BitTorrent</a:t>
            </a:r>
            <a:r>
              <a:rPr lang="en-US" dirty="0"/>
              <a:t> (tracker-based).</a:t>
            </a:r>
          </a:p>
          <a:p>
            <a:r>
              <a:rPr lang="en-US" b="1" dirty="0" smtClean="0"/>
              <a:t>Structured </a:t>
            </a:r>
            <a:r>
              <a:rPr lang="en-US" b="1" dirty="0"/>
              <a:t>P2P</a:t>
            </a:r>
          </a:p>
          <a:p>
            <a:r>
              <a:rPr lang="en-US" dirty="0"/>
              <a:t>Uses algorithms to </a:t>
            </a:r>
            <a:r>
              <a:rPr lang="en-US" dirty="0" err="1"/>
              <a:t>organise</a:t>
            </a:r>
            <a:r>
              <a:rPr lang="en-US" dirty="0"/>
              <a:t> peers and data in a structured way for faster searches.</a:t>
            </a:r>
            <a:br>
              <a:rPr lang="en-US" dirty="0"/>
            </a:br>
            <a:r>
              <a:rPr lang="en-US" dirty="0"/>
              <a:t>Example: Distributed Hash Tables (DHT).</a:t>
            </a:r>
          </a:p>
        </p:txBody>
      </p:sp>
      <p:sp>
        <p:nvSpPr>
          <p:cNvPr id="4" name="Rectangle 3"/>
          <p:cNvSpPr/>
          <p:nvPr/>
        </p:nvSpPr>
        <p:spPr>
          <a:xfrm>
            <a:off x="5498969" y="2610683"/>
            <a:ext cx="6096000" cy="2954655"/>
          </a:xfrm>
          <a:prstGeom prst="rect">
            <a:avLst/>
          </a:prstGeom>
        </p:spPr>
        <p:txBody>
          <a:bodyPr>
            <a:spAutoFit/>
          </a:bodyPr>
          <a:lstStyle/>
          <a:p>
            <a:r>
              <a:rPr lang="en-US" b="1" dirty="0" smtClean="0"/>
              <a:t>Real-Life Examples of P2P Networks</a:t>
            </a:r>
          </a:p>
          <a:p>
            <a:pPr marL="285750" indent="-285750">
              <a:buFont typeface="Arial" panose="020B0604020202020204" pitchFamily="34" charset="0"/>
              <a:buChar char="•"/>
            </a:pPr>
            <a:r>
              <a:rPr lang="en-US" sz="1400" b="1" dirty="0" smtClean="0"/>
              <a:t>File-Sharing Applications</a:t>
            </a:r>
          </a:p>
          <a:p>
            <a:pPr>
              <a:buFont typeface="Arial" panose="020B0604020202020204" pitchFamily="34" charset="0"/>
              <a:buChar char="•"/>
            </a:pPr>
            <a:r>
              <a:rPr lang="en-US" sz="1400" dirty="0" err="1" smtClean="0"/>
              <a:t>BitTorrent</a:t>
            </a:r>
            <a:endParaRPr lang="en-US" sz="1400" dirty="0" smtClean="0"/>
          </a:p>
          <a:p>
            <a:pPr>
              <a:buFont typeface="Arial" panose="020B0604020202020204" pitchFamily="34" charset="0"/>
              <a:buChar char="•"/>
            </a:pPr>
            <a:r>
              <a:rPr lang="en-US" sz="1400" dirty="0" smtClean="0"/>
              <a:t>LimeWire (old)</a:t>
            </a:r>
          </a:p>
          <a:p>
            <a:pPr>
              <a:buFont typeface="Arial" panose="020B0604020202020204" pitchFamily="34" charset="0"/>
              <a:buChar char="•"/>
            </a:pPr>
            <a:r>
              <a:rPr lang="en-US" sz="1400" dirty="0" err="1" smtClean="0"/>
              <a:t>eMule</a:t>
            </a:r>
            <a:endParaRPr lang="en-US" sz="1400" dirty="0" smtClean="0"/>
          </a:p>
          <a:p>
            <a:r>
              <a:rPr lang="en-US" sz="1400" dirty="0" smtClean="0"/>
              <a:t>Peers exchange files directly without a central server.</a:t>
            </a:r>
          </a:p>
          <a:p>
            <a:pPr marL="285750" indent="-285750">
              <a:buFont typeface="Arial" panose="020B0604020202020204" pitchFamily="34" charset="0"/>
              <a:buChar char="•"/>
            </a:pPr>
            <a:r>
              <a:rPr lang="en-US" sz="1400" b="1" dirty="0" err="1" smtClean="0"/>
              <a:t>Blockchain</a:t>
            </a:r>
            <a:r>
              <a:rPr lang="en-US" sz="1400" b="1" dirty="0" smtClean="0"/>
              <a:t> and Cryptocurrencies</a:t>
            </a:r>
          </a:p>
          <a:p>
            <a:r>
              <a:rPr lang="en-US" sz="1400" dirty="0" smtClean="0"/>
              <a:t>Bitcoin and </a:t>
            </a:r>
            <a:r>
              <a:rPr lang="en-US" sz="1400" dirty="0" err="1" smtClean="0"/>
              <a:t>Ethereum</a:t>
            </a:r>
            <a:r>
              <a:rPr lang="en-US" sz="1400" dirty="0" smtClean="0"/>
              <a:t> use P2P networks to validate transactions.</a:t>
            </a:r>
            <a:br>
              <a:rPr lang="en-US" sz="1400" dirty="0" smtClean="0"/>
            </a:br>
            <a:r>
              <a:rPr lang="en-US" sz="1400" dirty="0" smtClean="0"/>
              <a:t>Every node stores a copy of the ledger.</a:t>
            </a:r>
          </a:p>
          <a:p>
            <a:pPr marL="285750" indent="-285750">
              <a:buFont typeface="Arial" panose="020B0604020202020204" pitchFamily="34" charset="0"/>
              <a:buChar char="•"/>
            </a:pPr>
            <a:r>
              <a:rPr lang="en-US" sz="1400" b="1" dirty="0" smtClean="0"/>
              <a:t>Communication Apps</a:t>
            </a:r>
          </a:p>
          <a:p>
            <a:r>
              <a:rPr lang="en-US" sz="1400" dirty="0" smtClean="0"/>
              <a:t>Some messaging or VoIP systems use P2P for direct device-to-device calls.</a:t>
            </a:r>
          </a:p>
          <a:p>
            <a:pPr marL="285750" indent="-285750">
              <a:buFont typeface="Arial" panose="020B0604020202020204" pitchFamily="34" charset="0"/>
              <a:buChar char="•"/>
            </a:pPr>
            <a:r>
              <a:rPr lang="en-US" sz="1400" b="1" dirty="0" smtClean="0"/>
              <a:t>Home and Small Office Networks</a:t>
            </a:r>
          </a:p>
          <a:p>
            <a:r>
              <a:rPr lang="en-US" sz="1400" dirty="0" smtClean="0"/>
              <a:t>Sharing files, printers or media across a few computers at home is usually P2P.</a:t>
            </a:r>
            <a:endParaRPr lang="en-US" sz="1400" dirty="0"/>
          </a:p>
        </p:txBody>
      </p:sp>
    </p:spTree>
    <p:extLst>
      <p:ext uri="{BB962C8B-B14F-4D97-AF65-F5344CB8AC3E}">
        <p14:creationId xmlns:p14="http://schemas.microsoft.com/office/powerpoint/2010/main" val="30975155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Differences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4711818"/>
              </p:ext>
            </p:extLst>
          </p:nvPr>
        </p:nvGraphicFramePr>
        <p:xfrm>
          <a:off x="1894789" y="2529623"/>
          <a:ext cx="8107050" cy="3336435"/>
        </p:xfrm>
        <a:graphic>
          <a:graphicData uri="http://schemas.openxmlformats.org/drawingml/2006/table">
            <a:tbl>
              <a:tblPr/>
              <a:tblGrid>
                <a:gridCol w="2702350">
                  <a:extLst>
                    <a:ext uri="{9D8B030D-6E8A-4147-A177-3AD203B41FA5}">
                      <a16:colId xmlns:a16="http://schemas.microsoft.com/office/drawing/2014/main" val="1020013661"/>
                    </a:ext>
                  </a:extLst>
                </a:gridCol>
                <a:gridCol w="2702350">
                  <a:extLst>
                    <a:ext uri="{9D8B030D-6E8A-4147-A177-3AD203B41FA5}">
                      <a16:colId xmlns:a16="http://schemas.microsoft.com/office/drawing/2014/main" val="3945043785"/>
                    </a:ext>
                  </a:extLst>
                </a:gridCol>
                <a:gridCol w="2702350">
                  <a:extLst>
                    <a:ext uri="{9D8B030D-6E8A-4147-A177-3AD203B41FA5}">
                      <a16:colId xmlns:a16="http://schemas.microsoft.com/office/drawing/2014/main" val="1957962843"/>
                    </a:ext>
                  </a:extLst>
                </a:gridCol>
              </a:tblGrid>
              <a:tr h="179345">
                <a:tc>
                  <a:txBody>
                    <a:bodyPr/>
                    <a:lstStyle/>
                    <a:p>
                      <a:r>
                        <a:rPr lang="en-US" sz="900" b="1"/>
                        <a:t>Basis</a:t>
                      </a:r>
                      <a:endParaRPr lang="en-US" sz="900"/>
                    </a:p>
                  </a:txBody>
                  <a:tcPr marL="44836" marR="44836" marT="22418" marB="22418" anchor="ctr">
                    <a:lnL>
                      <a:noFill/>
                    </a:lnL>
                    <a:lnR>
                      <a:noFill/>
                    </a:lnR>
                    <a:lnT>
                      <a:noFill/>
                    </a:lnT>
                    <a:lnB>
                      <a:noFill/>
                    </a:lnB>
                  </a:tcPr>
                </a:tc>
                <a:tc>
                  <a:txBody>
                    <a:bodyPr/>
                    <a:lstStyle/>
                    <a:p>
                      <a:r>
                        <a:rPr lang="en-US" sz="900" b="1"/>
                        <a:t>Client–Server Network</a:t>
                      </a:r>
                      <a:endParaRPr lang="en-US" sz="900"/>
                    </a:p>
                  </a:txBody>
                  <a:tcPr marL="44836" marR="44836" marT="22418" marB="22418" anchor="ctr">
                    <a:lnL>
                      <a:noFill/>
                    </a:lnL>
                    <a:lnR>
                      <a:noFill/>
                    </a:lnR>
                    <a:lnT>
                      <a:noFill/>
                    </a:lnT>
                    <a:lnB>
                      <a:noFill/>
                    </a:lnB>
                  </a:tcPr>
                </a:tc>
                <a:tc>
                  <a:txBody>
                    <a:bodyPr/>
                    <a:lstStyle/>
                    <a:p>
                      <a:r>
                        <a:rPr lang="en-US" sz="900" b="1"/>
                        <a:t>Peer-to-Peer (P2P) Network</a:t>
                      </a:r>
                      <a:endParaRPr lang="en-US" sz="900"/>
                    </a:p>
                  </a:txBody>
                  <a:tcPr marL="44836" marR="44836" marT="22418" marB="22418" anchor="ctr">
                    <a:lnL>
                      <a:noFill/>
                    </a:lnL>
                    <a:lnR>
                      <a:noFill/>
                    </a:lnR>
                    <a:lnT>
                      <a:noFill/>
                    </a:lnT>
                    <a:lnB>
                      <a:noFill/>
                    </a:lnB>
                  </a:tcPr>
                </a:tc>
                <a:extLst>
                  <a:ext uri="{0D108BD9-81ED-4DB2-BD59-A6C34878D82A}">
                    <a16:rowId xmlns:a16="http://schemas.microsoft.com/office/drawing/2014/main" val="1353194867"/>
                  </a:ext>
                </a:extLst>
              </a:tr>
              <a:tr h="313853">
                <a:tc>
                  <a:txBody>
                    <a:bodyPr/>
                    <a:lstStyle/>
                    <a:p>
                      <a:r>
                        <a:rPr lang="en-US" sz="900" b="1"/>
                        <a:t>1. Structure</a:t>
                      </a:r>
                      <a:endParaRPr lang="en-US" sz="900"/>
                    </a:p>
                  </a:txBody>
                  <a:tcPr marL="44836" marR="44836" marT="22418" marB="22418" anchor="ctr">
                    <a:lnL>
                      <a:noFill/>
                    </a:lnL>
                    <a:lnR>
                      <a:noFill/>
                    </a:lnR>
                    <a:lnT>
                      <a:noFill/>
                    </a:lnT>
                    <a:lnB>
                      <a:noFill/>
                    </a:lnB>
                  </a:tcPr>
                </a:tc>
                <a:tc>
                  <a:txBody>
                    <a:bodyPr/>
                    <a:lstStyle/>
                    <a:p>
                      <a:r>
                        <a:rPr lang="en-US" sz="900"/>
                        <a:t>Uses a central server to provide services to clients.</a:t>
                      </a:r>
                    </a:p>
                  </a:txBody>
                  <a:tcPr marL="44836" marR="44836" marT="22418" marB="22418" anchor="ctr">
                    <a:lnL>
                      <a:noFill/>
                    </a:lnL>
                    <a:lnR>
                      <a:noFill/>
                    </a:lnR>
                    <a:lnT>
                      <a:noFill/>
                    </a:lnT>
                    <a:lnB>
                      <a:noFill/>
                    </a:lnB>
                  </a:tcPr>
                </a:tc>
                <a:tc>
                  <a:txBody>
                    <a:bodyPr/>
                    <a:lstStyle/>
                    <a:p>
                      <a:r>
                        <a:rPr lang="en-US" sz="900"/>
                        <a:t>All computers (peers) are equal and share resources directly.</a:t>
                      </a:r>
                    </a:p>
                  </a:txBody>
                  <a:tcPr marL="44836" marR="44836" marT="22418" marB="22418" anchor="ctr">
                    <a:lnL>
                      <a:noFill/>
                    </a:lnL>
                    <a:lnR>
                      <a:noFill/>
                    </a:lnR>
                    <a:lnT>
                      <a:noFill/>
                    </a:lnT>
                    <a:lnB>
                      <a:noFill/>
                    </a:lnB>
                  </a:tcPr>
                </a:tc>
                <a:extLst>
                  <a:ext uri="{0D108BD9-81ED-4DB2-BD59-A6C34878D82A}">
                    <a16:rowId xmlns:a16="http://schemas.microsoft.com/office/drawing/2014/main" val="1675173767"/>
                  </a:ext>
                </a:extLst>
              </a:tr>
              <a:tr h="313853">
                <a:tc>
                  <a:txBody>
                    <a:bodyPr/>
                    <a:lstStyle/>
                    <a:p>
                      <a:r>
                        <a:rPr lang="en-US" sz="900" b="1"/>
                        <a:t>2. Control</a:t>
                      </a:r>
                      <a:endParaRPr lang="en-US" sz="900"/>
                    </a:p>
                  </a:txBody>
                  <a:tcPr marL="44836" marR="44836" marT="22418" marB="22418" anchor="ctr">
                    <a:lnL>
                      <a:noFill/>
                    </a:lnL>
                    <a:lnR>
                      <a:noFill/>
                    </a:lnR>
                    <a:lnT>
                      <a:noFill/>
                    </a:lnT>
                    <a:lnB>
                      <a:noFill/>
                    </a:lnB>
                  </a:tcPr>
                </a:tc>
                <a:tc>
                  <a:txBody>
                    <a:bodyPr/>
                    <a:lstStyle/>
                    <a:p>
                      <a:r>
                        <a:rPr lang="en-US" sz="900"/>
                        <a:t>Centralised control. Server manages everything.</a:t>
                      </a:r>
                    </a:p>
                  </a:txBody>
                  <a:tcPr marL="44836" marR="44836" marT="22418" marB="22418" anchor="ctr">
                    <a:lnL>
                      <a:noFill/>
                    </a:lnL>
                    <a:lnR>
                      <a:noFill/>
                    </a:lnR>
                    <a:lnT>
                      <a:noFill/>
                    </a:lnT>
                    <a:lnB>
                      <a:noFill/>
                    </a:lnB>
                  </a:tcPr>
                </a:tc>
                <a:tc>
                  <a:txBody>
                    <a:bodyPr/>
                    <a:lstStyle/>
                    <a:p>
                      <a:r>
                        <a:rPr lang="en-US" sz="900"/>
                        <a:t>No central control. Each peer manages its own resources.</a:t>
                      </a:r>
                    </a:p>
                  </a:txBody>
                  <a:tcPr marL="44836" marR="44836" marT="22418" marB="22418" anchor="ctr">
                    <a:lnL>
                      <a:noFill/>
                    </a:lnL>
                    <a:lnR>
                      <a:noFill/>
                    </a:lnR>
                    <a:lnT>
                      <a:noFill/>
                    </a:lnT>
                    <a:lnB>
                      <a:noFill/>
                    </a:lnB>
                  </a:tcPr>
                </a:tc>
                <a:extLst>
                  <a:ext uri="{0D108BD9-81ED-4DB2-BD59-A6C34878D82A}">
                    <a16:rowId xmlns:a16="http://schemas.microsoft.com/office/drawing/2014/main" val="4077577027"/>
                  </a:ext>
                </a:extLst>
              </a:tr>
              <a:tr h="313853">
                <a:tc>
                  <a:txBody>
                    <a:bodyPr/>
                    <a:lstStyle/>
                    <a:p>
                      <a:r>
                        <a:rPr lang="en-US" sz="900" b="1"/>
                        <a:t>3. Dependency</a:t>
                      </a:r>
                      <a:endParaRPr lang="en-US" sz="900"/>
                    </a:p>
                  </a:txBody>
                  <a:tcPr marL="44836" marR="44836" marT="22418" marB="22418" anchor="ctr">
                    <a:lnL>
                      <a:noFill/>
                    </a:lnL>
                    <a:lnR>
                      <a:noFill/>
                    </a:lnR>
                    <a:lnT>
                      <a:noFill/>
                    </a:lnT>
                    <a:lnB>
                      <a:noFill/>
                    </a:lnB>
                  </a:tcPr>
                </a:tc>
                <a:tc>
                  <a:txBody>
                    <a:bodyPr/>
                    <a:lstStyle/>
                    <a:p>
                      <a:r>
                        <a:rPr lang="en-US" sz="900"/>
                        <a:t>Network depends heavily on the server.</a:t>
                      </a:r>
                    </a:p>
                  </a:txBody>
                  <a:tcPr marL="44836" marR="44836" marT="22418" marB="22418" anchor="ctr">
                    <a:lnL>
                      <a:noFill/>
                    </a:lnL>
                    <a:lnR>
                      <a:noFill/>
                    </a:lnR>
                    <a:lnT>
                      <a:noFill/>
                    </a:lnT>
                    <a:lnB>
                      <a:noFill/>
                    </a:lnB>
                  </a:tcPr>
                </a:tc>
                <a:tc>
                  <a:txBody>
                    <a:bodyPr/>
                    <a:lstStyle/>
                    <a:p>
                      <a:r>
                        <a:rPr lang="en-US" sz="900"/>
                        <a:t>No single point of failure; peers can still work independently.</a:t>
                      </a:r>
                    </a:p>
                  </a:txBody>
                  <a:tcPr marL="44836" marR="44836" marT="22418" marB="22418" anchor="ctr">
                    <a:lnL>
                      <a:noFill/>
                    </a:lnL>
                    <a:lnR>
                      <a:noFill/>
                    </a:lnR>
                    <a:lnT>
                      <a:noFill/>
                    </a:lnT>
                    <a:lnB>
                      <a:noFill/>
                    </a:lnB>
                  </a:tcPr>
                </a:tc>
                <a:extLst>
                  <a:ext uri="{0D108BD9-81ED-4DB2-BD59-A6C34878D82A}">
                    <a16:rowId xmlns:a16="http://schemas.microsoft.com/office/drawing/2014/main" val="2552976797"/>
                  </a:ext>
                </a:extLst>
              </a:tr>
              <a:tr h="313853">
                <a:tc>
                  <a:txBody>
                    <a:bodyPr/>
                    <a:lstStyle/>
                    <a:p>
                      <a:r>
                        <a:rPr lang="en-US" sz="900" b="1"/>
                        <a:t>4. Cost</a:t>
                      </a:r>
                      <a:endParaRPr lang="en-US" sz="900"/>
                    </a:p>
                  </a:txBody>
                  <a:tcPr marL="44836" marR="44836" marT="22418" marB="22418" anchor="ctr">
                    <a:lnL>
                      <a:noFill/>
                    </a:lnL>
                    <a:lnR>
                      <a:noFill/>
                    </a:lnR>
                    <a:lnT>
                      <a:noFill/>
                    </a:lnT>
                    <a:lnB>
                      <a:noFill/>
                    </a:lnB>
                  </a:tcPr>
                </a:tc>
                <a:tc>
                  <a:txBody>
                    <a:bodyPr/>
                    <a:lstStyle/>
                    <a:p>
                      <a:r>
                        <a:rPr lang="en-US" sz="900"/>
                        <a:t>More expensive due to server hardware and maintenance.</a:t>
                      </a:r>
                    </a:p>
                  </a:txBody>
                  <a:tcPr marL="44836" marR="44836" marT="22418" marB="22418" anchor="ctr">
                    <a:lnL>
                      <a:noFill/>
                    </a:lnL>
                    <a:lnR>
                      <a:noFill/>
                    </a:lnR>
                    <a:lnT>
                      <a:noFill/>
                    </a:lnT>
                    <a:lnB>
                      <a:noFill/>
                    </a:lnB>
                  </a:tcPr>
                </a:tc>
                <a:tc>
                  <a:txBody>
                    <a:bodyPr/>
                    <a:lstStyle/>
                    <a:p>
                      <a:r>
                        <a:rPr lang="en-US" sz="900"/>
                        <a:t>Very low cost. No special server is needed.</a:t>
                      </a:r>
                    </a:p>
                  </a:txBody>
                  <a:tcPr marL="44836" marR="44836" marT="22418" marB="22418" anchor="ctr">
                    <a:lnL>
                      <a:noFill/>
                    </a:lnL>
                    <a:lnR>
                      <a:noFill/>
                    </a:lnR>
                    <a:lnT>
                      <a:noFill/>
                    </a:lnT>
                    <a:lnB>
                      <a:noFill/>
                    </a:lnB>
                  </a:tcPr>
                </a:tc>
                <a:extLst>
                  <a:ext uri="{0D108BD9-81ED-4DB2-BD59-A6C34878D82A}">
                    <a16:rowId xmlns:a16="http://schemas.microsoft.com/office/drawing/2014/main" val="2904544254"/>
                  </a:ext>
                </a:extLst>
              </a:tr>
              <a:tr h="313853">
                <a:tc>
                  <a:txBody>
                    <a:bodyPr/>
                    <a:lstStyle/>
                    <a:p>
                      <a:r>
                        <a:rPr lang="en-US" sz="900" b="1"/>
                        <a:t>5. Setup &amp; Maintenance</a:t>
                      </a:r>
                      <a:endParaRPr lang="en-US" sz="900"/>
                    </a:p>
                  </a:txBody>
                  <a:tcPr marL="44836" marR="44836" marT="22418" marB="22418" anchor="ctr">
                    <a:lnL>
                      <a:noFill/>
                    </a:lnL>
                    <a:lnR>
                      <a:noFill/>
                    </a:lnR>
                    <a:lnT>
                      <a:noFill/>
                    </a:lnT>
                    <a:lnB>
                      <a:noFill/>
                    </a:lnB>
                  </a:tcPr>
                </a:tc>
                <a:tc>
                  <a:txBody>
                    <a:bodyPr/>
                    <a:lstStyle/>
                    <a:p>
                      <a:r>
                        <a:rPr lang="en-US" sz="900" dirty="0"/>
                        <a:t>Harder to set up and requires trained administrators.</a:t>
                      </a:r>
                    </a:p>
                  </a:txBody>
                  <a:tcPr marL="44836" marR="44836" marT="22418" marB="22418" anchor="ctr">
                    <a:lnL>
                      <a:noFill/>
                    </a:lnL>
                    <a:lnR>
                      <a:noFill/>
                    </a:lnR>
                    <a:lnT>
                      <a:noFill/>
                    </a:lnT>
                    <a:lnB>
                      <a:noFill/>
                    </a:lnB>
                  </a:tcPr>
                </a:tc>
                <a:tc>
                  <a:txBody>
                    <a:bodyPr/>
                    <a:lstStyle/>
                    <a:p>
                      <a:r>
                        <a:rPr lang="en-US" sz="900"/>
                        <a:t>Easy to set up; users manage their own devices.</a:t>
                      </a:r>
                    </a:p>
                  </a:txBody>
                  <a:tcPr marL="44836" marR="44836" marT="22418" marB="22418" anchor="ctr">
                    <a:lnL>
                      <a:noFill/>
                    </a:lnL>
                    <a:lnR>
                      <a:noFill/>
                    </a:lnR>
                    <a:lnT>
                      <a:noFill/>
                    </a:lnT>
                    <a:lnB>
                      <a:noFill/>
                    </a:lnB>
                  </a:tcPr>
                </a:tc>
                <a:extLst>
                  <a:ext uri="{0D108BD9-81ED-4DB2-BD59-A6C34878D82A}">
                    <a16:rowId xmlns:a16="http://schemas.microsoft.com/office/drawing/2014/main" val="1334668007"/>
                  </a:ext>
                </a:extLst>
              </a:tr>
              <a:tr h="313853">
                <a:tc>
                  <a:txBody>
                    <a:bodyPr/>
                    <a:lstStyle/>
                    <a:p>
                      <a:r>
                        <a:rPr lang="en-US" sz="900" b="1"/>
                        <a:t>6. Security</a:t>
                      </a:r>
                      <a:endParaRPr lang="en-US" sz="900"/>
                    </a:p>
                  </a:txBody>
                  <a:tcPr marL="44836" marR="44836" marT="22418" marB="22418" anchor="ctr">
                    <a:lnL>
                      <a:noFill/>
                    </a:lnL>
                    <a:lnR>
                      <a:noFill/>
                    </a:lnR>
                    <a:lnT>
                      <a:noFill/>
                    </a:lnT>
                    <a:lnB>
                      <a:noFill/>
                    </a:lnB>
                  </a:tcPr>
                </a:tc>
                <a:tc>
                  <a:txBody>
                    <a:bodyPr/>
                    <a:lstStyle/>
                    <a:p>
                      <a:r>
                        <a:rPr lang="en-US" sz="900"/>
                        <a:t>Strong security because the server controls user access.</a:t>
                      </a:r>
                    </a:p>
                  </a:txBody>
                  <a:tcPr marL="44836" marR="44836" marT="22418" marB="22418" anchor="ctr">
                    <a:lnL>
                      <a:noFill/>
                    </a:lnL>
                    <a:lnR>
                      <a:noFill/>
                    </a:lnR>
                    <a:lnT>
                      <a:noFill/>
                    </a:lnT>
                    <a:lnB>
                      <a:noFill/>
                    </a:lnB>
                  </a:tcPr>
                </a:tc>
                <a:tc>
                  <a:txBody>
                    <a:bodyPr/>
                    <a:lstStyle/>
                    <a:p>
                      <a:r>
                        <a:rPr lang="en-US" sz="900"/>
                        <a:t>Weaker security since each peer manages its own protection.</a:t>
                      </a:r>
                    </a:p>
                  </a:txBody>
                  <a:tcPr marL="44836" marR="44836" marT="22418" marB="22418" anchor="ctr">
                    <a:lnL>
                      <a:noFill/>
                    </a:lnL>
                    <a:lnR>
                      <a:noFill/>
                    </a:lnR>
                    <a:lnT>
                      <a:noFill/>
                    </a:lnT>
                    <a:lnB>
                      <a:noFill/>
                    </a:lnB>
                  </a:tcPr>
                </a:tc>
                <a:extLst>
                  <a:ext uri="{0D108BD9-81ED-4DB2-BD59-A6C34878D82A}">
                    <a16:rowId xmlns:a16="http://schemas.microsoft.com/office/drawing/2014/main" val="3504745291"/>
                  </a:ext>
                </a:extLst>
              </a:tr>
              <a:tr h="313853">
                <a:tc>
                  <a:txBody>
                    <a:bodyPr/>
                    <a:lstStyle/>
                    <a:p>
                      <a:r>
                        <a:rPr lang="en-US" sz="900" b="1"/>
                        <a:t>7. Performance</a:t>
                      </a:r>
                      <a:endParaRPr lang="en-US" sz="900"/>
                    </a:p>
                  </a:txBody>
                  <a:tcPr marL="44836" marR="44836" marT="22418" marB="22418" anchor="ctr">
                    <a:lnL>
                      <a:noFill/>
                    </a:lnL>
                    <a:lnR>
                      <a:noFill/>
                    </a:lnR>
                    <a:lnT>
                      <a:noFill/>
                    </a:lnT>
                    <a:lnB>
                      <a:noFill/>
                    </a:lnB>
                  </a:tcPr>
                </a:tc>
                <a:tc>
                  <a:txBody>
                    <a:bodyPr/>
                    <a:lstStyle/>
                    <a:p>
                      <a:r>
                        <a:rPr lang="en-US" sz="900"/>
                        <a:t>High performance, suitable for large networks.</a:t>
                      </a:r>
                    </a:p>
                  </a:txBody>
                  <a:tcPr marL="44836" marR="44836" marT="22418" marB="22418" anchor="ctr">
                    <a:lnL>
                      <a:noFill/>
                    </a:lnL>
                    <a:lnR>
                      <a:noFill/>
                    </a:lnR>
                    <a:lnT>
                      <a:noFill/>
                    </a:lnT>
                    <a:lnB>
                      <a:noFill/>
                    </a:lnB>
                  </a:tcPr>
                </a:tc>
                <a:tc>
                  <a:txBody>
                    <a:bodyPr/>
                    <a:lstStyle/>
                    <a:p>
                      <a:r>
                        <a:rPr lang="en-US" sz="900"/>
                        <a:t>Suitable only for small networks with fewer users.</a:t>
                      </a:r>
                    </a:p>
                  </a:txBody>
                  <a:tcPr marL="44836" marR="44836" marT="22418" marB="22418" anchor="ctr">
                    <a:lnL>
                      <a:noFill/>
                    </a:lnL>
                    <a:lnR>
                      <a:noFill/>
                    </a:lnR>
                    <a:lnT>
                      <a:noFill/>
                    </a:lnT>
                    <a:lnB>
                      <a:noFill/>
                    </a:lnB>
                  </a:tcPr>
                </a:tc>
                <a:extLst>
                  <a:ext uri="{0D108BD9-81ED-4DB2-BD59-A6C34878D82A}">
                    <a16:rowId xmlns:a16="http://schemas.microsoft.com/office/drawing/2014/main" val="3314610312"/>
                  </a:ext>
                </a:extLst>
              </a:tr>
              <a:tr h="313853">
                <a:tc>
                  <a:txBody>
                    <a:bodyPr/>
                    <a:lstStyle/>
                    <a:p>
                      <a:r>
                        <a:rPr lang="en-US" sz="900" b="1"/>
                        <a:t>8. Data Storage</a:t>
                      </a:r>
                      <a:endParaRPr lang="en-US" sz="900"/>
                    </a:p>
                  </a:txBody>
                  <a:tcPr marL="44836" marR="44836" marT="22418" marB="22418" anchor="ctr">
                    <a:lnL>
                      <a:noFill/>
                    </a:lnL>
                    <a:lnR>
                      <a:noFill/>
                    </a:lnR>
                    <a:lnT>
                      <a:noFill/>
                    </a:lnT>
                    <a:lnB>
                      <a:noFill/>
                    </a:lnB>
                  </a:tcPr>
                </a:tc>
                <a:tc>
                  <a:txBody>
                    <a:bodyPr/>
                    <a:lstStyle/>
                    <a:p>
                      <a:r>
                        <a:rPr lang="en-US" sz="900"/>
                        <a:t>Data is stored centrally on the server.</a:t>
                      </a:r>
                    </a:p>
                  </a:txBody>
                  <a:tcPr marL="44836" marR="44836" marT="22418" marB="22418" anchor="ctr">
                    <a:lnL>
                      <a:noFill/>
                    </a:lnL>
                    <a:lnR>
                      <a:noFill/>
                    </a:lnR>
                    <a:lnT>
                      <a:noFill/>
                    </a:lnT>
                    <a:lnB>
                      <a:noFill/>
                    </a:lnB>
                  </a:tcPr>
                </a:tc>
                <a:tc>
                  <a:txBody>
                    <a:bodyPr/>
                    <a:lstStyle/>
                    <a:p>
                      <a:r>
                        <a:rPr lang="en-US" sz="900"/>
                        <a:t>Data is distributed across multiple peers.</a:t>
                      </a:r>
                    </a:p>
                  </a:txBody>
                  <a:tcPr marL="44836" marR="44836" marT="22418" marB="22418" anchor="ctr">
                    <a:lnL>
                      <a:noFill/>
                    </a:lnL>
                    <a:lnR>
                      <a:noFill/>
                    </a:lnR>
                    <a:lnT>
                      <a:noFill/>
                    </a:lnT>
                    <a:lnB>
                      <a:noFill/>
                    </a:lnB>
                  </a:tcPr>
                </a:tc>
                <a:extLst>
                  <a:ext uri="{0D108BD9-81ED-4DB2-BD59-A6C34878D82A}">
                    <a16:rowId xmlns:a16="http://schemas.microsoft.com/office/drawing/2014/main" val="3812219435"/>
                  </a:ext>
                </a:extLst>
              </a:tr>
              <a:tr h="313853">
                <a:tc>
                  <a:txBody>
                    <a:bodyPr/>
                    <a:lstStyle/>
                    <a:p>
                      <a:r>
                        <a:rPr lang="en-US" sz="900" b="1"/>
                        <a:t>9. Scalability</a:t>
                      </a:r>
                      <a:endParaRPr lang="en-US" sz="900"/>
                    </a:p>
                  </a:txBody>
                  <a:tcPr marL="44836" marR="44836" marT="22418" marB="22418" anchor="ctr">
                    <a:lnL>
                      <a:noFill/>
                    </a:lnL>
                    <a:lnR>
                      <a:noFill/>
                    </a:lnR>
                    <a:lnT>
                      <a:noFill/>
                    </a:lnT>
                    <a:lnB>
                      <a:noFill/>
                    </a:lnB>
                  </a:tcPr>
                </a:tc>
                <a:tc>
                  <a:txBody>
                    <a:bodyPr/>
                    <a:lstStyle/>
                    <a:p>
                      <a:r>
                        <a:rPr lang="en-US" sz="900"/>
                        <a:t>Easily scalable by upgrading the server.</a:t>
                      </a:r>
                    </a:p>
                  </a:txBody>
                  <a:tcPr marL="44836" marR="44836" marT="22418" marB="22418" anchor="ctr">
                    <a:lnL>
                      <a:noFill/>
                    </a:lnL>
                    <a:lnR>
                      <a:noFill/>
                    </a:lnR>
                    <a:lnT>
                      <a:noFill/>
                    </a:lnT>
                    <a:lnB>
                      <a:noFill/>
                    </a:lnB>
                  </a:tcPr>
                </a:tc>
                <a:tc>
                  <a:txBody>
                    <a:bodyPr/>
                    <a:lstStyle/>
                    <a:p>
                      <a:r>
                        <a:rPr lang="en-US" sz="900"/>
                        <a:t>Hard to scale; too many peers reduce performance.</a:t>
                      </a:r>
                    </a:p>
                  </a:txBody>
                  <a:tcPr marL="44836" marR="44836" marT="22418" marB="22418" anchor="ctr">
                    <a:lnL>
                      <a:noFill/>
                    </a:lnL>
                    <a:lnR>
                      <a:noFill/>
                    </a:lnR>
                    <a:lnT>
                      <a:noFill/>
                    </a:lnT>
                    <a:lnB>
                      <a:noFill/>
                    </a:lnB>
                  </a:tcPr>
                </a:tc>
                <a:extLst>
                  <a:ext uri="{0D108BD9-81ED-4DB2-BD59-A6C34878D82A}">
                    <a16:rowId xmlns:a16="http://schemas.microsoft.com/office/drawing/2014/main" val="1524868670"/>
                  </a:ext>
                </a:extLst>
              </a:tr>
              <a:tr h="313853">
                <a:tc>
                  <a:txBody>
                    <a:bodyPr/>
                    <a:lstStyle/>
                    <a:p>
                      <a:r>
                        <a:rPr lang="en-US" sz="900" b="1"/>
                        <a:t>10. Examples</a:t>
                      </a:r>
                      <a:endParaRPr lang="en-US" sz="900"/>
                    </a:p>
                  </a:txBody>
                  <a:tcPr marL="44836" marR="44836" marT="22418" marB="22418" anchor="ctr">
                    <a:lnL>
                      <a:noFill/>
                    </a:lnL>
                    <a:lnR>
                      <a:noFill/>
                    </a:lnR>
                    <a:lnT>
                      <a:noFill/>
                    </a:lnT>
                    <a:lnB>
                      <a:noFill/>
                    </a:lnB>
                  </a:tcPr>
                </a:tc>
                <a:tc>
                  <a:txBody>
                    <a:bodyPr/>
                    <a:lstStyle/>
                    <a:p>
                      <a:r>
                        <a:rPr lang="en-US" sz="900"/>
                        <a:t>Banks, websites, offices, email servers.</a:t>
                      </a:r>
                    </a:p>
                  </a:txBody>
                  <a:tcPr marL="44836" marR="44836" marT="22418" marB="22418" anchor="ctr">
                    <a:lnL>
                      <a:noFill/>
                    </a:lnL>
                    <a:lnR>
                      <a:noFill/>
                    </a:lnR>
                    <a:lnT>
                      <a:noFill/>
                    </a:lnT>
                    <a:lnB>
                      <a:noFill/>
                    </a:lnB>
                  </a:tcPr>
                </a:tc>
                <a:tc>
                  <a:txBody>
                    <a:bodyPr/>
                    <a:lstStyle/>
                    <a:p>
                      <a:r>
                        <a:rPr lang="en-US" sz="900" dirty="0"/>
                        <a:t>Torrent software, home networks, small file sharing.</a:t>
                      </a:r>
                    </a:p>
                  </a:txBody>
                  <a:tcPr marL="44836" marR="44836" marT="22418" marB="22418" anchor="ctr">
                    <a:lnL>
                      <a:noFill/>
                    </a:lnL>
                    <a:lnR>
                      <a:noFill/>
                    </a:lnR>
                    <a:lnT>
                      <a:noFill/>
                    </a:lnT>
                    <a:lnB>
                      <a:noFill/>
                    </a:lnB>
                  </a:tcPr>
                </a:tc>
                <a:extLst>
                  <a:ext uri="{0D108BD9-81ED-4DB2-BD59-A6C34878D82A}">
                    <a16:rowId xmlns:a16="http://schemas.microsoft.com/office/drawing/2014/main" val="3460354723"/>
                  </a:ext>
                </a:extLst>
              </a:tr>
            </a:tbl>
          </a:graphicData>
        </a:graphic>
      </p:graphicFrame>
    </p:spTree>
    <p:extLst>
      <p:ext uri="{BB962C8B-B14F-4D97-AF65-F5344CB8AC3E}">
        <p14:creationId xmlns:p14="http://schemas.microsoft.com/office/powerpoint/2010/main" val="1340646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
            </a:r>
            <a:br>
              <a:rPr lang="en-US" b="1" dirty="0"/>
            </a:br>
            <a:r>
              <a:rPr lang="en-US" b="1" dirty="0" smtClean="0"/>
              <a:t>Protocol and Standards</a:t>
            </a:r>
            <a:r>
              <a:rPr lang="en-US" dirty="0"/>
              <a:t/>
            </a:r>
            <a:br>
              <a:rPr lang="en-US" dirty="0"/>
            </a:br>
            <a:endParaRPr lang="en-US" dirty="0"/>
          </a:p>
        </p:txBody>
      </p:sp>
      <p:sp>
        <p:nvSpPr>
          <p:cNvPr id="3" name="Content Placeholder 2"/>
          <p:cNvSpPr>
            <a:spLocks noGrp="1"/>
          </p:cNvSpPr>
          <p:nvPr>
            <p:ph idx="1"/>
          </p:nvPr>
        </p:nvSpPr>
        <p:spPr>
          <a:xfrm>
            <a:off x="1295401" y="2556932"/>
            <a:ext cx="5105399" cy="3318936"/>
          </a:xfrm>
        </p:spPr>
        <p:txBody>
          <a:bodyPr>
            <a:normAutofit fontScale="70000" lnSpcReduction="20000"/>
          </a:bodyPr>
          <a:lstStyle/>
          <a:p>
            <a:pPr fontAlgn="base"/>
            <a:r>
              <a:rPr lang="en-US" dirty="0"/>
              <a:t>A protocol is a set of rules that determines how data is sent and received over a network. The protocol is just like a language that computers use to talk to each other, ensuring they understand and can respond to each other's messages correctly. Protocols help make sure that data moves smoothly and securely between devices on a network.</a:t>
            </a:r>
          </a:p>
          <a:p>
            <a:pPr fontAlgn="base"/>
            <a:r>
              <a:rPr lang="en-US" dirty="0"/>
              <a:t>To make communication successful between devices, some rules and procedures should be agreed upon at the sending and receiving ends of the system. Such rules and procedures are called Protocols. Different types of protocols are used for different types of communication.</a:t>
            </a:r>
          </a:p>
        </p:txBody>
      </p:sp>
      <p:pic>
        <p:nvPicPr>
          <p:cNvPr id="6146" name="Picture 2" descr="Protocol in Commun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7385" y="3049653"/>
            <a:ext cx="5098566" cy="1918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9380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Key Elements of Protocol</a:t>
            </a:r>
          </a:p>
        </p:txBody>
      </p:sp>
      <p:sp>
        <p:nvSpPr>
          <p:cNvPr id="3" name="Content Placeholder 2"/>
          <p:cNvSpPr>
            <a:spLocks noGrp="1"/>
          </p:cNvSpPr>
          <p:nvPr>
            <p:ph idx="1"/>
          </p:nvPr>
        </p:nvSpPr>
        <p:spPr/>
        <p:txBody>
          <a:bodyPr>
            <a:noAutofit/>
          </a:bodyPr>
          <a:lstStyle/>
          <a:p>
            <a:pPr algn="just" fontAlgn="base"/>
            <a:r>
              <a:rPr lang="en-US" sz="1200" b="1" dirty="0"/>
              <a:t>Syntax:</a:t>
            </a:r>
            <a:r>
              <a:rPr lang="en-US" sz="1200" dirty="0"/>
              <a:t> Syntax refers to the structure or the format of the data that gets exchanged between the devices. Syntax of the message includes the type of data, composition of the message, and sequencing of the message. The starting 8 bits of data are considered as the address of the sender. The next 8 bits are considered to be the address of the receiver. The remaining bits are considered as the message itself.</a:t>
            </a:r>
          </a:p>
          <a:p>
            <a:pPr algn="just" fontAlgn="base"/>
            <a:r>
              <a:rPr lang="en-US" sz="1200" b="1" dirty="0"/>
              <a:t>Semantics:</a:t>
            </a:r>
            <a:r>
              <a:rPr lang="en-US" sz="1200" dirty="0"/>
              <a:t> Semantics defines data transmitted between devices. It provides rules and norms for understanding message or data element values and actions.</a:t>
            </a:r>
          </a:p>
          <a:p>
            <a:pPr algn="just" fontAlgn="base"/>
            <a:r>
              <a:rPr lang="en-US" sz="1200" b="1" dirty="0"/>
              <a:t>Timing:</a:t>
            </a:r>
            <a:r>
              <a:rPr lang="en-US" sz="1200" dirty="0"/>
              <a:t> Timing refers to the synchronization and coordination between devices while transferring the data. Timing ensures at what time data should be sent and how fast data can be sent. For example, If a sender sends 100 Mbps but the receiver can only handle 1 Mbps, the receiver will overflow and lose data. Timing ensures preventing of data loss, collisions, and other timing-related issues.</a:t>
            </a:r>
          </a:p>
          <a:p>
            <a:pPr algn="just" fontAlgn="base"/>
            <a:r>
              <a:rPr lang="en-US" sz="1200" b="1" dirty="0"/>
              <a:t>Sequence Control: </a:t>
            </a:r>
            <a:r>
              <a:rPr lang="en-US" sz="1200" dirty="0"/>
              <a:t>Sequence control ensures the proper ordering of data packets. The main responsibility of sequence control is to acknowledge the data while it get received, and the retransmission of lost data. Through this mechanism, the data is delivered in correct order.</a:t>
            </a:r>
          </a:p>
          <a:p>
            <a:pPr algn="just" fontAlgn="base"/>
            <a:r>
              <a:rPr lang="en-US" sz="1200" b="1" dirty="0"/>
              <a:t>Flow Control:</a:t>
            </a:r>
            <a:r>
              <a:rPr lang="en-US" sz="1200" dirty="0"/>
              <a:t> </a:t>
            </a:r>
            <a:r>
              <a:rPr lang="en-US" sz="1200" u="sng" dirty="0">
                <a:hlinkClick r:id="rId2"/>
              </a:rPr>
              <a:t>Flow control</a:t>
            </a:r>
            <a:r>
              <a:rPr lang="en-US" sz="1200" dirty="0"/>
              <a:t> regulates device data delivery. It limits the sender's data or asks the receiver if it's ready for more. Flow control prevents data congestion and loss.</a:t>
            </a:r>
          </a:p>
          <a:p>
            <a:pPr algn="just" fontAlgn="base"/>
            <a:r>
              <a:rPr lang="en-US" sz="1200" b="1" dirty="0"/>
              <a:t>Error Control:</a:t>
            </a:r>
            <a:r>
              <a:rPr lang="en-US" sz="1200" dirty="0"/>
              <a:t> </a:t>
            </a:r>
            <a:r>
              <a:rPr lang="en-US" sz="1200" u="sng" dirty="0">
                <a:hlinkClick r:id="rId3"/>
              </a:rPr>
              <a:t>Error control</a:t>
            </a:r>
            <a:r>
              <a:rPr lang="en-US" sz="1200" dirty="0"/>
              <a:t> mechanisms detect and fix data transmission faults. They include error detection codes, data resend, and error recovery. Error control detects and corrects noise, interference, and other problems to maintain </a:t>
            </a:r>
            <a:r>
              <a:rPr lang="en-US" sz="1200" u="sng" dirty="0">
                <a:hlinkClick r:id="rId4"/>
              </a:rPr>
              <a:t>data integrity</a:t>
            </a:r>
            <a:r>
              <a:rPr lang="en-US" sz="1200" dirty="0"/>
              <a:t>.</a:t>
            </a:r>
          </a:p>
          <a:p>
            <a:pPr algn="just" fontAlgn="base"/>
            <a:r>
              <a:rPr lang="en-US" sz="1200" b="1" dirty="0"/>
              <a:t>Security</a:t>
            </a:r>
            <a:r>
              <a:rPr lang="en-US" sz="1200" dirty="0"/>
              <a:t> </a:t>
            </a:r>
            <a:r>
              <a:rPr lang="en-US" sz="1200" b="1" dirty="0"/>
              <a:t>:</a:t>
            </a:r>
            <a:r>
              <a:rPr lang="en-US" sz="1200" dirty="0"/>
              <a:t> Network security protects data confidentiality, integrity, and authenticity. which includes encryption, authentication, access control, and other security procedures. Network communication's privacy and trustworthiness are protected by security standards.</a:t>
            </a:r>
          </a:p>
        </p:txBody>
      </p:sp>
    </p:spTree>
    <p:extLst>
      <p:ext uri="{BB962C8B-B14F-4D97-AF65-F5344CB8AC3E}">
        <p14:creationId xmlns:p14="http://schemas.microsoft.com/office/powerpoint/2010/main" val="29996124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Protocols</a:t>
            </a:r>
            <a:endParaRPr lang="en-US" dirty="0"/>
          </a:p>
        </p:txBody>
      </p:sp>
      <p:sp>
        <p:nvSpPr>
          <p:cNvPr id="3" name="Content Placeholder 2"/>
          <p:cNvSpPr>
            <a:spLocks noGrp="1"/>
          </p:cNvSpPr>
          <p:nvPr>
            <p:ph idx="1"/>
          </p:nvPr>
        </p:nvSpPr>
        <p:spPr>
          <a:xfrm>
            <a:off x="1049911" y="2377822"/>
            <a:ext cx="10092178" cy="3318936"/>
          </a:xfrm>
        </p:spPr>
        <p:txBody>
          <a:bodyPr>
            <a:noAutofit/>
          </a:bodyPr>
          <a:lstStyle/>
          <a:p>
            <a:pPr algn="just" fontAlgn="base"/>
            <a:r>
              <a:rPr lang="en-US" sz="1300" b="1" dirty="0"/>
              <a:t>Network Layer Protocols</a:t>
            </a:r>
            <a:r>
              <a:rPr lang="en-US" sz="1300" dirty="0"/>
              <a:t> </a:t>
            </a:r>
            <a:r>
              <a:rPr lang="en-US" sz="1300" b="1" dirty="0"/>
              <a:t>: </a:t>
            </a:r>
            <a:r>
              <a:rPr lang="en-US" sz="1300" dirty="0"/>
              <a:t>Network layer protocols operate in the network layer which is also known as the Layer 3 of the network  architecture. Network layer protocols are responsible for packet routing, forwarding, and addressing of data packets throughout the network. IP and </a:t>
            </a:r>
            <a:r>
              <a:rPr lang="en-US" sz="1300" u="sng" dirty="0">
                <a:hlinkClick r:id="rId2"/>
              </a:rPr>
              <a:t>ICMP</a:t>
            </a:r>
            <a:r>
              <a:rPr lang="en-US" sz="1300" dirty="0"/>
              <a:t> are the network layer protocols.</a:t>
            </a:r>
          </a:p>
          <a:p>
            <a:pPr algn="just" fontAlgn="base"/>
            <a:r>
              <a:rPr lang="en-US" sz="1300" b="1" dirty="0"/>
              <a:t>Transport Layer Protocols</a:t>
            </a:r>
            <a:r>
              <a:rPr lang="en-US" sz="1300" dirty="0"/>
              <a:t>: Transport layer protocols work in the transport layer which provides end-to-end service ensuring data transfer across apps on different devices. </a:t>
            </a:r>
            <a:r>
              <a:rPr lang="en-US" sz="1300" u="sng" dirty="0">
                <a:hlinkClick r:id="rId3"/>
              </a:rPr>
              <a:t>TCP</a:t>
            </a:r>
            <a:r>
              <a:rPr lang="en-US" sz="1300" dirty="0"/>
              <a:t> and </a:t>
            </a:r>
            <a:r>
              <a:rPr lang="en-US" sz="1300" u="sng" dirty="0">
                <a:hlinkClick r:id="rId4"/>
              </a:rPr>
              <a:t>UDP</a:t>
            </a:r>
            <a:r>
              <a:rPr lang="en-US" sz="1300" dirty="0"/>
              <a:t> are the most popular transport layer protocols.</a:t>
            </a:r>
          </a:p>
          <a:p>
            <a:pPr algn="just" fontAlgn="base"/>
            <a:r>
              <a:rPr lang="en-US" sz="1300" b="1" dirty="0"/>
              <a:t>Application Layer Protocol: </a:t>
            </a:r>
            <a:r>
              <a:rPr lang="en-US" sz="1300" dirty="0"/>
              <a:t>Application layer protocol working in the application layer of the network architecture provides communication between applications running on different devices. The application layer protocols enable cross-device communication. They format, exchange, and interpret application data. </a:t>
            </a:r>
            <a:r>
              <a:rPr lang="en-US" sz="1300" u="sng" dirty="0">
                <a:hlinkClick r:id="rId5"/>
              </a:rPr>
              <a:t>HTTP</a:t>
            </a:r>
            <a:r>
              <a:rPr lang="en-US" sz="1300" dirty="0"/>
              <a:t>, </a:t>
            </a:r>
            <a:r>
              <a:rPr lang="en-US" sz="1300" u="sng" dirty="0">
                <a:hlinkClick r:id="rId6"/>
              </a:rPr>
              <a:t>FTP</a:t>
            </a:r>
            <a:r>
              <a:rPr lang="en-US" sz="1300" dirty="0"/>
              <a:t>, and </a:t>
            </a:r>
            <a:r>
              <a:rPr lang="en-US" sz="1300" u="sng" dirty="0">
                <a:hlinkClick r:id="rId7"/>
              </a:rPr>
              <a:t>SMTP </a:t>
            </a:r>
            <a:r>
              <a:rPr lang="en-US" sz="1300" dirty="0"/>
              <a:t>are examples.</a:t>
            </a:r>
          </a:p>
          <a:p>
            <a:pPr algn="just" fontAlgn="base"/>
            <a:r>
              <a:rPr lang="en-US" sz="1300" b="1" dirty="0"/>
              <a:t>Wireless Protocols: </a:t>
            </a:r>
            <a:r>
              <a:rPr lang="en-US" sz="1300" dirty="0"/>
              <a:t>Wireless protocols basically used in wireless communication which enables data transfer through wireless networks. </a:t>
            </a:r>
            <a:r>
              <a:rPr lang="en-US" sz="1300" u="sng" dirty="0">
                <a:hlinkClick r:id="rId8"/>
              </a:rPr>
              <a:t>Bluetooth</a:t>
            </a:r>
            <a:r>
              <a:rPr lang="en-US" sz="1300" dirty="0"/>
              <a:t>, </a:t>
            </a:r>
            <a:r>
              <a:rPr lang="en-US" sz="1300" u="sng" dirty="0">
                <a:hlinkClick r:id="rId9"/>
              </a:rPr>
              <a:t>Wi-Fi</a:t>
            </a:r>
            <a:r>
              <a:rPr lang="en-US" sz="1300" dirty="0"/>
              <a:t>, and LTE protocols are examples.</a:t>
            </a:r>
          </a:p>
          <a:p>
            <a:pPr algn="just" fontAlgn="base"/>
            <a:r>
              <a:rPr lang="en-US" sz="1300" b="1" dirty="0"/>
              <a:t>Routing Protocols: </a:t>
            </a:r>
            <a:r>
              <a:rPr lang="en-US" sz="1300" dirty="0"/>
              <a:t>Routing protocol establishes the best/optimal network pathways throughout the network for fastest data transmission. Routers share information to develop and maintain routing tables. </a:t>
            </a:r>
            <a:r>
              <a:rPr lang="en-US" sz="1300" u="sng" dirty="0">
                <a:hlinkClick r:id="rId10"/>
              </a:rPr>
              <a:t>RIP</a:t>
            </a:r>
            <a:r>
              <a:rPr lang="en-US" sz="1300" dirty="0"/>
              <a:t>, </a:t>
            </a:r>
            <a:r>
              <a:rPr lang="en-US" sz="1300" u="sng" dirty="0">
                <a:hlinkClick r:id="rId11"/>
              </a:rPr>
              <a:t>OSPF</a:t>
            </a:r>
            <a:r>
              <a:rPr lang="en-US" sz="1300" dirty="0"/>
              <a:t>, and </a:t>
            </a:r>
            <a:r>
              <a:rPr lang="en-US" sz="1300" u="sng" dirty="0">
                <a:hlinkClick r:id="rId12"/>
              </a:rPr>
              <a:t>BGP</a:t>
            </a:r>
            <a:r>
              <a:rPr lang="en-US" sz="1300" dirty="0"/>
              <a:t> are examples.</a:t>
            </a:r>
          </a:p>
          <a:p>
            <a:pPr algn="just" fontAlgn="base"/>
            <a:r>
              <a:rPr lang="en-US" sz="1300" b="1" dirty="0"/>
              <a:t>Security Protocols : </a:t>
            </a:r>
            <a:r>
              <a:rPr lang="en-US" sz="1300" dirty="0"/>
              <a:t>security protocol protects data confidentiality, integrity, and authenticity while transmission of data over the network. They include </a:t>
            </a:r>
            <a:r>
              <a:rPr lang="en-US" sz="1300" u="sng" dirty="0">
                <a:hlinkClick r:id="rId13"/>
              </a:rPr>
              <a:t>SSL and TLS</a:t>
            </a:r>
            <a:r>
              <a:rPr lang="en-US" sz="1300" dirty="0"/>
              <a:t>, encryption methods, and authentication protocols for providing data security.</a:t>
            </a:r>
          </a:p>
          <a:p>
            <a:pPr algn="just" fontAlgn="base"/>
            <a:r>
              <a:rPr lang="en-US" sz="1300" b="1" dirty="0"/>
              <a:t>Internet Protocols : </a:t>
            </a:r>
            <a:r>
              <a:rPr lang="en-US" sz="1300" dirty="0"/>
              <a:t>IP identifies devices uniquely. Internet protocol provides data communication through routing and  forwarding data packets from one device to another by unique addressing scheme.</a:t>
            </a:r>
          </a:p>
        </p:txBody>
      </p:sp>
    </p:spTree>
    <p:extLst>
      <p:ext uri="{BB962C8B-B14F-4D97-AF65-F5344CB8AC3E}">
        <p14:creationId xmlns:p14="http://schemas.microsoft.com/office/powerpoint/2010/main" val="7889025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Important Protocols Used in Computer Network</a:t>
            </a:r>
          </a:p>
        </p:txBody>
      </p:sp>
      <p:sp>
        <p:nvSpPr>
          <p:cNvPr id="3" name="Content Placeholder 2"/>
          <p:cNvSpPr>
            <a:spLocks noGrp="1"/>
          </p:cNvSpPr>
          <p:nvPr>
            <p:ph idx="1"/>
          </p:nvPr>
        </p:nvSpPr>
        <p:spPr>
          <a:xfrm>
            <a:off x="1295401" y="2556932"/>
            <a:ext cx="10158166" cy="3318936"/>
          </a:xfrm>
        </p:spPr>
        <p:txBody>
          <a:bodyPr>
            <a:noAutofit/>
          </a:bodyPr>
          <a:lstStyle/>
          <a:p>
            <a:pPr fontAlgn="base"/>
            <a:r>
              <a:rPr lang="en-US" sz="1300" b="1" dirty="0"/>
              <a:t>TCP (Transmission Control Protocol): </a:t>
            </a:r>
            <a:r>
              <a:rPr lang="en-US" sz="1300" dirty="0"/>
              <a:t>Ensures data is sent and received accurately by breaking it into packets, sending them, and reassembling them at the destination.</a:t>
            </a:r>
          </a:p>
          <a:p>
            <a:pPr fontAlgn="base"/>
            <a:r>
              <a:rPr lang="en-US" sz="1300" b="1" dirty="0"/>
              <a:t>IP (Internet Protocol): </a:t>
            </a:r>
            <a:r>
              <a:rPr lang="en-US" sz="1300" dirty="0"/>
              <a:t>Addresses and routes the packets to make sure they reach the right destination.</a:t>
            </a:r>
          </a:p>
          <a:p>
            <a:pPr fontAlgn="base"/>
            <a:r>
              <a:rPr lang="en-US" sz="1300" b="1" dirty="0"/>
              <a:t>HTTP/HTTPS (</a:t>
            </a:r>
            <a:r>
              <a:rPr lang="en-US" sz="1300" b="1" dirty="0" err="1"/>
              <a:t>HyperText</a:t>
            </a:r>
            <a:r>
              <a:rPr lang="en-US" sz="1300" b="1" dirty="0"/>
              <a:t> Transfer Protocol/Secure):</a:t>
            </a:r>
            <a:r>
              <a:rPr lang="en-US" sz="1300" dirty="0"/>
              <a:t> HTTP used for transferring web pages on the internet. When you browse a website, your browser uses HTTP to request and display web pages. And HTTPs is a secure version of HTTP that encrypts data to protect it from being intercepted.</a:t>
            </a:r>
          </a:p>
          <a:p>
            <a:pPr fontAlgn="base"/>
            <a:r>
              <a:rPr lang="en-US" sz="1300" b="1" dirty="0"/>
              <a:t>FTP (File Transfer Protocol):</a:t>
            </a:r>
            <a:r>
              <a:rPr lang="en-US" sz="1300" dirty="0"/>
              <a:t> Used for transferring files between computers on a network. It allows users to upload and download </a:t>
            </a:r>
            <a:r>
              <a:rPr lang="en-US" sz="1300" dirty="0" err="1"/>
              <a:t>files.</a:t>
            </a:r>
            <a:r>
              <a:rPr lang="en-US" sz="1300" b="1" dirty="0" err="1"/>
              <a:t>SMTP</a:t>
            </a:r>
            <a:r>
              <a:rPr lang="en-US" sz="1300" b="1" dirty="0"/>
              <a:t> (Simple Mail Transfer Protocol): </a:t>
            </a:r>
            <a:r>
              <a:rPr lang="en-US" sz="1300" dirty="0"/>
              <a:t>Used for sending emails. It transfers emails from a client to a server or between servers.</a:t>
            </a:r>
          </a:p>
          <a:p>
            <a:pPr fontAlgn="base"/>
            <a:r>
              <a:rPr lang="en-US" sz="1300" b="1" dirty="0"/>
              <a:t>DNS (Domain Name System):</a:t>
            </a:r>
            <a:r>
              <a:rPr lang="en-US" sz="1300" dirty="0"/>
              <a:t> It is used to translates human-readable domain names (like www.example.com) into IP addresses that computers use to identify each other on the network.</a:t>
            </a:r>
          </a:p>
          <a:p>
            <a:pPr fontAlgn="base"/>
            <a:r>
              <a:rPr lang="en-US" sz="1300" b="1" dirty="0"/>
              <a:t>DHCP (Dynamic Host Configuration Protocol):</a:t>
            </a:r>
            <a:r>
              <a:rPr lang="en-US" sz="1300" dirty="0"/>
              <a:t> Automatically assigns IP addresses to devices on a network, ensuring each device has a unique address.</a:t>
            </a:r>
          </a:p>
          <a:p>
            <a:pPr fontAlgn="base"/>
            <a:r>
              <a:rPr lang="en-US" sz="1300" b="1" dirty="0"/>
              <a:t>SSH (Secure Shell):</a:t>
            </a:r>
            <a:r>
              <a:rPr lang="en-US" sz="1300" dirty="0"/>
              <a:t> Provides a secure way to access and manage devices over a network. It encrypts the data, making it safe from eavesdropping.</a:t>
            </a:r>
          </a:p>
          <a:p>
            <a:pPr fontAlgn="base"/>
            <a:r>
              <a:rPr lang="en-US" sz="1300" b="1" dirty="0"/>
              <a:t>SNMP (Simple Network Management Protocol):</a:t>
            </a:r>
            <a:r>
              <a:rPr lang="en-US" sz="1300" dirty="0"/>
              <a:t> Used for managing and monitoring network devices like routers, switches, and servers. It collects and organizes information about these devices</a:t>
            </a:r>
          </a:p>
        </p:txBody>
      </p:sp>
    </p:spTree>
    <p:extLst>
      <p:ext uri="{BB962C8B-B14F-4D97-AF65-F5344CB8AC3E}">
        <p14:creationId xmlns:p14="http://schemas.microsoft.com/office/powerpoint/2010/main" val="39408227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a:t>
            </a:r>
            <a:endParaRPr lang="en-US" dirty="0"/>
          </a:p>
        </p:txBody>
      </p:sp>
      <p:sp>
        <p:nvSpPr>
          <p:cNvPr id="3" name="Content Placeholder 2"/>
          <p:cNvSpPr>
            <a:spLocks noGrp="1"/>
          </p:cNvSpPr>
          <p:nvPr>
            <p:ph idx="1"/>
          </p:nvPr>
        </p:nvSpPr>
        <p:spPr/>
        <p:txBody>
          <a:bodyPr>
            <a:normAutofit fontScale="62500" lnSpcReduction="20000"/>
          </a:bodyPr>
          <a:lstStyle/>
          <a:p>
            <a:r>
              <a:rPr lang="en-US" dirty="0"/>
              <a:t>Standards are the set of rules for data communication that are needed for the exchange of information among devices. It is important to follow Standards which are created by various  Standard Organizations like IEEE, ISO, ANSI, etc</a:t>
            </a:r>
            <a:r>
              <a:rPr lang="en-US" dirty="0" smtClean="0"/>
              <a:t>.</a:t>
            </a:r>
          </a:p>
          <a:p>
            <a:pPr fontAlgn="base"/>
            <a:r>
              <a:rPr lang="en-US" b="1" dirty="0"/>
              <a:t>Types of Standards </a:t>
            </a:r>
          </a:p>
          <a:p>
            <a:pPr fontAlgn="base"/>
            <a:r>
              <a:rPr lang="en-US" b="1" dirty="0"/>
              <a:t>De Facto Standard: </a:t>
            </a:r>
            <a:r>
              <a:rPr lang="en-US" dirty="0"/>
              <a:t>The meaning of the word </a:t>
            </a:r>
            <a:r>
              <a:rPr lang="en-US" i="1" dirty="0"/>
              <a:t>" De Facto " </a:t>
            </a:r>
            <a:r>
              <a:rPr lang="en-US" dirty="0"/>
              <a:t> is " By Fact "  or "By Convention". These are the standards that have not been approved by any Organization but have been adopted as  Standards because of their widespread use. Also, sometimes these standards are often established by Manufacturers.</a:t>
            </a:r>
            <a:br>
              <a:rPr lang="en-US" dirty="0"/>
            </a:br>
            <a:r>
              <a:rPr lang="en-US" b="1" dirty="0"/>
              <a:t>For example</a:t>
            </a:r>
            <a:r>
              <a:rPr lang="en-US" dirty="0"/>
              <a:t> </a:t>
            </a:r>
            <a:r>
              <a:rPr lang="en-US" b="1" dirty="0"/>
              <a:t>:  </a:t>
            </a:r>
            <a:r>
              <a:rPr lang="en-US" dirty="0"/>
              <a:t> Apple  and Google are two companies that established their own rules for their products which are different. Also, they use some same standard rules for manufacturing their products.</a:t>
            </a:r>
          </a:p>
          <a:p>
            <a:pPr fontAlgn="base"/>
            <a:r>
              <a:rPr lang="en-US" b="1" dirty="0"/>
              <a:t>De Jure Standard: </a:t>
            </a:r>
            <a:r>
              <a:rPr lang="en-US" dirty="0"/>
              <a:t>The meaning of the word </a:t>
            </a:r>
            <a:r>
              <a:rPr lang="en-US" i="1" dirty="0"/>
              <a:t>"De Jure" </a:t>
            </a:r>
            <a:r>
              <a:rPr lang="en-US" dirty="0"/>
              <a:t> is  "By Law" or "By  </a:t>
            </a:r>
            <a:r>
              <a:rPr lang="en-US" dirty="0" err="1"/>
              <a:t>Regulations".Thus</a:t>
            </a:r>
            <a:r>
              <a:rPr lang="en-US" dirty="0"/>
              <a:t>, these are the standards that have been approved by officially recognized bodies like </a:t>
            </a:r>
            <a:r>
              <a:rPr lang="en-US" u="sng" dirty="0">
                <a:hlinkClick r:id="rId2"/>
              </a:rPr>
              <a:t>ANSI</a:t>
            </a:r>
            <a:r>
              <a:rPr lang="en-US" dirty="0"/>
              <a:t>, </a:t>
            </a:r>
            <a:r>
              <a:rPr lang="en-US" u="sng" dirty="0">
                <a:hlinkClick r:id="rId3"/>
              </a:rPr>
              <a:t>ISO</a:t>
            </a:r>
            <a:r>
              <a:rPr lang="en-US" dirty="0"/>
              <a:t>, </a:t>
            </a:r>
            <a:r>
              <a:rPr lang="en-US" u="sng" dirty="0">
                <a:hlinkClick r:id="rId4"/>
              </a:rPr>
              <a:t>IEEE</a:t>
            </a:r>
            <a:r>
              <a:rPr lang="en-US" dirty="0"/>
              <a:t>, etc. These are the standards that are important to follow if it is required or needed.</a:t>
            </a:r>
            <a:br>
              <a:rPr lang="en-US" dirty="0"/>
            </a:br>
            <a:r>
              <a:rPr lang="en-US" b="1" dirty="0"/>
              <a:t>For example</a:t>
            </a:r>
            <a:r>
              <a:rPr lang="en-US" dirty="0"/>
              <a:t> </a:t>
            </a:r>
            <a:r>
              <a:rPr lang="en-US" b="1" dirty="0"/>
              <a:t>: </a:t>
            </a:r>
            <a:r>
              <a:rPr lang="en-US" dirty="0"/>
              <a:t> All the data communication standard  protocols like </a:t>
            </a:r>
            <a:r>
              <a:rPr lang="en-US" u="sng" dirty="0">
                <a:hlinkClick r:id="rId5"/>
              </a:rPr>
              <a:t>SMTP</a:t>
            </a:r>
            <a:r>
              <a:rPr lang="en-US" dirty="0"/>
              <a:t>, TCP, IP, </a:t>
            </a:r>
            <a:r>
              <a:rPr lang="en-US" u="sng" dirty="0">
                <a:hlinkClick r:id="rId6"/>
              </a:rPr>
              <a:t>UDP</a:t>
            </a:r>
            <a:r>
              <a:rPr lang="en-US" dirty="0"/>
              <a:t> etc. are important to follow the same when we need them. </a:t>
            </a:r>
          </a:p>
          <a:p>
            <a:endParaRPr lang="en-US" dirty="0"/>
          </a:p>
        </p:txBody>
      </p:sp>
    </p:spTree>
    <p:extLst>
      <p:ext uri="{BB962C8B-B14F-4D97-AF65-F5344CB8AC3E}">
        <p14:creationId xmlns:p14="http://schemas.microsoft.com/office/powerpoint/2010/main" val="30772525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Protocol and Standard Compliance in Network Security</a:t>
            </a:r>
          </a:p>
        </p:txBody>
      </p:sp>
      <p:sp>
        <p:nvSpPr>
          <p:cNvPr id="3" name="Content Placeholder 2"/>
          <p:cNvSpPr>
            <a:spLocks noGrp="1"/>
          </p:cNvSpPr>
          <p:nvPr>
            <p:ph idx="1"/>
          </p:nvPr>
        </p:nvSpPr>
        <p:spPr>
          <a:xfrm>
            <a:off x="1295401" y="2556932"/>
            <a:ext cx="5350932" cy="3318936"/>
          </a:xfrm>
        </p:spPr>
        <p:txBody>
          <a:bodyPr>
            <a:noAutofit/>
          </a:bodyPr>
          <a:lstStyle/>
          <a:p>
            <a:pPr marL="0" indent="0">
              <a:buNone/>
            </a:pPr>
            <a:r>
              <a:rPr lang="en-US" sz="900" b="1" dirty="0"/>
              <a:t>1. </a:t>
            </a:r>
            <a:r>
              <a:rPr lang="en-US" sz="1100" b="1" dirty="0"/>
              <a:t>Ensures Interoperability</a:t>
            </a:r>
          </a:p>
          <a:p>
            <a:r>
              <a:rPr lang="en-US" sz="900" dirty="0"/>
              <a:t>Devices and software from different companies can communicate and work together only when they follow the same standards.</a:t>
            </a:r>
            <a:br>
              <a:rPr lang="en-US" sz="900" dirty="0"/>
            </a:br>
            <a:r>
              <a:rPr lang="en-US" sz="900" dirty="0"/>
              <a:t>For example, a laptop from Dell can connect to a Wi-Fi router from TP-Link because both follow IEEE standards.</a:t>
            </a:r>
            <a:br>
              <a:rPr lang="en-US" sz="900" dirty="0"/>
            </a:br>
            <a:r>
              <a:rPr lang="en-US" sz="900" dirty="0"/>
              <a:t>This allows users to mix different brands without any issues</a:t>
            </a:r>
            <a:r>
              <a:rPr lang="en-US" sz="900" dirty="0" smtClean="0"/>
              <a:t>.</a:t>
            </a:r>
            <a:r>
              <a:rPr lang="en-US" sz="900" dirty="0"/>
              <a:t> </a:t>
            </a:r>
          </a:p>
          <a:p>
            <a:pPr marL="0" indent="0">
              <a:buNone/>
            </a:pPr>
            <a:r>
              <a:rPr lang="en-US" sz="900" b="1" dirty="0"/>
              <a:t>2</a:t>
            </a:r>
            <a:r>
              <a:rPr lang="en-US" sz="1100" b="1" dirty="0"/>
              <a:t>. Compatibility Across the World</a:t>
            </a:r>
          </a:p>
          <a:p>
            <a:r>
              <a:rPr lang="en-US" sz="900" dirty="0"/>
              <a:t>Standardization ensures that technologies developed in one country work the same way everywhere else.</a:t>
            </a:r>
            <a:br>
              <a:rPr lang="en-US" sz="900" dirty="0"/>
            </a:br>
            <a:r>
              <a:rPr lang="en-US" sz="900" dirty="0"/>
              <a:t>This is important for global products like routers, mobile phones and servers.</a:t>
            </a:r>
            <a:br>
              <a:rPr lang="en-US" sz="900" dirty="0"/>
            </a:br>
            <a:r>
              <a:rPr lang="en-US" sz="900" dirty="0"/>
              <a:t>It allows internet communication to function the same in every part of the world</a:t>
            </a:r>
            <a:r>
              <a:rPr lang="en-US" sz="900" dirty="0" smtClean="0"/>
              <a:t>.</a:t>
            </a:r>
            <a:endParaRPr lang="en-US" sz="900" dirty="0"/>
          </a:p>
          <a:p>
            <a:pPr marL="0" indent="0">
              <a:buNone/>
            </a:pPr>
            <a:r>
              <a:rPr lang="en-US" sz="900" b="1" dirty="0"/>
              <a:t>3. </a:t>
            </a:r>
            <a:r>
              <a:rPr lang="en-US" sz="1100" b="1" dirty="0"/>
              <a:t>Reduces Technical Conflicts</a:t>
            </a:r>
          </a:p>
          <a:p>
            <a:r>
              <a:rPr lang="en-US" sz="900" dirty="0"/>
              <a:t>Without standards, hardware and software would not follow common rules, leading to errors or failures.</a:t>
            </a:r>
            <a:br>
              <a:rPr lang="en-US" sz="900" dirty="0"/>
            </a:br>
            <a:r>
              <a:rPr lang="en-US" sz="900" dirty="0"/>
              <a:t>Standardization reduces confusion by defining clear guidelines for data formats, wiring, protocols and communication methods.</a:t>
            </a:r>
            <a:br>
              <a:rPr lang="en-US" sz="900" dirty="0"/>
            </a:br>
            <a:r>
              <a:rPr lang="en-US" sz="900" dirty="0"/>
              <a:t>This makes network setup and troubleshooting easier.</a:t>
            </a:r>
          </a:p>
          <a:p>
            <a:pPr marL="0" indent="0">
              <a:buNone/>
            </a:pPr>
            <a:r>
              <a:rPr lang="en-US" sz="900" b="1" dirty="0" smtClean="0"/>
              <a:t>4. </a:t>
            </a:r>
            <a:r>
              <a:rPr lang="en-US" sz="1200" b="1" dirty="0" smtClean="0"/>
              <a:t>Improves </a:t>
            </a:r>
            <a:r>
              <a:rPr lang="en-US" sz="1200" b="1" dirty="0"/>
              <a:t>Network Reliability and Performance</a:t>
            </a:r>
            <a:endParaRPr lang="en-US" sz="900" b="1" dirty="0"/>
          </a:p>
          <a:p>
            <a:r>
              <a:rPr lang="en-US" sz="900" dirty="0"/>
              <a:t>Standard rules ensure that all components behave predictably.</a:t>
            </a:r>
            <a:br>
              <a:rPr lang="en-US" sz="900" dirty="0"/>
            </a:br>
            <a:r>
              <a:rPr lang="en-US" sz="900" dirty="0"/>
              <a:t>This avoids crashes, data loss and communication delays.</a:t>
            </a:r>
            <a:br>
              <a:rPr lang="en-US" sz="900" dirty="0"/>
            </a:br>
            <a:r>
              <a:rPr lang="en-US" sz="900" dirty="0"/>
              <a:t>Reliable networks improve user experience and support critical applications like banking, healthcare and business operations</a:t>
            </a:r>
          </a:p>
        </p:txBody>
      </p:sp>
      <p:sp>
        <p:nvSpPr>
          <p:cNvPr id="4" name="Rectangle 3"/>
          <p:cNvSpPr/>
          <p:nvPr/>
        </p:nvSpPr>
        <p:spPr>
          <a:xfrm>
            <a:off x="6527800" y="2556932"/>
            <a:ext cx="5003800" cy="3631763"/>
          </a:xfrm>
          <a:prstGeom prst="rect">
            <a:avLst/>
          </a:prstGeom>
        </p:spPr>
        <p:txBody>
          <a:bodyPr wrap="square">
            <a:spAutoFit/>
          </a:bodyPr>
          <a:lstStyle/>
          <a:p>
            <a:r>
              <a:rPr lang="en-US" sz="1000" b="1" dirty="0" smtClean="0">
                <a:effectLst/>
                <a:latin typeface="Times New Roman" panose="02020603050405020304" pitchFamily="18" charset="0"/>
                <a:ea typeface="Times New Roman" panose="02020603050405020304" pitchFamily="18" charset="0"/>
              </a:rPr>
              <a:t>5. Enhances Security</a:t>
            </a:r>
          </a:p>
          <a:p>
            <a:r>
              <a:rPr lang="en-US" sz="1000" dirty="0">
                <a:latin typeface="Times New Roman" panose="02020603050405020304" pitchFamily="18" charset="0"/>
                <a:ea typeface="Times New Roman" panose="02020603050405020304" pitchFamily="18" charset="0"/>
              </a:rPr>
              <a:t>Standards include security guidelines for encryption, authentication, data protection and safe communication.</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This protects networks from hacking, data breaches and cyber-attacks.</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Secure standards are essential for online banking, e-commerce and government systems</a:t>
            </a:r>
            <a:r>
              <a:rPr lang="en-US" sz="1000" dirty="0" smtClean="0">
                <a:latin typeface="Times New Roman" panose="02020603050405020304" pitchFamily="18" charset="0"/>
                <a:ea typeface="Times New Roman" panose="02020603050405020304" pitchFamily="18" charset="0"/>
              </a:rPr>
              <a:t>.</a:t>
            </a:r>
          </a:p>
          <a:p>
            <a:endParaRPr lang="en-US" sz="100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1000" b="1" dirty="0" smtClean="0">
                <a:effectLst/>
                <a:latin typeface="Times New Roman" panose="02020603050405020304" pitchFamily="18" charset="0"/>
                <a:ea typeface="Times New Roman" panose="02020603050405020304" pitchFamily="18" charset="0"/>
              </a:rPr>
              <a:t>6. Simplifies Development and Innovation</a:t>
            </a:r>
          </a:p>
          <a:p>
            <a:r>
              <a:rPr lang="en-US" sz="1000" dirty="0">
                <a:latin typeface="Times New Roman" panose="02020603050405020304" pitchFamily="18" charset="0"/>
                <a:ea typeface="Times New Roman" panose="02020603050405020304" pitchFamily="18" charset="0"/>
              </a:rPr>
              <a:t>When developers follow common standards, they can build devices and software more quickly.</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This avoids reinventing the wheel and encourages innovation.</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New technologies like 5G, cloud computing and </a:t>
            </a:r>
            <a:r>
              <a:rPr lang="en-US" sz="1000" dirty="0" err="1">
                <a:latin typeface="Times New Roman" panose="02020603050405020304" pitchFamily="18" charset="0"/>
                <a:ea typeface="Times New Roman" panose="02020603050405020304" pitchFamily="18" charset="0"/>
              </a:rPr>
              <a:t>IoT</a:t>
            </a:r>
            <a:r>
              <a:rPr lang="en-US" sz="1000" dirty="0">
                <a:latin typeface="Times New Roman" panose="02020603050405020304" pitchFamily="18" charset="0"/>
                <a:ea typeface="Times New Roman" panose="02020603050405020304" pitchFamily="18" charset="0"/>
              </a:rPr>
              <a:t> grow faster because they follow existing standards</a:t>
            </a:r>
            <a:r>
              <a:rPr lang="en-US" sz="1000" dirty="0" smtClean="0">
                <a:latin typeface="Times New Roman" panose="02020603050405020304" pitchFamily="18" charset="0"/>
                <a:ea typeface="Times New Roman" panose="02020603050405020304" pitchFamily="18" charset="0"/>
              </a:rPr>
              <a:t>.</a:t>
            </a:r>
          </a:p>
          <a:p>
            <a:endParaRPr lang="en-US" sz="1000" dirty="0">
              <a:latin typeface="Times New Roman" panose="02020603050405020304" pitchFamily="18" charset="0"/>
              <a:ea typeface="Times New Roman" panose="02020603050405020304" pitchFamily="18" charset="0"/>
            </a:endParaRPr>
          </a:p>
          <a:p>
            <a:r>
              <a:rPr lang="en-US" sz="1000" b="1" dirty="0" smtClean="0">
                <a:effectLst/>
                <a:latin typeface="Times New Roman" panose="02020603050405020304" pitchFamily="18" charset="0"/>
                <a:ea typeface="Times New Roman" panose="02020603050405020304" pitchFamily="18" charset="0"/>
              </a:rPr>
              <a:t>7. Reduces Cost</a:t>
            </a:r>
          </a:p>
          <a:p>
            <a:r>
              <a:rPr lang="en-US" sz="1000" dirty="0">
                <a:latin typeface="Times New Roman" panose="02020603050405020304" pitchFamily="18" charset="0"/>
                <a:ea typeface="Times New Roman" panose="02020603050405020304" pitchFamily="18" charset="0"/>
              </a:rPr>
              <a:t>Standardization lowers production and operational costs.</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Manufacturers don’t need to create different versions of the same device for different markets.</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Users can upgrade or replace parts easily because standard components fit universally</a:t>
            </a:r>
            <a:r>
              <a:rPr lang="en-US" sz="1000" dirty="0" smtClean="0">
                <a:latin typeface="Times New Roman" panose="02020603050405020304" pitchFamily="18" charset="0"/>
                <a:ea typeface="Times New Roman" panose="02020603050405020304" pitchFamily="18" charset="0"/>
              </a:rPr>
              <a:t>.</a:t>
            </a:r>
          </a:p>
          <a:p>
            <a:endParaRPr lang="en-US" sz="100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US" sz="1000" b="1" dirty="0" smtClean="0">
                <a:effectLst/>
                <a:latin typeface="Times New Roman" panose="02020603050405020304" pitchFamily="18" charset="0"/>
                <a:ea typeface="Times New Roman" panose="02020603050405020304" pitchFamily="18" charset="0"/>
              </a:rPr>
              <a:t>8. Facilitates Global Communication</a:t>
            </a:r>
          </a:p>
          <a:p>
            <a:r>
              <a:rPr lang="en-US" sz="1000" dirty="0">
                <a:latin typeface="Times New Roman" panose="02020603050405020304" pitchFamily="18" charset="0"/>
                <a:ea typeface="Times New Roman" panose="02020603050405020304" pitchFamily="18" charset="0"/>
              </a:rPr>
              <a:t>The internet works smoothly worldwide because everyone follows standards such as TCP/IP, DNS and HTTP.</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These standards make global data exchange seamless and efficient.</a:t>
            </a:r>
            <a:br>
              <a:rPr lang="en-US" sz="1000" dirty="0">
                <a:latin typeface="Times New Roman" panose="02020603050405020304" pitchFamily="18" charset="0"/>
                <a:ea typeface="Times New Roman" panose="02020603050405020304" pitchFamily="18" charset="0"/>
              </a:rPr>
            </a:br>
            <a:r>
              <a:rPr lang="en-US" sz="1000" dirty="0">
                <a:latin typeface="Times New Roman" panose="02020603050405020304" pitchFamily="18" charset="0"/>
                <a:ea typeface="Times New Roman" panose="02020603050405020304" pitchFamily="18" charset="0"/>
              </a:rPr>
              <a:t>Without them, international communication would be nearly impossible.</a:t>
            </a:r>
          </a:p>
        </p:txBody>
      </p:sp>
    </p:spTree>
    <p:extLst>
      <p:ext uri="{BB962C8B-B14F-4D97-AF65-F5344CB8AC3E}">
        <p14:creationId xmlns:p14="http://schemas.microsoft.com/office/powerpoint/2010/main" val="30850508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Major </a:t>
            </a:r>
            <a:r>
              <a:rPr lang="en-US" dirty="0" smtClean="0"/>
              <a:t>Organizations </a:t>
            </a:r>
            <a:r>
              <a:rPr lang="en-US" dirty="0"/>
              <a:t>That Develop Network Standards</a:t>
            </a:r>
          </a:p>
        </p:txBody>
      </p:sp>
      <p:sp>
        <p:nvSpPr>
          <p:cNvPr id="3" name="Content Placeholder 2"/>
          <p:cNvSpPr>
            <a:spLocks noGrp="1"/>
          </p:cNvSpPr>
          <p:nvPr>
            <p:ph idx="1"/>
          </p:nvPr>
        </p:nvSpPr>
        <p:spPr>
          <a:xfrm>
            <a:off x="1295401" y="2556932"/>
            <a:ext cx="4800599" cy="3318936"/>
          </a:xfrm>
        </p:spPr>
        <p:txBody>
          <a:bodyPr>
            <a:normAutofit fontScale="32500" lnSpcReduction="20000"/>
          </a:bodyPr>
          <a:lstStyle/>
          <a:p>
            <a:pPr marL="0" indent="0">
              <a:buNone/>
            </a:pPr>
            <a:r>
              <a:rPr lang="en-US" b="1" dirty="0"/>
              <a:t>1. IEEE (Institute of Electrical and Electronics Engineers)</a:t>
            </a:r>
            <a:endParaRPr lang="en-US" dirty="0"/>
          </a:p>
          <a:p>
            <a:r>
              <a:rPr lang="en-US" dirty="0"/>
              <a:t>The IEEE is one of the most influential bodies in networking technology.</a:t>
            </a:r>
            <a:br>
              <a:rPr lang="en-US" dirty="0"/>
            </a:br>
            <a:r>
              <a:rPr lang="en-US" dirty="0"/>
              <a:t>It develops standards for network hardware, communication protocols and wireless </a:t>
            </a:r>
            <a:r>
              <a:rPr lang="en-US" dirty="0" smtClean="0"/>
              <a:t>technologies.</a:t>
            </a:r>
          </a:p>
          <a:p>
            <a:r>
              <a:rPr lang="en-US" b="1" dirty="0" smtClean="0"/>
              <a:t>Key </a:t>
            </a:r>
            <a:r>
              <a:rPr lang="en-US" b="1" dirty="0"/>
              <a:t>Contributions</a:t>
            </a:r>
            <a:endParaRPr lang="en-US" dirty="0"/>
          </a:p>
          <a:p>
            <a:pPr lvl="0"/>
            <a:r>
              <a:rPr lang="en-US" b="1" dirty="0"/>
              <a:t>IEEE 802.3 – Ethernet standards</a:t>
            </a:r>
            <a:endParaRPr lang="en-US" dirty="0"/>
          </a:p>
          <a:p>
            <a:pPr lvl="0"/>
            <a:r>
              <a:rPr lang="en-US" b="1" dirty="0"/>
              <a:t>IEEE 802.11 – Wi-Fi standards</a:t>
            </a:r>
            <a:endParaRPr lang="en-US" dirty="0"/>
          </a:p>
          <a:p>
            <a:pPr lvl="0"/>
            <a:r>
              <a:rPr lang="en-US" b="1" dirty="0"/>
              <a:t>IEEE 802.15 – Bluetooth and personal networks</a:t>
            </a:r>
            <a:endParaRPr lang="en-US" dirty="0"/>
          </a:p>
          <a:p>
            <a:pPr lvl="0"/>
            <a:r>
              <a:rPr lang="en-US" b="1" dirty="0"/>
              <a:t>LAN/MAN standards</a:t>
            </a:r>
            <a:endParaRPr lang="en-US" dirty="0"/>
          </a:p>
          <a:p>
            <a:r>
              <a:rPr lang="en-US" dirty="0"/>
              <a:t>IEEE standards are used in almost every computer network today</a:t>
            </a:r>
            <a:r>
              <a:rPr lang="en-US" dirty="0" smtClean="0"/>
              <a:t>.</a:t>
            </a:r>
            <a:r>
              <a:rPr lang="en-US" dirty="0"/>
              <a:t> </a:t>
            </a:r>
          </a:p>
          <a:p>
            <a:pPr marL="0" indent="0">
              <a:buNone/>
            </a:pPr>
            <a:r>
              <a:rPr lang="en-US" b="1" dirty="0"/>
              <a:t>2. ISO (International Organization for Standardization)</a:t>
            </a:r>
            <a:endParaRPr lang="en-US" dirty="0"/>
          </a:p>
          <a:p>
            <a:r>
              <a:rPr lang="en-US" dirty="0"/>
              <a:t>ISO develops worldwide standards for technology, business and quality management.</a:t>
            </a:r>
            <a:br>
              <a:rPr lang="en-US" dirty="0"/>
            </a:br>
            <a:r>
              <a:rPr lang="en-US" dirty="0"/>
              <a:t>In networking, ISO is known mainly for the </a:t>
            </a:r>
            <a:r>
              <a:rPr lang="en-US" b="1" dirty="0"/>
              <a:t>OSI Reference Model</a:t>
            </a:r>
            <a:r>
              <a:rPr lang="en-US" dirty="0"/>
              <a:t>.</a:t>
            </a:r>
          </a:p>
          <a:p>
            <a:r>
              <a:rPr lang="en-US" b="1" dirty="0"/>
              <a:t>Key Contributions</a:t>
            </a:r>
            <a:endParaRPr lang="en-US" dirty="0"/>
          </a:p>
          <a:p>
            <a:pPr lvl="0"/>
            <a:r>
              <a:rPr lang="en-US" b="1" dirty="0"/>
              <a:t>OSI (Open Systems Interconnection) model</a:t>
            </a:r>
            <a:endParaRPr lang="en-US" dirty="0"/>
          </a:p>
          <a:p>
            <a:pPr lvl="0"/>
            <a:r>
              <a:rPr lang="en-US" dirty="0" err="1"/>
              <a:t>Standardisation</a:t>
            </a:r>
            <a:r>
              <a:rPr lang="en-US" dirty="0"/>
              <a:t> of network layers</a:t>
            </a:r>
          </a:p>
          <a:p>
            <a:pPr lvl="0"/>
            <a:r>
              <a:rPr lang="en-US" dirty="0"/>
              <a:t>International compatibility for network systems</a:t>
            </a:r>
          </a:p>
          <a:p>
            <a:r>
              <a:rPr lang="en-US" dirty="0"/>
              <a:t>ISO helps ensure that devices from different companies can communicate using the same architecture</a:t>
            </a:r>
            <a:r>
              <a:rPr lang="en-US" dirty="0" smtClean="0"/>
              <a:t>.</a:t>
            </a:r>
            <a:r>
              <a:rPr lang="en-US" dirty="0"/>
              <a:t> </a:t>
            </a:r>
          </a:p>
        </p:txBody>
      </p:sp>
      <p:sp>
        <p:nvSpPr>
          <p:cNvPr id="4" name="Rectangle 3"/>
          <p:cNvSpPr/>
          <p:nvPr/>
        </p:nvSpPr>
        <p:spPr>
          <a:xfrm>
            <a:off x="6096000" y="2433500"/>
            <a:ext cx="6096000" cy="3995453"/>
          </a:xfrm>
          <a:prstGeom prst="rect">
            <a:avLst/>
          </a:prstGeom>
        </p:spPr>
        <p:txBody>
          <a:bodyPr>
            <a:spAutoFit/>
          </a:bodyPr>
          <a:lstStyle/>
          <a:p>
            <a:pPr>
              <a:lnSpc>
                <a:spcPct val="107000"/>
              </a:lnSpc>
              <a:spcAft>
                <a:spcPts val="800"/>
              </a:spcAft>
            </a:pPr>
            <a:r>
              <a:rPr lang="en-US" sz="800" b="1" dirty="0" smtClean="0">
                <a:effectLst/>
                <a:latin typeface="Times New Roman" panose="02020603050405020304" pitchFamily="18" charset="0"/>
                <a:ea typeface="Times New Roman" panose="02020603050405020304" pitchFamily="18" charset="0"/>
                <a:cs typeface="Times New Roman" panose="02020603050405020304" pitchFamily="18" charset="0"/>
              </a:rPr>
              <a:t>3. IETF (Internet Engineering Task Force)</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IETF focuses on developing and maintaining standards for the internet.</a:t>
            </a:r>
            <a:br>
              <a:rPr lang="en-US" sz="800" dirty="0">
                <a:latin typeface="Times New Roman" panose="02020603050405020304" pitchFamily="18" charset="0"/>
                <a:ea typeface="Times New Roman" panose="02020603050405020304" pitchFamily="18" charset="0"/>
                <a:cs typeface="Times New Roman" panose="02020603050405020304" pitchFamily="18" charset="0"/>
              </a:rPr>
            </a:br>
            <a:r>
              <a:rPr lang="en-US" sz="800" dirty="0">
                <a:latin typeface="Times New Roman" panose="02020603050405020304" pitchFamily="18" charset="0"/>
                <a:ea typeface="Times New Roman" panose="02020603050405020304" pitchFamily="18" charset="0"/>
                <a:cs typeface="Times New Roman" panose="02020603050405020304" pitchFamily="18" charset="0"/>
              </a:rPr>
              <a:t>It creates open, high-quality technical documents called </a:t>
            </a:r>
            <a:r>
              <a:rPr lang="en-US" sz="800" b="1" dirty="0">
                <a:latin typeface="Times New Roman" panose="02020603050405020304" pitchFamily="18" charset="0"/>
                <a:ea typeface="Times New Roman" panose="02020603050405020304" pitchFamily="18" charset="0"/>
                <a:cs typeface="Times New Roman" panose="02020603050405020304" pitchFamily="18" charset="0"/>
              </a:rPr>
              <a:t>RFCs</a:t>
            </a:r>
            <a:r>
              <a:rPr lang="en-US" sz="800" dirty="0">
                <a:latin typeface="Times New Roman" panose="02020603050405020304" pitchFamily="18" charset="0"/>
                <a:ea typeface="Times New Roman" panose="02020603050405020304" pitchFamily="18" charset="0"/>
                <a:cs typeface="Times New Roman" panose="02020603050405020304" pitchFamily="18" charset="0"/>
              </a:rPr>
              <a:t> (Request for Comments).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b="1" dirty="0" smtClean="0">
                <a:effectLst/>
                <a:latin typeface="Times New Roman" panose="02020603050405020304" pitchFamily="18" charset="0"/>
                <a:ea typeface="Times New Roman" panose="02020603050405020304" pitchFamily="18" charset="0"/>
                <a:cs typeface="Times New Roman" panose="02020603050405020304" pitchFamily="18" charset="0"/>
              </a:rPr>
              <a:t>Key Contributions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b="1" dirty="0">
                <a:latin typeface="Times New Roman" panose="02020603050405020304" pitchFamily="18" charset="0"/>
                <a:ea typeface="Times New Roman" panose="02020603050405020304" pitchFamily="18" charset="0"/>
                <a:cs typeface="Times New Roman" panose="02020603050405020304" pitchFamily="18" charset="0"/>
              </a:rPr>
              <a:t>TCP/IP protocols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b="1" dirty="0">
                <a:latin typeface="Times New Roman" panose="02020603050405020304" pitchFamily="18" charset="0"/>
                <a:ea typeface="Times New Roman" panose="02020603050405020304" pitchFamily="18" charset="0"/>
                <a:cs typeface="Times New Roman" panose="02020603050405020304" pitchFamily="18" charset="0"/>
              </a:rPr>
              <a:t>HTTP, SMTP, DNS, DHCP standards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Internet routing protocols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Security standards (TLS, IPsec)</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Almost all internet technologies rely on IETF standards</a:t>
            </a:r>
            <a:r>
              <a:rPr lang="en-US" sz="8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b="1" dirty="0" smtClean="0">
                <a:effectLst/>
                <a:latin typeface="Times New Roman" panose="02020603050405020304" pitchFamily="18" charset="0"/>
                <a:ea typeface="Times New Roman" panose="02020603050405020304" pitchFamily="18" charset="0"/>
                <a:cs typeface="Times New Roman" panose="02020603050405020304" pitchFamily="18" charset="0"/>
              </a:rPr>
              <a:t>4. ITU (International Telecommunication Union)</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The ITU is a United Nations agency responsible for global telecommunication standards.</a:t>
            </a:r>
            <a:br>
              <a:rPr lang="en-US" sz="800" dirty="0">
                <a:latin typeface="Times New Roman" panose="02020603050405020304" pitchFamily="18" charset="0"/>
                <a:ea typeface="Times New Roman" panose="02020603050405020304" pitchFamily="18" charset="0"/>
                <a:cs typeface="Times New Roman" panose="02020603050405020304" pitchFamily="18" charset="0"/>
              </a:rPr>
            </a:br>
            <a:r>
              <a:rPr lang="en-US" sz="800" dirty="0">
                <a:latin typeface="Times New Roman" panose="02020603050405020304" pitchFamily="18" charset="0"/>
                <a:ea typeface="Times New Roman" panose="02020603050405020304" pitchFamily="18" charset="0"/>
                <a:cs typeface="Times New Roman" panose="02020603050405020304" pitchFamily="18" charset="0"/>
              </a:rPr>
              <a:t>It ensures smooth international communication across phone networks, satellites, and data services.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b="1" dirty="0" smtClean="0">
                <a:effectLst/>
                <a:latin typeface="Times New Roman" panose="02020603050405020304" pitchFamily="18" charset="0"/>
                <a:ea typeface="Times New Roman" panose="02020603050405020304" pitchFamily="18" charset="0"/>
                <a:cs typeface="Times New Roman" panose="02020603050405020304" pitchFamily="18" charset="0"/>
              </a:rPr>
              <a:t>Key Contributions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b="1" dirty="0">
                <a:latin typeface="Times New Roman" panose="02020603050405020304" pitchFamily="18" charset="0"/>
                <a:ea typeface="Times New Roman" panose="02020603050405020304" pitchFamily="18" charset="0"/>
                <a:cs typeface="Times New Roman" panose="02020603050405020304" pitchFamily="18" charset="0"/>
              </a:rPr>
              <a:t>ITU-T – Telecommunication standards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b="1" dirty="0">
                <a:latin typeface="Times New Roman" panose="02020603050405020304" pitchFamily="18" charset="0"/>
                <a:ea typeface="Times New Roman" panose="02020603050405020304" pitchFamily="18" charset="0"/>
                <a:cs typeface="Times New Roman" panose="02020603050405020304" pitchFamily="18" charset="0"/>
              </a:rPr>
              <a:t>ITU-R – Radio communication standards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Video/audio coding standards (e.g., H.264, H.265)</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Broadband and mobile network guidelines</a:t>
            </a:r>
            <a:endParaRPr lang="en-US"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800" dirty="0">
                <a:latin typeface="Times New Roman" panose="02020603050405020304" pitchFamily="18" charset="0"/>
                <a:ea typeface="Times New Roman" panose="02020603050405020304" pitchFamily="18" charset="0"/>
                <a:cs typeface="Times New Roman" panose="02020603050405020304" pitchFamily="18" charset="0"/>
              </a:rPr>
              <a:t>ITU plays a crucial role in global telecom regulation.</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43580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29750911"/>
              </p:ext>
            </p:extLst>
          </p:nvPr>
        </p:nvGraphicFramePr>
        <p:xfrm>
          <a:off x="1888068" y="2557464"/>
          <a:ext cx="8635998" cy="3317872"/>
        </p:xfrm>
        <a:graphic>
          <a:graphicData uri="http://schemas.openxmlformats.org/drawingml/2006/table">
            <a:tbl>
              <a:tblPr/>
              <a:tblGrid>
                <a:gridCol w="2878666">
                  <a:extLst>
                    <a:ext uri="{9D8B030D-6E8A-4147-A177-3AD203B41FA5}">
                      <a16:colId xmlns:a16="http://schemas.microsoft.com/office/drawing/2014/main" val="3613771037"/>
                    </a:ext>
                  </a:extLst>
                </a:gridCol>
                <a:gridCol w="2878666">
                  <a:extLst>
                    <a:ext uri="{9D8B030D-6E8A-4147-A177-3AD203B41FA5}">
                      <a16:colId xmlns:a16="http://schemas.microsoft.com/office/drawing/2014/main" val="3118150283"/>
                    </a:ext>
                  </a:extLst>
                </a:gridCol>
                <a:gridCol w="2878666">
                  <a:extLst>
                    <a:ext uri="{9D8B030D-6E8A-4147-A177-3AD203B41FA5}">
                      <a16:colId xmlns:a16="http://schemas.microsoft.com/office/drawing/2014/main" val="2027345012"/>
                    </a:ext>
                  </a:extLst>
                </a:gridCol>
              </a:tblGrid>
              <a:tr h="265430">
                <a:tc>
                  <a:txBody>
                    <a:bodyPr/>
                    <a:lstStyle/>
                    <a:p>
                      <a:r>
                        <a:rPr lang="en-US" sz="1300"/>
                        <a:t>Organisation</a:t>
                      </a:r>
                    </a:p>
                  </a:txBody>
                  <a:tcPr marL="66357" marR="66357" marT="33179" marB="33179" anchor="ctr">
                    <a:lnL>
                      <a:noFill/>
                    </a:lnL>
                    <a:lnR>
                      <a:noFill/>
                    </a:lnR>
                    <a:lnT>
                      <a:noFill/>
                    </a:lnT>
                    <a:lnB>
                      <a:noFill/>
                    </a:lnB>
                  </a:tcPr>
                </a:tc>
                <a:tc>
                  <a:txBody>
                    <a:bodyPr/>
                    <a:lstStyle/>
                    <a:p>
                      <a:r>
                        <a:rPr lang="en-US" sz="1300"/>
                        <a:t>Full Form</a:t>
                      </a:r>
                    </a:p>
                  </a:txBody>
                  <a:tcPr marL="66357" marR="66357" marT="33179" marB="33179" anchor="ctr">
                    <a:lnL>
                      <a:noFill/>
                    </a:lnL>
                    <a:lnR>
                      <a:noFill/>
                    </a:lnR>
                    <a:lnT>
                      <a:noFill/>
                    </a:lnT>
                    <a:lnB>
                      <a:noFill/>
                    </a:lnB>
                  </a:tcPr>
                </a:tc>
                <a:tc>
                  <a:txBody>
                    <a:bodyPr/>
                    <a:lstStyle/>
                    <a:p>
                      <a:r>
                        <a:rPr lang="en-US" sz="1300"/>
                        <a:t>Main Contributions</a:t>
                      </a:r>
                    </a:p>
                  </a:txBody>
                  <a:tcPr marL="66357" marR="66357" marT="33179" marB="33179" anchor="ctr">
                    <a:lnL>
                      <a:noFill/>
                    </a:lnL>
                    <a:lnR>
                      <a:noFill/>
                    </a:lnR>
                    <a:lnT>
                      <a:noFill/>
                    </a:lnT>
                    <a:lnB>
                      <a:noFill/>
                    </a:lnB>
                  </a:tcPr>
                </a:tc>
                <a:extLst>
                  <a:ext uri="{0D108BD9-81ED-4DB2-BD59-A6C34878D82A}">
                    <a16:rowId xmlns:a16="http://schemas.microsoft.com/office/drawing/2014/main" val="803462865"/>
                  </a:ext>
                </a:extLst>
              </a:tr>
              <a:tr h="464502">
                <a:tc>
                  <a:txBody>
                    <a:bodyPr/>
                    <a:lstStyle/>
                    <a:p>
                      <a:r>
                        <a:rPr lang="en-US" sz="1300" b="1"/>
                        <a:t>IEEE</a:t>
                      </a:r>
                      <a:endParaRPr lang="en-US" sz="1300"/>
                    </a:p>
                  </a:txBody>
                  <a:tcPr marL="66357" marR="66357" marT="33179" marB="33179" anchor="ctr">
                    <a:lnL>
                      <a:noFill/>
                    </a:lnL>
                    <a:lnR>
                      <a:noFill/>
                    </a:lnR>
                    <a:lnT>
                      <a:noFill/>
                    </a:lnT>
                    <a:lnB>
                      <a:noFill/>
                    </a:lnB>
                  </a:tcPr>
                </a:tc>
                <a:tc>
                  <a:txBody>
                    <a:bodyPr/>
                    <a:lstStyle/>
                    <a:p>
                      <a:r>
                        <a:rPr lang="en-US" sz="1300"/>
                        <a:t>Institute of Electrical and Electronics Engineers</a:t>
                      </a:r>
                    </a:p>
                  </a:txBody>
                  <a:tcPr marL="66357" marR="66357" marT="33179" marB="33179" anchor="ctr">
                    <a:lnL>
                      <a:noFill/>
                    </a:lnL>
                    <a:lnR>
                      <a:noFill/>
                    </a:lnR>
                    <a:lnT>
                      <a:noFill/>
                    </a:lnT>
                    <a:lnB>
                      <a:noFill/>
                    </a:lnB>
                  </a:tcPr>
                </a:tc>
                <a:tc>
                  <a:txBody>
                    <a:bodyPr/>
                    <a:lstStyle/>
                    <a:p>
                      <a:r>
                        <a:rPr lang="en-US" sz="1300"/>
                        <a:t>Ethernet, Wi-Fi, Bluetooth</a:t>
                      </a:r>
                    </a:p>
                  </a:txBody>
                  <a:tcPr marL="66357" marR="66357" marT="33179" marB="33179" anchor="ctr">
                    <a:lnL>
                      <a:noFill/>
                    </a:lnL>
                    <a:lnR>
                      <a:noFill/>
                    </a:lnR>
                    <a:lnT>
                      <a:noFill/>
                    </a:lnT>
                    <a:lnB>
                      <a:noFill/>
                    </a:lnB>
                  </a:tcPr>
                </a:tc>
                <a:extLst>
                  <a:ext uri="{0D108BD9-81ED-4DB2-BD59-A6C34878D82A}">
                    <a16:rowId xmlns:a16="http://schemas.microsoft.com/office/drawing/2014/main" val="1386469659"/>
                  </a:ext>
                </a:extLst>
              </a:tr>
              <a:tr h="464502">
                <a:tc>
                  <a:txBody>
                    <a:bodyPr/>
                    <a:lstStyle/>
                    <a:p>
                      <a:r>
                        <a:rPr lang="en-US" sz="1300" b="1"/>
                        <a:t>ISO</a:t>
                      </a:r>
                      <a:endParaRPr lang="en-US" sz="1300"/>
                    </a:p>
                  </a:txBody>
                  <a:tcPr marL="66357" marR="66357" marT="33179" marB="33179" anchor="ctr">
                    <a:lnL>
                      <a:noFill/>
                    </a:lnL>
                    <a:lnR>
                      <a:noFill/>
                    </a:lnR>
                    <a:lnT>
                      <a:noFill/>
                    </a:lnT>
                    <a:lnB>
                      <a:noFill/>
                    </a:lnB>
                  </a:tcPr>
                </a:tc>
                <a:tc>
                  <a:txBody>
                    <a:bodyPr/>
                    <a:lstStyle/>
                    <a:p>
                      <a:r>
                        <a:rPr lang="en-US" sz="1300"/>
                        <a:t>International Organization for Standardization</a:t>
                      </a:r>
                    </a:p>
                  </a:txBody>
                  <a:tcPr marL="66357" marR="66357" marT="33179" marB="33179" anchor="ctr">
                    <a:lnL>
                      <a:noFill/>
                    </a:lnL>
                    <a:lnR>
                      <a:noFill/>
                    </a:lnR>
                    <a:lnT>
                      <a:noFill/>
                    </a:lnT>
                    <a:lnB>
                      <a:noFill/>
                    </a:lnB>
                  </a:tcPr>
                </a:tc>
                <a:tc>
                  <a:txBody>
                    <a:bodyPr/>
                    <a:lstStyle/>
                    <a:p>
                      <a:r>
                        <a:rPr lang="en-US" sz="1300"/>
                        <a:t>OSI model, global compatibility</a:t>
                      </a:r>
                    </a:p>
                  </a:txBody>
                  <a:tcPr marL="66357" marR="66357" marT="33179" marB="33179" anchor="ctr">
                    <a:lnL>
                      <a:noFill/>
                    </a:lnL>
                    <a:lnR>
                      <a:noFill/>
                    </a:lnR>
                    <a:lnT>
                      <a:noFill/>
                    </a:lnT>
                    <a:lnB>
                      <a:noFill/>
                    </a:lnB>
                  </a:tcPr>
                </a:tc>
                <a:extLst>
                  <a:ext uri="{0D108BD9-81ED-4DB2-BD59-A6C34878D82A}">
                    <a16:rowId xmlns:a16="http://schemas.microsoft.com/office/drawing/2014/main" val="2602299399"/>
                  </a:ext>
                </a:extLst>
              </a:tr>
              <a:tr h="464502">
                <a:tc>
                  <a:txBody>
                    <a:bodyPr/>
                    <a:lstStyle/>
                    <a:p>
                      <a:r>
                        <a:rPr lang="en-US" sz="1300" b="1"/>
                        <a:t>IETF</a:t>
                      </a:r>
                      <a:endParaRPr lang="en-US" sz="1300"/>
                    </a:p>
                  </a:txBody>
                  <a:tcPr marL="66357" marR="66357" marT="33179" marB="33179" anchor="ctr">
                    <a:lnL>
                      <a:noFill/>
                    </a:lnL>
                    <a:lnR>
                      <a:noFill/>
                    </a:lnR>
                    <a:lnT>
                      <a:noFill/>
                    </a:lnT>
                    <a:lnB>
                      <a:noFill/>
                    </a:lnB>
                  </a:tcPr>
                </a:tc>
                <a:tc>
                  <a:txBody>
                    <a:bodyPr/>
                    <a:lstStyle/>
                    <a:p>
                      <a:r>
                        <a:rPr lang="en-US" sz="1300"/>
                        <a:t>Internet Engineering Task Force</a:t>
                      </a:r>
                    </a:p>
                  </a:txBody>
                  <a:tcPr marL="66357" marR="66357" marT="33179" marB="33179" anchor="ctr">
                    <a:lnL>
                      <a:noFill/>
                    </a:lnL>
                    <a:lnR>
                      <a:noFill/>
                    </a:lnR>
                    <a:lnT>
                      <a:noFill/>
                    </a:lnT>
                    <a:lnB>
                      <a:noFill/>
                    </a:lnB>
                  </a:tcPr>
                </a:tc>
                <a:tc>
                  <a:txBody>
                    <a:bodyPr/>
                    <a:lstStyle/>
                    <a:p>
                      <a:r>
                        <a:rPr lang="en-US" sz="1300"/>
                        <a:t>Internet protocols (TCP/IP, HTTP, DNS)</a:t>
                      </a:r>
                    </a:p>
                  </a:txBody>
                  <a:tcPr marL="66357" marR="66357" marT="33179" marB="33179" anchor="ctr">
                    <a:lnL>
                      <a:noFill/>
                    </a:lnL>
                    <a:lnR>
                      <a:noFill/>
                    </a:lnR>
                    <a:lnT>
                      <a:noFill/>
                    </a:lnT>
                    <a:lnB>
                      <a:noFill/>
                    </a:lnB>
                  </a:tcPr>
                </a:tc>
                <a:extLst>
                  <a:ext uri="{0D108BD9-81ED-4DB2-BD59-A6C34878D82A}">
                    <a16:rowId xmlns:a16="http://schemas.microsoft.com/office/drawing/2014/main" val="1519328991"/>
                  </a:ext>
                </a:extLst>
              </a:tr>
              <a:tr h="464502">
                <a:tc>
                  <a:txBody>
                    <a:bodyPr/>
                    <a:lstStyle/>
                    <a:p>
                      <a:r>
                        <a:rPr lang="en-US" sz="1300" b="1"/>
                        <a:t>ITU</a:t>
                      </a:r>
                      <a:endParaRPr lang="en-US" sz="1300"/>
                    </a:p>
                  </a:txBody>
                  <a:tcPr marL="66357" marR="66357" marT="33179" marB="33179" anchor="ctr">
                    <a:lnL>
                      <a:noFill/>
                    </a:lnL>
                    <a:lnR>
                      <a:noFill/>
                    </a:lnR>
                    <a:lnT>
                      <a:noFill/>
                    </a:lnT>
                    <a:lnB>
                      <a:noFill/>
                    </a:lnB>
                  </a:tcPr>
                </a:tc>
                <a:tc>
                  <a:txBody>
                    <a:bodyPr/>
                    <a:lstStyle/>
                    <a:p>
                      <a:r>
                        <a:rPr lang="en-US" sz="1300"/>
                        <a:t>International Telecommunication Union</a:t>
                      </a:r>
                    </a:p>
                  </a:txBody>
                  <a:tcPr marL="66357" marR="66357" marT="33179" marB="33179" anchor="ctr">
                    <a:lnL>
                      <a:noFill/>
                    </a:lnL>
                    <a:lnR>
                      <a:noFill/>
                    </a:lnR>
                    <a:lnT>
                      <a:noFill/>
                    </a:lnT>
                    <a:lnB>
                      <a:noFill/>
                    </a:lnB>
                  </a:tcPr>
                </a:tc>
                <a:tc>
                  <a:txBody>
                    <a:bodyPr/>
                    <a:lstStyle/>
                    <a:p>
                      <a:r>
                        <a:rPr lang="en-US" sz="1300"/>
                        <a:t>Telecom, radio, video standards</a:t>
                      </a:r>
                    </a:p>
                  </a:txBody>
                  <a:tcPr marL="66357" marR="66357" marT="33179" marB="33179" anchor="ctr">
                    <a:lnL>
                      <a:noFill/>
                    </a:lnL>
                    <a:lnR>
                      <a:noFill/>
                    </a:lnR>
                    <a:lnT>
                      <a:noFill/>
                    </a:lnT>
                    <a:lnB>
                      <a:noFill/>
                    </a:lnB>
                  </a:tcPr>
                </a:tc>
                <a:extLst>
                  <a:ext uri="{0D108BD9-81ED-4DB2-BD59-A6C34878D82A}">
                    <a16:rowId xmlns:a16="http://schemas.microsoft.com/office/drawing/2014/main" val="3352438379"/>
                  </a:ext>
                </a:extLst>
              </a:tr>
              <a:tr h="265430">
                <a:tc>
                  <a:txBody>
                    <a:bodyPr/>
                    <a:lstStyle/>
                    <a:p>
                      <a:r>
                        <a:rPr lang="en-US" sz="1300" b="1"/>
                        <a:t>W3C</a:t>
                      </a:r>
                      <a:endParaRPr lang="en-US" sz="1300"/>
                    </a:p>
                  </a:txBody>
                  <a:tcPr marL="66357" marR="66357" marT="33179" marB="33179" anchor="ctr">
                    <a:lnL>
                      <a:noFill/>
                    </a:lnL>
                    <a:lnR>
                      <a:noFill/>
                    </a:lnR>
                    <a:lnT>
                      <a:noFill/>
                    </a:lnT>
                    <a:lnB>
                      <a:noFill/>
                    </a:lnB>
                  </a:tcPr>
                </a:tc>
                <a:tc>
                  <a:txBody>
                    <a:bodyPr/>
                    <a:lstStyle/>
                    <a:p>
                      <a:r>
                        <a:rPr lang="en-US" sz="1300"/>
                        <a:t>World Wide Web Consortium</a:t>
                      </a:r>
                    </a:p>
                  </a:txBody>
                  <a:tcPr marL="66357" marR="66357" marT="33179" marB="33179" anchor="ctr">
                    <a:lnL>
                      <a:noFill/>
                    </a:lnL>
                    <a:lnR>
                      <a:noFill/>
                    </a:lnR>
                    <a:lnT>
                      <a:noFill/>
                    </a:lnT>
                    <a:lnB>
                      <a:noFill/>
                    </a:lnB>
                  </a:tcPr>
                </a:tc>
                <a:tc>
                  <a:txBody>
                    <a:bodyPr/>
                    <a:lstStyle/>
                    <a:p>
                      <a:r>
                        <a:rPr lang="en-US" sz="1300"/>
                        <a:t>Web standards (HTML, CSS)</a:t>
                      </a:r>
                    </a:p>
                  </a:txBody>
                  <a:tcPr marL="66357" marR="66357" marT="33179" marB="33179" anchor="ctr">
                    <a:lnL>
                      <a:noFill/>
                    </a:lnL>
                    <a:lnR>
                      <a:noFill/>
                    </a:lnR>
                    <a:lnT>
                      <a:noFill/>
                    </a:lnT>
                    <a:lnB>
                      <a:noFill/>
                    </a:lnB>
                  </a:tcPr>
                </a:tc>
                <a:extLst>
                  <a:ext uri="{0D108BD9-81ED-4DB2-BD59-A6C34878D82A}">
                    <a16:rowId xmlns:a16="http://schemas.microsoft.com/office/drawing/2014/main" val="1178547007"/>
                  </a:ext>
                </a:extLst>
              </a:tr>
              <a:tr h="464502">
                <a:tc>
                  <a:txBody>
                    <a:bodyPr/>
                    <a:lstStyle/>
                    <a:p>
                      <a:r>
                        <a:rPr lang="en-US" sz="1300" b="1"/>
                        <a:t>ANSI</a:t>
                      </a:r>
                      <a:endParaRPr lang="en-US" sz="1300"/>
                    </a:p>
                  </a:txBody>
                  <a:tcPr marL="66357" marR="66357" marT="33179" marB="33179" anchor="ctr">
                    <a:lnL>
                      <a:noFill/>
                    </a:lnL>
                    <a:lnR>
                      <a:noFill/>
                    </a:lnR>
                    <a:lnT>
                      <a:noFill/>
                    </a:lnT>
                    <a:lnB>
                      <a:noFill/>
                    </a:lnB>
                  </a:tcPr>
                </a:tc>
                <a:tc>
                  <a:txBody>
                    <a:bodyPr/>
                    <a:lstStyle/>
                    <a:p>
                      <a:r>
                        <a:rPr lang="en-US" sz="1300"/>
                        <a:t>American National Standards Institute</a:t>
                      </a:r>
                    </a:p>
                  </a:txBody>
                  <a:tcPr marL="66357" marR="66357" marT="33179" marB="33179" anchor="ctr">
                    <a:lnL>
                      <a:noFill/>
                    </a:lnL>
                    <a:lnR>
                      <a:noFill/>
                    </a:lnR>
                    <a:lnT>
                      <a:noFill/>
                    </a:lnT>
                    <a:lnB>
                      <a:noFill/>
                    </a:lnB>
                  </a:tcPr>
                </a:tc>
                <a:tc>
                  <a:txBody>
                    <a:bodyPr/>
                    <a:lstStyle/>
                    <a:p>
                      <a:r>
                        <a:rPr lang="en-US" sz="1300"/>
                        <a:t>Data formats, character sets</a:t>
                      </a:r>
                    </a:p>
                  </a:txBody>
                  <a:tcPr marL="66357" marR="66357" marT="33179" marB="33179" anchor="ctr">
                    <a:lnL>
                      <a:noFill/>
                    </a:lnL>
                    <a:lnR>
                      <a:noFill/>
                    </a:lnR>
                    <a:lnT>
                      <a:noFill/>
                    </a:lnT>
                    <a:lnB>
                      <a:noFill/>
                    </a:lnB>
                  </a:tcPr>
                </a:tc>
                <a:extLst>
                  <a:ext uri="{0D108BD9-81ED-4DB2-BD59-A6C34878D82A}">
                    <a16:rowId xmlns:a16="http://schemas.microsoft.com/office/drawing/2014/main" val="1387385754"/>
                  </a:ext>
                </a:extLst>
              </a:tr>
              <a:tr h="464502">
                <a:tc>
                  <a:txBody>
                    <a:bodyPr/>
                    <a:lstStyle/>
                    <a:p>
                      <a:r>
                        <a:rPr lang="en-US" sz="1300" b="1"/>
                        <a:t>ETSI</a:t>
                      </a:r>
                      <a:endParaRPr lang="en-US" sz="1300"/>
                    </a:p>
                  </a:txBody>
                  <a:tcPr marL="66357" marR="66357" marT="33179" marB="33179" anchor="ctr">
                    <a:lnL>
                      <a:noFill/>
                    </a:lnL>
                    <a:lnR>
                      <a:noFill/>
                    </a:lnR>
                    <a:lnT>
                      <a:noFill/>
                    </a:lnT>
                    <a:lnB>
                      <a:noFill/>
                    </a:lnB>
                  </a:tcPr>
                </a:tc>
                <a:tc>
                  <a:txBody>
                    <a:bodyPr/>
                    <a:lstStyle/>
                    <a:p>
                      <a:r>
                        <a:rPr lang="en-US" sz="1300"/>
                        <a:t>European Telecommunications Standards Institute</a:t>
                      </a:r>
                    </a:p>
                  </a:txBody>
                  <a:tcPr marL="66357" marR="66357" marT="33179" marB="33179" anchor="ctr">
                    <a:lnL>
                      <a:noFill/>
                    </a:lnL>
                    <a:lnR>
                      <a:noFill/>
                    </a:lnR>
                    <a:lnT>
                      <a:noFill/>
                    </a:lnT>
                    <a:lnB>
                      <a:noFill/>
                    </a:lnB>
                  </a:tcPr>
                </a:tc>
                <a:tc>
                  <a:txBody>
                    <a:bodyPr/>
                    <a:lstStyle/>
                    <a:p>
                      <a:r>
                        <a:rPr lang="en-US" sz="1300" dirty="0"/>
                        <a:t>GSM, LTE, mobile stand</a:t>
                      </a:r>
                    </a:p>
                  </a:txBody>
                  <a:tcPr marL="66357" marR="66357" marT="33179" marB="33179" anchor="ctr">
                    <a:lnL>
                      <a:noFill/>
                    </a:lnL>
                    <a:lnR>
                      <a:noFill/>
                    </a:lnR>
                    <a:lnT>
                      <a:noFill/>
                    </a:lnT>
                    <a:lnB>
                      <a:noFill/>
                    </a:lnB>
                  </a:tcPr>
                </a:tc>
                <a:extLst>
                  <a:ext uri="{0D108BD9-81ED-4DB2-BD59-A6C34878D82A}">
                    <a16:rowId xmlns:a16="http://schemas.microsoft.com/office/drawing/2014/main" val="575398241"/>
                  </a:ext>
                </a:extLst>
              </a:tr>
            </a:tbl>
          </a:graphicData>
        </a:graphic>
      </p:graphicFrame>
    </p:spTree>
    <p:extLst>
      <p:ext uri="{BB962C8B-B14F-4D97-AF65-F5344CB8AC3E}">
        <p14:creationId xmlns:p14="http://schemas.microsoft.com/office/powerpoint/2010/main" val="16082823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Layered Architecture </a:t>
            </a:r>
            <a:endParaRPr lang="en-US" dirty="0"/>
          </a:p>
        </p:txBody>
      </p:sp>
      <p:sp>
        <p:nvSpPr>
          <p:cNvPr id="3" name="Content Placeholder 2"/>
          <p:cNvSpPr>
            <a:spLocks noGrp="1"/>
          </p:cNvSpPr>
          <p:nvPr>
            <p:ph idx="1"/>
          </p:nvPr>
        </p:nvSpPr>
        <p:spPr>
          <a:xfrm>
            <a:off x="1295401" y="2556932"/>
            <a:ext cx="5537199" cy="3318936"/>
          </a:xfrm>
        </p:spPr>
        <p:txBody>
          <a:bodyPr>
            <a:normAutofit fontScale="70000" lnSpcReduction="20000"/>
          </a:bodyPr>
          <a:lstStyle/>
          <a:p>
            <a:r>
              <a:rPr lang="en-US" dirty="0" smtClean="0"/>
              <a:t>Every </a:t>
            </a:r>
            <a:r>
              <a:rPr lang="en-US" dirty="0"/>
              <a:t>network consists of a specific number of functions, layers, and tasks to perform. </a:t>
            </a:r>
            <a:endParaRPr lang="en-US" dirty="0" smtClean="0"/>
          </a:p>
          <a:p>
            <a:r>
              <a:rPr lang="en-US" dirty="0" smtClean="0"/>
              <a:t>Layered </a:t>
            </a:r>
            <a:r>
              <a:rPr lang="en-US" dirty="0"/>
              <a:t>Architecture in a computer network is defined as a model where a whole network process is divided into various smaller sub-tasks. These divided sub-tasks are then assigned to a specific layer to perform only the dedicated tasks. A single layer performs only a specific type of task. </a:t>
            </a:r>
            <a:endParaRPr lang="en-US" dirty="0" smtClean="0"/>
          </a:p>
          <a:p>
            <a:r>
              <a:rPr lang="en-US" dirty="0" smtClean="0"/>
              <a:t>To </a:t>
            </a:r>
            <a:r>
              <a:rPr lang="en-US" dirty="0"/>
              <a:t>run the application and provide all types of services to clients a lower layer adds its services to the higher layer present above it. Therefore layered architecture provides interactions between the sub-systems. If any type of modification is done in one layer it does not affect the next layer.</a:t>
            </a:r>
          </a:p>
        </p:txBody>
      </p:sp>
      <p:pic>
        <p:nvPicPr>
          <p:cNvPr id="8194" name="Picture 2" descr="Layered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0" y="2692400"/>
            <a:ext cx="3784598" cy="3183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6876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Layered Architecture</a:t>
            </a:r>
            <a:endParaRPr lang="en-US" dirty="0"/>
          </a:p>
        </p:txBody>
      </p:sp>
      <p:sp>
        <p:nvSpPr>
          <p:cNvPr id="3" name="Content Placeholder 2"/>
          <p:cNvSpPr>
            <a:spLocks noGrp="1"/>
          </p:cNvSpPr>
          <p:nvPr>
            <p:ph idx="1"/>
          </p:nvPr>
        </p:nvSpPr>
        <p:spPr>
          <a:xfrm>
            <a:off x="1295401" y="2556932"/>
            <a:ext cx="9601196" cy="3666068"/>
          </a:xfrm>
        </p:spPr>
        <p:txBody>
          <a:bodyPr>
            <a:normAutofit fontScale="40000" lnSpcReduction="20000"/>
          </a:bodyPr>
          <a:lstStyle/>
          <a:p>
            <a:pPr fontAlgn="base"/>
            <a:r>
              <a:rPr lang="en-US" sz="2900" dirty="0"/>
              <a:t>Use of Layered architecture in computer network provides with the feature of modularity and distinct interfaces.</a:t>
            </a:r>
          </a:p>
          <a:p>
            <a:pPr fontAlgn="base"/>
            <a:r>
              <a:rPr lang="en-US" sz="2900" dirty="0"/>
              <a:t>Layered architecture ensures independence between layers, by offering services to higher layers from the lower layers and without specifying how these services are implemented.</a:t>
            </a:r>
          </a:p>
          <a:p>
            <a:pPr fontAlgn="base"/>
            <a:r>
              <a:rPr lang="en-US" sz="2900" dirty="0"/>
              <a:t>Layered architecture segments as larger and unmanageable design into small sub tasks.</a:t>
            </a:r>
          </a:p>
          <a:p>
            <a:pPr fontAlgn="base"/>
            <a:r>
              <a:rPr lang="en-US" sz="2900" dirty="0"/>
              <a:t>In layer architecture every network has different number of functions, layers and content.</a:t>
            </a:r>
          </a:p>
          <a:p>
            <a:pPr fontAlgn="base"/>
            <a:r>
              <a:rPr lang="en-US" sz="2900" dirty="0"/>
              <a:t>In layered architecture, the physical route provides with communication which is available under the layer 1.</a:t>
            </a:r>
          </a:p>
          <a:p>
            <a:pPr fontAlgn="base"/>
            <a:r>
              <a:rPr lang="en-US" sz="2900" dirty="0"/>
              <a:t>In layered architecture, the implementation done by one layer can be modified by another layer</a:t>
            </a:r>
            <a:r>
              <a:rPr lang="en-US" sz="2900" dirty="0" smtClean="0"/>
              <a:t>.</a:t>
            </a:r>
            <a:endParaRPr lang="en-US" sz="2900" dirty="0"/>
          </a:p>
          <a:p>
            <a:pPr fontAlgn="base"/>
            <a:r>
              <a:rPr lang="en-US" sz="3800" b="1" dirty="0"/>
              <a:t>Elements of Layered Architecture</a:t>
            </a:r>
          </a:p>
          <a:p>
            <a:pPr fontAlgn="base"/>
            <a:r>
              <a:rPr lang="en-US" sz="3500" dirty="0"/>
              <a:t>There are three different types of elements of a layered architecture. They are described below:</a:t>
            </a:r>
          </a:p>
          <a:p>
            <a:pPr fontAlgn="base"/>
            <a:r>
              <a:rPr lang="en-US" sz="3500" b="1" dirty="0"/>
              <a:t>Service:</a:t>
            </a:r>
            <a:r>
              <a:rPr lang="en-US" sz="3500" dirty="0"/>
              <a:t> Service is defined as a set of functions and tasks being provided by a lower layer to a higher layer. Each layer performs a different type of task. Therefore, actions provided by each layer are different.</a:t>
            </a:r>
          </a:p>
          <a:p>
            <a:pPr fontAlgn="base"/>
            <a:r>
              <a:rPr lang="en-US" sz="3500" b="1" dirty="0"/>
              <a:t>Protocol: </a:t>
            </a:r>
            <a:r>
              <a:rPr lang="en-US" sz="3500" dirty="0"/>
              <a:t>Protocol is defined as a set rule used by the layer for exchanging and transmission of data with its peer entities. These rules can consists details regarding a type of content and their order passed from one layer to another.</a:t>
            </a:r>
          </a:p>
          <a:p>
            <a:pPr fontAlgn="base"/>
            <a:r>
              <a:rPr lang="en-US" sz="3500" b="1" dirty="0"/>
              <a:t>Interface: </a:t>
            </a:r>
            <a:r>
              <a:rPr lang="en-US" sz="3500" dirty="0"/>
              <a:t>Interface is defined as a channel that allows to transmit the messages from one layer to the another.</a:t>
            </a:r>
          </a:p>
          <a:p>
            <a:pPr fontAlgn="base"/>
            <a:endParaRPr lang="en-US" dirty="0"/>
          </a:p>
        </p:txBody>
      </p:sp>
    </p:spTree>
    <p:extLst>
      <p:ext uri="{BB962C8B-B14F-4D97-AF65-F5344CB8AC3E}">
        <p14:creationId xmlns:p14="http://schemas.microsoft.com/office/powerpoint/2010/main" val="33561772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 OSI Model</a:t>
            </a:r>
          </a:p>
        </p:txBody>
      </p:sp>
      <p:sp>
        <p:nvSpPr>
          <p:cNvPr id="3" name="Content Placeholder 2"/>
          <p:cNvSpPr>
            <a:spLocks noGrp="1"/>
          </p:cNvSpPr>
          <p:nvPr>
            <p:ph idx="1"/>
          </p:nvPr>
        </p:nvSpPr>
        <p:spPr>
          <a:xfrm>
            <a:off x="1295401" y="2556932"/>
            <a:ext cx="5257799" cy="3318936"/>
          </a:xfrm>
        </p:spPr>
        <p:txBody>
          <a:bodyPr>
            <a:normAutofit fontScale="47500" lnSpcReduction="20000"/>
          </a:bodyPr>
          <a:lstStyle/>
          <a:p>
            <a:r>
              <a:rPr lang="en-US" dirty="0"/>
              <a:t>The OSI (Open Systems Interconnection) Model is a set of rules that explains how different computer systems communicate over a network. OSI Model was developed by the International Organization for Standardization (ISO). The OSI Model consists of 7 layers and each layer has specific functions and responsibilities. This layered approach makes it easier for different devices and technologies to work together</a:t>
            </a:r>
            <a:r>
              <a:rPr lang="en-US" dirty="0" smtClean="0"/>
              <a:t>.</a:t>
            </a:r>
          </a:p>
          <a:p>
            <a:pPr fontAlgn="base"/>
            <a:r>
              <a:rPr lang="en-US" b="1" dirty="0"/>
              <a:t>Layers of the OSI Model</a:t>
            </a:r>
          </a:p>
          <a:p>
            <a:pPr fontAlgn="base"/>
            <a:r>
              <a:rPr lang="en-US" dirty="0"/>
              <a:t>There are 7 layers in the OSI Model and each layer has its specific role in handling data. All the layers are mentioned below:</a:t>
            </a:r>
          </a:p>
          <a:p>
            <a:pPr fontAlgn="base"/>
            <a:r>
              <a:rPr lang="en-US" dirty="0">
                <a:solidFill>
                  <a:schemeClr val="tx1"/>
                </a:solidFill>
                <a:hlinkClick r:id="rId2"/>
              </a:rPr>
              <a:t>Physical Layer</a:t>
            </a:r>
            <a:endParaRPr lang="en-US" dirty="0">
              <a:solidFill>
                <a:schemeClr val="tx1"/>
              </a:solidFill>
            </a:endParaRPr>
          </a:p>
          <a:p>
            <a:pPr fontAlgn="base"/>
            <a:r>
              <a:rPr lang="en-US" dirty="0">
                <a:solidFill>
                  <a:schemeClr val="tx1"/>
                </a:solidFill>
                <a:hlinkClick r:id="rId3"/>
              </a:rPr>
              <a:t>Data Link Layer</a:t>
            </a:r>
            <a:endParaRPr lang="en-US" dirty="0">
              <a:solidFill>
                <a:schemeClr val="tx1"/>
              </a:solidFill>
            </a:endParaRPr>
          </a:p>
          <a:p>
            <a:pPr fontAlgn="base"/>
            <a:r>
              <a:rPr lang="en-US" dirty="0">
                <a:solidFill>
                  <a:schemeClr val="tx1"/>
                </a:solidFill>
                <a:hlinkClick r:id="rId4"/>
              </a:rPr>
              <a:t>Network Layer</a:t>
            </a:r>
            <a:endParaRPr lang="en-US" dirty="0">
              <a:solidFill>
                <a:schemeClr val="tx1"/>
              </a:solidFill>
            </a:endParaRPr>
          </a:p>
          <a:p>
            <a:pPr fontAlgn="base"/>
            <a:r>
              <a:rPr lang="en-US" dirty="0">
                <a:solidFill>
                  <a:schemeClr val="tx1"/>
                </a:solidFill>
                <a:hlinkClick r:id="rId5"/>
              </a:rPr>
              <a:t>Transport Layer</a:t>
            </a:r>
            <a:endParaRPr lang="en-US" dirty="0">
              <a:solidFill>
                <a:schemeClr val="tx1"/>
              </a:solidFill>
            </a:endParaRPr>
          </a:p>
          <a:p>
            <a:pPr fontAlgn="base"/>
            <a:r>
              <a:rPr lang="en-US" dirty="0">
                <a:solidFill>
                  <a:schemeClr val="tx1"/>
                </a:solidFill>
                <a:hlinkClick r:id="rId6"/>
              </a:rPr>
              <a:t>Session Layer</a:t>
            </a:r>
            <a:endParaRPr lang="en-US" dirty="0">
              <a:solidFill>
                <a:schemeClr val="tx1"/>
              </a:solidFill>
            </a:endParaRPr>
          </a:p>
          <a:p>
            <a:pPr fontAlgn="base"/>
            <a:r>
              <a:rPr lang="en-US" dirty="0">
                <a:solidFill>
                  <a:schemeClr val="tx1"/>
                </a:solidFill>
                <a:hlinkClick r:id="rId7"/>
              </a:rPr>
              <a:t>Presentation Layer</a:t>
            </a:r>
            <a:endParaRPr lang="en-US" dirty="0">
              <a:solidFill>
                <a:schemeClr val="tx1"/>
              </a:solidFill>
            </a:endParaRPr>
          </a:p>
          <a:p>
            <a:pPr fontAlgn="base"/>
            <a:r>
              <a:rPr lang="en-US" dirty="0">
                <a:solidFill>
                  <a:schemeClr val="tx1"/>
                </a:solidFill>
                <a:hlinkClick r:id="rId8"/>
              </a:rPr>
              <a:t>Application </a:t>
            </a:r>
            <a:r>
              <a:rPr lang="en-US" dirty="0" smtClean="0">
                <a:solidFill>
                  <a:schemeClr val="tx1"/>
                </a:solidFill>
                <a:hlinkClick r:id="rId8"/>
              </a:rPr>
              <a:t>Layer</a:t>
            </a:r>
            <a:endParaRPr lang="en-US" dirty="0">
              <a:solidFill>
                <a:schemeClr val="tx1"/>
              </a:solidFill>
            </a:endParaRPr>
          </a:p>
          <a:p>
            <a:endParaRPr lang="en-US" dirty="0"/>
          </a:p>
        </p:txBody>
      </p:sp>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94500" y="2665412"/>
            <a:ext cx="4495800" cy="3341688"/>
          </a:xfrm>
          <a:prstGeom prst="rect">
            <a:avLst/>
          </a:prstGeom>
        </p:spPr>
      </p:pic>
    </p:spTree>
    <p:extLst>
      <p:ext uri="{BB962C8B-B14F-4D97-AF65-F5344CB8AC3E}">
        <p14:creationId xmlns:p14="http://schemas.microsoft.com/office/powerpoint/2010/main" val="57699832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Layer</a:t>
            </a:r>
            <a:endParaRPr lang="en-US" dirty="0"/>
          </a:p>
        </p:txBody>
      </p:sp>
      <p:sp>
        <p:nvSpPr>
          <p:cNvPr id="3" name="Content Placeholder 2"/>
          <p:cNvSpPr>
            <a:spLocks noGrp="1"/>
          </p:cNvSpPr>
          <p:nvPr>
            <p:ph idx="1"/>
          </p:nvPr>
        </p:nvSpPr>
        <p:spPr>
          <a:xfrm>
            <a:off x="1295401" y="2556932"/>
            <a:ext cx="5791199" cy="3318936"/>
          </a:xfrm>
        </p:spPr>
        <p:txBody>
          <a:bodyPr>
            <a:normAutofit fontScale="70000" lnSpcReduction="20000"/>
          </a:bodyPr>
          <a:lstStyle/>
          <a:p>
            <a:pPr fontAlgn="base"/>
            <a:r>
              <a:rPr lang="en-US" b="1" dirty="0"/>
              <a:t>Layer 1: Physical Layer</a:t>
            </a:r>
          </a:p>
          <a:p>
            <a:pPr fontAlgn="base"/>
            <a:r>
              <a:rPr lang="en-US" dirty="0"/>
              <a:t>The lowest layer of the OSI reference model is the Physical Layer. It is responsible for the actual physical connection between the devices. The physical layer contains information in the form of bits.</a:t>
            </a:r>
          </a:p>
          <a:p>
            <a:pPr fontAlgn="base"/>
            <a:r>
              <a:rPr lang="en-US" dirty="0"/>
              <a:t>Physical Layer is responsible for transmitting individual bits from one node to the next.</a:t>
            </a:r>
          </a:p>
          <a:p>
            <a:pPr fontAlgn="base"/>
            <a:r>
              <a:rPr lang="en-US" dirty="0"/>
              <a:t>When receiving data, this layer will get the signal received and convert it into 0s and 1s and send them to the Data Link layer, which will put the frame back together.</a:t>
            </a:r>
          </a:p>
          <a:p>
            <a:pPr fontAlgn="base"/>
            <a:r>
              <a:rPr lang="en-US" dirty="0"/>
              <a:t>Common physical layer devices are </a:t>
            </a:r>
            <a:r>
              <a:rPr lang="en-US" u="sng" dirty="0">
                <a:hlinkClick r:id="rId2"/>
              </a:rPr>
              <a:t>Hub</a:t>
            </a:r>
            <a:r>
              <a:rPr lang="en-US" dirty="0"/>
              <a:t>, </a:t>
            </a:r>
            <a:r>
              <a:rPr lang="en-US" u="sng" dirty="0">
                <a:hlinkClick r:id="rId3"/>
              </a:rPr>
              <a:t>Repeater</a:t>
            </a:r>
            <a:r>
              <a:rPr lang="en-US" dirty="0"/>
              <a:t>, </a:t>
            </a:r>
            <a:r>
              <a:rPr lang="en-US" u="sng" dirty="0">
                <a:hlinkClick r:id="rId4"/>
              </a:rPr>
              <a:t>Modem</a:t>
            </a:r>
            <a:r>
              <a:rPr lang="en-US" dirty="0"/>
              <a:t>, and </a:t>
            </a:r>
            <a:r>
              <a:rPr lang="en-US" u="sng" dirty="0">
                <a:hlinkClick r:id="rId5"/>
              </a:rPr>
              <a:t>Cables</a:t>
            </a:r>
            <a:r>
              <a:rPr lang="en-US" dirty="0"/>
              <a:t>.</a:t>
            </a:r>
          </a:p>
        </p:txBody>
      </p:sp>
      <p:pic>
        <p:nvPicPr>
          <p:cNvPr id="10242" name="Picture 2" descr="physical-layer-in-OS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75500" y="3441700"/>
            <a:ext cx="3140075" cy="73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56098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Link Layer</a:t>
            </a:r>
            <a:endParaRPr lang="en-US" dirty="0"/>
          </a:p>
        </p:txBody>
      </p:sp>
      <p:sp>
        <p:nvSpPr>
          <p:cNvPr id="3" name="Content Placeholder 2"/>
          <p:cNvSpPr>
            <a:spLocks noGrp="1"/>
          </p:cNvSpPr>
          <p:nvPr>
            <p:ph idx="1"/>
          </p:nvPr>
        </p:nvSpPr>
        <p:spPr>
          <a:xfrm>
            <a:off x="1295401" y="2556932"/>
            <a:ext cx="9601197" cy="3318936"/>
          </a:xfrm>
        </p:spPr>
        <p:txBody>
          <a:bodyPr>
            <a:normAutofit fontScale="70000" lnSpcReduction="20000"/>
          </a:bodyPr>
          <a:lstStyle/>
          <a:p>
            <a:pPr fontAlgn="base"/>
            <a:r>
              <a:rPr lang="en-US" b="1" dirty="0"/>
              <a:t>Layer 2: Data Link Layer (DLL)</a:t>
            </a:r>
          </a:p>
          <a:p>
            <a:pPr fontAlgn="base"/>
            <a:r>
              <a:rPr lang="en-US" dirty="0"/>
              <a:t>The data link layer is responsible for the node-to-node delivery of the message. The main function of this layer is to make sure data transfer is error-free from one node to another, over the physical layer.</a:t>
            </a:r>
          </a:p>
          <a:p>
            <a:pPr fontAlgn="base"/>
            <a:r>
              <a:rPr lang="en-US" dirty="0"/>
              <a:t>When a packet arrives in a network, it is the responsibility of the DLL to transmit it to the Host using its</a:t>
            </a:r>
            <a:r>
              <a:rPr lang="en-US" u="sng" dirty="0">
                <a:hlinkClick r:id="rId2"/>
              </a:rPr>
              <a:t> MAC address</a:t>
            </a:r>
            <a:r>
              <a:rPr lang="en-US" dirty="0"/>
              <a:t>.</a:t>
            </a:r>
          </a:p>
          <a:p>
            <a:pPr fontAlgn="base"/>
            <a:r>
              <a:rPr lang="en-US" dirty="0"/>
              <a:t>Packet in the Data Link layer is referred to as Frame. </a:t>
            </a:r>
            <a:r>
              <a:rPr lang="en-US" u="sng" dirty="0">
                <a:hlinkClick r:id="rId3"/>
              </a:rPr>
              <a:t>Switches and Bridges</a:t>
            </a:r>
            <a:r>
              <a:rPr lang="en-US" dirty="0"/>
              <a:t> are common Data Link Layer devices.</a:t>
            </a:r>
          </a:p>
          <a:p>
            <a:pPr fontAlgn="base"/>
            <a:r>
              <a:rPr lang="en-US" dirty="0"/>
              <a:t>The packet received from the Network layer is further divided into frames depending on the frame size of the NIC (</a:t>
            </a:r>
            <a:r>
              <a:rPr lang="en-US" u="sng" dirty="0">
                <a:hlinkClick r:id="rId4"/>
              </a:rPr>
              <a:t>Network Interface Card)</a:t>
            </a:r>
            <a:r>
              <a:rPr lang="en-US" dirty="0"/>
              <a:t>. DLL also encapsulates Sender and Receiver’s MAC address in the header.</a:t>
            </a:r>
          </a:p>
          <a:p>
            <a:pPr fontAlgn="base"/>
            <a:r>
              <a:rPr lang="en-US" dirty="0"/>
              <a:t>The Receiver’s MAC address is obtained by placing an ARP (</a:t>
            </a:r>
            <a:r>
              <a:rPr lang="en-US" u="sng" dirty="0">
                <a:hlinkClick r:id="rId5"/>
              </a:rPr>
              <a:t>Address Resolution </a:t>
            </a:r>
            <a:r>
              <a:rPr lang="en-US" dirty="0"/>
              <a:t>Protocol) request onto the wire asking, "Who has that IP address?" and the destination host will reply with its MAC address.</a:t>
            </a:r>
          </a:p>
        </p:txBody>
      </p:sp>
    </p:spTree>
    <p:extLst>
      <p:ext uri="{BB962C8B-B14F-4D97-AF65-F5344CB8AC3E}">
        <p14:creationId xmlns:p14="http://schemas.microsoft.com/office/powerpoint/2010/main" val="25558140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Layer</a:t>
            </a: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b="1" dirty="0"/>
              <a:t>Layer 3: Network Layer</a:t>
            </a:r>
          </a:p>
          <a:p>
            <a:pPr fontAlgn="base"/>
            <a:r>
              <a:rPr lang="en-US" dirty="0"/>
              <a:t>The network layer works for the transmission of data from one host to the other located in different networks. It also takes care of packet routing i.e. selection of the shortest path to transmit the packet, from the number of routes available.</a:t>
            </a:r>
          </a:p>
          <a:p>
            <a:pPr fontAlgn="base"/>
            <a:r>
              <a:rPr lang="en-US" dirty="0"/>
              <a:t>The sender and receiver's IP</a:t>
            </a:r>
            <a:r>
              <a:rPr lang="en-US" u="sng" dirty="0">
                <a:hlinkClick r:id="rId2"/>
              </a:rPr>
              <a:t> address</a:t>
            </a:r>
            <a:r>
              <a:rPr lang="en-US" dirty="0"/>
              <a:t> are placed in the header by the network layer. Segment in the Network layer is referred to as Packet</a:t>
            </a:r>
            <a:r>
              <a:rPr lang="en-US" b="1" dirty="0"/>
              <a:t>.</a:t>
            </a:r>
            <a:endParaRPr lang="en-US" dirty="0"/>
          </a:p>
          <a:p>
            <a:pPr fontAlgn="base"/>
            <a:r>
              <a:rPr lang="en-US" dirty="0"/>
              <a:t>Network layer is implemented by networking devices such as </a:t>
            </a:r>
            <a:r>
              <a:rPr lang="en-US" u="sng" dirty="0">
                <a:hlinkClick r:id="rId3"/>
              </a:rPr>
              <a:t>routers and switches</a:t>
            </a:r>
            <a:r>
              <a:rPr lang="en-US" dirty="0"/>
              <a:t>.</a:t>
            </a:r>
          </a:p>
          <a:p>
            <a:pPr fontAlgn="base"/>
            <a:r>
              <a:rPr lang="en-US" b="1" dirty="0"/>
              <a:t>Functions of the Network Layer</a:t>
            </a:r>
          </a:p>
          <a:p>
            <a:pPr fontAlgn="base"/>
            <a:r>
              <a:rPr lang="en-US" b="1" dirty="0"/>
              <a:t>Routing:</a:t>
            </a:r>
            <a:r>
              <a:rPr lang="en-US" dirty="0"/>
              <a:t> The network layer protocols determine which route is suitable from source to destination. This function of the network layer is known as routing.</a:t>
            </a:r>
          </a:p>
          <a:p>
            <a:pPr fontAlgn="base"/>
            <a:r>
              <a:rPr lang="en-US" b="1" dirty="0"/>
              <a:t>Logical Addressing:</a:t>
            </a:r>
            <a:r>
              <a:rPr lang="en-US" dirty="0"/>
              <a:t> To identify each device inter-network uniquely, the network layer defines an addressing scheme. The sender and receiver’s IP addresses are placed in the header by the network layer. Such an address distinguishes each device uniquely and universally.</a:t>
            </a:r>
          </a:p>
        </p:txBody>
      </p:sp>
    </p:spTree>
    <p:extLst>
      <p:ext uri="{BB962C8B-B14F-4D97-AF65-F5344CB8AC3E}">
        <p14:creationId xmlns:p14="http://schemas.microsoft.com/office/powerpoint/2010/main" val="12887389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Layer</a:t>
            </a:r>
            <a:endParaRPr lang="en-US" dirty="0"/>
          </a:p>
        </p:txBody>
      </p:sp>
      <p:sp>
        <p:nvSpPr>
          <p:cNvPr id="3" name="Content Placeholder 2"/>
          <p:cNvSpPr>
            <a:spLocks noGrp="1"/>
          </p:cNvSpPr>
          <p:nvPr>
            <p:ph idx="1"/>
          </p:nvPr>
        </p:nvSpPr>
        <p:spPr/>
        <p:txBody>
          <a:bodyPr>
            <a:normAutofit fontScale="55000" lnSpcReduction="20000"/>
          </a:bodyPr>
          <a:lstStyle/>
          <a:p>
            <a:pPr fontAlgn="base"/>
            <a:r>
              <a:rPr lang="en-US" b="1" dirty="0"/>
              <a:t>Layer 4: Transport Layer</a:t>
            </a:r>
          </a:p>
          <a:p>
            <a:pPr fontAlgn="base"/>
            <a:r>
              <a:rPr lang="en-US" dirty="0"/>
              <a:t>The transport layer provides services to the application layer and takes services from the network layer. The data in the transport layer is referred to as Segments. It is responsible for the end-to-end delivery of the complete message.</a:t>
            </a:r>
          </a:p>
          <a:p>
            <a:pPr fontAlgn="base"/>
            <a:r>
              <a:rPr lang="en-US" dirty="0"/>
              <a:t>The transport layer also provides the acknowledgment of the successful data transmission and re-transmits the data if an error is found.</a:t>
            </a:r>
          </a:p>
          <a:p>
            <a:pPr fontAlgn="base"/>
            <a:r>
              <a:rPr lang="en-US" dirty="0"/>
              <a:t>Protocols used in Transport Layer are </a:t>
            </a:r>
            <a:r>
              <a:rPr lang="en-US" u="sng" dirty="0">
                <a:hlinkClick r:id="rId2"/>
              </a:rPr>
              <a:t>TCP</a:t>
            </a:r>
            <a:r>
              <a:rPr lang="en-US" dirty="0"/>
              <a:t>, </a:t>
            </a:r>
            <a:r>
              <a:rPr lang="en-US" u="sng" dirty="0">
                <a:hlinkClick r:id="rId3"/>
              </a:rPr>
              <a:t>UDP</a:t>
            </a:r>
            <a:r>
              <a:rPr lang="en-US" dirty="0"/>
              <a:t> </a:t>
            </a:r>
            <a:r>
              <a:rPr lang="en-US" u="sng" dirty="0">
                <a:hlinkClick r:id="rId4"/>
              </a:rPr>
              <a:t>NetBIOS</a:t>
            </a:r>
            <a:r>
              <a:rPr lang="en-US" dirty="0"/>
              <a:t>, </a:t>
            </a:r>
            <a:r>
              <a:rPr lang="en-US" u="sng" dirty="0">
                <a:hlinkClick r:id="rId5"/>
              </a:rPr>
              <a:t>PPTP</a:t>
            </a:r>
            <a:r>
              <a:rPr lang="en-US" dirty="0"/>
              <a:t>.</a:t>
            </a:r>
          </a:p>
          <a:p>
            <a:pPr fontAlgn="base"/>
            <a:r>
              <a:rPr lang="en-US" dirty="0"/>
              <a:t>At the sender's side, the transport layer receives the formatted data from the upper layers, performs Segmentation, and also implements Flow and error control to ensure proper data transmission.</a:t>
            </a:r>
          </a:p>
          <a:p>
            <a:pPr fontAlgn="base"/>
            <a:r>
              <a:rPr lang="en-US" dirty="0"/>
              <a:t>It also adds Source and Destination</a:t>
            </a:r>
            <a:r>
              <a:rPr lang="en-US" u="sng" dirty="0">
                <a:hlinkClick r:id="rId6"/>
              </a:rPr>
              <a:t> port number</a:t>
            </a:r>
            <a:r>
              <a:rPr lang="en-US" dirty="0"/>
              <a:t> in its header and forwards the segmented data to the Network Layer.</a:t>
            </a:r>
          </a:p>
          <a:p>
            <a:pPr fontAlgn="base"/>
            <a:r>
              <a:rPr lang="en-US" dirty="0"/>
              <a:t>Generally, this destination port number is configured, either by default or manually.</a:t>
            </a:r>
          </a:p>
          <a:p>
            <a:pPr fontAlgn="base"/>
            <a:r>
              <a:rPr lang="en-US" b="1" dirty="0"/>
              <a:t>Example: </a:t>
            </a:r>
            <a:r>
              <a:rPr lang="en-US" dirty="0"/>
              <a:t>when a web application requests a web server, it typically uses port number 80, because this is the default port assigned to web applications. Many applications have default ports assigned.</a:t>
            </a:r>
          </a:p>
          <a:p>
            <a:pPr fontAlgn="base"/>
            <a:r>
              <a:rPr lang="en-US" dirty="0"/>
              <a:t>At the Receiver’s side, Transport Layer reads the port number from its header and forwards the Data which it has received to the respective application. It also performs sequencing and reassembling of the segmented data.</a:t>
            </a:r>
          </a:p>
          <a:p>
            <a:endParaRPr lang="en-US" dirty="0"/>
          </a:p>
        </p:txBody>
      </p:sp>
    </p:spTree>
    <p:extLst>
      <p:ext uri="{BB962C8B-B14F-4D97-AF65-F5344CB8AC3E}">
        <p14:creationId xmlns:p14="http://schemas.microsoft.com/office/powerpoint/2010/main" val="250120876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 Layer</a:t>
            </a:r>
            <a:endParaRPr lang="en-US" dirty="0"/>
          </a:p>
        </p:txBody>
      </p:sp>
      <p:sp>
        <p:nvSpPr>
          <p:cNvPr id="3" name="Content Placeholder 2"/>
          <p:cNvSpPr>
            <a:spLocks noGrp="1"/>
          </p:cNvSpPr>
          <p:nvPr>
            <p:ph idx="1"/>
          </p:nvPr>
        </p:nvSpPr>
        <p:spPr/>
        <p:txBody>
          <a:bodyPr>
            <a:normAutofit fontScale="55000" lnSpcReduction="20000"/>
          </a:bodyPr>
          <a:lstStyle/>
          <a:p>
            <a:pPr fontAlgn="base"/>
            <a:r>
              <a:rPr lang="en-US" b="1" dirty="0"/>
              <a:t>Layer 5: Session Layer</a:t>
            </a:r>
          </a:p>
          <a:p>
            <a:pPr fontAlgn="base"/>
            <a:r>
              <a:rPr lang="en-US" dirty="0"/>
              <a:t>Session Layer in the OSI Model is responsible for the establishment of connections, management of connections, terminations of sessions between two devices. It also provides authentication and security. Protocols used in the Session Layer are NetBIOS, PPTP.</a:t>
            </a:r>
          </a:p>
          <a:p>
            <a:pPr fontAlgn="base"/>
            <a:r>
              <a:rPr lang="en-US" b="1" dirty="0"/>
              <a:t>Functions of the Session Layer</a:t>
            </a:r>
          </a:p>
          <a:p>
            <a:pPr fontAlgn="base"/>
            <a:r>
              <a:rPr lang="en-US" b="1" dirty="0"/>
              <a:t>Session Establishment, Maintenance, and Termination:</a:t>
            </a:r>
            <a:r>
              <a:rPr lang="en-US" dirty="0"/>
              <a:t> The layer allows the two processes to establish, use, and terminate a connection.</a:t>
            </a:r>
          </a:p>
          <a:p>
            <a:pPr fontAlgn="base"/>
            <a:r>
              <a:rPr lang="en-US" b="1" dirty="0"/>
              <a:t>Synchronization:</a:t>
            </a:r>
            <a:r>
              <a:rPr lang="en-US" dirty="0"/>
              <a:t> This layer allows a process to add checkpoints that are considered synchronization points in the data. These synchronization points help to identify the error so that the data is re-synchronized properly, and ends of the messages are not cut prematurely, and data loss is avoided.</a:t>
            </a:r>
          </a:p>
          <a:p>
            <a:pPr fontAlgn="base"/>
            <a:r>
              <a:rPr lang="en-US" b="1" dirty="0"/>
              <a:t>Dialog Controller:</a:t>
            </a:r>
            <a:r>
              <a:rPr lang="en-US" dirty="0"/>
              <a:t> The session layer allows two systems to start communication with each other in half-duplex or full duplex.</a:t>
            </a:r>
          </a:p>
          <a:p>
            <a:pPr fontAlgn="base"/>
            <a:r>
              <a:rPr lang="en-US" b="1" dirty="0"/>
              <a:t>Example</a:t>
            </a:r>
            <a:endParaRPr lang="en-US" dirty="0"/>
          </a:p>
          <a:p>
            <a:pPr fontAlgn="base"/>
            <a:r>
              <a:rPr lang="en-US" dirty="0"/>
              <a:t>Let us consider a scenario where a user wants to send a message through some Messenger application running in their browser. The “Messenger” here acts as the application layer which provides the user with an interface to create the data. This message or so-called Data is compressed, optionally encrypted (if the data is sensitive), and converted into bits (0’s and 1’s) so that it can be transmitted.</a:t>
            </a:r>
          </a:p>
        </p:txBody>
      </p:sp>
    </p:spTree>
    <p:extLst>
      <p:ext uri="{BB962C8B-B14F-4D97-AF65-F5344CB8AC3E}">
        <p14:creationId xmlns:p14="http://schemas.microsoft.com/office/powerpoint/2010/main" val="409818489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 Layer</a:t>
            </a: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b="1" dirty="0"/>
              <a:t>Layer 6: Presentation Layer</a:t>
            </a:r>
          </a:p>
          <a:p>
            <a:pPr fontAlgn="base"/>
            <a:r>
              <a:rPr lang="en-US" dirty="0"/>
              <a:t>The presentation layer is also called the Translation layer. The data from the application layer is extracted here and manipulated as per the required format to transmit over the network. Protocols used in the Presentation Layer are </a:t>
            </a:r>
            <a:r>
              <a:rPr lang="en-US" u="sng" dirty="0">
                <a:hlinkClick r:id="rId2"/>
              </a:rPr>
              <a:t>TLS/SSL</a:t>
            </a:r>
            <a:r>
              <a:rPr lang="en-US" dirty="0"/>
              <a:t> (Transport Layer Security / Secure Sockets Layer).</a:t>
            </a:r>
            <a:r>
              <a:rPr lang="en-US" u="sng" dirty="0">
                <a:hlinkClick r:id="rId3"/>
              </a:rPr>
              <a:t>JPEG, MPEG, GIF</a:t>
            </a:r>
            <a:r>
              <a:rPr lang="en-US" dirty="0"/>
              <a:t>, are standards or formats used for encoding data, which is part of the presentation layer’s role.</a:t>
            </a:r>
          </a:p>
          <a:p>
            <a:pPr fontAlgn="base"/>
            <a:r>
              <a:rPr lang="en-US" b="1" dirty="0"/>
              <a:t>Functions of the Presentation Layer</a:t>
            </a:r>
          </a:p>
          <a:p>
            <a:pPr fontAlgn="base"/>
            <a:r>
              <a:rPr lang="en-US" b="1" dirty="0"/>
              <a:t>Translation:</a:t>
            </a:r>
            <a:r>
              <a:rPr lang="en-US" dirty="0"/>
              <a:t> For example,</a:t>
            </a:r>
            <a:r>
              <a:rPr lang="en-US" u="sng" dirty="0">
                <a:hlinkClick r:id="rId4"/>
              </a:rPr>
              <a:t> ASCII to EBCDIC</a:t>
            </a:r>
            <a:r>
              <a:rPr lang="en-US" dirty="0"/>
              <a:t>.</a:t>
            </a:r>
          </a:p>
          <a:p>
            <a:pPr fontAlgn="base"/>
            <a:r>
              <a:rPr lang="en-US" b="1" dirty="0"/>
              <a:t>Encryption/ Decryption:</a:t>
            </a:r>
            <a:r>
              <a:rPr lang="en-US" dirty="0"/>
              <a:t> Data encryption translates the data into another form or code. The encrypted data is known as the </a:t>
            </a:r>
            <a:r>
              <a:rPr lang="en-US" dirty="0" err="1"/>
              <a:t>ciphertext</a:t>
            </a:r>
            <a:r>
              <a:rPr lang="en-US" dirty="0"/>
              <a:t>, and the decrypted data is known as plain text. A key value is used for encrypting as well as decrypting data.</a:t>
            </a:r>
          </a:p>
          <a:p>
            <a:pPr fontAlgn="base"/>
            <a:r>
              <a:rPr lang="en-US" b="1" dirty="0"/>
              <a:t>Compression:</a:t>
            </a:r>
            <a:r>
              <a:rPr lang="en-US" dirty="0"/>
              <a:t> Reduces the number of bits that need to be transmitted on the network.</a:t>
            </a:r>
          </a:p>
        </p:txBody>
      </p:sp>
    </p:spTree>
    <p:extLst>
      <p:ext uri="{BB962C8B-B14F-4D97-AF65-F5344CB8AC3E}">
        <p14:creationId xmlns:p14="http://schemas.microsoft.com/office/powerpoint/2010/main" val="178234982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Layer</a:t>
            </a:r>
            <a:endParaRPr lang="en-US" dirty="0"/>
          </a:p>
        </p:txBody>
      </p:sp>
      <p:sp>
        <p:nvSpPr>
          <p:cNvPr id="3" name="Content Placeholder 2"/>
          <p:cNvSpPr>
            <a:spLocks noGrp="1"/>
          </p:cNvSpPr>
          <p:nvPr>
            <p:ph idx="1"/>
          </p:nvPr>
        </p:nvSpPr>
        <p:spPr>
          <a:xfrm>
            <a:off x="1206501" y="1947332"/>
            <a:ext cx="9601196" cy="3318936"/>
          </a:xfrm>
        </p:spPr>
        <p:txBody>
          <a:bodyPr>
            <a:normAutofit/>
          </a:bodyPr>
          <a:lstStyle/>
          <a:p>
            <a:pPr fontAlgn="base"/>
            <a:r>
              <a:rPr lang="en-US" sz="2000" b="1" dirty="0"/>
              <a:t>Layer 7: Application Layer</a:t>
            </a:r>
          </a:p>
          <a:p>
            <a:pPr fontAlgn="base"/>
            <a:r>
              <a:rPr lang="en-US" sz="2000" dirty="0"/>
              <a:t>At the very top of the OSI Reference Model stack of layers, we find the Application layer which is implemented by the network applications. These applications produce the data to be transferred over the network.</a:t>
            </a:r>
          </a:p>
          <a:p>
            <a:pPr fontAlgn="base"/>
            <a:r>
              <a:rPr lang="en-US" sz="2000" dirty="0"/>
              <a:t>This layer also serves as a window for the application services to access the network and for displaying the received information to the user.</a:t>
            </a:r>
          </a:p>
          <a:p>
            <a:pPr fontAlgn="base"/>
            <a:r>
              <a:rPr lang="en-US" sz="2000" dirty="0"/>
              <a:t>Protocols used in the Application layer are </a:t>
            </a:r>
            <a:r>
              <a:rPr lang="en-US" sz="2000" u="sng" dirty="0">
                <a:hlinkClick r:id="rId2"/>
              </a:rPr>
              <a:t>SMTP</a:t>
            </a:r>
            <a:r>
              <a:rPr lang="en-US" sz="2000" dirty="0"/>
              <a:t>, </a:t>
            </a:r>
            <a:r>
              <a:rPr lang="en-US" sz="2000" u="sng" dirty="0">
                <a:hlinkClick r:id="rId3"/>
              </a:rPr>
              <a:t>FTP</a:t>
            </a:r>
            <a:r>
              <a:rPr lang="en-US" sz="2000" dirty="0"/>
              <a:t>, </a:t>
            </a:r>
            <a:r>
              <a:rPr lang="en-US" sz="2000" u="sng" dirty="0">
                <a:hlinkClick r:id="rId4"/>
              </a:rPr>
              <a:t>DNS</a:t>
            </a:r>
            <a:r>
              <a:rPr lang="en-US" sz="2000" dirty="0"/>
              <a:t>, etc</a:t>
            </a:r>
            <a:r>
              <a:rPr lang="en-US" sz="2000" dirty="0" smtClean="0"/>
              <a:t>.</a:t>
            </a:r>
          </a:p>
          <a:p>
            <a:pPr fontAlgn="base"/>
            <a:endParaRPr lang="en-US" sz="2000" dirty="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7099" y="4538136"/>
            <a:ext cx="7620000" cy="1693332"/>
          </a:xfrm>
          <a:prstGeom prst="rect">
            <a:avLst/>
          </a:prstGeom>
        </p:spPr>
      </p:pic>
    </p:spTree>
    <p:extLst>
      <p:ext uri="{BB962C8B-B14F-4D97-AF65-F5344CB8AC3E}">
        <p14:creationId xmlns:p14="http://schemas.microsoft.com/office/powerpoint/2010/main" val="177993054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Flowing When Sending</a:t>
            </a:r>
            <a:endParaRPr lang="en-US" dirty="0"/>
          </a:p>
        </p:txBody>
      </p:sp>
      <p:sp>
        <p:nvSpPr>
          <p:cNvPr id="3" name="Content Placeholder 2"/>
          <p:cNvSpPr>
            <a:spLocks noGrp="1"/>
          </p:cNvSpPr>
          <p:nvPr>
            <p:ph idx="1"/>
          </p:nvPr>
        </p:nvSpPr>
        <p:spPr>
          <a:xfrm>
            <a:off x="1295401" y="2556932"/>
            <a:ext cx="5791199" cy="3318936"/>
          </a:xfrm>
        </p:spPr>
        <p:txBody>
          <a:bodyPr>
            <a:normAutofit fontScale="55000" lnSpcReduction="20000"/>
          </a:bodyPr>
          <a:lstStyle/>
          <a:p>
            <a:r>
              <a:rPr lang="en-US" dirty="0"/>
              <a:t>The sender moves data </a:t>
            </a:r>
            <a:r>
              <a:rPr lang="en-US" i="1" dirty="0"/>
              <a:t>downward</a:t>
            </a:r>
            <a:r>
              <a:rPr lang="en-US" dirty="0"/>
              <a:t> from Layer 7 to Layer 1.</a:t>
            </a:r>
          </a:p>
          <a:p>
            <a:r>
              <a:rPr lang="en-US" b="1" dirty="0"/>
              <a:t>Layer 7: Application Layer</a:t>
            </a:r>
          </a:p>
          <a:p>
            <a:r>
              <a:rPr lang="en-US" dirty="0"/>
              <a:t>The user interacts with the network through apps like email, browsers or chat. The application creates the original data.</a:t>
            </a:r>
          </a:p>
          <a:p>
            <a:r>
              <a:rPr lang="en-US" b="1" dirty="0"/>
              <a:t>Layer 6: Presentation Layer</a:t>
            </a:r>
          </a:p>
          <a:p>
            <a:r>
              <a:rPr lang="en-US" dirty="0"/>
              <a:t>This layer formats the data. It may encrypt, compress, or translate it into a standard format.</a:t>
            </a:r>
          </a:p>
          <a:p>
            <a:r>
              <a:rPr lang="en-US" b="1" dirty="0"/>
              <a:t>Layer 5: Session Layer</a:t>
            </a:r>
          </a:p>
          <a:p>
            <a:r>
              <a:rPr lang="en-US" dirty="0"/>
              <a:t>It starts, manages and ends communication sessions. Data is prepared for transport.</a:t>
            </a:r>
          </a:p>
          <a:p>
            <a:r>
              <a:rPr lang="en-US" b="1" dirty="0"/>
              <a:t>Layer 4: Transport Layer</a:t>
            </a:r>
          </a:p>
          <a:p>
            <a:r>
              <a:rPr lang="en-US" dirty="0"/>
              <a:t>Data becomes </a:t>
            </a:r>
            <a:r>
              <a:rPr lang="en-US" b="1" dirty="0"/>
              <a:t>segments</a:t>
            </a:r>
            <a:r>
              <a:rPr lang="en-US" dirty="0"/>
              <a:t>. TCP/UDP adds port numbers, ensures error checking, flow control and reliable delivery</a:t>
            </a:r>
            <a:r>
              <a:rPr lang="en-US" dirty="0" smtClean="0"/>
              <a:t>.</a:t>
            </a:r>
            <a:r>
              <a:rPr lang="en-US" dirty="0"/>
              <a:t> </a:t>
            </a:r>
          </a:p>
        </p:txBody>
      </p:sp>
      <p:sp>
        <p:nvSpPr>
          <p:cNvPr id="4" name="Rectangle 3"/>
          <p:cNvSpPr/>
          <p:nvPr/>
        </p:nvSpPr>
        <p:spPr>
          <a:xfrm>
            <a:off x="7200900" y="2369740"/>
            <a:ext cx="4292600" cy="3693319"/>
          </a:xfrm>
          <a:prstGeom prst="rect">
            <a:avLst/>
          </a:prstGeom>
        </p:spPr>
        <p:txBody>
          <a:bodyPr wrap="square">
            <a:spAutoFit/>
          </a:bodyPr>
          <a:lstStyle/>
          <a:p>
            <a:r>
              <a:rPr lang="en-US" b="1" dirty="0" smtClean="0"/>
              <a:t>Layer 3: Network Layer</a:t>
            </a:r>
          </a:p>
          <a:p>
            <a:r>
              <a:rPr lang="en-US" dirty="0" smtClean="0"/>
              <a:t>Segments become </a:t>
            </a:r>
            <a:r>
              <a:rPr lang="en-US" b="1" dirty="0" smtClean="0"/>
              <a:t>packets</a:t>
            </a:r>
            <a:r>
              <a:rPr lang="en-US" dirty="0" smtClean="0"/>
              <a:t>. The sender’s and receiver’s </a:t>
            </a:r>
            <a:r>
              <a:rPr lang="en-US" b="1" dirty="0" smtClean="0"/>
              <a:t>IP addresses</a:t>
            </a:r>
            <a:r>
              <a:rPr lang="en-US" dirty="0" smtClean="0"/>
              <a:t> are added. Routing decisions are made.</a:t>
            </a:r>
          </a:p>
          <a:p>
            <a:r>
              <a:rPr lang="en-US" b="1" dirty="0" smtClean="0"/>
              <a:t>Layer 2: Data Link Layer</a:t>
            </a:r>
          </a:p>
          <a:p>
            <a:r>
              <a:rPr lang="en-US" dirty="0" smtClean="0"/>
              <a:t>Packets become </a:t>
            </a:r>
            <a:r>
              <a:rPr lang="en-US" b="1" dirty="0" smtClean="0"/>
              <a:t>frames</a:t>
            </a:r>
            <a:r>
              <a:rPr lang="en-US" dirty="0" smtClean="0"/>
              <a:t>. MAC addresses are added for local network delivery. Error detection for local transmission also happens here.</a:t>
            </a:r>
          </a:p>
          <a:p>
            <a:r>
              <a:rPr lang="en-US" b="1" dirty="0" smtClean="0"/>
              <a:t>Layer 1: Physical Layer</a:t>
            </a:r>
          </a:p>
          <a:p>
            <a:r>
              <a:rPr lang="en-US" dirty="0" smtClean="0"/>
              <a:t>Frames become </a:t>
            </a:r>
            <a:r>
              <a:rPr lang="en-US" b="1" dirty="0" smtClean="0"/>
              <a:t>bits</a:t>
            </a:r>
            <a:r>
              <a:rPr lang="en-US" dirty="0" smtClean="0"/>
              <a:t> (0s and 1s). These bits are transmitted through cables or wireless signals.</a:t>
            </a:r>
            <a:endParaRPr lang="en-US" dirty="0"/>
          </a:p>
        </p:txBody>
      </p:sp>
    </p:spTree>
    <p:extLst>
      <p:ext uri="{BB962C8B-B14F-4D97-AF65-F5344CB8AC3E}">
        <p14:creationId xmlns:p14="http://schemas.microsoft.com/office/powerpoint/2010/main" val="20312926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fontAlgn="base"/>
            <a:r>
              <a:rPr lang="en-US" b="1" dirty="0"/>
              <a:t>Step 1: Person A </a:t>
            </a:r>
            <a:r>
              <a:rPr lang="en-US" dirty="0"/>
              <a:t>interacts with e-mail application like Gmail, outlook, etc. Writes his email to send. (This happens at Application Layer).</a:t>
            </a:r>
          </a:p>
          <a:p>
            <a:pPr fontAlgn="base"/>
            <a:r>
              <a:rPr lang="en-US" b="1" dirty="0"/>
              <a:t>Step 2: At Presentation Layer, </a:t>
            </a:r>
            <a:r>
              <a:rPr lang="en-US" dirty="0"/>
              <a:t>Mail application prepares for data transmission like encrypting data and formatting it for transmission.</a:t>
            </a:r>
          </a:p>
          <a:p>
            <a:pPr fontAlgn="base"/>
            <a:r>
              <a:rPr lang="en-US" b="1" dirty="0"/>
              <a:t>Step 3: At Session Layer,</a:t>
            </a:r>
            <a:r>
              <a:rPr lang="en-US" dirty="0"/>
              <a:t> there is a connection established between the sender and receiver on the internet.</a:t>
            </a:r>
          </a:p>
          <a:p>
            <a:pPr fontAlgn="base"/>
            <a:r>
              <a:rPr lang="en-US" b="1" dirty="0"/>
              <a:t>Step 4: At Transport Layer</a:t>
            </a:r>
            <a:r>
              <a:rPr lang="en-US" dirty="0"/>
              <a:t>, Email data is broken into smaller segments. It adds sequence number and error-checking information to maintain the reliability of the information.</a:t>
            </a:r>
          </a:p>
          <a:p>
            <a:pPr fontAlgn="base"/>
            <a:r>
              <a:rPr lang="en-US" b="1" dirty="0"/>
              <a:t>Step 5: At Network Layer,</a:t>
            </a:r>
            <a:r>
              <a:rPr lang="en-US" dirty="0"/>
              <a:t> addressing of packets is done in order to find the best route for transfer.</a:t>
            </a:r>
          </a:p>
          <a:p>
            <a:pPr fontAlgn="base"/>
            <a:r>
              <a:rPr lang="en-US" b="1" dirty="0"/>
              <a:t>Step 6: At Data Link Layer, d</a:t>
            </a:r>
            <a:r>
              <a:rPr lang="en-US" dirty="0"/>
              <a:t>ata packets are encapsulated into frames, then MAC address is added for local devices and then it checks for error using error detection.</a:t>
            </a:r>
          </a:p>
          <a:p>
            <a:pPr fontAlgn="base"/>
            <a:r>
              <a:rPr lang="en-US" b="1" dirty="0"/>
              <a:t>Step 7: At Physical Layer, </a:t>
            </a:r>
            <a:r>
              <a:rPr lang="en-US" dirty="0"/>
              <a:t>Frames are transmitted in the form of electrical/ optical signals over a physical network medium like </a:t>
            </a:r>
            <a:r>
              <a:rPr lang="en-US" dirty="0" err="1"/>
              <a:t>ethernet</a:t>
            </a:r>
            <a:r>
              <a:rPr lang="en-US" dirty="0"/>
              <a:t> cable or </a:t>
            </a:r>
            <a:r>
              <a:rPr lang="en-US" dirty="0" err="1"/>
              <a:t>WiFi</a:t>
            </a:r>
            <a:r>
              <a:rPr lang="en-US" dirty="0"/>
              <a:t>.</a:t>
            </a:r>
          </a:p>
        </p:txBody>
      </p:sp>
    </p:spTree>
    <p:extLst>
      <p:ext uri="{BB962C8B-B14F-4D97-AF65-F5344CB8AC3E}">
        <p14:creationId xmlns:p14="http://schemas.microsoft.com/office/powerpoint/2010/main" val="375392335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 while receiving</a:t>
            </a:r>
            <a:endParaRPr lang="en-US" dirty="0"/>
          </a:p>
        </p:txBody>
      </p:sp>
      <p:sp>
        <p:nvSpPr>
          <p:cNvPr id="3" name="Content Placeholder 2"/>
          <p:cNvSpPr>
            <a:spLocks noGrp="1"/>
          </p:cNvSpPr>
          <p:nvPr>
            <p:ph idx="1"/>
          </p:nvPr>
        </p:nvSpPr>
        <p:spPr>
          <a:xfrm>
            <a:off x="1295401" y="2556932"/>
            <a:ext cx="4768515" cy="3318936"/>
          </a:xfrm>
        </p:spPr>
        <p:txBody>
          <a:bodyPr>
            <a:normAutofit fontScale="62500" lnSpcReduction="20000"/>
          </a:bodyPr>
          <a:lstStyle/>
          <a:p>
            <a:r>
              <a:rPr lang="en-US" b="1" dirty="0"/>
              <a:t>Layer 1 → Layer 2</a:t>
            </a:r>
          </a:p>
          <a:p>
            <a:r>
              <a:rPr lang="en-US" dirty="0"/>
              <a:t>The physical layer receives raw bits.</a:t>
            </a:r>
            <a:br>
              <a:rPr lang="en-US" dirty="0"/>
            </a:br>
            <a:r>
              <a:rPr lang="en-US" dirty="0"/>
              <a:t>They are converted back into frames.</a:t>
            </a:r>
          </a:p>
          <a:p>
            <a:r>
              <a:rPr lang="en-US" b="1" dirty="0"/>
              <a:t>Layer 2 → Layer 3</a:t>
            </a:r>
          </a:p>
          <a:p>
            <a:r>
              <a:rPr lang="en-US" dirty="0"/>
              <a:t>Frames are checked for errors.</a:t>
            </a:r>
            <a:br>
              <a:rPr lang="en-US" dirty="0"/>
            </a:br>
            <a:r>
              <a:rPr lang="en-US" dirty="0"/>
              <a:t>MAC addresses are removed, and packets are passed up.</a:t>
            </a:r>
          </a:p>
          <a:p>
            <a:r>
              <a:rPr lang="en-US" b="1" dirty="0"/>
              <a:t>Layer 3 → Layer 4</a:t>
            </a:r>
          </a:p>
          <a:p>
            <a:r>
              <a:rPr lang="en-US" dirty="0"/>
              <a:t>Packets are checked for IP addresses and routing info.</a:t>
            </a:r>
            <a:br>
              <a:rPr lang="en-US" dirty="0"/>
            </a:br>
            <a:r>
              <a:rPr lang="en-US" dirty="0"/>
              <a:t>Port numbers are used to deliver data to the right application.</a:t>
            </a:r>
            <a:br>
              <a:rPr lang="en-US" dirty="0"/>
            </a:br>
            <a:r>
              <a:rPr lang="en-US" dirty="0"/>
              <a:t>Segments are formed again</a:t>
            </a:r>
            <a:r>
              <a:rPr lang="en-US" dirty="0" smtClean="0"/>
              <a:t>.</a:t>
            </a:r>
            <a:endParaRPr lang="en-US" dirty="0"/>
          </a:p>
        </p:txBody>
      </p:sp>
      <p:sp>
        <p:nvSpPr>
          <p:cNvPr id="4" name="Rectangle 3"/>
          <p:cNvSpPr/>
          <p:nvPr/>
        </p:nvSpPr>
        <p:spPr>
          <a:xfrm>
            <a:off x="6096000" y="2459851"/>
            <a:ext cx="4344203" cy="3693319"/>
          </a:xfrm>
          <a:prstGeom prst="rect">
            <a:avLst/>
          </a:prstGeom>
        </p:spPr>
        <p:txBody>
          <a:bodyPr wrap="square">
            <a:spAutoFit/>
          </a:bodyPr>
          <a:lstStyle/>
          <a:p>
            <a:r>
              <a:rPr lang="en-US" b="1" dirty="0" smtClean="0"/>
              <a:t>Layer 4 → Layer 5</a:t>
            </a:r>
          </a:p>
          <a:p>
            <a:r>
              <a:rPr lang="en-US" dirty="0" smtClean="0"/>
              <a:t>Transport layer reorders the segments if needed and removes transport headers.</a:t>
            </a:r>
            <a:br>
              <a:rPr lang="en-US" dirty="0" smtClean="0"/>
            </a:br>
            <a:r>
              <a:rPr lang="en-US" dirty="0" smtClean="0"/>
              <a:t>Data becomes a continuous stream.</a:t>
            </a:r>
          </a:p>
          <a:p>
            <a:r>
              <a:rPr lang="en-US" b="1" dirty="0" smtClean="0"/>
              <a:t>Layer 5 → Layer 6</a:t>
            </a:r>
          </a:p>
          <a:p>
            <a:r>
              <a:rPr lang="en-US" dirty="0" smtClean="0"/>
              <a:t>Session layer maintains the session.</a:t>
            </a:r>
            <a:br>
              <a:rPr lang="en-US" dirty="0" smtClean="0"/>
            </a:br>
            <a:r>
              <a:rPr lang="en-US" dirty="0" smtClean="0"/>
              <a:t>Presentation layer decrypts or decompresses the data.</a:t>
            </a:r>
          </a:p>
          <a:p>
            <a:r>
              <a:rPr lang="en-US" b="1" dirty="0" smtClean="0"/>
              <a:t>Layer 6 → Layer 7</a:t>
            </a:r>
          </a:p>
          <a:p>
            <a:r>
              <a:rPr lang="en-US" dirty="0" smtClean="0"/>
              <a:t>Application layer delivers the final output to the user.</a:t>
            </a:r>
            <a:br>
              <a:rPr lang="en-US" dirty="0" smtClean="0"/>
            </a:br>
            <a:r>
              <a:rPr lang="en-US" dirty="0" smtClean="0"/>
              <a:t>For example, the web page loads on your browser.</a:t>
            </a:r>
            <a:endParaRPr lang="en-US" dirty="0"/>
          </a:p>
        </p:txBody>
      </p:sp>
    </p:spTree>
    <p:extLst>
      <p:ext uri="{BB962C8B-B14F-4D97-AF65-F5344CB8AC3E}">
        <p14:creationId xmlns:p14="http://schemas.microsoft.com/office/powerpoint/2010/main" val="195025918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TCP/IP Model</a:t>
            </a:r>
            <a:endParaRPr lang="en-US" dirty="0"/>
          </a:p>
        </p:txBody>
      </p:sp>
      <p:sp>
        <p:nvSpPr>
          <p:cNvPr id="3" name="Content Placeholder 2"/>
          <p:cNvSpPr>
            <a:spLocks noGrp="1"/>
          </p:cNvSpPr>
          <p:nvPr>
            <p:ph idx="1"/>
          </p:nvPr>
        </p:nvSpPr>
        <p:spPr>
          <a:xfrm>
            <a:off x="1295401" y="2556932"/>
            <a:ext cx="4698999" cy="3318936"/>
          </a:xfrm>
        </p:spPr>
        <p:txBody>
          <a:bodyPr>
            <a:normAutofit fontScale="62500" lnSpcReduction="20000"/>
          </a:bodyPr>
          <a:lstStyle/>
          <a:p>
            <a:pPr fontAlgn="base"/>
            <a:r>
              <a:rPr lang="en-US" dirty="0"/>
              <a:t>The TCP/IP model is a framework that is used to model the communication in a network. It is mainly a collection of network protocols and organization of these protocols in different layers for modeling the network.</a:t>
            </a:r>
          </a:p>
          <a:p>
            <a:pPr fontAlgn="base"/>
            <a:r>
              <a:rPr lang="en-US" dirty="0"/>
              <a:t>It has four layers, Application, Transport, Network/Internet and Network Access.</a:t>
            </a:r>
          </a:p>
          <a:p>
            <a:pPr fontAlgn="base"/>
            <a:r>
              <a:rPr lang="en-US" dirty="0"/>
              <a:t>While the </a:t>
            </a:r>
            <a:r>
              <a:rPr lang="en-US" u="sng" dirty="0">
                <a:hlinkClick r:id="rId2"/>
              </a:rPr>
              <a:t>OSI model</a:t>
            </a:r>
            <a:r>
              <a:rPr lang="en-US" dirty="0"/>
              <a:t> has seven layers, the 4 layer TCP/IP model is simpler and commonly used in today’s Internet and networking systems</a:t>
            </a:r>
            <a:r>
              <a:rPr lang="en-US" dirty="0" smtClean="0"/>
              <a:t>.</a:t>
            </a:r>
          </a:p>
          <a:p>
            <a:pPr fontAlgn="base"/>
            <a:r>
              <a:rPr lang="en-US" dirty="0"/>
              <a:t>One of its main goals is to make sure that the data sent by the sender arrives safely and correctly at the receiver’s end. To do this, the data is broken down into smaller parts called packets before being sent. These packets travel separately and are reassembled in the correct order when they reach the destination.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0" y="2019300"/>
            <a:ext cx="5435600" cy="4301363"/>
          </a:xfrm>
          <a:prstGeom prst="rect">
            <a:avLst/>
          </a:prstGeom>
        </p:spPr>
      </p:pic>
    </p:spTree>
    <p:extLst>
      <p:ext uri="{BB962C8B-B14F-4D97-AF65-F5344CB8AC3E}">
        <p14:creationId xmlns:p14="http://schemas.microsoft.com/office/powerpoint/2010/main" val="167107069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Layers of TCP/IP Model</a:t>
            </a:r>
            <a:endParaRPr lang="en-US" dirty="0"/>
          </a:p>
        </p:txBody>
      </p:sp>
      <p:sp>
        <p:nvSpPr>
          <p:cNvPr id="3" name="Content Placeholder 2"/>
          <p:cNvSpPr>
            <a:spLocks noGrp="1"/>
          </p:cNvSpPr>
          <p:nvPr>
            <p:ph idx="1"/>
          </p:nvPr>
        </p:nvSpPr>
        <p:spPr/>
        <p:txBody>
          <a:bodyPr>
            <a:noAutofit/>
          </a:bodyPr>
          <a:lstStyle/>
          <a:p>
            <a:pPr fontAlgn="base"/>
            <a:r>
              <a:rPr lang="en-US" sz="1200" b="1" dirty="0"/>
              <a:t>1. Application Layer</a:t>
            </a:r>
          </a:p>
          <a:p>
            <a:pPr fontAlgn="base"/>
            <a:r>
              <a:rPr lang="en-US" sz="1200" dirty="0"/>
              <a:t>The Application Layer is the top layer of the TCP/IP model and the one closest to the user. This is where all the apps you use like web browsers, email clients, or file sharing tools connect to the network.</a:t>
            </a:r>
          </a:p>
          <a:p>
            <a:pPr fontAlgn="base"/>
            <a:r>
              <a:rPr lang="en-US" sz="1200" dirty="0"/>
              <a:t>It acts like a bridge between your software (like Chrome, Gmail, or WhatsApp) and the lower layers of the network that actually send and receive data.</a:t>
            </a:r>
          </a:p>
          <a:p>
            <a:pPr fontAlgn="base"/>
            <a:r>
              <a:rPr lang="en-US" sz="1200" dirty="0"/>
              <a:t>It supports different protocols like HTTP (for websites), FTP (for file transfers), SMTP (for emails), and DNS (for finding website addresses).</a:t>
            </a:r>
          </a:p>
          <a:p>
            <a:pPr fontAlgn="base"/>
            <a:r>
              <a:rPr lang="en-US" sz="1200" dirty="0"/>
              <a:t>It also manages things like data formatting, so both sender and receiver understand the data, encryption to keep data safe, and session management to keep track of ongoing connections.</a:t>
            </a:r>
          </a:p>
          <a:p>
            <a:pPr fontAlgn="base"/>
            <a:r>
              <a:rPr lang="en-US" sz="1200" b="1" dirty="0"/>
              <a:t>2. Transport Layer</a:t>
            </a:r>
          </a:p>
          <a:p>
            <a:pPr fontAlgn="base"/>
            <a:r>
              <a:rPr lang="en-US" sz="1200" dirty="0"/>
              <a:t>The Transport Layer is responsible for making sure that data is sent reliably and in the correct order between devices. It checks that the data you send like a message, file, or video arrives safely and completely.</a:t>
            </a:r>
          </a:p>
          <a:p>
            <a:pPr fontAlgn="base"/>
            <a:r>
              <a:rPr lang="en-US" sz="1200" b="1" dirty="0"/>
              <a:t>This layer uses two main protocols:</a:t>
            </a:r>
            <a:r>
              <a:rPr lang="en-US" sz="1200" dirty="0"/>
              <a:t> TCP and UDP, depending on whether the communication needs to be reliable or faster.</a:t>
            </a:r>
          </a:p>
          <a:p>
            <a:pPr fontAlgn="base"/>
            <a:r>
              <a:rPr lang="en-US" sz="1200" dirty="0"/>
              <a:t>TCP is used when data must be correct and complete, like when loading a web page or downloading a file.</a:t>
            </a:r>
          </a:p>
          <a:p>
            <a:pPr fontAlgn="base"/>
            <a:r>
              <a:rPr lang="en-US" sz="1200" dirty="0"/>
              <a:t>It checks for errors, resends missing pieces, and keeps everything in order. On the other hand, UDP (User Datagram Protocol) is faster but doesn’t guarantee delivery useful for things like live video or online games where speed matters more than perfect accuracy.</a:t>
            </a:r>
          </a:p>
        </p:txBody>
      </p:sp>
    </p:spTree>
    <p:extLst>
      <p:ext uri="{BB962C8B-B14F-4D97-AF65-F5344CB8AC3E}">
        <p14:creationId xmlns:p14="http://schemas.microsoft.com/office/powerpoint/2010/main" val="106639872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44572" y="2076165"/>
            <a:ext cx="9601196" cy="3318936"/>
          </a:xfrm>
        </p:spPr>
        <p:txBody>
          <a:bodyPr>
            <a:noAutofit/>
          </a:bodyPr>
          <a:lstStyle/>
          <a:p>
            <a:pPr fontAlgn="base"/>
            <a:r>
              <a:rPr lang="en-US" sz="1400" b="1" dirty="0"/>
              <a:t>3. Internet Layer</a:t>
            </a:r>
          </a:p>
          <a:p>
            <a:pPr fontAlgn="base"/>
            <a:r>
              <a:rPr lang="en-US" sz="1400" dirty="0"/>
              <a:t>The Internet Layer is used for finding the best path for data to travel across different networks so it can reach the right destination. It works like a traffic controller, helping data packets move from one network to another until they reach the correct device.</a:t>
            </a:r>
          </a:p>
          <a:p>
            <a:pPr fontAlgn="base"/>
            <a:r>
              <a:rPr lang="en-US" sz="1400" dirty="0"/>
              <a:t>This layer uses the Internet Protocol (IP) to give every device a unique IP address, which helps identify where data should go.</a:t>
            </a:r>
          </a:p>
          <a:p>
            <a:pPr fontAlgn="base"/>
            <a:r>
              <a:rPr lang="en-US" sz="1400" dirty="0"/>
              <a:t>The main job of this layer is routing deciding the best way for data to travel.</a:t>
            </a:r>
          </a:p>
          <a:p>
            <a:pPr fontAlgn="base"/>
            <a:r>
              <a:rPr lang="en-US" sz="1400" dirty="0"/>
              <a:t>It also takes care of packet forwarding (moving data from one point to another), fragmentation (breaking large data into smaller parts), and addressing.</a:t>
            </a:r>
          </a:p>
          <a:p>
            <a:pPr fontAlgn="base"/>
            <a:r>
              <a:rPr lang="en-US" sz="1400" b="1" dirty="0"/>
              <a:t>4. Network Access Layer</a:t>
            </a:r>
          </a:p>
          <a:p>
            <a:pPr fontAlgn="base"/>
            <a:r>
              <a:rPr lang="en-US" sz="1400" dirty="0"/>
              <a:t>The Network Access Layer is the bottom layer of the TCP/IP model. It deals with the actual physical connection between devices on the same local network like computers connected by cables or communicating through Wi-Fi.</a:t>
            </a:r>
          </a:p>
          <a:p>
            <a:pPr fontAlgn="base"/>
            <a:r>
              <a:rPr lang="en-US" sz="1400" dirty="0"/>
              <a:t>This layer makes sure that data can travel over the hardware, such as wires, switches, or wireless signals.</a:t>
            </a:r>
          </a:p>
          <a:p>
            <a:pPr fontAlgn="base"/>
            <a:r>
              <a:rPr lang="en-US" sz="1400" dirty="0"/>
              <a:t>It also handles important tasks like using MAC addresses to identify devices, creating frames (the format used to send data over the physical link), and checking for basic errors during transmission.</a:t>
            </a:r>
          </a:p>
          <a:p>
            <a:endParaRPr lang="en-US" sz="1400" dirty="0"/>
          </a:p>
        </p:txBody>
      </p:sp>
    </p:spTree>
    <p:extLst>
      <p:ext uri="{BB962C8B-B14F-4D97-AF65-F5344CB8AC3E}">
        <p14:creationId xmlns:p14="http://schemas.microsoft.com/office/powerpoint/2010/main" val="233049036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TCP/IP Layer</a:t>
            </a:r>
            <a:endParaRPr lang="en-US" dirty="0"/>
          </a:p>
        </p:txBody>
      </p:sp>
      <p:sp>
        <p:nvSpPr>
          <p:cNvPr id="3" name="Content Placeholder 2"/>
          <p:cNvSpPr>
            <a:spLocks noGrp="1"/>
          </p:cNvSpPr>
          <p:nvPr>
            <p:ph idx="1"/>
          </p:nvPr>
        </p:nvSpPr>
        <p:spPr/>
        <p:txBody>
          <a:bodyPr>
            <a:normAutofit fontScale="62500" lnSpcReduction="20000"/>
          </a:bodyPr>
          <a:lstStyle/>
          <a:p>
            <a:pPr marL="0" indent="0" fontAlgn="base">
              <a:buNone/>
            </a:pPr>
            <a:r>
              <a:rPr lang="en-US" sz="3200" b="1" dirty="0"/>
              <a:t>When Sending Data (From Sender to Receiver)</a:t>
            </a:r>
          </a:p>
          <a:p>
            <a:pPr fontAlgn="base"/>
            <a:r>
              <a:rPr lang="en-US" b="1" dirty="0"/>
              <a:t>Application Layer</a:t>
            </a:r>
            <a:r>
              <a:rPr lang="en-US" dirty="0"/>
              <a:t>: Prepares user data using protocols like HTTP, FTP, or SMTP.</a:t>
            </a:r>
          </a:p>
          <a:p>
            <a:pPr fontAlgn="base"/>
            <a:r>
              <a:rPr lang="en-US" b="1" dirty="0"/>
              <a:t>Transport Layer (TCP/UDP)</a:t>
            </a:r>
            <a:r>
              <a:rPr lang="en-US" dirty="0"/>
              <a:t>: Breaks data into segments and ensures reliable (TCP) or fast (UDP) delivery.</a:t>
            </a:r>
          </a:p>
          <a:p>
            <a:pPr fontAlgn="base"/>
            <a:r>
              <a:rPr lang="en-US" b="1" dirty="0"/>
              <a:t>Internet Layer (IP)</a:t>
            </a:r>
            <a:r>
              <a:rPr lang="en-US" dirty="0"/>
              <a:t>: Adds IP addresses and decides the best route for each packet.</a:t>
            </a:r>
          </a:p>
          <a:p>
            <a:pPr fontAlgn="base"/>
            <a:r>
              <a:rPr lang="en-US" b="1" dirty="0"/>
              <a:t>Link Layer (Network Access Layer)</a:t>
            </a:r>
            <a:r>
              <a:rPr lang="en-US" dirty="0"/>
              <a:t>: Converts packets into frames and sends them over the physical network.</a:t>
            </a:r>
          </a:p>
          <a:p>
            <a:pPr marL="0" indent="0" fontAlgn="base">
              <a:buNone/>
            </a:pPr>
            <a:r>
              <a:rPr lang="en-US" sz="3200" b="1" dirty="0"/>
              <a:t>When Receiving Data (At the Destination)</a:t>
            </a:r>
          </a:p>
          <a:p>
            <a:pPr fontAlgn="base"/>
            <a:r>
              <a:rPr lang="en-US" b="1" dirty="0"/>
              <a:t>Link Layer</a:t>
            </a:r>
            <a:r>
              <a:rPr lang="en-US" dirty="0"/>
              <a:t>: Receives bits from the network and rebuilds frames to pass to the next layer.</a:t>
            </a:r>
          </a:p>
          <a:p>
            <a:pPr fontAlgn="base"/>
            <a:r>
              <a:rPr lang="en-US" b="1" dirty="0"/>
              <a:t>Internet Layer</a:t>
            </a:r>
            <a:r>
              <a:rPr lang="en-US" dirty="0"/>
              <a:t>: Checks the IP address, removes the IP header, and forwards data to the Transport Layer.</a:t>
            </a:r>
          </a:p>
          <a:p>
            <a:pPr fontAlgn="base"/>
            <a:r>
              <a:rPr lang="en-US" b="1" dirty="0"/>
              <a:t>Transport Layer</a:t>
            </a:r>
            <a:r>
              <a:rPr lang="en-US" dirty="0"/>
              <a:t>: Reassembles segments, checks for errors, and ensures data is complete.</a:t>
            </a:r>
          </a:p>
          <a:p>
            <a:pPr fontAlgn="base"/>
            <a:r>
              <a:rPr lang="en-US" b="1" dirty="0"/>
              <a:t>Application Layer</a:t>
            </a:r>
            <a:r>
              <a:rPr lang="en-US" dirty="0"/>
              <a:t>: Delivers the final data to the correct application (e.g., displays a web page in the browser).</a:t>
            </a:r>
          </a:p>
        </p:txBody>
      </p:sp>
    </p:spTree>
    <p:extLst>
      <p:ext uri="{BB962C8B-B14F-4D97-AF65-F5344CB8AC3E}">
        <p14:creationId xmlns:p14="http://schemas.microsoft.com/office/powerpoint/2010/main" val="181400362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Why TCP/IP is Used Over the OSI Model</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34193261"/>
              </p:ext>
            </p:extLst>
          </p:nvPr>
        </p:nvGraphicFramePr>
        <p:xfrm>
          <a:off x="1295400" y="2649220"/>
          <a:ext cx="6413500" cy="3333242"/>
        </p:xfrm>
        <a:graphic>
          <a:graphicData uri="http://schemas.openxmlformats.org/drawingml/2006/table">
            <a:tbl>
              <a:tblPr/>
              <a:tblGrid>
                <a:gridCol w="2010582">
                  <a:extLst>
                    <a:ext uri="{9D8B030D-6E8A-4147-A177-3AD203B41FA5}">
                      <a16:colId xmlns:a16="http://schemas.microsoft.com/office/drawing/2014/main" val="1433809977"/>
                    </a:ext>
                  </a:extLst>
                </a:gridCol>
                <a:gridCol w="4402918">
                  <a:extLst>
                    <a:ext uri="{9D8B030D-6E8A-4147-A177-3AD203B41FA5}">
                      <a16:colId xmlns:a16="http://schemas.microsoft.com/office/drawing/2014/main" val="1748475254"/>
                    </a:ext>
                  </a:extLst>
                </a:gridCol>
              </a:tblGrid>
              <a:tr h="0">
                <a:tc>
                  <a:txBody>
                    <a:bodyPr/>
                    <a:lstStyle/>
                    <a:p>
                      <a:pPr algn="ctr" fontAlgn="base"/>
                      <a:r>
                        <a:rPr lang="en-US" sz="1400" b="1">
                          <a:effectLst/>
                        </a:rPr>
                        <a:t>Reason</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effectLst/>
                        </a:rPr>
                        <a:t>Explanation</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317022042"/>
                  </a:ext>
                </a:extLst>
              </a:tr>
              <a:tr h="0">
                <a:tc>
                  <a:txBody>
                    <a:bodyPr/>
                    <a:lstStyle/>
                    <a:p>
                      <a:pPr algn="ctr" fontAlgn="base"/>
                      <a:r>
                        <a:rPr lang="en-US" b="1">
                          <a:effectLst/>
                        </a:rPr>
                        <a:t>Simpler Structure</a:t>
                      </a:r>
                    </a:p>
                  </a:txBody>
                  <a:tcPr marL="38100" marR="38100" marT="38227" marB="38227"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a:effectLst/>
                        </a:rPr>
                        <a:t>TCP/IP has only 4 layers, compared to 7 in OSI, making it easier to implement and understand in real systems.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92253635"/>
                  </a:ext>
                </a:extLst>
              </a:tr>
              <a:tr h="0">
                <a:tc>
                  <a:txBody>
                    <a:bodyPr/>
                    <a:lstStyle/>
                    <a:p>
                      <a:pPr algn="ctr" fontAlgn="base"/>
                      <a:r>
                        <a:rPr lang="en-US" b="1">
                          <a:effectLst/>
                        </a:rPr>
                        <a:t>Protocol-Driven Design</a:t>
                      </a:r>
                    </a:p>
                  </a:txBody>
                  <a:tcPr marL="38100" marR="38100" marT="38227" marB="38227"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a:effectLst/>
                        </a:rPr>
                        <a:t>TCP/IP was designed based on working protocols, while the OSI model is more of a theoretical framework.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37124107"/>
                  </a:ext>
                </a:extLst>
              </a:tr>
              <a:tr h="0">
                <a:tc>
                  <a:txBody>
                    <a:bodyPr/>
                    <a:lstStyle/>
                    <a:p>
                      <a:pPr algn="ctr" fontAlgn="base"/>
                      <a:r>
                        <a:rPr lang="en-US" b="1">
                          <a:effectLst/>
                        </a:rPr>
                        <a:t>Flexibility and Robustness</a:t>
                      </a:r>
                    </a:p>
                  </a:txBody>
                  <a:tcPr marL="38100" marR="38100" marT="38227" marB="38227"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a:effectLst/>
                        </a:rPr>
                        <a:t>TCP/IP adapts well to different hardware and networks and includes error handling, routing, and congestion control.</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99135649"/>
                  </a:ext>
                </a:extLst>
              </a:tr>
              <a:tr h="0">
                <a:tc>
                  <a:txBody>
                    <a:bodyPr/>
                    <a:lstStyle/>
                    <a:p>
                      <a:pPr algn="ctr" fontAlgn="base"/>
                      <a:r>
                        <a:rPr lang="en-US" b="1">
                          <a:effectLst/>
                        </a:rPr>
                        <a:t>Open Standard</a:t>
                      </a:r>
                    </a:p>
                  </a:txBody>
                  <a:tcPr marL="38100" marR="38100" marT="38227" marB="38227"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dirty="0">
                          <a:effectLst/>
                        </a:rPr>
                        <a:t>TCP/IP is open, free to use, and not controlled by any single organization, helping it gain universal acceptance.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0274798"/>
                  </a:ext>
                </a:extLst>
              </a:tr>
              <a:tr h="0">
                <a:tc>
                  <a:txBody>
                    <a:bodyPr/>
                    <a:lstStyle/>
                    <a:p>
                      <a:pPr algn="ctr" fontAlgn="base"/>
                      <a:r>
                        <a:rPr lang="en-US" b="1">
                          <a:effectLst/>
                        </a:rPr>
                        <a:t>Actual Use vs Conceptual Model</a:t>
                      </a:r>
                    </a:p>
                  </a:txBody>
                  <a:tcPr marL="38100" marR="38100" marT="38227" marB="38227"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250" b="0" dirty="0">
                          <a:effectLst/>
                        </a:rPr>
                        <a:t>The OSI model is great for education and design principles, but TCP/IP is the one actually used in real-world networking.</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13796445"/>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4000" y="2908299"/>
            <a:ext cx="3708400" cy="2514600"/>
          </a:xfrm>
          <a:prstGeom prst="rect">
            <a:avLst/>
          </a:prstGeom>
        </p:spPr>
      </p:pic>
    </p:spTree>
    <p:extLst>
      <p:ext uri="{BB962C8B-B14F-4D97-AF65-F5344CB8AC3E}">
        <p14:creationId xmlns:p14="http://schemas.microsoft.com/office/powerpoint/2010/main" val="38123933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1741290" y="2557464"/>
          <a:ext cx="8709420" cy="3317873"/>
        </p:xfrm>
        <a:graphic>
          <a:graphicData uri="http://schemas.openxmlformats.org/drawingml/2006/table">
            <a:tbl>
              <a:tblPr/>
              <a:tblGrid>
                <a:gridCol w="2903140">
                  <a:extLst>
                    <a:ext uri="{9D8B030D-6E8A-4147-A177-3AD203B41FA5}">
                      <a16:colId xmlns:a16="http://schemas.microsoft.com/office/drawing/2014/main" val="2085912130"/>
                    </a:ext>
                  </a:extLst>
                </a:gridCol>
                <a:gridCol w="2903140">
                  <a:extLst>
                    <a:ext uri="{9D8B030D-6E8A-4147-A177-3AD203B41FA5}">
                      <a16:colId xmlns:a16="http://schemas.microsoft.com/office/drawing/2014/main" val="1766833415"/>
                    </a:ext>
                  </a:extLst>
                </a:gridCol>
                <a:gridCol w="2903140">
                  <a:extLst>
                    <a:ext uri="{9D8B030D-6E8A-4147-A177-3AD203B41FA5}">
                      <a16:colId xmlns:a16="http://schemas.microsoft.com/office/drawing/2014/main" val="3684049165"/>
                    </a:ext>
                  </a:extLst>
                </a:gridCol>
              </a:tblGrid>
              <a:tr h="331787">
                <a:tc>
                  <a:txBody>
                    <a:bodyPr/>
                    <a:lstStyle/>
                    <a:p>
                      <a:r>
                        <a:rPr lang="en-US" sz="1600" b="1"/>
                        <a:t>Aspect</a:t>
                      </a:r>
                      <a:endParaRPr lang="en-US" sz="1600"/>
                    </a:p>
                  </a:txBody>
                  <a:tcPr marL="82947" marR="82947" marT="41473" marB="41473" anchor="ctr">
                    <a:lnL>
                      <a:noFill/>
                    </a:lnL>
                    <a:lnR>
                      <a:noFill/>
                    </a:lnR>
                    <a:lnT>
                      <a:noFill/>
                    </a:lnT>
                    <a:lnB>
                      <a:noFill/>
                    </a:lnB>
                  </a:tcPr>
                </a:tc>
                <a:tc>
                  <a:txBody>
                    <a:bodyPr/>
                    <a:lstStyle/>
                    <a:p>
                      <a:r>
                        <a:rPr lang="en-US" sz="1600" b="1"/>
                        <a:t>OSI Model</a:t>
                      </a:r>
                      <a:endParaRPr lang="en-US" sz="1600"/>
                    </a:p>
                  </a:txBody>
                  <a:tcPr marL="82947" marR="82947" marT="41473" marB="41473" anchor="ctr">
                    <a:lnL>
                      <a:noFill/>
                    </a:lnL>
                    <a:lnR>
                      <a:noFill/>
                    </a:lnR>
                    <a:lnT>
                      <a:noFill/>
                    </a:lnT>
                    <a:lnB>
                      <a:noFill/>
                    </a:lnB>
                  </a:tcPr>
                </a:tc>
                <a:tc>
                  <a:txBody>
                    <a:bodyPr/>
                    <a:lstStyle/>
                    <a:p>
                      <a:r>
                        <a:rPr lang="en-US" sz="1600" b="1"/>
                        <a:t>TCP/IP Model</a:t>
                      </a:r>
                      <a:endParaRPr lang="en-US" sz="1600"/>
                    </a:p>
                  </a:txBody>
                  <a:tcPr marL="82947" marR="82947" marT="41473" marB="41473" anchor="ctr">
                    <a:lnL>
                      <a:noFill/>
                    </a:lnL>
                    <a:lnR>
                      <a:noFill/>
                    </a:lnR>
                    <a:lnT>
                      <a:noFill/>
                    </a:lnT>
                    <a:lnB>
                      <a:noFill/>
                    </a:lnB>
                  </a:tcPr>
                </a:tc>
                <a:extLst>
                  <a:ext uri="{0D108BD9-81ED-4DB2-BD59-A6C34878D82A}">
                    <a16:rowId xmlns:a16="http://schemas.microsoft.com/office/drawing/2014/main" val="510130396"/>
                  </a:ext>
                </a:extLst>
              </a:tr>
              <a:tr h="331787">
                <a:tc>
                  <a:txBody>
                    <a:bodyPr/>
                    <a:lstStyle/>
                    <a:p>
                      <a:r>
                        <a:rPr lang="en-US" sz="1600" b="1"/>
                        <a:t>Number of Layers</a:t>
                      </a:r>
                      <a:endParaRPr lang="en-US" sz="1600"/>
                    </a:p>
                  </a:txBody>
                  <a:tcPr marL="82947" marR="82947" marT="41473" marB="41473" anchor="ctr">
                    <a:lnL>
                      <a:noFill/>
                    </a:lnL>
                    <a:lnR>
                      <a:noFill/>
                    </a:lnR>
                    <a:lnT>
                      <a:noFill/>
                    </a:lnT>
                    <a:lnB>
                      <a:noFill/>
                    </a:lnB>
                  </a:tcPr>
                </a:tc>
                <a:tc>
                  <a:txBody>
                    <a:bodyPr/>
                    <a:lstStyle/>
                    <a:p>
                      <a:r>
                        <a:rPr lang="en-US" sz="1600"/>
                        <a:t>7 Layers</a:t>
                      </a:r>
                    </a:p>
                  </a:txBody>
                  <a:tcPr marL="82947" marR="82947" marT="41473" marB="41473" anchor="ctr">
                    <a:lnL>
                      <a:noFill/>
                    </a:lnL>
                    <a:lnR>
                      <a:noFill/>
                    </a:lnR>
                    <a:lnT>
                      <a:noFill/>
                    </a:lnT>
                    <a:lnB>
                      <a:noFill/>
                    </a:lnB>
                  </a:tcPr>
                </a:tc>
                <a:tc>
                  <a:txBody>
                    <a:bodyPr/>
                    <a:lstStyle/>
                    <a:p>
                      <a:r>
                        <a:rPr lang="en-US" sz="1600"/>
                        <a:t>4 Layers</a:t>
                      </a:r>
                    </a:p>
                  </a:txBody>
                  <a:tcPr marL="82947" marR="82947" marT="41473" marB="41473" anchor="ctr">
                    <a:lnL>
                      <a:noFill/>
                    </a:lnL>
                    <a:lnR>
                      <a:noFill/>
                    </a:lnR>
                    <a:lnT>
                      <a:noFill/>
                    </a:lnT>
                    <a:lnB>
                      <a:noFill/>
                    </a:lnB>
                  </a:tcPr>
                </a:tc>
                <a:extLst>
                  <a:ext uri="{0D108BD9-81ED-4DB2-BD59-A6C34878D82A}">
                    <a16:rowId xmlns:a16="http://schemas.microsoft.com/office/drawing/2014/main" val="3164364640"/>
                  </a:ext>
                </a:extLst>
              </a:tr>
              <a:tr h="580628">
                <a:tc>
                  <a:txBody>
                    <a:bodyPr/>
                    <a:lstStyle/>
                    <a:p>
                      <a:r>
                        <a:rPr lang="en-US" sz="1600" b="1"/>
                        <a:t>Layer Structure</a:t>
                      </a:r>
                      <a:endParaRPr lang="en-US" sz="1600"/>
                    </a:p>
                  </a:txBody>
                  <a:tcPr marL="82947" marR="82947" marT="41473" marB="41473" anchor="ctr">
                    <a:lnL>
                      <a:noFill/>
                    </a:lnL>
                    <a:lnR>
                      <a:noFill/>
                    </a:lnR>
                    <a:lnT>
                      <a:noFill/>
                    </a:lnT>
                    <a:lnB>
                      <a:noFill/>
                    </a:lnB>
                  </a:tcPr>
                </a:tc>
                <a:tc>
                  <a:txBody>
                    <a:bodyPr/>
                    <a:lstStyle/>
                    <a:p>
                      <a:r>
                        <a:rPr lang="en-US" sz="1600"/>
                        <a:t>More detailed and strict separation</a:t>
                      </a:r>
                    </a:p>
                  </a:txBody>
                  <a:tcPr marL="82947" marR="82947" marT="41473" marB="41473" anchor="ctr">
                    <a:lnL>
                      <a:noFill/>
                    </a:lnL>
                    <a:lnR>
                      <a:noFill/>
                    </a:lnR>
                    <a:lnT>
                      <a:noFill/>
                    </a:lnT>
                    <a:lnB>
                      <a:noFill/>
                    </a:lnB>
                  </a:tcPr>
                </a:tc>
                <a:tc>
                  <a:txBody>
                    <a:bodyPr/>
                    <a:lstStyle/>
                    <a:p>
                      <a:r>
                        <a:rPr lang="en-US" sz="1600"/>
                        <a:t>More flexible, fewer layers</a:t>
                      </a:r>
                    </a:p>
                  </a:txBody>
                  <a:tcPr marL="82947" marR="82947" marT="41473" marB="41473" anchor="ctr">
                    <a:lnL>
                      <a:noFill/>
                    </a:lnL>
                    <a:lnR>
                      <a:noFill/>
                    </a:lnR>
                    <a:lnT>
                      <a:noFill/>
                    </a:lnT>
                    <a:lnB>
                      <a:noFill/>
                    </a:lnB>
                  </a:tcPr>
                </a:tc>
                <a:extLst>
                  <a:ext uri="{0D108BD9-81ED-4DB2-BD59-A6C34878D82A}">
                    <a16:rowId xmlns:a16="http://schemas.microsoft.com/office/drawing/2014/main" val="4242943221"/>
                  </a:ext>
                </a:extLst>
              </a:tr>
              <a:tr h="580628">
                <a:tc>
                  <a:txBody>
                    <a:bodyPr/>
                    <a:lstStyle/>
                    <a:p>
                      <a:r>
                        <a:rPr lang="en-US" sz="1600" b="1"/>
                        <a:t>Development</a:t>
                      </a:r>
                      <a:endParaRPr lang="en-US" sz="1600"/>
                    </a:p>
                  </a:txBody>
                  <a:tcPr marL="82947" marR="82947" marT="41473" marB="41473" anchor="ctr">
                    <a:lnL>
                      <a:noFill/>
                    </a:lnL>
                    <a:lnR>
                      <a:noFill/>
                    </a:lnR>
                    <a:lnT>
                      <a:noFill/>
                    </a:lnT>
                    <a:lnB>
                      <a:noFill/>
                    </a:lnB>
                  </a:tcPr>
                </a:tc>
                <a:tc>
                  <a:txBody>
                    <a:bodyPr/>
                    <a:lstStyle/>
                    <a:p>
                      <a:r>
                        <a:rPr lang="en-US" sz="1600"/>
                        <a:t>ISO (theoretical, reference model)</a:t>
                      </a:r>
                    </a:p>
                  </a:txBody>
                  <a:tcPr marL="82947" marR="82947" marT="41473" marB="41473" anchor="ctr">
                    <a:lnL>
                      <a:noFill/>
                    </a:lnL>
                    <a:lnR>
                      <a:noFill/>
                    </a:lnR>
                    <a:lnT>
                      <a:noFill/>
                    </a:lnT>
                    <a:lnB>
                      <a:noFill/>
                    </a:lnB>
                  </a:tcPr>
                </a:tc>
                <a:tc>
                  <a:txBody>
                    <a:bodyPr/>
                    <a:lstStyle/>
                    <a:p>
                      <a:r>
                        <a:rPr lang="en-US" sz="1600"/>
                        <a:t>U.S. Department of Defense (practical, used in the real world)</a:t>
                      </a:r>
                    </a:p>
                  </a:txBody>
                  <a:tcPr marL="82947" marR="82947" marT="41473" marB="41473" anchor="ctr">
                    <a:lnL>
                      <a:noFill/>
                    </a:lnL>
                    <a:lnR>
                      <a:noFill/>
                    </a:lnR>
                    <a:lnT>
                      <a:noFill/>
                    </a:lnT>
                    <a:lnB>
                      <a:noFill/>
                    </a:lnB>
                  </a:tcPr>
                </a:tc>
                <a:extLst>
                  <a:ext uri="{0D108BD9-81ED-4DB2-BD59-A6C34878D82A}">
                    <a16:rowId xmlns:a16="http://schemas.microsoft.com/office/drawing/2014/main" val="1266964902"/>
                  </a:ext>
                </a:extLst>
              </a:tr>
              <a:tr h="580628">
                <a:tc>
                  <a:txBody>
                    <a:bodyPr/>
                    <a:lstStyle/>
                    <a:p>
                      <a:r>
                        <a:rPr lang="en-US" sz="1600" b="1"/>
                        <a:t>Protocol</a:t>
                      </a:r>
                      <a:endParaRPr lang="en-US" sz="1600"/>
                    </a:p>
                  </a:txBody>
                  <a:tcPr marL="82947" marR="82947" marT="41473" marB="41473" anchor="ctr">
                    <a:lnL>
                      <a:noFill/>
                    </a:lnL>
                    <a:lnR>
                      <a:noFill/>
                    </a:lnR>
                    <a:lnT>
                      <a:noFill/>
                    </a:lnT>
                    <a:lnB>
                      <a:noFill/>
                    </a:lnB>
                  </a:tcPr>
                </a:tc>
                <a:tc>
                  <a:txBody>
                    <a:bodyPr/>
                    <a:lstStyle/>
                    <a:p>
                      <a:r>
                        <a:rPr lang="en-US" sz="1600"/>
                        <a:t>Protocol-independent</a:t>
                      </a:r>
                    </a:p>
                  </a:txBody>
                  <a:tcPr marL="82947" marR="82947" marT="41473" marB="41473" anchor="ctr">
                    <a:lnL>
                      <a:noFill/>
                    </a:lnL>
                    <a:lnR>
                      <a:noFill/>
                    </a:lnR>
                    <a:lnT>
                      <a:noFill/>
                    </a:lnT>
                    <a:lnB>
                      <a:noFill/>
                    </a:lnB>
                  </a:tcPr>
                </a:tc>
                <a:tc>
                  <a:txBody>
                    <a:bodyPr/>
                    <a:lstStyle/>
                    <a:p>
                      <a:r>
                        <a:rPr lang="en-US" sz="1600"/>
                        <a:t>Protocol-dependent (specific protocols defined)</a:t>
                      </a:r>
                    </a:p>
                  </a:txBody>
                  <a:tcPr marL="82947" marR="82947" marT="41473" marB="41473" anchor="ctr">
                    <a:lnL>
                      <a:noFill/>
                    </a:lnL>
                    <a:lnR>
                      <a:noFill/>
                    </a:lnR>
                    <a:lnT>
                      <a:noFill/>
                    </a:lnT>
                    <a:lnB>
                      <a:noFill/>
                    </a:lnB>
                  </a:tcPr>
                </a:tc>
                <a:extLst>
                  <a:ext uri="{0D108BD9-81ED-4DB2-BD59-A6C34878D82A}">
                    <a16:rowId xmlns:a16="http://schemas.microsoft.com/office/drawing/2014/main" val="401672632"/>
                  </a:ext>
                </a:extLst>
              </a:tr>
              <a:tr h="580628">
                <a:tc>
                  <a:txBody>
                    <a:bodyPr/>
                    <a:lstStyle/>
                    <a:p>
                      <a:r>
                        <a:rPr lang="en-US" sz="1600" b="1"/>
                        <a:t>Application</a:t>
                      </a:r>
                      <a:endParaRPr lang="en-US" sz="1600"/>
                    </a:p>
                  </a:txBody>
                  <a:tcPr marL="82947" marR="82947" marT="41473" marB="41473" anchor="ctr">
                    <a:lnL>
                      <a:noFill/>
                    </a:lnL>
                    <a:lnR>
                      <a:noFill/>
                    </a:lnR>
                    <a:lnT>
                      <a:noFill/>
                    </a:lnT>
                    <a:lnB>
                      <a:noFill/>
                    </a:lnB>
                  </a:tcPr>
                </a:tc>
                <a:tc>
                  <a:txBody>
                    <a:bodyPr/>
                    <a:lstStyle/>
                    <a:p>
                      <a:r>
                        <a:rPr lang="en-US" sz="1600"/>
                        <a:t>Used as a guide for designing networks</a:t>
                      </a:r>
                    </a:p>
                  </a:txBody>
                  <a:tcPr marL="82947" marR="82947" marT="41473" marB="41473" anchor="ctr">
                    <a:lnL>
                      <a:noFill/>
                    </a:lnL>
                    <a:lnR>
                      <a:noFill/>
                    </a:lnR>
                    <a:lnT>
                      <a:noFill/>
                    </a:lnT>
                    <a:lnB>
                      <a:noFill/>
                    </a:lnB>
                  </a:tcPr>
                </a:tc>
                <a:tc>
                  <a:txBody>
                    <a:bodyPr/>
                    <a:lstStyle/>
                    <a:p>
                      <a:r>
                        <a:rPr lang="en-US" sz="1600"/>
                        <a:t>Used to develop actual Internet systems</a:t>
                      </a:r>
                    </a:p>
                  </a:txBody>
                  <a:tcPr marL="82947" marR="82947" marT="41473" marB="41473" anchor="ctr">
                    <a:lnL>
                      <a:noFill/>
                    </a:lnL>
                    <a:lnR>
                      <a:noFill/>
                    </a:lnR>
                    <a:lnT>
                      <a:noFill/>
                    </a:lnT>
                    <a:lnB>
                      <a:noFill/>
                    </a:lnB>
                  </a:tcPr>
                </a:tc>
                <a:extLst>
                  <a:ext uri="{0D108BD9-81ED-4DB2-BD59-A6C34878D82A}">
                    <a16:rowId xmlns:a16="http://schemas.microsoft.com/office/drawing/2014/main" val="2905806907"/>
                  </a:ext>
                </a:extLst>
              </a:tr>
              <a:tr h="331787">
                <a:tc>
                  <a:txBody>
                    <a:bodyPr/>
                    <a:lstStyle/>
                    <a:p>
                      <a:r>
                        <a:rPr lang="en-US" sz="1600" b="1"/>
                        <a:t>Examples of Protocols</a:t>
                      </a:r>
                      <a:endParaRPr lang="en-US" sz="1600"/>
                    </a:p>
                  </a:txBody>
                  <a:tcPr marL="82947" marR="82947" marT="41473" marB="41473" anchor="ctr">
                    <a:lnL>
                      <a:noFill/>
                    </a:lnL>
                    <a:lnR>
                      <a:noFill/>
                    </a:lnR>
                    <a:lnT>
                      <a:noFill/>
                    </a:lnT>
                    <a:lnB>
                      <a:noFill/>
                    </a:lnB>
                  </a:tcPr>
                </a:tc>
                <a:tc>
                  <a:txBody>
                    <a:bodyPr/>
                    <a:lstStyle/>
                    <a:p>
                      <a:r>
                        <a:rPr lang="en-US" sz="1600"/>
                        <a:t>HTTP, FTP, SMTP, TCP, IP</a:t>
                      </a:r>
                    </a:p>
                  </a:txBody>
                  <a:tcPr marL="82947" marR="82947" marT="41473" marB="41473" anchor="ctr">
                    <a:lnL>
                      <a:noFill/>
                    </a:lnL>
                    <a:lnR>
                      <a:noFill/>
                    </a:lnR>
                    <a:lnT>
                      <a:noFill/>
                    </a:lnT>
                    <a:lnB>
                      <a:noFill/>
                    </a:lnB>
                  </a:tcPr>
                </a:tc>
                <a:tc>
                  <a:txBody>
                    <a:bodyPr/>
                    <a:lstStyle/>
                    <a:p>
                      <a:r>
                        <a:rPr lang="en-US" sz="1600" dirty="0"/>
                        <a:t>TCP, IP, HTTP, DNS, FTP</a:t>
                      </a:r>
                    </a:p>
                  </a:txBody>
                  <a:tcPr marL="82947" marR="82947" marT="41473" marB="41473" anchor="ctr">
                    <a:lnL>
                      <a:noFill/>
                    </a:lnL>
                    <a:lnR>
                      <a:noFill/>
                    </a:lnR>
                    <a:lnT>
                      <a:noFill/>
                    </a:lnT>
                    <a:lnB>
                      <a:noFill/>
                    </a:lnB>
                  </a:tcPr>
                </a:tc>
                <a:extLst>
                  <a:ext uri="{0D108BD9-81ED-4DB2-BD59-A6C34878D82A}">
                    <a16:rowId xmlns:a16="http://schemas.microsoft.com/office/drawing/2014/main" val="2000474519"/>
                  </a:ext>
                </a:extLst>
              </a:tr>
            </a:tbl>
          </a:graphicData>
        </a:graphic>
      </p:graphicFrame>
    </p:spTree>
    <p:extLst>
      <p:ext uri="{BB962C8B-B14F-4D97-AF65-F5344CB8AC3E}">
        <p14:creationId xmlns:p14="http://schemas.microsoft.com/office/powerpoint/2010/main" val="308660322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Addressing at Different Layers</a:t>
            </a:r>
            <a:endParaRPr lang="en-US" dirty="0"/>
          </a:p>
        </p:txBody>
      </p:sp>
      <p:sp>
        <p:nvSpPr>
          <p:cNvPr id="3" name="Content Placeholder 2"/>
          <p:cNvSpPr>
            <a:spLocks noGrp="1"/>
          </p:cNvSpPr>
          <p:nvPr>
            <p:ph idx="1"/>
          </p:nvPr>
        </p:nvSpPr>
        <p:spPr>
          <a:xfrm>
            <a:off x="1295402" y="2208997"/>
            <a:ext cx="9601196" cy="3318936"/>
          </a:xfrm>
        </p:spPr>
        <p:txBody>
          <a:bodyPr>
            <a:normAutofit fontScale="25000" lnSpcReduction="20000"/>
          </a:bodyPr>
          <a:lstStyle/>
          <a:p>
            <a:pPr marL="0" indent="0">
              <a:buNone/>
            </a:pPr>
            <a:r>
              <a:rPr lang="en-US" sz="4000" b="1" dirty="0"/>
              <a:t>1. Application Layer (Layer 7)</a:t>
            </a:r>
            <a:endParaRPr lang="en-US" sz="4000" dirty="0"/>
          </a:p>
          <a:p>
            <a:r>
              <a:rPr lang="en-US" sz="4000" b="1" dirty="0"/>
              <a:t>Addressing </a:t>
            </a:r>
            <a:r>
              <a:rPr lang="en-US" sz="4000" b="1" dirty="0" smtClean="0"/>
              <a:t>Type:</a:t>
            </a:r>
            <a:r>
              <a:rPr lang="en-US" sz="4000" dirty="0"/>
              <a:t> </a:t>
            </a:r>
            <a:r>
              <a:rPr lang="en-US" sz="4000" b="1" dirty="0" smtClean="0"/>
              <a:t>Application </a:t>
            </a:r>
            <a:r>
              <a:rPr lang="en-US" sz="4000" b="1" dirty="0"/>
              <a:t>Addresses</a:t>
            </a:r>
            <a:r>
              <a:rPr lang="en-US" sz="4000" dirty="0"/>
              <a:t> (e.g., Domain Names, URLs)</a:t>
            </a:r>
          </a:p>
          <a:p>
            <a:r>
              <a:rPr lang="en-US" sz="4000" b="1" dirty="0" smtClean="0"/>
              <a:t>Explanation:</a:t>
            </a:r>
            <a:r>
              <a:rPr lang="en-US" sz="4000" dirty="0"/>
              <a:t> </a:t>
            </a:r>
            <a:r>
              <a:rPr lang="en-US" sz="4000" dirty="0" smtClean="0"/>
              <a:t>At </a:t>
            </a:r>
            <a:r>
              <a:rPr lang="en-US" sz="4000" dirty="0"/>
              <a:t>the </a:t>
            </a:r>
            <a:r>
              <a:rPr lang="en-US" sz="4000" b="1" dirty="0"/>
              <a:t>Application Layer</a:t>
            </a:r>
            <a:r>
              <a:rPr lang="en-US" sz="4000" dirty="0"/>
              <a:t>, addressing is more about identifying applications or services on devices. It includes things like:</a:t>
            </a:r>
          </a:p>
          <a:p>
            <a:pPr lvl="0"/>
            <a:r>
              <a:rPr lang="en-US" sz="4000" b="1" dirty="0"/>
              <a:t>Domain Names</a:t>
            </a:r>
            <a:r>
              <a:rPr lang="en-US" sz="4000" dirty="0"/>
              <a:t> (e.g., </a:t>
            </a:r>
            <a:r>
              <a:rPr lang="en-US" sz="4000" dirty="0" smtClean="0">
                <a:hlinkClick r:id="rId2"/>
              </a:rPr>
              <a:t>www.example.com</a:t>
            </a:r>
            <a:r>
              <a:rPr lang="en-US" sz="4000" dirty="0" smtClean="0"/>
              <a:t>), </a:t>
            </a:r>
            <a:r>
              <a:rPr lang="en-US" sz="4000" b="1" dirty="0" smtClean="0"/>
              <a:t>URLs</a:t>
            </a:r>
            <a:r>
              <a:rPr lang="en-US" sz="4000" dirty="0" smtClean="0"/>
              <a:t> </a:t>
            </a:r>
            <a:r>
              <a:rPr lang="en-US" sz="4000" dirty="0"/>
              <a:t>(Uniform Resource Locators) that specify the location of a web page or service</a:t>
            </a:r>
          </a:p>
          <a:p>
            <a:r>
              <a:rPr lang="en-US" sz="4000" dirty="0"/>
              <a:t>The </a:t>
            </a:r>
            <a:r>
              <a:rPr lang="en-US" sz="4000" b="1" dirty="0"/>
              <a:t>Application Layer</a:t>
            </a:r>
            <a:r>
              <a:rPr lang="en-US" sz="4000" dirty="0"/>
              <a:t> doesn’t directly deal with network-level addresses but works with higher-level identifiers such as web addresses, email addresses, and file paths to provide services to the user.</a:t>
            </a:r>
          </a:p>
          <a:p>
            <a:pPr marL="0" indent="0">
              <a:buNone/>
            </a:pPr>
            <a:r>
              <a:rPr lang="en-US" sz="4000" b="1" dirty="0"/>
              <a:t>2. Presentation Layer (Layer 6)</a:t>
            </a:r>
            <a:endParaRPr lang="en-US" sz="4000" dirty="0"/>
          </a:p>
          <a:p>
            <a:r>
              <a:rPr lang="en-US" sz="4000" b="1" dirty="0"/>
              <a:t>Addressing </a:t>
            </a:r>
            <a:r>
              <a:rPr lang="en-US" sz="4000" b="1" dirty="0" smtClean="0"/>
              <a:t>Type:</a:t>
            </a:r>
            <a:r>
              <a:rPr lang="en-US" sz="4000" dirty="0"/>
              <a:t> </a:t>
            </a:r>
            <a:r>
              <a:rPr lang="en-US" sz="4000" b="1" dirty="0" smtClean="0"/>
              <a:t>Data </a:t>
            </a:r>
            <a:r>
              <a:rPr lang="en-US" sz="4000" b="1" dirty="0"/>
              <a:t>Encoding Addressing</a:t>
            </a:r>
            <a:endParaRPr lang="en-US" sz="4000" dirty="0"/>
          </a:p>
          <a:p>
            <a:r>
              <a:rPr lang="en-US" sz="4000" b="1" dirty="0" smtClean="0"/>
              <a:t>Explanation:</a:t>
            </a:r>
            <a:r>
              <a:rPr lang="en-US" sz="4000" dirty="0"/>
              <a:t> </a:t>
            </a:r>
            <a:r>
              <a:rPr lang="en-US" sz="4000" dirty="0" smtClean="0"/>
              <a:t>At </a:t>
            </a:r>
            <a:r>
              <a:rPr lang="en-US" sz="4000" dirty="0"/>
              <a:t>the </a:t>
            </a:r>
            <a:r>
              <a:rPr lang="en-US" sz="4000" b="1" dirty="0"/>
              <a:t>Presentation Layer</a:t>
            </a:r>
            <a:r>
              <a:rPr lang="en-US" sz="4000" dirty="0"/>
              <a:t>, addressing mainly involves encoding and formatting data for the receiver.</a:t>
            </a:r>
            <a:br>
              <a:rPr lang="en-US" sz="4000" dirty="0"/>
            </a:br>
            <a:r>
              <a:rPr lang="en-US" sz="4000" dirty="0"/>
              <a:t>There is no "addressing" in the traditional sense here. This layer focuses on:</a:t>
            </a:r>
          </a:p>
          <a:p>
            <a:pPr lvl="0"/>
            <a:r>
              <a:rPr lang="en-US" sz="4000" b="1" dirty="0"/>
              <a:t>Data Translation</a:t>
            </a:r>
            <a:r>
              <a:rPr lang="en-US" sz="4000" dirty="0"/>
              <a:t> (converting between formats like EBCDIC to ASCII)</a:t>
            </a:r>
          </a:p>
          <a:p>
            <a:pPr lvl="0"/>
            <a:r>
              <a:rPr lang="en-US" sz="4000" b="1" dirty="0"/>
              <a:t>Encryption/Decryption</a:t>
            </a:r>
            <a:r>
              <a:rPr lang="en-US" sz="4000" dirty="0"/>
              <a:t> for secure transmission</a:t>
            </a:r>
          </a:p>
          <a:p>
            <a:pPr lvl="0"/>
            <a:r>
              <a:rPr lang="en-US" sz="4000" b="1" dirty="0"/>
              <a:t>Compression</a:t>
            </a:r>
            <a:r>
              <a:rPr lang="en-US" sz="4000" dirty="0"/>
              <a:t> to optimize data for </a:t>
            </a:r>
            <a:r>
              <a:rPr lang="en-US" sz="4000" dirty="0" smtClean="0"/>
              <a:t>transmission</a:t>
            </a:r>
          </a:p>
          <a:p>
            <a:pPr marL="0" indent="0">
              <a:buNone/>
            </a:pPr>
            <a:r>
              <a:rPr lang="en-US" sz="4000" b="1" dirty="0"/>
              <a:t>3. Session Layer (Layer 5)</a:t>
            </a:r>
            <a:endParaRPr lang="en-US" sz="4000" dirty="0"/>
          </a:p>
          <a:p>
            <a:r>
              <a:rPr lang="en-US" sz="4000" b="1" dirty="0"/>
              <a:t>Addressing </a:t>
            </a:r>
            <a:r>
              <a:rPr lang="en-US" sz="4000" b="1" dirty="0" smtClean="0"/>
              <a:t>Type:</a:t>
            </a:r>
            <a:r>
              <a:rPr lang="en-US" sz="4000" dirty="0"/>
              <a:t> </a:t>
            </a:r>
            <a:r>
              <a:rPr lang="en-US" sz="4000" b="1" dirty="0" smtClean="0"/>
              <a:t>Session </a:t>
            </a:r>
            <a:r>
              <a:rPr lang="en-US" sz="4000" b="1" dirty="0"/>
              <a:t>Identifiers</a:t>
            </a:r>
            <a:endParaRPr lang="en-US" sz="4000" dirty="0"/>
          </a:p>
          <a:p>
            <a:r>
              <a:rPr lang="en-US" sz="4000" b="1" dirty="0" smtClean="0"/>
              <a:t>Explanation:</a:t>
            </a:r>
            <a:r>
              <a:rPr lang="en-US" sz="4000" dirty="0"/>
              <a:t> </a:t>
            </a:r>
            <a:r>
              <a:rPr lang="en-US" sz="4000" dirty="0" smtClean="0"/>
              <a:t>At </a:t>
            </a:r>
            <a:r>
              <a:rPr lang="en-US" sz="4000" dirty="0"/>
              <a:t>the </a:t>
            </a:r>
            <a:r>
              <a:rPr lang="en-US" sz="4000" b="1" dirty="0"/>
              <a:t>Session Layer</a:t>
            </a:r>
            <a:r>
              <a:rPr lang="en-US" sz="4000" dirty="0"/>
              <a:t>, the concept of addressing is related to managing </a:t>
            </a:r>
            <a:r>
              <a:rPr lang="en-US" sz="4000" b="1" dirty="0"/>
              <a:t>sessions</a:t>
            </a:r>
            <a:r>
              <a:rPr lang="en-US" sz="4000" dirty="0"/>
              <a:t> between devices.</a:t>
            </a:r>
          </a:p>
          <a:p>
            <a:pPr lvl="0"/>
            <a:r>
              <a:rPr lang="en-US" sz="4000" dirty="0"/>
              <a:t>It ensures that data is transferred correctly between devices by managing </a:t>
            </a:r>
            <a:r>
              <a:rPr lang="en-US" sz="4000" b="1" dirty="0"/>
              <a:t>session IDs</a:t>
            </a:r>
            <a:r>
              <a:rPr lang="en-US" sz="4000" dirty="0"/>
              <a:t> (unique identifiers for communication sessions).</a:t>
            </a:r>
          </a:p>
          <a:p>
            <a:pPr lvl="0"/>
            <a:r>
              <a:rPr lang="en-US" sz="4000" dirty="0"/>
              <a:t>The session layer doesn’t assign network addresses but ensures </a:t>
            </a:r>
            <a:r>
              <a:rPr lang="en-US" sz="4000" b="1" dirty="0"/>
              <a:t>session establishment</a:t>
            </a:r>
            <a:r>
              <a:rPr lang="en-US" sz="4000" dirty="0"/>
              <a:t> and </a:t>
            </a:r>
            <a:r>
              <a:rPr lang="en-US" sz="4000" b="1" dirty="0"/>
              <a:t>termination</a:t>
            </a:r>
            <a:r>
              <a:rPr lang="en-US" sz="4000" dirty="0"/>
              <a:t> between devices.</a:t>
            </a:r>
          </a:p>
          <a:p>
            <a:pPr lvl="0"/>
            <a:endParaRPr lang="en-US" dirty="0"/>
          </a:p>
        </p:txBody>
      </p:sp>
    </p:spTree>
    <p:extLst>
      <p:ext uri="{BB962C8B-B14F-4D97-AF65-F5344CB8AC3E}">
        <p14:creationId xmlns:p14="http://schemas.microsoft.com/office/powerpoint/2010/main" val="285029753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147" y="905411"/>
            <a:ext cx="10329332" cy="4597401"/>
          </a:xfrm>
        </p:spPr>
        <p:txBody>
          <a:bodyPr>
            <a:noAutofit/>
          </a:bodyPr>
          <a:lstStyle/>
          <a:p>
            <a:pPr marL="0" indent="0">
              <a:buNone/>
            </a:pPr>
            <a:r>
              <a:rPr lang="en-US" sz="1000" b="1" dirty="0"/>
              <a:t>4. Transport Layer (Layer 4)</a:t>
            </a:r>
            <a:endParaRPr lang="en-US" sz="700" dirty="0"/>
          </a:p>
          <a:p>
            <a:r>
              <a:rPr lang="en-US" sz="1000" b="1" dirty="0"/>
              <a:t>Addressing </a:t>
            </a:r>
            <a:r>
              <a:rPr lang="en-US" sz="1000" b="1" dirty="0" smtClean="0"/>
              <a:t>Type:</a:t>
            </a:r>
            <a:r>
              <a:rPr lang="en-US" sz="800" dirty="0"/>
              <a:t> </a:t>
            </a:r>
            <a:r>
              <a:rPr lang="en-US" sz="1000" b="1" dirty="0" smtClean="0"/>
              <a:t>Port </a:t>
            </a:r>
            <a:r>
              <a:rPr lang="en-US" sz="1000" b="1" dirty="0"/>
              <a:t>Numbers</a:t>
            </a:r>
            <a:endParaRPr lang="en-US" sz="900" dirty="0"/>
          </a:p>
          <a:p>
            <a:r>
              <a:rPr lang="en-US" sz="1000" b="1" dirty="0" smtClean="0"/>
              <a:t>Explanation:</a:t>
            </a:r>
            <a:r>
              <a:rPr lang="en-US" sz="800" dirty="0"/>
              <a:t> </a:t>
            </a:r>
            <a:r>
              <a:rPr lang="en-US" sz="1000" dirty="0" smtClean="0"/>
              <a:t>At </a:t>
            </a:r>
            <a:r>
              <a:rPr lang="en-US" sz="1000" dirty="0"/>
              <a:t>the </a:t>
            </a:r>
            <a:r>
              <a:rPr lang="en-US" sz="1000" b="1" dirty="0"/>
              <a:t>Transport Layer</a:t>
            </a:r>
            <a:r>
              <a:rPr lang="en-US" sz="1000" dirty="0"/>
              <a:t>, addressing is done through </a:t>
            </a:r>
            <a:r>
              <a:rPr lang="en-US" sz="1000" b="1" dirty="0"/>
              <a:t>port </a:t>
            </a:r>
            <a:r>
              <a:rPr lang="en-US" sz="1000" b="1" dirty="0" smtClean="0"/>
              <a:t>numbers</a:t>
            </a:r>
            <a:r>
              <a:rPr lang="en-US" sz="1000" dirty="0" smtClean="0"/>
              <a:t>.</a:t>
            </a:r>
            <a:r>
              <a:rPr lang="en-US" sz="900" dirty="0"/>
              <a:t> </a:t>
            </a:r>
            <a:r>
              <a:rPr lang="en-US" sz="1000" dirty="0" smtClean="0"/>
              <a:t>Port </a:t>
            </a:r>
            <a:r>
              <a:rPr lang="en-US" sz="1000" dirty="0"/>
              <a:t>numbers identify specific processes or services running on a device.</a:t>
            </a:r>
            <a:endParaRPr lang="en-US" sz="900" dirty="0"/>
          </a:p>
          <a:p>
            <a:pPr lvl="0"/>
            <a:r>
              <a:rPr lang="en-US" sz="1000" dirty="0"/>
              <a:t>The Transport Layer uses </a:t>
            </a:r>
            <a:r>
              <a:rPr lang="en-US" sz="1000" b="1" dirty="0"/>
              <a:t>source and destination port numbers</a:t>
            </a:r>
            <a:r>
              <a:rPr lang="en-US" sz="1000" dirty="0"/>
              <a:t> to direct data to the correct process or application (e.g., web browser, email client).</a:t>
            </a:r>
            <a:endParaRPr lang="en-US" sz="900" dirty="0"/>
          </a:p>
          <a:p>
            <a:pPr lvl="0"/>
            <a:r>
              <a:rPr lang="en-US" sz="1000" b="1" dirty="0"/>
              <a:t>Well-known </a:t>
            </a:r>
            <a:r>
              <a:rPr lang="en-US" sz="1000" b="1" dirty="0" smtClean="0"/>
              <a:t>Ports</a:t>
            </a:r>
            <a:r>
              <a:rPr lang="en-US" sz="1000" dirty="0" smtClean="0"/>
              <a:t>:</a:t>
            </a:r>
            <a:r>
              <a:rPr lang="en-US" sz="900" dirty="0"/>
              <a:t> </a:t>
            </a:r>
            <a:r>
              <a:rPr lang="en-US" sz="900" dirty="0" smtClean="0"/>
              <a:t> </a:t>
            </a:r>
            <a:r>
              <a:rPr lang="en-US" sz="1000" dirty="0" smtClean="0"/>
              <a:t>HTTP </a:t>
            </a:r>
            <a:r>
              <a:rPr lang="en-US" sz="1000" dirty="0"/>
              <a:t>uses port </a:t>
            </a:r>
            <a:r>
              <a:rPr lang="en-US" sz="1000" dirty="0" smtClean="0"/>
              <a:t>80</a:t>
            </a:r>
            <a:r>
              <a:rPr lang="en-US" sz="800" dirty="0" smtClean="0"/>
              <a:t>, </a:t>
            </a:r>
            <a:r>
              <a:rPr lang="en-US" sz="1000" dirty="0" smtClean="0"/>
              <a:t>HTTPS </a:t>
            </a:r>
            <a:r>
              <a:rPr lang="en-US" sz="1000" dirty="0"/>
              <a:t>uses port </a:t>
            </a:r>
            <a:r>
              <a:rPr lang="en-US" sz="1000" dirty="0" smtClean="0"/>
              <a:t>443</a:t>
            </a:r>
            <a:r>
              <a:rPr lang="en-US" sz="800" dirty="0" smtClean="0"/>
              <a:t>, </a:t>
            </a:r>
            <a:r>
              <a:rPr lang="en-US" sz="1000" dirty="0" smtClean="0"/>
              <a:t>SMTP </a:t>
            </a:r>
            <a:r>
              <a:rPr lang="en-US" sz="1000" dirty="0"/>
              <a:t>uses port </a:t>
            </a:r>
            <a:r>
              <a:rPr lang="en-US" sz="1000" dirty="0" smtClean="0"/>
              <a:t>25</a:t>
            </a:r>
            <a:r>
              <a:rPr lang="en-US" sz="800" dirty="0" smtClean="0"/>
              <a:t>.  </a:t>
            </a:r>
            <a:r>
              <a:rPr lang="en-US" sz="1000" dirty="0" smtClean="0"/>
              <a:t>This </a:t>
            </a:r>
            <a:r>
              <a:rPr lang="en-US" sz="1000" dirty="0"/>
              <a:t>layer ensures data is delivered to the correct application.</a:t>
            </a:r>
            <a:endParaRPr lang="en-US" sz="900" dirty="0"/>
          </a:p>
          <a:p>
            <a:pPr marL="0" indent="0">
              <a:buNone/>
            </a:pPr>
            <a:r>
              <a:rPr lang="en-US" sz="1000" b="1" dirty="0"/>
              <a:t>5. Network Layer (Layer 3)</a:t>
            </a:r>
            <a:endParaRPr lang="en-US" sz="700" dirty="0"/>
          </a:p>
          <a:p>
            <a:r>
              <a:rPr lang="en-US" sz="1000" b="1" dirty="0"/>
              <a:t>Addressing </a:t>
            </a:r>
            <a:r>
              <a:rPr lang="en-US" sz="1000" b="1" dirty="0" smtClean="0"/>
              <a:t>Type:</a:t>
            </a:r>
            <a:r>
              <a:rPr lang="en-US" sz="800" dirty="0"/>
              <a:t> </a:t>
            </a:r>
            <a:r>
              <a:rPr lang="en-US" sz="1000" b="1" dirty="0" smtClean="0"/>
              <a:t>IP </a:t>
            </a:r>
            <a:r>
              <a:rPr lang="en-US" sz="1000" b="1" dirty="0"/>
              <a:t>Addresses</a:t>
            </a:r>
            <a:r>
              <a:rPr lang="en-US" sz="1000" dirty="0"/>
              <a:t> (Internet Protocol)</a:t>
            </a:r>
            <a:endParaRPr lang="en-US" sz="900" dirty="0"/>
          </a:p>
          <a:p>
            <a:r>
              <a:rPr lang="en-US" sz="1000" b="1" dirty="0" smtClean="0"/>
              <a:t>Explanation:</a:t>
            </a:r>
            <a:r>
              <a:rPr lang="en-US" sz="800" dirty="0"/>
              <a:t> </a:t>
            </a:r>
            <a:r>
              <a:rPr lang="en-US" sz="1000" dirty="0" smtClean="0"/>
              <a:t>At </a:t>
            </a:r>
            <a:r>
              <a:rPr lang="en-US" sz="1000" dirty="0"/>
              <a:t>the </a:t>
            </a:r>
            <a:r>
              <a:rPr lang="en-US" sz="1000" b="1" dirty="0"/>
              <a:t>Network Layer</a:t>
            </a:r>
            <a:r>
              <a:rPr lang="en-US" sz="1000" dirty="0"/>
              <a:t>, addressing is done using </a:t>
            </a:r>
            <a:r>
              <a:rPr lang="en-US" sz="1000" b="1" dirty="0"/>
              <a:t>IP addresses</a:t>
            </a:r>
            <a:r>
              <a:rPr lang="en-US" sz="1000" dirty="0"/>
              <a:t>.</a:t>
            </a:r>
            <a:endParaRPr lang="en-US" sz="900" dirty="0"/>
          </a:p>
          <a:p>
            <a:pPr lvl="0"/>
            <a:r>
              <a:rPr lang="en-US" sz="1000" b="1" dirty="0"/>
              <a:t>IP addresses</a:t>
            </a:r>
            <a:r>
              <a:rPr lang="en-US" sz="1000" dirty="0"/>
              <a:t> identify devices uniquely on a network, allowing data to be routed across networks.</a:t>
            </a:r>
            <a:endParaRPr lang="en-US" sz="900" dirty="0"/>
          </a:p>
          <a:p>
            <a:pPr lvl="0"/>
            <a:r>
              <a:rPr lang="en-US" sz="1000" b="1" dirty="0"/>
              <a:t>IPv4</a:t>
            </a:r>
            <a:r>
              <a:rPr lang="en-US" sz="1000" dirty="0"/>
              <a:t> (e.g., 192.168.1.1) and </a:t>
            </a:r>
            <a:r>
              <a:rPr lang="en-US" sz="1000" b="1" dirty="0"/>
              <a:t>IPv6</a:t>
            </a:r>
            <a:r>
              <a:rPr lang="en-US" sz="1000" dirty="0"/>
              <a:t> (e.g., 2001:0db8:85a3:0000:0000:8a2e:0370:7334) are the most common formats for IP addressing.</a:t>
            </a:r>
            <a:endParaRPr lang="en-US" sz="900" dirty="0"/>
          </a:p>
          <a:p>
            <a:pPr lvl="0"/>
            <a:r>
              <a:rPr lang="en-US" sz="1000" dirty="0"/>
              <a:t>The </a:t>
            </a:r>
            <a:r>
              <a:rPr lang="en-US" sz="1000" b="1" dirty="0"/>
              <a:t>Network Layer</a:t>
            </a:r>
            <a:r>
              <a:rPr lang="en-US" sz="1000" dirty="0"/>
              <a:t> uses these addresses to route packets between devices across different networks, ensuring data reaches the correct destination.</a:t>
            </a:r>
            <a:endParaRPr lang="en-US" sz="900" dirty="0"/>
          </a:p>
          <a:p>
            <a:pPr marL="0" indent="0">
              <a:buNone/>
            </a:pPr>
            <a:r>
              <a:rPr lang="en-US" sz="1000" b="1" dirty="0"/>
              <a:t>6. Data Link Layer (Layer 2)</a:t>
            </a:r>
            <a:endParaRPr lang="en-US" sz="700" dirty="0"/>
          </a:p>
          <a:p>
            <a:r>
              <a:rPr lang="en-US" sz="1000" b="1" dirty="0"/>
              <a:t>Addressing </a:t>
            </a:r>
            <a:r>
              <a:rPr lang="en-US" sz="1000" b="1" dirty="0" smtClean="0"/>
              <a:t>Type:</a:t>
            </a:r>
            <a:r>
              <a:rPr lang="en-US" sz="800" dirty="0"/>
              <a:t> </a:t>
            </a:r>
            <a:r>
              <a:rPr lang="en-US" sz="1000" b="1" dirty="0" smtClean="0"/>
              <a:t>MAC </a:t>
            </a:r>
            <a:r>
              <a:rPr lang="en-US" sz="1000" b="1" dirty="0"/>
              <a:t>Addresses</a:t>
            </a:r>
            <a:r>
              <a:rPr lang="en-US" sz="1000" dirty="0"/>
              <a:t> (Media Access Control)</a:t>
            </a:r>
            <a:endParaRPr lang="en-US" sz="900" dirty="0"/>
          </a:p>
          <a:p>
            <a:r>
              <a:rPr lang="en-US" sz="1000" b="1" dirty="0" smtClean="0"/>
              <a:t>Explanation:</a:t>
            </a:r>
            <a:r>
              <a:rPr lang="en-US" sz="800" dirty="0"/>
              <a:t> </a:t>
            </a:r>
            <a:r>
              <a:rPr lang="en-US" sz="1000" dirty="0" smtClean="0"/>
              <a:t>At </a:t>
            </a:r>
            <a:r>
              <a:rPr lang="en-US" sz="1000" dirty="0"/>
              <a:t>the </a:t>
            </a:r>
            <a:r>
              <a:rPr lang="en-US" sz="1000" b="1" dirty="0"/>
              <a:t>Data Link Layer</a:t>
            </a:r>
            <a:r>
              <a:rPr lang="en-US" sz="1000" dirty="0"/>
              <a:t>, addressing is done using </a:t>
            </a:r>
            <a:r>
              <a:rPr lang="en-US" sz="1000" b="1" dirty="0"/>
              <a:t>MAC </a:t>
            </a:r>
            <a:r>
              <a:rPr lang="en-US" sz="1000" b="1" dirty="0" smtClean="0"/>
              <a:t>addresses</a:t>
            </a:r>
            <a:r>
              <a:rPr lang="en-US" sz="1000" dirty="0" smtClean="0"/>
              <a:t>.</a:t>
            </a:r>
            <a:r>
              <a:rPr lang="en-US" sz="900" dirty="0"/>
              <a:t> </a:t>
            </a:r>
            <a:r>
              <a:rPr lang="en-US" sz="1000" b="1" dirty="0" smtClean="0"/>
              <a:t>MAC </a:t>
            </a:r>
            <a:r>
              <a:rPr lang="en-US" sz="1000" b="1" dirty="0"/>
              <a:t>addresses</a:t>
            </a:r>
            <a:r>
              <a:rPr lang="en-US" sz="1000" dirty="0"/>
              <a:t> are unique hardware addresses assigned to network interfaces (e.g., Ethernet or Wi-Fi cards).</a:t>
            </a:r>
            <a:endParaRPr lang="en-US" sz="900" dirty="0"/>
          </a:p>
          <a:p>
            <a:pPr lvl="0"/>
            <a:r>
              <a:rPr lang="en-US" sz="1000" dirty="0"/>
              <a:t>A MAC address is typically a 48-bit identifier (e.g., 00:1A:2B:3C:4D:5E</a:t>
            </a:r>
            <a:r>
              <a:rPr lang="en-US" sz="1000" dirty="0" smtClean="0"/>
              <a:t>).</a:t>
            </a:r>
            <a:r>
              <a:rPr lang="en-US" sz="900" dirty="0"/>
              <a:t> </a:t>
            </a:r>
            <a:r>
              <a:rPr lang="en-US" sz="1000" b="1" dirty="0" smtClean="0"/>
              <a:t>Frames</a:t>
            </a:r>
            <a:r>
              <a:rPr lang="en-US" sz="1000" dirty="0" smtClean="0"/>
              <a:t> </a:t>
            </a:r>
            <a:r>
              <a:rPr lang="en-US" sz="1000" dirty="0"/>
              <a:t>at this layer are addressed based on the MAC addresses, ensuring that data is delivered correctly to the intended device on the local network.</a:t>
            </a:r>
            <a:endParaRPr lang="en-US" sz="900" dirty="0"/>
          </a:p>
          <a:p>
            <a:pPr marL="0" indent="0">
              <a:buNone/>
            </a:pPr>
            <a:r>
              <a:rPr lang="en-US" sz="1000" b="1" dirty="0"/>
              <a:t>7. Physical Layer (Layer 1)</a:t>
            </a:r>
            <a:endParaRPr lang="en-US" sz="700" dirty="0"/>
          </a:p>
          <a:p>
            <a:r>
              <a:rPr lang="en-US" sz="1000" b="1" dirty="0"/>
              <a:t>Addressing </a:t>
            </a:r>
            <a:r>
              <a:rPr lang="en-US" sz="1000" b="1" dirty="0" smtClean="0"/>
              <a:t>Type:</a:t>
            </a:r>
            <a:r>
              <a:rPr lang="en-US" sz="800" dirty="0"/>
              <a:t> </a:t>
            </a:r>
            <a:r>
              <a:rPr lang="en-US" sz="1000" b="1" dirty="0" smtClean="0"/>
              <a:t>No </a:t>
            </a:r>
            <a:r>
              <a:rPr lang="en-US" sz="1000" b="1" dirty="0"/>
              <a:t>Addressing</a:t>
            </a:r>
            <a:endParaRPr lang="en-US" sz="900" dirty="0"/>
          </a:p>
          <a:p>
            <a:r>
              <a:rPr lang="en-US" sz="1000" b="1" dirty="0" smtClean="0"/>
              <a:t>Explanation:</a:t>
            </a:r>
            <a:r>
              <a:rPr lang="en-US" sz="800" dirty="0"/>
              <a:t> </a:t>
            </a:r>
            <a:r>
              <a:rPr lang="en-US" sz="1000" dirty="0" smtClean="0"/>
              <a:t>At </a:t>
            </a:r>
            <a:r>
              <a:rPr lang="en-US" sz="1000" dirty="0"/>
              <a:t>the </a:t>
            </a:r>
            <a:r>
              <a:rPr lang="en-US" sz="1000" b="1" dirty="0"/>
              <a:t>Physical Layer</a:t>
            </a:r>
            <a:r>
              <a:rPr lang="en-US" sz="1000" dirty="0"/>
              <a:t>, no addressing is </a:t>
            </a:r>
            <a:r>
              <a:rPr lang="en-US" sz="1000" dirty="0" smtClean="0"/>
              <a:t>used.</a:t>
            </a:r>
            <a:r>
              <a:rPr lang="en-US" sz="900" dirty="0"/>
              <a:t> </a:t>
            </a:r>
            <a:r>
              <a:rPr lang="en-US" sz="1000" dirty="0" smtClean="0"/>
              <a:t>This </a:t>
            </a:r>
            <a:r>
              <a:rPr lang="en-US" sz="1000" dirty="0"/>
              <a:t>layer simply deals with the transmission of raw bits (0s and 1s) over a physical medium, like electrical signals on copper wires or light signals in optical fiber.</a:t>
            </a:r>
            <a:endParaRPr lang="en-US" sz="900" dirty="0"/>
          </a:p>
          <a:p>
            <a:pPr lvl="0"/>
            <a:r>
              <a:rPr lang="en-US" sz="1000" dirty="0"/>
              <a:t>The Physical Layer is concerned with </a:t>
            </a:r>
            <a:r>
              <a:rPr lang="en-US" sz="1000" b="1" dirty="0"/>
              <a:t>signal transmission</a:t>
            </a:r>
            <a:r>
              <a:rPr lang="en-US" sz="1000" dirty="0"/>
              <a:t> and </a:t>
            </a:r>
            <a:r>
              <a:rPr lang="en-US" sz="1000" b="1" dirty="0"/>
              <a:t>reception</a:t>
            </a:r>
            <a:r>
              <a:rPr lang="en-US" sz="1000" dirty="0"/>
              <a:t>, not addressing.</a:t>
            </a:r>
            <a:endParaRPr lang="en-US" sz="900" dirty="0"/>
          </a:p>
        </p:txBody>
      </p:sp>
    </p:spTree>
    <p:extLst>
      <p:ext uri="{BB962C8B-B14F-4D97-AF65-F5344CB8AC3E}">
        <p14:creationId xmlns:p14="http://schemas.microsoft.com/office/powerpoint/2010/main" val="66904055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Networking Devices</a:t>
            </a:r>
            <a:endParaRPr lang="en-US" dirty="0"/>
          </a:p>
        </p:txBody>
      </p:sp>
      <p:sp>
        <p:nvSpPr>
          <p:cNvPr id="3" name="Content Placeholder 2"/>
          <p:cNvSpPr>
            <a:spLocks noGrp="1"/>
          </p:cNvSpPr>
          <p:nvPr>
            <p:ph idx="1"/>
          </p:nvPr>
        </p:nvSpPr>
        <p:spPr>
          <a:xfrm>
            <a:off x="1295401" y="2556932"/>
            <a:ext cx="6651395" cy="3318936"/>
          </a:xfrm>
        </p:spPr>
        <p:txBody>
          <a:bodyPr>
            <a:normAutofit fontScale="62500" lnSpcReduction="20000"/>
          </a:bodyPr>
          <a:lstStyle/>
          <a:p>
            <a:r>
              <a:rPr lang="en-US" dirty="0"/>
              <a:t>Network devices are fundamental hardware components in computer networking that operate across different layers of the OSI and TCP/IP models. They facilitate data transmission, regulate traffic flow, provide interconnectivity between heterogeneous networks, and enforce security policies</a:t>
            </a:r>
            <a:r>
              <a:rPr lang="en-US" dirty="0" smtClean="0"/>
              <a:t>.</a:t>
            </a:r>
          </a:p>
          <a:p>
            <a:pPr marL="0" indent="0" fontAlgn="base">
              <a:buNone/>
            </a:pPr>
            <a:r>
              <a:rPr lang="en-US" b="1" dirty="0"/>
              <a:t>Functions of Network Devices</a:t>
            </a:r>
          </a:p>
          <a:p>
            <a:pPr fontAlgn="base"/>
            <a:r>
              <a:rPr lang="en-US" dirty="0"/>
              <a:t>Enable communication by transmitting and receiving data between devices.</a:t>
            </a:r>
          </a:p>
          <a:p>
            <a:pPr fontAlgn="base"/>
            <a:r>
              <a:rPr lang="en-US" dirty="0"/>
              <a:t>Allow devices to connect to networks efficiently and securely.</a:t>
            </a:r>
          </a:p>
          <a:p>
            <a:pPr fontAlgn="base"/>
            <a:r>
              <a:rPr lang="en-US" dirty="0"/>
              <a:t>Improve network performance by reducing congestion and managing traffic.</a:t>
            </a:r>
          </a:p>
          <a:p>
            <a:pPr fontAlgn="base"/>
            <a:r>
              <a:rPr lang="en-US" dirty="0"/>
              <a:t>Provide security by controlling access and preventing unauthorized activities.</a:t>
            </a:r>
          </a:p>
          <a:p>
            <a:pPr fontAlgn="base"/>
            <a:r>
              <a:rPr lang="en-US" dirty="0"/>
              <a:t>Extend network coverage and solve signal loss or attenuation problems.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9278" y="2968134"/>
            <a:ext cx="3388936" cy="2496532"/>
          </a:xfrm>
          <a:prstGeom prst="rect">
            <a:avLst/>
          </a:prstGeom>
        </p:spPr>
      </p:pic>
    </p:spTree>
    <p:extLst>
      <p:ext uri="{BB962C8B-B14F-4D97-AF65-F5344CB8AC3E}">
        <p14:creationId xmlns:p14="http://schemas.microsoft.com/office/powerpoint/2010/main" val="372088822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Hub</a:t>
            </a:r>
            <a:endParaRPr lang="en-US" dirty="0"/>
          </a:p>
        </p:txBody>
      </p:sp>
      <p:sp>
        <p:nvSpPr>
          <p:cNvPr id="3" name="Content Placeholder 2"/>
          <p:cNvSpPr>
            <a:spLocks noGrp="1"/>
          </p:cNvSpPr>
          <p:nvPr>
            <p:ph idx="1"/>
          </p:nvPr>
        </p:nvSpPr>
        <p:spPr>
          <a:xfrm>
            <a:off x="1162638" y="1944190"/>
            <a:ext cx="9733960" cy="3318936"/>
          </a:xfrm>
        </p:spPr>
        <p:txBody>
          <a:bodyPr>
            <a:noAutofit/>
          </a:bodyPr>
          <a:lstStyle/>
          <a:p>
            <a:pPr fontAlgn="base"/>
            <a:r>
              <a:rPr lang="en-US" sz="1100" dirty="0"/>
              <a:t>A hub is a multi-port repeater. A hub connects multiple wires coming from different branches, for example, the connector in star topology which connects different stations. Hubs cannot filter data, so data packets are sent to all connected devices.  </a:t>
            </a:r>
            <a:endParaRPr lang="en-US" sz="1100" dirty="0" smtClean="0"/>
          </a:p>
          <a:p>
            <a:pPr fontAlgn="base"/>
            <a:r>
              <a:rPr lang="en-US" sz="1100" dirty="0" smtClean="0"/>
              <a:t>In </a:t>
            </a:r>
            <a:r>
              <a:rPr lang="en-US" sz="1100" dirty="0"/>
              <a:t>other words, the collision domain of all hosts connected through hub remains one. Hub does not have any routing table to store the data of ports and map destination addresses., the routing table is used to send/broadcast information across all the ports. </a:t>
            </a:r>
          </a:p>
          <a:p>
            <a:pPr marL="0" indent="0" fontAlgn="base">
              <a:buNone/>
            </a:pPr>
            <a:r>
              <a:rPr lang="en-US" sz="1100" b="1" dirty="0"/>
              <a:t>How Does a Network Hub Work?</a:t>
            </a:r>
          </a:p>
          <a:p>
            <a:pPr fontAlgn="base"/>
            <a:r>
              <a:rPr lang="en-US" sz="1100" dirty="0"/>
              <a:t>A hub is a multiport device, which has multiple ports in a device and shares the data to multiple ports altogether. A hub acts as a dumb switch that does not know, which data needs to be forwarded where so it broadcasts or sends the data to each port. </a:t>
            </a:r>
          </a:p>
          <a:p>
            <a:pPr fontAlgn="base"/>
            <a:r>
              <a:rPr lang="en-US" sz="1100" dirty="0"/>
              <a:t>Suppose there are five ports in a hub A, B, C, D, and E. Consider A wants to send any data frame, or let's say A is acting as a sender, so the hub will forward the data transmitted by A to B, C, D, E. Now, at the same time B also wants to send the data then data received from A and B will collide and can cause data loss. In this situation, the data gets destroyed, and the hosts send a jam signal to all the hosts informing them about the collision, and each sender needs to wait for a certain amount of time. </a:t>
            </a:r>
          </a:p>
          <a:p>
            <a:pPr fontAlgn="base"/>
            <a:r>
              <a:rPr lang="en-US" sz="1100" b="1" dirty="0"/>
              <a:t>Note: </a:t>
            </a:r>
            <a:r>
              <a:rPr lang="en-US" sz="1100" dirty="0"/>
              <a:t>In the hub, data is sent to all ports but each port accepts only that data whose destination address matches their</a:t>
            </a:r>
            <a:r>
              <a:rPr lang="en-US" sz="1100" u="sng" dirty="0">
                <a:hlinkClick r:id="rId2"/>
              </a:rPr>
              <a:t> MAC address. </a:t>
            </a:r>
            <a:endParaRPr lang="en-US" sz="1100" u="sng" dirty="0" smtClean="0"/>
          </a:p>
          <a:p>
            <a:pPr marL="0" indent="0" fontAlgn="base">
              <a:buNone/>
            </a:pPr>
            <a:r>
              <a:rPr lang="en-US" sz="1100" b="1" dirty="0"/>
              <a:t>Features of Hubs</a:t>
            </a:r>
          </a:p>
          <a:p>
            <a:pPr fontAlgn="base"/>
            <a:r>
              <a:rPr lang="en-US" sz="1100" dirty="0"/>
              <a:t>Hubs are the hardware device that operates in the physical layer of the OSI model. </a:t>
            </a:r>
            <a:r>
              <a:rPr lang="en-US" sz="1100" dirty="0" smtClean="0"/>
              <a:t> It </a:t>
            </a:r>
            <a:r>
              <a:rPr lang="en-US" sz="1100" dirty="0"/>
              <a:t>supports</a:t>
            </a:r>
            <a:r>
              <a:rPr lang="en-US" sz="1100" u="sng" dirty="0">
                <a:hlinkClick r:id="rId3"/>
              </a:rPr>
              <a:t> half-duplex transmission</a:t>
            </a:r>
            <a:endParaRPr lang="en-US" sz="1100" dirty="0"/>
          </a:p>
          <a:p>
            <a:pPr fontAlgn="base"/>
            <a:r>
              <a:rPr lang="en-US" sz="1100" dirty="0"/>
              <a:t>It works with shared bandwidth and </a:t>
            </a:r>
            <a:r>
              <a:rPr lang="en-US" sz="1100" dirty="0" smtClean="0"/>
              <a:t>broadcasting. The </a:t>
            </a:r>
            <a:r>
              <a:rPr lang="en-US" sz="1100" dirty="0"/>
              <a:t>hub can provide a high data transmission rate to different devices. </a:t>
            </a:r>
          </a:p>
          <a:p>
            <a:pPr fontAlgn="base"/>
            <a:r>
              <a:rPr lang="en-US" sz="1100" dirty="0"/>
              <a:t>It can detect collisions in the network and send the jamming signal to each port. </a:t>
            </a:r>
            <a:r>
              <a:rPr lang="en-US" sz="1100" dirty="0" smtClean="0"/>
              <a:t> Hub </a:t>
            </a:r>
            <a:r>
              <a:rPr lang="en-US" sz="1100" dirty="0"/>
              <a:t>does not support </a:t>
            </a:r>
            <a:r>
              <a:rPr lang="en-US" sz="1100" u="sng" dirty="0">
                <a:hlinkClick r:id="rId4"/>
              </a:rPr>
              <a:t>Virtual LAN(VLAN)</a:t>
            </a:r>
            <a:r>
              <a:rPr lang="en-US" sz="1100" dirty="0"/>
              <a:t> and spanning tree protocol.</a:t>
            </a:r>
          </a:p>
          <a:p>
            <a:pPr fontAlgn="base"/>
            <a:r>
              <a:rPr lang="en-US" sz="1100" dirty="0"/>
              <a:t>It is unable to filter the data and hence transmit or broadcast it to each port. </a:t>
            </a:r>
            <a:r>
              <a:rPr lang="en-US" sz="1100" dirty="0" smtClean="0"/>
              <a:t> It </a:t>
            </a:r>
            <a:r>
              <a:rPr lang="en-US" sz="1100" dirty="0"/>
              <a:t>cannot find the best route/ shortest path to send any data, which makes it an inefficient device. </a:t>
            </a:r>
          </a:p>
          <a:p>
            <a:pPr fontAlgn="base"/>
            <a:endParaRPr lang="en-US" sz="1100" dirty="0"/>
          </a:p>
        </p:txBody>
      </p:sp>
    </p:spTree>
    <p:extLst>
      <p:ext uri="{BB962C8B-B14F-4D97-AF65-F5344CB8AC3E}">
        <p14:creationId xmlns:p14="http://schemas.microsoft.com/office/powerpoint/2010/main" val="27572518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Repeater</a:t>
            </a:r>
            <a:endParaRPr lang="en-US" dirty="0"/>
          </a:p>
        </p:txBody>
      </p:sp>
      <p:sp>
        <p:nvSpPr>
          <p:cNvPr id="3" name="Content Placeholder 2"/>
          <p:cNvSpPr>
            <a:spLocks noGrp="1"/>
          </p:cNvSpPr>
          <p:nvPr>
            <p:ph idx="1"/>
          </p:nvPr>
        </p:nvSpPr>
        <p:spPr>
          <a:xfrm>
            <a:off x="1295402" y="2556932"/>
            <a:ext cx="5621866" cy="3318936"/>
          </a:xfrm>
        </p:spPr>
        <p:txBody>
          <a:bodyPr>
            <a:normAutofit fontScale="55000" lnSpcReduction="20000"/>
          </a:bodyPr>
          <a:lstStyle/>
          <a:p>
            <a:r>
              <a:rPr lang="en-US" dirty="0"/>
              <a:t>A repeater is a network device that regenerates weakened or corrupted signals to restore them to their original form before retransmission. It operates at the physical layer (Layer 1) of the OSI model. Unlike an amplifier, which increases both signal and noise, a repeater reconstructs the original clean signal and forwards it, ensuring reliable data delivery over longer distances</a:t>
            </a:r>
            <a:r>
              <a:rPr lang="en-US" dirty="0" smtClean="0"/>
              <a:t>.</a:t>
            </a:r>
          </a:p>
          <a:p>
            <a:pPr marL="0" indent="0" fontAlgn="base">
              <a:buNone/>
            </a:pPr>
            <a:r>
              <a:rPr lang="en-US" b="1" dirty="0"/>
              <a:t>Features of Repeaters</a:t>
            </a:r>
          </a:p>
          <a:p>
            <a:pPr fontAlgn="base"/>
            <a:r>
              <a:rPr lang="en-US" dirty="0"/>
              <a:t>Regenerates signals without altering the original data.</a:t>
            </a:r>
          </a:p>
          <a:p>
            <a:pPr fontAlgn="base"/>
            <a:r>
              <a:rPr lang="en-US" dirty="0"/>
              <a:t>Works with both analog and digital signals (depending on the type).</a:t>
            </a:r>
          </a:p>
          <a:p>
            <a:pPr fontAlgn="base"/>
            <a:r>
              <a:rPr lang="en-US" dirty="0"/>
              <a:t>Extends the range of a network beyond distance limitations.</a:t>
            </a:r>
          </a:p>
          <a:p>
            <a:pPr fontAlgn="base"/>
            <a:r>
              <a:rPr lang="en-US" dirty="0"/>
              <a:t>Reduces errors and data loss caused by weak signals.</a:t>
            </a:r>
          </a:p>
          <a:p>
            <a:pPr fontAlgn="base"/>
            <a:r>
              <a:rPr lang="en-US" dirty="0"/>
              <a:t>Requires power to operate.</a:t>
            </a:r>
          </a:p>
          <a:p>
            <a:pPr fontAlgn="base"/>
            <a:r>
              <a:rPr lang="en-US" dirty="0"/>
              <a:t>Adds a layer of complexity in network design if used excessively.</a:t>
            </a:r>
          </a:p>
          <a:p>
            <a:endParaRPr lang="en-US" dirty="0"/>
          </a:p>
        </p:txBody>
      </p:sp>
      <p:pic>
        <p:nvPicPr>
          <p:cNvPr id="14338" name="Picture 2" descr="Repea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7130" y="3585633"/>
            <a:ext cx="4199468" cy="1261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50761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Repeater</a:t>
            </a:r>
            <a:endParaRPr lang="en-US" dirty="0"/>
          </a:p>
        </p:txBody>
      </p:sp>
      <p:sp>
        <p:nvSpPr>
          <p:cNvPr id="5" name="Rectangle 4"/>
          <p:cNvSpPr/>
          <p:nvPr/>
        </p:nvSpPr>
        <p:spPr>
          <a:xfrm>
            <a:off x="1109133" y="2823735"/>
            <a:ext cx="8094133" cy="2068515"/>
          </a:xfrm>
          <a:prstGeom prst="rect">
            <a:avLst/>
          </a:prstGeom>
        </p:spPr>
        <p:txBody>
          <a:bodyPr wrap="square">
            <a:spAutoFit/>
          </a:bodyPr>
          <a:lstStyle/>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Initially the source system transmits the signals. This source systems can be a </a:t>
            </a:r>
            <a:r>
              <a:rPr lang="en-US" sz="1200" spc="10" dirty="0">
                <a:solidFill>
                  <a:srgbClr val="357960"/>
                </a:solidFill>
                <a:latin typeface="Arial" panose="020B0604020202020204" pitchFamily="34" charset="0"/>
                <a:ea typeface="Times New Roman" panose="02020603050405020304" pitchFamily="18" charset="0"/>
                <a:cs typeface="Times New Roman" panose="02020603050405020304" pitchFamily="18" charset="0"/>
                <a:hlinkClick r:id="rId2"/>
              </a:rPr>
              <a:t>mobile phone</a:t>
            </a: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laptop or radio.</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This transmitted signal from the source system travels in air if it's wireless network or through the cable if it is wired network. As the signal goes away from the source it's strength gets weak.</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The signal received to the repeater is not the actual signal sent by source system but a weak signal. Therefore repeater amplifies this weak signal to get it strengthen.</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The strengthen signal is now being sent from the repeater to its destination. This signal is more stronger and can travel at longer distance. In short, it extends the network without losing the quality of signal.</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Repeaters are therefore used in various </a:t>
            </a:r>
            <a:r>
              <a:rPr lang="en-US" sz="1200" spc="10" dirty="0">
                <a:solidFill>
                  <a:srgbClr val="357960"/>
                </a:solidFill>
                <a:latin typeface="Arial" panose="020B0604020202020204" pitchFamily="34" charset="0"/>
                <a:ea typeface="Times New Roman" panose="02020603050405020304" pitchFamily="18" charset="0"/>
                <a:cs typeface="Times New Roman" panose="02020603050405020304" pitchFamily="18" charset="0"/>
                <a:hlinkClick r:id="rId3"/>
              </a:rPr>
              <a:t>wireless technologies</a:t>
            </a: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such as </a:t>
            </a:r>
            <a:r>
              <a:rPr lang="en-US" sz="1200" spc="10" dirty="0">
                <a:solidFill>
                  <a:srgbClr val="357960"/>
                </a:solidFill>
                <a:latin typeface="Arial" panose="020B0604020202020204" pitchFamily="34" charset="0"/>
                <a:ea typeface="Times New Roman" panose="02020603050405020304" pitchFamily="18" charset="0"/>
                <a:cs typeface="Times New Roman" panose="02020603050405020304" pitchFamily="18" charset="0"/>
                <a:hlinkClick r:id="rId4"/>
              </a:rPr>
              <a:t>Wi-Fi </a:t>
            </a: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and wired technologies such as </a:t>
            </a:r>
            <a:r>
              <a:rPr lang="en-US" sz="1200" spc="10" dirty="0" err="1">
                <a:solidFill>
                  <a:srgbClr val="357960"/>
                </a:solidFill>
                <a:latin typeface="Arial" panose="020B0604020202020204" pitchFamily="34" charset="0"/>
                <a:ea typeface="Times New Roman" panose="02020603050405020304" pitchFamily="18" charset="0"/>
                <a:cs typeface="Times New Roman" panose="02020603050405020304" pitchFamily="18" charset="0"/>
                <a:hlinkClick r:id="rId5"/>
              </a:rPr>
              <a:t>ethernet</a:t>
            </a:r>
            <a:r>
              <a:rPr lang="en-US" sz="12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US" sz="1200" b="1"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In simple terms: </a:t>
            </a:r>
            <a:r>
              <a:rPr lang="en-US" sz="1200"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Source -&gt; Weak Signal -&gt; Repeater -&gt; Regenerated Signal -&gt; Destination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418299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Types of Repeaters</a:t>
            </a:r>
          </a:p>
        </p:txBody>
      </p:sp>
      <p:sp>
        <p:nvSpPr>
          <p:cNvPr id="3" name="Content Placeholder 2"/>
          <p:cNvSpPr>
            <a:spLocks noGrp="1"/>
          </p:cNvSpPr>
          <p:nvPr>
            <p:ph idx="1"/>
          </p:nvPr>
        </p:nvSpPr>
        <p:spPr>
          <a:xfrm>
            <a:off x="1208774" y="1931290"/>
            <a:ext cx="9601196" cy="3318936"/>
          </a:xfrm>
        </p:spPr>
        <p:txBody>
          <a:bodyPr>
            <a:noAutofit/>
          </a:bodyPr>
          <a:lstStyle/>
          <a:p>
            <a:pPr fontAlgn="base"/>
            <a:r>
              <a:rPr lang="en-US" sz="900" dirty="0" smtClean="0"/>
              <a:t>According </a:t>
            </a:r>
            <a:r>
              <a:rPr lang="en-US" sz="900" dirty="0"/>
              <a:t>to the functions and features repeaters are divided into three types. They are as follow:</a:t>
            </a:r>
          </a:p>
          <a:p>
            <a:pPr marL="0" indent="0" fontAlgn="base">
              <a:buNone/>
            </a:pPr>
            <a:r>
              <a:rPr lang="en-US" sz="900" b="1" dirty="0"/>
              <a:t>1. Based on Signal Type</a:t>
            </a:r>
          </a:p>
          <a:p>
            <a:pPr fontAlgn="base"/>
            <a:r>
              <a:rPr lang="en-US" sz="900" b="1" dirty="0" smtClean="0"/>
              <a:t>Analog </a:t>
            </a:r>
            <a:r>
              <a:rPr lang="en-US" sz="900" b="1" dirty="0"/>
              <a:t>Repeater: </a:t>
            </a:r>
            <a:r>
              <a:rPr lang="en-US" sz="900" dirty="0"/>
              <a:t>Analog repeaters are used to amplify only the analog signals. Analog repeaters receives the analog signal, amplifies it and then regenerates it as the output. Analog repeaters were mostly used in the older network technologies where analog signal was used.</a:t>
            </a:r>
          </a:p>
          <a:p>
            <a:pPr fontAlgn="base"/>
            <a:r>
              <a:rPr lang="en-US" sz="900" b="1" dirty="0"/>
              <a:t>Digital Repeater:</a:t>
            </a:r>
            <a:r>
              <a:rPr lang="en-US" sz="900" dirty="0"/>
              <a:t> Digital repeaters are the type of repeaters that does not amplify digital signal but regenerates it directly. Digital repeaters are mostly used in the modern technologies where digital signal is being used. Digital repeaters are also capable to reconstruct a distorted signal.</a:t>
            </a:r>
          </a:p>
          <a:p>
            <a:pPr marL="0" indent="0" fontAlgn="base">
              <a:buNone/>
            </a:pPr>
            <a:r>
              <a:rPr lang="en-US" sz="900" b="1" dirty="0"/>
              <a:t>2. Based on Connection Type</a:t>
            </a:r>
          </a:p>
          <a:p>
            <a:pPr fontAlgn="base"/>
            <a:r>
              <a:rPr lang="en-US" sz="900" b="1" dirty="0" smtClean="0"/>
              <a:t>Wired </a:t>
            </a:r>
            <a:r>
              <a:rPr lang="en-US" sz="900" b="1" dirty="0"/>
              <a:t>Repeaters: </a:t>
            </a:r>
            <a:r>
              <a:rPr lang="en-US" sz="900" dirty="0"/>
              <a:t>Wired repeaters are used in wired Local Area Networks(LANs). Wired repeater receives the signal and repeats it. This helps to extend the network travel data without loosing it's strength and data.</a:t>
            </a:r>
          </a:p>
          <a:p>
            <a:pPr fontAlgn="base"/>
            <a:r>
              <a:rPr lang="en-US" sz="900" b="1" dirty="0"/>
              <a:t>Wireless Repeaters:</a:t>
            </a:r>
            <a:r>
              <a:rPr lang="en-US" sz="900" dirty="0"/>
              <a:t> Wireless repeaters are used in wireless Local Area Networks(LANs) and </a:t>
            </a:r>
            <a:r>
              <a:rPr lang="en-US" sz="900" u="sng" dirty="0">
                <a:hlinkClick r:id="rId2"/>
              </a:rPr>
              <a:t>Cellular networks</a:t>
            </a:r>
            <a:r>
              <a:rPr lang="en-US" sz="900" dirty="0"/>
              <a:t>. A router connected in the network sends wireless signal to the repeater. Once received, repeater </a:t>
            </a:r>
            <a:r>
              <a:rPr lang="en-US" sz="900" u="sng" dirty="0">
                <a:hlinkClick r:id="rId3"/>
              </a:rPr>
              <a:t>broadcast </a:t>
            </a:r>
            <a:r>
              <a:rPr lang="en-US" sz="900" dirty="0"/>
              <a:t>the signal to increase the coverage of network.</a:t>
            </a:r>
          </a:p>
          <a:p>
            <a:pPr marL="0" indent="0" fontAlgn="base">
              <a:buNone/>
            </a:pPr>
            <a:r>
              <a:rPr lang="en-US" sz="900" b="1" dirty="0"/>
              <a:t>3. Based on LAN Domain Location</a:t>
            </a:r>
          </a:p>
          <a:p>
            <a:pPr fontAlgn="base"/>
            <a:r>
              <a:rPr lang="en-US" sz="900" b="1" dirty="0" smtClean="0"/>
              <a:t>Local </a:t>
            </a:r>
            <a:r>
              <a:rPr lang="en-US" sz="900" b="1" dirty="0"/>
              <a:t>Repeaters: </a:t>
            </a:r>
            <a:r>
              <a:rPr lang="en-US" sz="900" dirty="0"/>
              <a:t>Local Repeaters are used in Local Area Networks where the network is very small. The distance between the devices connected in network is very small.</a:t>
            </a:r>
          </a:p>
          <a:p>
            <a:pPr fontAlgn="base"/>
            <a:r>
              <a:rPr lang="en-US" sz="900" b="1" dirty="0"/>
              <a:t>Remote Repeaters:</a:t>
            </a:r>
            <a:r>
              <a:rPr lang="en-US" sz="900" dirty="0"/>
              <a:t> Remote Repeaters are used in </a:t>
            </a:r>
            <a:r>
              <a:rPr lang="en-US" sz="900" u="sng" dirty="0">
                <a:hlinkClick r:id="rId4"/>
              </a:rPr>
              <a:t>Local Area Networks</a:t>
            </a:r>
            <a:r>
              <a:rPr lang="en-US" sz="900" dirty="0"/>
              <a:t> where network is very large. The distance between the devices connected in network is more.</a:t>
            </a:r>
          </a:p>
          <a:p>
            <a:pPr marL="0" indent="0" fontAlgn="base">
              <a:buNone/>
            </a:pPr>
            <a:r>
              <a:rPr lang="en-US" sz="900" b="1" dirty="0"/>
              <a:t>4. Based on Technology</a:t>
            </a:r>
          </a:p>
          <a:p>
            <a:pPr fontAlgn="base"/>
            <a:r>
              <a:rPr lang="en-US" sz="900" b="1" dirty="0" smtClean="0"/>
              <a:t>Microwave </a:t>
            </a:r>
            <a:r>
              <a:rPr lang="en-US" sz="900" b="1" dirty="0"/>
              <a:t>Repeater:</a:t>
            </a:r>
            <a:r>
              <a:rPr lang="en-US" sz="900" dirty="0"/>
              <a:t> Microwave repeaters are defined as a type of repeater that are embedded between the source and destination that is transmitting station and receiving station. The use of microwave repeater depends upon the distance between two devices. In microwave repeaters high power transmitters and sensitive receivers are used.</a:t>
            </a:r>
          </a:p>
          <a:p>
            <a:pPr fontAlgn="base"/>
            <a:r>
              <a:rPr lang="en-US" sz="900" b="1" dirty="0"/>
              <a:t>Optical Repeater: </a:t>
            </a:r>
            <a:r>
              <a:rPr lang="en-US" sz="900" dirty="0"/>
              <a:t>Optical repeaters are defined as a type of repeaters that are used for the communication of </a:t>
            </a:r>
            <a:r>
              <a:rPr lang="en-US" sz="900" u="sng" dirty="0" err="1">
                <a:hlinkClick r:id="rId5"/>
              </a:rPr>
              <a:t>fibre</a:t>
            </a:r>
            <a:r>
              <a:rPr lang="en-US" sz="900" u="sng" dirty="0">
                <a:hlinkClick r:id="rId5"/>
              </a:rPr>
              <a:t> optic communication systems</a:t>
            </a:r>
            <a:r>
              <a:rPr lang="en-US" sz="900" dirty="0"/>
              <a:t>. Optical repeaters can amplify and reshape the operations before they are being transmitted. The optical repeater grabs all the signals from optical fiber cable into electronic form.</a:t>
            </a:r>
          </a:p>
          <a:p>
            <a:pPr fontAlgn="base"/>
            <a:r>
              <a:rPr lang="en-US" sz="900" b="1" dirty="0"/>
              <a:t>Radio Repeater: </a:t>
            </a:r>
            <a:r>
              <a:rPr lang="en-US" sz="900" dirty="0"/>
              <a:t>Radio repeater is a type of repeater that transmits all the received data into radio signals. Radio repeaters has two different ports namely radio receiver and radio transmitter. Radio transmitter is used to retransmit the data that is received from repeater and radio receiver collects all the incoming data in form of signals.</a:t>
            </a:r>
          </a:p>
          <a:p>
            <a:pPr fontAlgn="base"/>
            <a:r>
              <a:rPr lang="en-US" sz="900" b="1" dirty="0"/>
              <a:t>Telephone Repeater: </a:t>
            </a:r>
            <a:r>
              <a:rPr lang="en-US" sz="900" dirty="0"/>
              <a:t>Telephone repeaters are type of repeaters used for long distance networks. Amplifiers having transistors are used in telephone repeater. Telephone repeater is a bidirectional communication system. Telephone repeaters are majorly used for communication in submarines.</a:t>
            </a:r>
          </a:p>
        </p:txBody>
      </p:sp>
    </p:spTree>
    <p:extLst>
      <p:ext uri="{BB962C8B-B14F-4D97-AF65-F5344CB8AC3E}">
        <p14:creationId xmlns:p14="http://schemas.microsoft.com/office/powerpoint/2010/main" val="168329993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Bridge</a:t>
            </a:r>
            <a:endParaRPr lang="en-US" dirty="0"/>
          </a:p>
        </p:txBody>
      </p:sp>
      <p:sp>
        <p:nvSpPr>
          <p:cNvPr id="5" name="Content Placeholder 4"/>
          <p:cNvSpPr>
            <a:spLocks noGrp="1"/>
          </p:cNvSpPr>
          <p:nvPr>
            <p:ph idx="1"/>
          </p:nvPr>
        </p:nvSpPr>
        <p:spPr>
          <a:xfrm>
            <a:off x="1295401" y="2556932"/>
            <a:ext cx="4720388" cy="3318936"/>
          </a:xfrm>
        </p:spPr>
        <p:txBody>
          <a:bodyPr>
            <a:normAutofit fontScale="62500" lnSpcReduction="20000"/>
          </a:bodyPr>
          <a:lstStyle/>
          <a:p>
            <a:pPr fontAlgn="base"/>
            <a:r>
              <a:rPr lang="en-US" dirty="0"/>
              <a:t>A bridge in a computer network is a device used to connect multiple LANs together with a larger Local Area Network (LAN). The mechanism of network aggregation is known as bridging. </a:t>
            </a:r>
            <a:endParaRPr lang="en-US" dirty="0" smtClean="0"/>
          </a:p>
          <a:p>
            <a:pPr fontAlgn="base"/>
            <a:r>
              <a:rPr lang="en-US" dirty="0" smtClean="0"/>
              <a:t>The </a:t>
            </a:r>
            <a:r>
              <a:rPr lang="en-US" dirty="0"/>
              <a:t>bridge is a physical or hardware device but operates at the OSI model's data link layer and is also known as a layer of two switches. </a:t>
            </a:r>
          </a:p>
          <a:p>
            <a:pPr fontAlgn="base"/>
            <a:r>
              <a:rPr lang="en-US" dirty="0"/>
              <a:t>The primary responsibility of a switch is to examine the incoming traffic and determine whether to filter or forward it. </a:t>
            </a:r>
            <a:endParaRPr lang="en-US" dirty="0" smtClean="0"/>
          </a:p>
          <a:p>
            <a:pPr fontAlgn="base"/>
            <a:r>
              <a:rPr lang="en-US" dirty="0" smtClean="0"/>
              <a:t>Basically</a:t>
            </a:r>
            <a:r>
              <a:rPr lang="en-US" dirty="0"/>
              <a:t>, a bridge in computer networks is used to divide network connections into sections, now each section has a separate </a:t>
            </a:r>
            <a:r>
              <a:rPr lang="en-US" u="sng" dirty="0">
                <a:hlinkClick r:id="rId2"/>
              </a:rPr>
              <a:t>bandwidth </a:t>
            </a:r>
            <a:r>
              <a:rPr lang="en-US" dirty="0"/>
              <a:t>and a separate collision domain. Here bridge is used to improve network performance. </a:t>
            </a:r>
          </a:p>
          <a:p>
            <a:pPr marL="0" indent="0">
              <a:buNone/>
            </a:pPr>
            <a:endParaRPr lang="en-US" dirty="0"/>
          </a:p>
        </p:txBody>
      </p:sp>
      <p:pic>
        <p:nvPicPr>
          <p:cNvPr id="17412" name="Picture 4" descr="Bridge in L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0241" y="3082089"/>
            <a:ext cx="4794127" cy="1557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91657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79897" y="2451054"/>
            <a:ext cx="9601196" cy="3318936"/>
          </a:xfrm>
        </p:spPr>
        <p:txBody>
          <a:bodyPr>
            <a:noAutofit/>
          </a:bodyPr>
          <a:lstStyle/>
          <a:p>
            <a:pPr marL="0" indent="0" fontAlgn="base">
              <a:buNone/>
            </a:pPr>
            <a:r>
              <a:rPr lang="en-US" sz="1200" b="1" dirty="0"/>
              <a:t>Types of Bridges </a:t>
            </a:r>
          </a:p>
          <a:p>
            <a:pPr fontAlgn="base"/>
            <a:r>
              <a:rPr lang="en-US" sz="1200" b="1" dirty="0" smtClean="0"/>
              <a:t>Transparent </a:t>
            </a:r>
            <a:r>
              <a:rPr lang="en-US" sz="1200" b="1" dirty="0"/>
              <a:t>Bridge: </a:t>
            </a:r>
            <a:r>
              <a:rPr lang="en-US" sz="1200" dirty="0"/>
              <a:t>Transparent bridges are invisible to other devices on the network. This bridge doesn't reconfigure the network on the addition or deletion of any station. The prime function of the transparent bridge is to block or forward the data according to the MAC address. </a:t>
            </a:r>
          </a:p>
          <a:p>
            <a:pPr fontAlgn="base"/>
            <a:r>
              <a:rPr lang="en-US" sz="1200" b="1" dirty="0"/>
              <a:t>Source Routing Bridge:</a:t>
            </a:r>
            <a:r>
              <a:rPr lang="en-US" sz="1200" dirty="0"/>
              <a:t> Source routing bridges were developed and designed by IBM specifically for token ring networks. The frame's entire route is embedded with the data frames by the source station to perform the routing operation so that once the frame is forwarded it must follow a specific defined path/route. </a:t>
            </a:r>
          </a:p>
          <a:p>
            <a:pPr fontAlgn="base"/>
            <a:r>
              <a:rPr lang="en-US" sz="1200" b="1" dirty="0"/>
              <a:t>Translational Bridge:</a:t>
            </a:r>
            <a:r>
              <a:rPr lang="en-US" sz="1200" dirty="0"/>
              <a:t> Translational bridges convert the received data from one networking system to another. Or it is used to communicate or transmit data between two different types of networking systems. Like if we are sending data from a token ring to an Ethernet cable, the translational cable will be used to connect both the networking system and transmit data.  </a:t>
            </a:r>
          </a:p>
          <a:p>
            <a:pPr marL="0" indent="0" fontAlgn="base">
              <a:buNone/>
            </a:pPr>
            <a:r>
              <a:rPr lang="en-US" sz="1200" b="1" dirty="0"/>
              <a:t>Working of Bridges</a:t>
            </a:r>
          </a:p>
          <a:p>
            <a:pPr fontAlgn="base"/>
            <a:r>
              <a:rPr lang="en-US" sz="1200" b="1" dirty="0" smtClean="0"/>
              <a:t>Receiving </a:t>
            </a:r>
            <a:r>
              <a:rPr lang="en-US" sz="1200" b="1" dirty="0"/>
              <a:t>Data: </a:t>
            </a:r>
            <a:r>
              <a:rPr lang="en-US" sz="1200" dirty="0"/>
              <a:t>The bridge gets data packets (or frames) from both network segments A and B.</a:t>
            </a:r>
          </a:p>
          <a:p>
            <a:pPr fontAlgn="base"/>
            <a:r>
              <a:rPr lang="en-US" sz="1200" b="1" dirty="0"/>
              <a:t>Building a Table</a:t>
            </a:r>
            <a:r>
              <a:rPr lang="en-US" sz="1200" dirty="0"/>
              <a:t>: It creates a table of MAC addresses by looking at where the data is coming from to know which device is on which segment.</a:t>
            </a:r>
          </a:p>
          <a:p>
            <a:pPr fontAlgn="base"/>
            <a:r>
              <a:rPr lang="en-US" sz="1200" b="1" dirty="0"/>
              <a:t>Filtering Data:</a:t>
            </a:r>
            <a:r>
              <a:rPr lang="en-US" sz="1200" dirty="0"/>
              <a:t> If the data from network A is meant for a device also on network A, the bridge stops it from going further.</a:t>
            </a:r>
          </a:p>
          <a:p>
            <a:pPr fontAlgn="base"/>
            <a:r>
              <a:rPr lang="en-US" sz="1200" b="1" dirty="0"/>
              <a:t>Forwarding Data:</a:t>
            </a:r>
            <a:r>
              <a:rPr lang="en-US" sz="1200" dirty="0"/>
              <a:t> If the data from network A is meant for a device on network B, the bridge sends it to the correct place on network B.</a:t>
            </a:r>
          </a:p>
          <a:p>
            <a:pPr fontAlgn="base"/>
            <a:r>
              <a:rPr lang="en-US" sz="1200" b="1" dirty="0"/>
              <a:t>Repeating for Both Sides:</a:t>
            </a:r>
            <a:r>
              <a:rPr lang="en-US" sz="1200" dirty="0"/>
              <a:t> The bridge does the same thing for data coming from network B.</a:t>
            </a:r>
          </a:p>
        </p:txBody>
      </p:sp>
    </p:spTree>
    <p:extLst>
      <p:ext uri="{BB962C8B-B14F-4D97-AF65-F5344CB8AC3E}">
        <p14:creationId xmlns:p14="http://schemas.microsoft.com/office/powerpoint/2010/main" val="382512045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and Uses</a:t>
            </a:r>
            <a:endParaRPr lang="en-US" dirty="0"/>
          </a:p>
        </p:txBody>
      </p:sp>
      <p:sp>
        <p:nvSpPr>
          <p:cNvPr id="3" name="Content Placeholder 2"/>
          <p:cNvSpPr>
            <a:spLocks noGrp="1"/>
          </p:cNvSpPr>
          <p:nvPr>
            <p:ph idx="1"/>
          </p:nvPr>
        </p:nvSpPr>
        <p:spPr/>
        <p:txBody>
          <a:bodyPr>
            <a:normAutofit fontScale="55000" lnSpcReduction="20000"/>
          </a:bodyPr>
          <a:lstStyle/>
          <a:p>
            <a:pPr marL="0" indent="0" fontAlgn="base">
              <a:buNone/>
            </a:pPr>
            <a:r>
              <a:rPr lang="en-US" b="1" dirty="0"/>
              <a:t>Uses of Bridge in Computer Network</a:t>
            </a:r>
          </a:p>
          <a:p>
            <a:pPr fontAlgn="base"/>
            <a:r>
              <a:rPr lang="en-US" dirty="0"/>
              <a:t>Bridges are used to increase the network capacity as they can integrate multiple LANs together. </a:t>
            </a:r>
          </a:p>
          <a:p>
            <a:pPr fontAlgn="base"/>
            <a:r>
              <a:rPr lang="en-US" dirty="0"/>
              <a:t>On receiving a data frame, databases use the bridge to decide whether to accept or reject the data. </a:t>
            </a:r>
          </a:p>
          <a:p>
            <a:pPr fontAlgn="base"/>
            <a:r>
              <a:rPr lang="en-US" dirty="0"/>
              <a:t>In the OSI model, it can be used to transmit the data to multiple nodes of the network.</a:t>
            </a:r>
          </a:p>
          <a:p>
            <a:pPr fontAlgn="base"/>
            <a:r>
              <a:rPr lang="en-US" dirty="0"/>
              <a:t>Used to broadcast the data even if the MAC address or destination address is unavailable.</a:t>
            </a:r>
          </a:p>
          <a:p>
            <a:pPr fontAlgn="base"/>
            <a:r>
              <a:rPr lang="en-US" dirty="0"/>
              <a:t>It forwards data packets despite faulty nodes. </a:t>
            </a:r>
          </a:p>
          <a:p>
            <a:pPr fontAlgn="base"/>
            <a:r>
              <a:rPr lang="en-US" dirty="0"/>
              <a:t>The data packet can be forwarded or discarded by the bridge when the MAC address is available. </a:t>
            </a:r>
          </a:p>
          <a:p>
            <a:pPr marL="0" indent="0" fontAlgn="base">
              <a:buNone/>
            </a:pPr>
            <a:r>
              <a:rPr lang="en-US" b="1" dirty="0"/>
              <a:t>Functions of Bridges in the Network </a:t>
            </a:r>
          </a:p>
          <a:p>
            <a:pPr fontAlgn="base"/>
            <a:r>
              <a:rPr lang="en-US" dirty="0"/>
              <a:t>The bridge is used to divide LANs into multiple segments.</a:t>
            </a:r>
          </a:p>
          <a:p>
            <a:pPr fontAlgn="base"/>
            <a:r>
              <a:rPr lang="en-US" dirty="0"/>
              <a:t>To control the traffic in the network.</a:t>
            </a:r>
          </a:p>
          <a:p>
            <a:pPr fontAlgn="base"/>
            <a:r>
              <a:rPr lang="en-US" dirty="0"/>
              <a:t>It can interconnect two LANs with a similar protocols. </a:t>
            </a:r>
          </a:p>
          <a:p>
            <a:pPr fontAlgn="base"/>
            <a:r>
              <a:rPr lang="en-US" dirty="0"/>
              <a:t>It can filter the data based on destination/MAC address. </a:t>
            </a:r>
          </a:p>
        </p:txBody>
      </p:sp>
    </p:spTree>
    <p:extLst>
      <p:ext uri="{BB962C8B-B14F-4D97-AF65-F5344CB8AC3E}">
        <p14:creationId xmlns:p14="http://schemas.microsoft.com/office/powerpoint/2010/main" val="83949884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Switches</a:t>
            </a:r>
            <a:endParaRPr lang="en-US" dirty="0"/>
          </a:p>
        </p:txBody>
      </p:sp>
      <p:sp>
        <p:nvSpPr>
          <p:cNvPr id="3" name="Content Placeholder 2"/>
          <p:cNvSpPr>
            <a:spLocks noGrp="1"/>
          </p:cNvSpPr>
          <p:nvPr>
            <p:ph idx="1"/>
          </p:nvPr>
        </p:nvSpPr>
        <p:spPr>
          <a:xfrm>
            <a:off x="1295401" y="2556932"/>
            <a:ext cx="5952422" cy="3318936"/>
          </a:xfrm>
        </p:spPr>
        <p:txBody>
          <a:bodyPr>
            <a:normAutofit fontScale="92500" lnSpcReduction="20000"/>
          </a:bodyPr>
          <a:lstStyle/>
          <a:p>
            <a:pPr fontAlgn="base"/>
            <a:r>
              <a:rPr lang="en-US" dirty="0"/>
              <a:t>The Switch is a network device that is used to segment the networks into different subnetworks called subnets or LAN segments. It is responsible for filtering and forwarding the packets between LAN segments based on MAC address. </a:t>
            </a:r>
          </a:p>
          <a:p>
            <a:pPr fontAlgn="base"/>
            <a:r>
              <a:rPr lang="en-US" dirty="0"/>
              <a:t>Switches have many ports, and when data arrives at any port, the destination address is examined first and some checks are also done and then it is processed to the devices. Different types of communication are supported here like unicast, multicast, and broadcast communication.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3584" y="2444816"/>
            <a:ext cx="4032984" cy="3513221"/>
          </a:xfrm>
          <a:prstGeom prst="rect">
            <a:avLst/>
          </a:prstGeom>
        </p:spPr>
      </p:pic>
    </p:spTree>
    <p:extLst>
      <p:ext uri="{BB962C8B-B14F-4D97-AF65-F5344CB8AC3E}">
        <p14:creationId xmlns:p14="http://schemas.microsoft.com/office/powerpoint/2010/main" val="189640004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4020" y="718506"/>
            <a:ext cx="9601196" cy="3318936"/>
          </a:xfrm>
        </p:spPr>
        <p:txBody>
          <a:bodyPr>
            <a:noAutofit/>
          </a:bodyPr>
          <a:lstStyle/>
          <a:p>
            <a:pPr marL="0" indent="0" fontAlgn="base">
              <a:buNone/>
            </a:pPr>
            <a:r>
              <a:rPr lang="en-US" b="1" dirty="0"/>
              <a:t>Features of Network Switches</a:t>
            </a:r>
          </a:p>
          <a:p>
            <a:pPr fontAlgn="base"/>
            <a:r>
              <a:rPr lang="en-US" sz="1400" dirty="0"/>
              <a:t>It operates in the Data Link Layer in the </a:t>
            </a:r>
            <a:r>
              <a:rPr lang="en-US" sz="1400" u="sng" dirty="0">
                <a:hlinkClick r:id="rId2"/>
              </a:rPr>
              <a:t>OSI Model</a:t>
            </a:r>
            <a:r>
              <a:rPr lang="en-US" sz="1400" dirty="0"/>
              <a:t>.</a:t>
            </a:r>
          </a:p>
          <a:p>
            <a:pPr fontAlgn="base"/>
            <a:r>
              <a:rPr lang="en-US" sz="1400" dirty="0"/>
              <a:t>It performs error checking before forwarding data.</a:t>
            </a:r>
          </a:p>
          <a:p>
            <a:pPr fontAlgn="base"/>
            <a:r>
              <a:rPr lang="en-US" sz="1400" dirty="0"/>
              <a:t>It transfers the data only to the device that has been addressed.</a:t>
            </a:r>
          </a:p>
          <a:p>
            <a:pPr fontAlgn="base"/>
            <a:r>
              <a:rPr lang="en-US" sz="1400" dirty="0"/>
              <a:t>It operates in full duplex mode.</a:t>
            </a:r>
          </a:p>
          <a:p>
            <a:pPr fontAlgn="base"/>
            <a:r>
              <a:rPr lang="en-US" sz="1400" dirty="0"/>
              <a:t>It allocates each </a:t>
            </a:r>
            <a:r>
              <a:rPr lang="en-US" sz="1400" u="sng" dirty="0">
                <a:hlinkClick r:id="rId3"/>
              </a:rPr>
              <a:t>LAN</a:t>
            </a:r>
            <a:r>
              <a:rPr lang="en-US" sz="1400" dirty="0"/>
              <a:t> segment to a limited bandwidth.</a:t>
            </a:r>
          </a:p>
          <a:p>
            <a:pPr fontAlgn="base"/>
            <a:r>
              <a:rPr lang="en-US" sz="1400" dirty="0"/>
              <a:t>It uses Unicast (one-to-one), multicast (one-to-many), and broadcast (one-to-all) transmission modes.</a:t>
            </a:r>
          </a:p>
          <a:p>
            <a:pPr fontAlgn="base"/>
            <a:r>
              <a:rPr lang="en-US" sz="1400" dirty="0"/>
              <a:t>Packet-switching techniques are used to transfer data packets from source to destination.</a:t>
            </a:r>
          </a:p>
          <a:p>
            <a:pPr fontAlgn="base"/>
            <a:r>
              <a:rPr lang="en-US" sz="1400" dirty="0"/>
              <a:t>Switches have a more significant number of ports.</a:t>
            </a:r>
          </a:p>
          <a:p>
            <a:pPr marL="0" indent="0" fontAlgn="base">
              <a:buNone/>
            </a:pPr>
            <a:r>
              <a:rPr lang="en-US" sz="2000" b="1" dirty="0"/>
              <a:t>Why Are Network Switches Valuable?</a:t>
            </a:r>
          </a:p>
          <a:p>
            <a:pPr fontAlgn="base"/>
            <a:r>
              <a:rPr lang="en-US" sz="1400" dirty="0"/>
              <a:t>Switches are one of the most important things for transferring information between different endpoints. Some of the benefits are mentioned below.</a:t>
            </a:r>
          </a:p>
          <a:p>
            <a:pPr fontAlgn="base"/>
            <a:r>
              <a:rPr lang="en-US" sz="1400" dirty="0"/>
              <a:t>Switches are having </a:t>
            </a:r>
            <a:r>
              <a:rPr lang="en-US" sz="1400" u="sng" dirty="0">
                <a:hlinkClick r:id="rId4"/>
              </a:rPr>
              <a:t>full-duplex communication</a:t>
            </a:r>
            <a:r>
              <a:rPr lang="en-US" sz="1400" dirty="0"/>
              <a:t> which helps in making effective use of bandwidth.</a:t>
            </a:r>
          </a:p>
          <a:p>
            <a:pPr fontAlgn="base"/>
            <a:r>
              <a:rPr lang="en-US" sz="1400" dirty="0"/>
              <a:t>Switches help to provide a wired connection to printers, </a:t>
            </a:r>
            <a:r>
              <a:rPr lang="en-US" sz="1400" dirty="0" err="1"/>
              <a:t>IoT</a:t>
            </a:r>
            <a:r>
              <a:rPr lang="en-US" sz="1400" dirty="0"/>
              <a:t> devices, wireless points, and many more devices.</a:t>
            </a:r>
          </a:p>
          <a:p>
            <a:pPr fontAlgn="base"/>
            <a:r>
              <a:rPr lang="en-US" sz="1400" dirty="0" err="1"/>
              <a:t>IoT</a:t>
            </a:r>
            <a:r>
              <a:rPr lang="en-US" sz="1400" dirty="0"/>
              <a:t> Devices send data through Network Switches that help in making smarter surroundings with the help of </a:t>
            </a:r>
            <a:r>
              <a:rPr lang="en-US" sz="1400" u="sng" dirty="0">
                <a:hlinkClick r:id="rId5"/>
              </a:rPr>
              <a:t>Artificial Intelligence</a:t>
            </a:r>
            <a:r>
              <a:rPr lang="en-US" sz="1400" dirty="0"/>
              <a:t>.</a:t>
            </a:r>
          </a:p>
          <a:p>
            <a:pPr fontAlgn="base"/>
            <a:r>
              <a:rPr lang="en-US" sz="1400" dirty="0"/>
              <a:t>Network Devices are made with the help of Switches that carry a large number of traffic in telecommunication.</a:t>
            </a:r>
          </a:p>
        </p:txBody>
      </p:sp>
    </p:spTree>
    <p:extLst>
      <p:ext uri="{BB962C8B-B14F-4D97-AF65-F5344CB8AC3E}">
        <p14:creationId xmlns:p14="http://schemas.microsoft.com/office/powerpoint/2010/main" val="156336826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Router</a:t>
            </a:r>
            <a:endParaRPr lang="en-US" dirty="0"/>
          </a:p>
        </p:txBody>
      </p:sp>
      <p:sp>
        <p:nvSpPr>
          <p:cNvPr id="3" name="Content Placeholder 2"/>
          <p:cNvSpPr>
            <a:spLocks noGrp="1"/>
          </p:cNvSpPr>
          <p:nvPr>
            <p:ph idx="1"/>
          </p:nvPr>
        </p:nvSpPr>
        <p:spPr>
          <a:xfrm>
            <a:off x="1295401" y="2556932"/>
            <a:ext cx="5240153" cy="3318936"/>
          </a:xfrm>
        </p:spPr>
        <p:txBody>
          <a:bodyPr>
            <a:normAutofit fontScale="62500" lnSpcReduction="20000"/>
          </a:bodyPr>
          <a:lstStyle/>
          <a:p>
            <a:r>
              <a:rPr lang="en-US" dirty="0"/>
              <a:t>A router is a networking device that forwards data packets between different computer networks. It connects multiple packet-switched networks or subnetworks, managing traffic by directing packets to their intended IP addresses. Routers allow multiple devices to share an Internet connection efficiently</a:t>
            </a:r>
            <a:r>
              <a:rPr lang="en-US" dirty="0" smtClean="0"/>
              <a:t>.</a:t>
            </a:r>
          </a:p>
          <a:p>
            <a:pPr fontAlgn="base"/>
            <a:r>
              <a:rPr lang="en-US" b="1" dirty="0"/>
              <a:t>How Does a Router Work?</a:t>
            </a:r>
          </a:p>
          <a:p>
            <a:pPr fontAlgn="base"/>
            <a:r>
              <a:rPr lang="en-US" dirty="0"/>
              <a:t>Routers determine the path for a packet by examining its destination IP address and consulting the routing table, which contains information on network paths. They use a set of rules to identify the most efficient route for each packet.</a:t>
            </a:r>
          </a:p>
          <a:p>
            <a:pPr fontAlgn="base"/>
            <a:r>
              <a:rPr lang="en-US" b="1" dirty="0"/>
              <a:t>Static routing:</a:t>
            </a:r>
            <a:r>
              <a:rPr lang="en-US" dirty="0"/>
              <a:t> Configured manually, suitable for small or stable networks.</a:t>
            </a:r>
          </a:p>
          <a:p>
            <a:pPr fontAlgn="base"/>
            <a:r>
              <a:rPr lang="en-US" b="1" dirty="0"/>
              <a:t>Dynamic routing:</a:t>
            </a:r>
            <a:r>
              <a:rPr lang="en-US" dirty="0"/>
              <a:t> Automatically updated based on network activity, ideal for large or changing networks.</a:t>
            </a:r>
          </a:p>
          <a:p>
            <a:endParaRPr lang="en-US" dirty="0"/>
          </a:p>
        </p:txBody>
      </p:sp>
      <p:pic>
        <p:nvPicPr>
          <p:cNvPr id="18434" name="Picture 2" descr="Network_de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270" y="2392412"/>
            <a:ext cx="3414328" cy="36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25515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Functions of a Router</a:t>
            </a:r>
          </a:p>
        </p:txBody>
      </p:sp>
      <p:sp>
        <p:nvSpPr>
          <p:cNvPr id="3" name="Content Placeholder 2"/>
          <p:cNvSpPr>
            <a:spLocks noGrp="1"/>
          </p:cNvSpPr>
          <p:nvPr>
            <p:ph idx="1"/>
          </p:nvPr>
        </p:nvSpPr>
        <p:spPr/>
        <p:txBody>
          <a:bodyPr>
            <a:normAutofit fontScale="85000" lnSpcReduction="20000"/>
          </a:bodyPr>
          <a:lstStyle/>
          <a:p>
            <a:pPr fontAlgn="base"/>
            <a:r>
              <a:rPr lang="en-US" b="1" dirty="0" smtClean="0"/>
              <a:t>Forwarding</a:t>
            </a:r>
            <a:r>
              <a:rPr lang="en-US" b="1" dirty="0"/>
              <a:t>:</a:t>
            </a:r>
            <a:r>
              <a:rPr lang="en-US" dirty="0"/>
              <a:t> Receives packets, examines headers, and forwards them to the correct output port.</a:t>
            </a:r>
          </a:p>
          <a:p>
            <a:pPr fontAlgn="base"/>
            <a:r>
              <a:rPr lang="en-US" b="1" dirty="0"/>
              <a:t>Routing:</a:t>
            </a:r>
            <a:r>
              <a:rPr lang="en-US" dirty="0"/>
              <a:t> Determines the optimal path for packets using routing tables and algorithms.</a:t>
            </a:r>
          </a:p>
          <a:p>
            <a:pPr fontAlgn="base"/>
            <a:r>
              <a:rPr lang="en-US" b="1" dirty="0"/>
              <a:t>Network Address Translation (NAT):</a:t>
            </a:r>
            <a:r>
              <a:rPr lang="en-US" dirty="0"/>
              <a:t> Translates private IPs to a public IP for Internet access.</a:t>
            </a:r>
          </a:p>
          <a:p>
            <a:pPr fontAlgn="base"/>
            <a:r>
              <a:rPr lang="en-US" b="1" dirty="0"/>
              <a:t>Security:</a:t>
            </a:r>
            <a:r>
              <a:rPr lang="en-US" dirty="0"/>
              <a:t> Supports firewalls and other security measures.</a:t>
            </a:r>
          </a:p>
          <a:p>
            <a:pPr fontAlgn="base"/>
            <a:r>
              <a:rPr lang="en-US" b="1" dirty="0"/>
              <a:t>VPN Connectivity:</a:t>
            </a:r>
            <a:r>
              <a:rPr lang="en-US" dirty="0"/>
              <a:t> Provides secure remote access to networks.</a:t>
            </a:r>
          </a:p>
          <a:p>
            <a:pPr fontAlgn="base"/>
            <a:r>
              <a:rPr lang="en-US" b="1" dirty="0"/>
              <a:t>Bandwidth Management:</a:t>
            </a:r>
            <a:r>
              <a:rPr lang="en-US" dirty="0"/>
              <a:t> Controls data flow to prevent congestion.</a:t>
            </a:r>
          </a:p>
          <a:p>
            <a:pPr fontAlgn="base"/>
            <a:r>
              <a:rPr lang="en-US" b="1" dirty="0"/>
              <a:t>Monitoring &amp; Diagnostics:</a:t>
            </a:r>
            <a:r>
              <a:rPr lang="en-US" dirty="0"/>
              <a:t> Tracks traffic and helps troubleshoot network issues.</a:t>
            </a:r>
          </a:p>
        </p:txBody>
      </p:sp>
    </p:spTree>
    <p:extLst>
      <p:ext uri="{BB962C8B-B14F-4D97-AF65-F5344CB8AC3E}">
        <p14:creationId xmlns:p14="http://schemas.microsoft.com/office/powerpoint/2010/main" val="161208517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2522" y="529744"/>
            <a:ext cx="9601196" cy="1303867"/>
          </a:xfrm>
        </p:spPr>
        <p:txBody>
          <a:bodyPr/>
          <a:lstStyle/>
          <a:p>
            <a:r>
              <a:rPr lang="en-US" dirty="0" smtClean="0"/>
              <a:t>Gateway</a:t>
            </a:r>
            <a:endParaRPr lang="en-US" dirty="0"/>
          </a:p>
        </p:txBody>
      </p:sp>
      <p:sp>
        <p:nvSpPr>
          <p:cNvPr id="3" name="Content Placeholder 2"/>
          <p:cNvSpPr>
            <a:spLocks noGrp="1"/>
          </p:cNvSpPr>
          <p:nvPr>
            <p:ph idx="1"/>
          </p:nvPr>
        </p:nvSpPr>
        <p:spPr>
          <a:xfrm>
            <a:off x="1112522" y="1709909"/>
            <a:ext cx="9889155" cy="3318936"/>
          </a:xfrm>
        </p:spPr>
        <p:txBody>
          <a:bodyPr>
            <a:noAutofit/>
          </a:bodyPr>
          <a:lstStyle/>
          <a:p>
            <a:r>
              <a:rPr lang="en-US" sz="1200" dirty="0"/>
              <a:t>A gateway is a network connectivity device that connects two different configuration networks. Gateways are also known as protocol converters, because they play an important role in converting protocols supported by traffic on different networks. </a:t>
            </a:r>
            <a:endParaRPr lang="en-US" sz="1200" dirty="0" smtClean="0"/>
          </a:p>
          <a:p>
            <a:r>
              <a:rPr lang="en-US" sz="1200" dirty="0" smtClean="0"/>
              <a:t>As </a:t>
            </a:r>
            <a:r>
              <a:rPr lang="en-US" sz="1200" dirty="0"/>
              <a:t>a result, it allows smooth communication between two networks. It works as the entry-exit point for a network because all traffic that passes across the networks must pass through the gateway. A gateway monitors and controls all the incoming and outgoing network traffic</a:t>
            </a:r>
            <a:r>
              <a:rPr lang="en-US" sz="1200" dirty="0" smtClean="0"/>
              <a:t>.</a:t>
            </a:r>
          </a:p>
          <a:p>
            <a:pPr marL="0" indent="0" fontAlgn="base">
              <a:buNone/>
            </a:pPr>
            <a:r>
              <a:rPr lang="en-US" sz="1200" b="1" dirty="0"/>
              <a:t>Features of Gateways</a:t>
            </a:r>
          </a:p>
          <a:p>
            <a:pPr fontAlgn="base"/>
            <a:r>
              <a:rPr lang="en-US" sz="1200" dirty="0" smtClean="0"/>
              <a:t>A </a:t>
            </a:r>
            <a:r>
              <a:rPr lang="en-US" sz="1200" dirty="0"/>
              <a:t>gateway is situated at a network edge and manages all data that enters or exits the network.</a:t>
            </a:r>
          </a:p>
          <a:p>
            <a:pPr fontAlgn="base"/>
            <a:r>
              <a:rPr lang="en-US" sz="1200" dirty="0"/>
              <a:t>A gateway is distinct from other network devices in that it can operate at any layer of the </a:t>
            </a:r>
            <a:r>
              <a:rPr lang="en-US" sz="1200" u="sng" dirty="0">
                <a:hlinkClick r:id="rId2"/>
              </a:rPr>
              <a:t>OSI model</a:t>
            </a:r>
            <a:r>
              <a:rPr lang="en-US" sz="1200" dirty="0"/>
              <a:t>.</a:t>
            </a:r>
          </a:p>
          <a:p>
            <a:pPr fontAlgn="base"/>
            <a:r>
              <a:rPr lang="en-US" sz="1200" dirty="0"/>
              <a:t>Gateways made the transmission more feasible as it queued up all the data and divided it into small packets of data rather than sending it bulk.</a:t>
            </a:r>
          </a:p>
          <a:p>
            <a:pPr fontAlgn="base"/>
            <a:r>
              <a:rPr lang="en-US" sz="1200" dirty="0"/>
              <a:t>Gateways provide security within the network</a:t>
            </a:r>
            <a:r>
              <a:rPr lang="en-US" sz="1200" dirty="0" smtClean="0"/>
              <a:t>.</a:t>
            </a:r>
          </a:p>
          <a:p>
            <a:pPr marL="0" indent="0" fontAlgn="base">
              <a:buNone/>
            </a:pPr>
            <a:r>
              <a:rPr lang="en-US" sz="1200" b="1" dirty="0"/>
              <a:t>How Gateways Work?</a:t>
            </a:r>
          </a:p>
          <a:p>
            <a:pPr fontAlgn="base"/>
            <a:r>
              <a:rPr lang="en-US" sz="1200" dirty="0"/>
              <a:t>The gateway receives data from devices within the network.</a:t>
            </a:r>
          </a:p>
          <a:p>
            <a:pPr fontAlgn="base"/>
            <a:r>
              <a:rPr lang="en-US" sz="1200" dirty="0"/>
              <a:t>After receiving data the gateway intercept and analyze data packets, which include analyzing packet header, payload etc.</a:t>
            </a:r>
          </a:p>
          <a:p>
            <a:pPr fontAlgn="base"/>
            <a:r>
              <a:rPr lang="en-US" sz="1200" dirty="0"/>
              <a:t>Based on the analysis of the data packets, the gateway calculate an appropriate destination address of </a:t>
            </a:r>
            <a:r>
              <a:rPr lang="en-US" sz="1200" u="sng" dirty="0">
                <a:hlinkClick r:id="rId3"/>
              </a:rPr>
              <a:t>data packet</a:t>
            </a:r>
            <a:r>
              <a:rPr lang="en-US" sz="1200" dirty="0"/>
              <a:t>. It then routes the data packets to their destination address.</a:t>
            </a:r>
          </a:p>
          <a:p>
            <a:pPr fontAlgn="base"/>
            <a:r>
              <a:rPr lang="en-US" sz="1200" dirty="0"/>
              <a:t>In some cases, the gateway might also want to transform the format of the obtained data to ensure compatibility at the receiver.</a:t>
            </a:r>
          </a:p>
          <a:p>
            <a:pPr fontAlgn="base"/>
            <a:r>
              <a:rPr lang="en-US" sz="1200" dirty="0"/>
              <a:t>Once the data packets have been analyzed, routed, and converted, then the gateway sends the last packets to their respective destinations address inside the network.</a:t>
            </a:r>
          </a:p>
          <a:p>
            <a:pPr fontAlgn="base"/>
            <a:endParaRPr lang="en-US" sz="1200" dirty="0"/>
          </a:p>
          <a:p>
            <a:endParaRPr lang="en-US" sz="1200" dirty="0"/>
          </a:p>
        </p:txBody>
      </p:sp>
    </p:spTree>
    <p:extLst>
      <p:ext uri="{BB962C8B-B14F-4D97-AF65-F5344CB8AC3E}">
        <p14:creationId xmlns:p14="http://schemas.microsoft.com/office/powerpoint/2010/main" val="242857842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4878433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571</TotalTime>
  <Words>7569</Words>
  <Application>Microsoft Office PowerPoint</Application>
  <PresentationFormat>Widescreen</PresentationFormat>
  <Paragraphs>859</Paragraphs>
  <Slides>81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Garamond</vt:lpstr>
      <vt:lpstr>Symbol</vt:lpstr>
      <vt:lpstr>Times New Roman</vt:lpstr>
      <vt:lpstr>Organic</vt:lpstr>
      <vt:lpstr>Computer Network</vt:lpstr>
      <vt:lpstr>Computer Network</vt:lpstr>
      <vt:lpstr>PowerPoint Presentation</vt:lpstr>
      <vt:lpstr>Importance of Computer Networks</vt:lpstr>
      <vt:lpstr>PowerPoint Presentation</vt:lpstr>
      <vt:lpstr>Application of Computer Network</vt:lpstr>
      <vt:lpstr>PowerPoint Presentation</vt:lpstr>
      <vt:lpstr>Types of Computer Network</vt:lpstr>
      <vt:lpstr>PowerPoint Presentation</vt:lpstr>
      <vt:lpstr>Controller Area Network (CAN)</vt:lpstr>
      <vt:lpstr>PowerPoint Presentation</vt:lpstr>
      <vt:lpstr>Real-Life Applications of CAN: </vt:lpstr>
      <vt:lpstr>Wired Network</vt:lpstr>
      <vt:lpstr>Wireless network</vt:lpstr>
      <vt:lpstr>Network Topologies</vt:lpstr>
      <vt:lpstr>Types of Network Topologies</vt:lpstr>
      <vt:lpstr>Mesh Topology</vt:lpstr>
      <vt:lpstr>PowerPoint Presentation</vt:lpstr>
      <vt:lpstr>Star Topology</vt:lpstr>
      <vt:lpstr>PowerPoint Presentation</vt:lpstr>
      <vt:lpstr>Bus Topology</vt:lpstr>
      <vt:lpstr>PowerPoint Presentation</vt:lpstr>
      <vt:lpstr>Ring Topology</vt:lpstr>
      <vt:lpstr>PowerPoint Presentation</vt:lpstr>
      <vt:lpstr>Tree Topology</vt:lpstr>
      <vt:lpstr>PowerPoint Presentation</vt:lpstr>
      <vt:lpstr>Hybrid Topology</vt:lpstr>
      <vt:lpstr>PowerPoint Presentation</vt:lpstr>
      <vt:lpstr>Client Server Model</vt:lpstr>
      <vt:lpstr>Components of Client Server Model</vt:lpstr>
      <vt:lpstr>How Client Server works</vt:lpstr>
      <vt:lpstr>Features of the Client–Server Model</vt:lpstr>
      <vt:lpstr>Advantages and Disadvantages</vt:lpstr>
      <vt:lpstr>Peer-to-Peer (P2P) Network</vt:lpstr>
      <vt:lpstr>How a P2P Network Works</vt:lpstr>
      <vt:lpstr>Advantages and Disadvantages</vt:lpstr>
      <vt:lpstr>Types of P2P</vt:lpstr>
      <vt:lpstr>Differences </vt:lpstr>
      <vt:lpstr> Protocol and Standards </vt:lpstr>
      <vt:lpstr>Key Elements of Protocol</vt:lpstr>
      <vt:lpstr>Types of Protocols</vt:lpstr>
      <vt:lpstr>Important Protocols Used in Computer Network</vt:lpstr>
      <vt:lpstr>Standards</vt:lpstr>
      <vt:lpstr>Protocol and Standard Compliance in Network Security</vt:lpstr>
      <vt:lpstr>Major Organizations That Develop Network Standards</vt:lpstr>
      <vt:lpstr>PowerPoint Presentation</vt:lpstr>
      <vt:lpstr>Layered Architecture </vt:lpstr>
      <vt:lpstr>Features of Layered Architecture</vt:lpstr>
      <vt:lpstr> OSI Model</vt:lpstr>
      <vt:lpstr>Physical Layer</vt:lpstr>
      <vt:lpstr>Data Link Layer</vt:lpstr>
      <vt:lpstr>Network Layer</vt:lpstr>
      <vt:lpstr>Transport Layer</vt:lpstr>
      <vt:lpstr>Session Layer</vt:lpstr>
      <vt:lpstr>Presentation Layer</vt:lpstr>
      <vt:lpstr>Application Layer</vt:lpstr>
      <vt:lpstr>Data Flowing When Sending</vt:lpstr>
      <vt:lpstr>PowerPoint Presentation</vt:lpstr>
      <vt:lpstr>Data flow while receiving</vt:lpstr>
      <vt:lpstr>TCP/IP Model</vt:lpstr>
      <vt:lpstr>Layers of TCP/IP Model</vt:lpstr>
      <vt:lpstr>PowerPoint Presentation</vt:lpstr>
      <vt:lpstr>Working of TCP/IP Layer</vt:lpstr>
      <vt:lpstr>Why TCP/IP is Used Over the OSI Model</vt:lpstr>
      <vt:lpstr>PowerPoint Presentation</vt:lpstr>
      <vt:lpstr>Addressing at Different Layers</vt:lpstr>
      <vt:lpstr>PowerPoint Presentation</vt:lpstr>
      <vt:lpstr>Networking Devices</vt:lpstr>
      <vt:lpstr>Hub</vt:lpstr>
      <vt:lpstr>Repeater</vt:lpstr>
      <vt:lpstr>Working of Repeater</vt:lpstr>
      <vt:lpstr>Types of Repeaters</vt:lpstr>
      <vt:lpstr>Bridge</vt:lpstr>
      <vt:lpstr>PowerPoint Presentation</vt:lpstr>
      <vt:lpstr>Function and Uses</vt:lpstr>
      <vt:lpstr>Switches</vt:lpstr>
      <vt:lpstr>PowerPoint Presentation</vt:lpstr>
      <vt:lpstr>Router</vt:lpstr>
      <vt:lpstr>Functions of a Router</vt:lpstr>
      <vt:lpstr>Gateway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dc:title>
  <dc:creator>DELL</dc:creator>
  <cp:lastModifiedBy>DELL</cp:lastModifiedBy>
  <cp:revision>39</cp:revision>
  <dcterms:created xsi:type="dcterms:W3CDTF">2025-11-24T01:55:17Z</dcterms:created>
  <dcterms:modified xsi:type="dcterms:W3CDTF">2025-12-06T14:37:50Z</dcterms:modified>
</cp:coreProperties>
</file>
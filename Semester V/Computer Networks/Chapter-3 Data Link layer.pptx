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12.jpg" ContentType="image/jpeg"/>
  <Override PartName="/ppt/media/image38.jpg" ContentType="image/jpeg"/>
  <Override PartName="/ppt/media/image44.jpg" ContentType="image/jpeg"/>
  <Override PartName="/ppt/media/image45.jpg" ContentType="image/jpeg"/>
  <Override PartName="/ppt/media/image46.jpg" ContentType="image/jpeg"/>
  <Override PartName="/ppt/media/image49.jpg" ContentType="image/jpeg"/>
  <Override PartName="/ppt/media/image55.jpg" ContentType="image/jpeg"/>
  <Override PartName="/ppt/media/image58.jpg" ContentType="image/gif"/>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318" r:id="rId10"/>
    <p:sldId id="319" r:id="rId11"/>
    <p:sldId id="320" r:id="rId12"/>
    <p:sldId id="321" r:id="rId13"/>
    <p:sldId id="322"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114" d="100"/>
          <a:sy n="114" d="100"/>
        </p:scale>
        <p:origin x="42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64F6E20A-1B43-49FF-9185-012958C6B9FA}"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7771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spTree>
    <p:extLst>
      <p:ext uri="{BB962C8B-B14F-4D97-AF65-F5344CB8AC3E}">
        <p14:creationId xmlns:p14="http://schemas.microsoft.com/office/powerpoint/2010/main" val="3670103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429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01D3B86-E5D9-4366-BFCD-100A04CC914B}"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F6E20A-1B43-49FF-9185-012958C6B9FA}" type="slidenum">
              <a:rPr lang="en-US" smtClean="0"/>
              <a:t>‹#›</a:t>
            </a:fld>
            <a:endParaRPr lang="en-US"/>
          </a:p>
        </p:txBody>
      </p:sp>
    </p:spTree>
    <p:extLst>
      <p:ext uri="{BB962C8B-B14F-4D97-AF65-F5344CB8AC3E}">
        <p14:creationId xmlns:p14="http://schemas.microsoft.com/office/powerpoint/2010/main" val="3662903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01D3B86-E5D9-4366-BFCD-100A04CC914B}"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F6E20A-1B43-49FF-9185-012958C6B9FA}"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4879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01D3B86-E5D9-4366-BFCD-100A04CC914B}"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F6E20A-1B43-49FF-9185-012958C6B9F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56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1D3B86-E5D9-4366-BFCD-100A04CC914B}"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F6E20A-1B43-49FF-9185-012958C6B9FA}" type="slidenum">
              <a:rPr lang="en-US" smtClean="0"/>
              <a:t>‹#›</a:t>
            </a:fld>
            <a:endParaRPr lang="en-US"/>
          </a:p>
        </p:txBody>
      </p:sp>
    </p:spTree>
    <p:extLst>
      <p:ext uri="{BB962C8B-B14F-4D97-AF65-F5344CB8AC3E}">
        <p14:creationId xmlns:p14="http://schemas.microsoft.com/office/powerpoint/2010/main" val="1846753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01D3B86-E5D9-4366-BFCD-100A04CC914B}"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F6E20A-1B43-49FF-9185-012958C6B9FA}"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6535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01D3B86-E5D9-4366-BFCD-100A04CC914B}"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F6E20A-1B43-49FF-9185-012958C6B9FA}" type="slidenum">
              <a:rPr lang="en-US" smtClean="0"/>
              <a:t>‹#›</a:t>
            </a:fld>
            <a:endParaRPr lang="en-US"/>
          </a:p>
        </p:txBody>
      </p:sp>
    </p:spTree>
    <p:extLst>
      <p:ext uri="{BB962C8B-B14F-4D97-AF65-F5344CB8AC3E}">
        <p14:creationId xmlns:p14="http://schemas.microsoft.com/office/powerpoint/2010/main" val="1915527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01D3B86-E5D9-4366-BFCD-100A04CC914B}"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F6E20A-1B43-49FF-9185-012958C6B9FA}" type="slidenum">
              <a:rPr lang="en-US" smtClean="0"/>
              <a:t>‹#›</a:t>
            </a:fld>
            <a:endParaRPr lang="en-US"/>
          </a:p>
        </p:txBody>
      </p:sp>
    </p:spTree>
    <p:extLst>
      <p:ext uri="{BB962C8B-B14F-4D97-AF65-F5344CB8AC3E}">
        <p14:creationId xmlns:p14="http://schemas.microsoft.com/office/powerpoint/2010/main" val="159450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030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7817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spTree>
    <p:extLst>
      <p:ext uri="{BB962C8B-B14F-4D97-AF65-F5344CB8AC3E}">
        <p14:creationId xmlns:p14="http://schemas.microsoft.com/office/powerpoint/2010/main" val="340883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0773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30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16218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1D3B86-E5D9-4366-BFCD-100A04CC914B}"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F6E20A-1B43-49FF-9185-012958C6B9FA}"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943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1D3B86-E5D9-4366-BFCD-100A04CC914B}" type="datetimeFigureOut">
              <a:rPr lang="en-US" smtClean="0"/>
              <a:t>12/23/2025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4F6E20A-1B43-49FF-9185-012958C6B9FA}" type="slidenum">
              <a:rPr lang="en-US" smtClean="0"/>
              <a:t>‹#›</a:t>
            </a:fld>
            <a:endParaRPr lang="en-US"/>
          </a:p>
        </p:txBody>
      </p:sp>
    </p:spTree>
    <p:extLst>
      <p:ext uri="{BB962C8B-B14F-4D97-AF65-F5344CB8AC3E}">
        <p14:creationId xmlns:p14="http://schemas.microsoft.com/office/powerpoint/2010/main" val="22603609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computer-networks/open-systems-interconnection-model-osi/"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s://www.geeksforgeeks.org/digital-logic/ones-complemen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hyperlink" Target="https://www.geeksforgeeks.org/maths/binary-divisi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tutorialspoint.com/data_communication_computer_network/data_link_control_and_protocols.htm" TargetMode="External"/><Relationship Id="rId2" Type="http://schemas.openxmlformats.org/officeDocument/2006/relationships/hyperlink" Target="https://www.tutorialspoint.com/data_communication_computer_network/data_link_layer_introduction.ht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geeksforgeeks.org/computer-networks/efficiency-of-token-ring/"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www.geeksforgeeks.org/computer-networks/difference-between-token-ring-and-ethernet/" TargetMode="External"/><Relationship Id="rId2" Type="http://schemas.openxmlformats.org/officeDocument/2006/relationships/hyperlink" Target="https://www.geeksforgeeks.org/computer-networks/framing-in-data-link-layer/" TargetMode="Externa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76.xml.rels><?xml version="1.0" encoding="UTF-8" standalone="yes"?>
<Relationships xmlns="http://schemas.openxmlformats.org/package/2006/relationships"><Relationship Id="rId3" Type="http://schemas.openxmlformats.org/officeDocument/2006/relationships/hyperlink" Target="https://www.geeksforgeeks.org/python/cyclic-redundancy-check-python/" TargetMode="External"/><Relationship Id="rId2" Type="http://schemas.openxmlformats.org/officeDocument/2006/relationships/hyperlink" Target="https://www.geeksforgeeks.org/computer-networks/mac-address-in-computer-network/"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www.tutorialspoint.com/what-is-fibre-optic-cable" TargetMode="External"/><Relationship Id="rId2" Type="http://schemas.openxmlformats.org/officeDocument/2006/relationships/hyperlink" Target="https://www.tutorialspoint.com/medium-access-control-sublayer-mac-sublayer" TargetMode="External"/><Relationship Id="rId1" Type="http://schemas.openxmlformats.org/officeDocument/2006/relationships/slideLayout" Target="../slideLayouts/slideLayout2.xml"/><Relationship Id="rId4" Type="http://schemas.openxmlformats.org/officeDocument/2006/relationships/hyperlink" Target="https://www.tutorialspoint.com/Wide-Area-Network-WAN" TargetMode="External"/></Relationships>
</file>

<file path=ppt/slides/_rels/slide8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ionos.com/digitalguide/server/know-how/csmacd-carrier-sense-multiple-access-collision-detection/" TargetMode="External"/><Relationship Id="rId2" Type="http://schemas.openxmlformats.org/officeDocument/2006/relationships/hyperlink" Target="https://www.ionos.com/digitalguide/server/know-how/mac-address/" TargetMode="Externa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86.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hyperlink" Target="https://www.geeksforgeeks.org/types-of-area-networks-lan-man-and-wan/"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geeksforgeeks.org/computer-networks/lan-full-form/"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hyperlink" Target="https://www.geeksforgeeks.org/computer-networks/mac-address-in-computer-network/"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hyperlink" Target="https://www.geeksforgeeks.org/computer-networks/difference-between-wlan-and-wwan/" TargetMode="Externa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s://www.geeksforgeeks.org/software-engineering/introduction-of-basic-service-set-bss/" TargetMode="External"/><Relationship Id="rId2" Type="http://schemas.openxmlformats.org/officeDocument/2006/relationships/hyperlink" Target="https://www.geeksforgeeks.org/computer-networks/what-is-ethernet/"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www.geeksforgeeks.org/computer-networks/difference-between-cellular-and-ad-hoc-network/" TargetMode="Externa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04.xml.rels><?xml version="1.0" encoding="UTF-8" standalone="yes"?>
<Relationships xmlns="http://schemas.openxmlformats.org/package/2006/relationships"><Relationship Id="rId3" Type="http://schemas.openxmlformats.org/officeDocument/2006/relationships/hyperlink" Target="https://www.geeksforgeeks.org/computer-networks/difference-between-bss-and-ess/" TargetMode="External"/><Relationship Id="rId2" Type="http://schemas.openxmlformats.org/officeDocument/2006/relationships/hyperlink" Target="https://www.geeksforgeeks.org/computer-networks/introduction-of-independent-basic-service-set-ibss/" TargetMode="Externa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www.motadata.com/blog/network-performance-monitoring-for-network-visibility/" TargetMode="External"/><Relationship Id="rId2" Type="http://schemas.openxmlformats.org/officeDocument/2006/relationships/hyperlink" Target="https://www.motadata.com/solutions/network-administrator/" TargetMode="External"/><Relationship Id="rId1" Type="http://schemas.openxmlformats.org/officeDocument/2006/relationships/slideLayout" Target="../slideLayouts/slideLayout2.xml"/><Relationship Id="rId4" Type="http://schemas.openxmlformats.org/officeDocument/2006/relationships/hyperlink" Target="https://www.motadata.com/it-glossary/network-infrastructure/"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Link Layer</a:t>
            </a:r>
            <a:endParaRPr lang="en-US" dirty="0"/>
          </a:p>
        </p:txBody>
      </p:sp>
      <p:sp>
        <p:nvSpPr>
          <p:cNvPr id="3" name="Subtitle 2"/>
          <p:cNvSpPr>
            <a:spLocks noGrp="1"/>
          </p:cNvSpPr>
          <p:nvPr>
            <p:ph type="subTitle" idx="1"/>
          </p:nvPr>
        </p:nvSpPr>
        <p:spPr/>
        <p:txBody>
          <a:bodyPr/>
          <a:lstStyle/>
          <a:p>
            <a:r>
              <a:rPr lang="en-US" dirty="0" smtClean="0"/>
              <a:t>Chapter-3</a:t>
            </a:r>
            <a:endParaRPr lang="en-US" dirty="0"/>
          </a:p>
        </p:txBody>
      </p:sp>
    </p:spTree>
    <p:extLst>
      <p:ext uri="{BB962C8B-B14F-4D97-AF65-F5344CB8AC3E}">
        <p14:creationId xmlns:p14="http://schemas.microsoft.com/office/powerpoint/2010/main" val="2338237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Link Layer</a:t>
            </a:r>
            <a:endParaRPr lang="en-US" dirty="0"/>
          </a:p>
        </p:txBody>
      </p:sp>
      <p:sp>
        <p:nvSpPr>
          <p:cNvPr id="3" name="Content Placeholder 2"/>
          <p:cNvSpPr>
            <a:spLocks noGrp="1"/>
          </p:cNvSpPr>
          <p:nvPr>
            <p:ph idx="1"/>
          </p:nvPr>
        </p:nvSpPr>
        <p:spPr>
          <a:xfrm>
            <a:off x="1295401" y="2556932"/>
            <a:ext cx="6424060" cy="3318936"/>
          </a:xfrm>
        </p:spPr>
        <p:txBody>
          <a:bodyPr>
            <a:normAutofit fontScale="77500" lnSpcReduction="20000"/>
          </a:bodyPr>
          <a:lstStyle/>
          <a:p>
            <a:pPr fontAlgn="base"/>
            <a:r>
              <a:rPr lang="en-US" dirty="0"/>
              <a:t>The data link layer is the second layer from the bottom in the </a:t>
            </a:r>
            <a:r>
              <a:rPr lang="en-US" u="sng" dirty="0">
                <a:hlinkClick r:id="rId2"/>
              </a:rPr>
              <a:t>OSI </a:t>
            </a:r>
            <a:r>
              <a:rPr lang="en-US" dirty="0"/>
              <a:t>(Open System Interconnection) network architecture model.</a:t>
            </a:r>
          </a:p>
          <a:p>
            <a:pPr fontAlgn="base"/>
            <a:r>
              <a:rPr lang="en-US" dirty="0"/>
              <a:t>Responsible for the node-to-node delivery of data within the same local network.</a:t>
            </a:r>
          </a:p>
          <a:p>
            <a:pPr fontAlgn="base"/>
            <a:r>
              <a:rPr lang="en-US" dirty="0"/>
              <a:t>Major role is to ensure error-free transmission of information.</a:t>
            </a:r>
          </a:p>
          <a:p>
            <a:pPr fontAlgn="base"/>
            <a:r>
              <a:rPr lang="en-US" dirty="0"/>
              <a:t>Also responsible for encoding, decoding, and organizing the outgoing and incoming data.</a:t>
            </a:r>
          </a:p>
          <a:p>
            <a:pPr fontAlgn="base"/>
            <a:r>
              <a:rPr lang="en-US" dirty="0"/>
              <a:t>Considered as the most complex layer of the OSI model as it hides all the underlying complexities of the hardware from the other above layers.</a:t>
            </a:r>
          </a:p>
        </p:txBody>
      </p:sp>
    </p:spTree>
    <p:extLst>
      <p:ext uri="{BB962C8B-B14F-4D97-AF65-F5344CB8AC3E}">
        <p14:creationId xmlns:p14="http://schemas.microsoft.com/office/powerpoint/2010/main" val="12303820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Data Link layer</a:t>
            </a:r>
            <a:endParaRPr lang="en-US" dirty="0"/>
          </a:p>
        </p:txBody>
      </p:sp>
      <p:sp>
        <p:nvSpPr>
          <p:cNvPr id="5" name="Rectangle 4"/>
          <p:cNvSpPr/>
          <p:nvPr/>
        </p:nvSpPr>
        <p:spPr>
          <a:xfrm>
            <a:off x="1093509" y="2476690"/>
            <a:ext cx="10397765" cy="3679790"/>
          </a:xfrm>
          <a:prstGeom prst="rect">
            <a:avLst/>
          </a:prstGeom>
        </p:spPr>
        <p:txBody>
          <a:bodyPr wrap="square">
            <a:spAutoFit/>
          </a:bodyPr>
          <a:lstStyle/>
          <a:p>
            <a:r>
              <a:rPr lang="en-US" dirty="0">
                <a:latin typeface="Symbol" panose="05050102010706020507" pitchFamily="18" charset="2"/>
                <a:ea typeface="Times New Roman" panose="02020603050405020304" pitchFamily="18" charset="0"/>
              </a:rPr>
              <a:t>·</a:t>
            </a: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Framing</a:t>
            </a:r>
            <a:r>
              <a:rPr lang="en-US" dirty="0">
                <a:latin typeface="Times New Roman" panose="02020603050405020304" pitchFamily="18" charset="0"/>
                <a:ea typeface="Times New Roman" panose="02020603050405020304" pitchFamily="18" charset="0"/>
              </a:rPr>
              <a:t>: The Data Link Layer breaks down data into smaller frames for transmission across the physical network. Each frame contains a header with important information like source and destination MAC addresses.</a:t>
            </a:r>
          </a:p>
          <a:p>
            <a:r>
              <a:rPr lang="en-US" dirty="0">
                <a:latin typeface="Symbol" panose="05050102010706020507" pitchFamily="18" charset="2"/>
                <a:ea typeface="Times New Roman" panose="02020603050405020304" pitchFamily="18" charset="0"/>
              </a:rPr>
              <a:t>·</a:t>
            </a: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Error Detection and Correction</a:t>
            </a:r>
            <a:r>
              <a:rPr lang="en-US" dirty="0">
                <a:latin typeface="Times New Roman" panose="02020603050405020304" pitchFamily="18" charset="0"/>
                <a:ea typeface="Times New Roman" panose="02020603050405020304" pitchFamily="18" charset="0"/>
              </a:rPr>
              <a:t>: It checks for errors that may occur during transmission and can request retransmission of data if necessary. Error detection is commonly done using techniques like CRC (Cyclic Redundancy Check).</a:t>
            </a:r>
          </a:p>
          <a:p>
            <a:r>
              <a:rPr lang="en-US" dirty="0">
                <a:latin typeface="Symbol" panose="05050102010706020507" pitchFamily="18" charset="2"/>
                <a:ea typeface="Times New Roman" panose="02020603050405020304" pitchFamily="18" charset="0"/>
              </a:rPr>
              <a:t>·</a:t>
            </a: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Flow Control</a:t>
            </a:r>
            <a:r>
              <a:rPr lang="en-US" dirty="0">
                <a:latin typeface="Times New Roman" panose="02020603050405020304" pitchFamily="18" charset="0"/>
                <a:ea typeface="Times New Roman" panose="02020603050405020304" pitchFamily="18" charset="0"/>
              </a:rPr>
              <a:t>: It manages the pace at which data is sent, ensuring that the sender doesn't overwhelm the receiver by sending data too quickly.</a:t>
            </a:r>
          </a:p>
          <a:p>
            <a:r>
              <a:rPr lang="en-US" dirty="0">
                <a:latin typeface="Symbol" panose="05050102010706020507" pitchFamily="18" charset="2"/>
                <a:ea typeface="Times New Roman" panose="02020603050405020304" pitchFamily="18" charset="0"/>
              </a:rPr>
              <a:t>·</a:t>
            </a: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Addressing</a:t>
            </a:r>
            <a:r>
              <a:rPr lang="en-US" dirty="0">
                <a:latin typeface="Times New Roman" panose="02020603050405020304" pitchFamily="18" charset="0"/>
                <a:ea typeface="Times New Roman" panose="02020603050405020304" pitchFamily="18" charset="0"/>
              </a:rPr>
              <a:t>: The Data Link Layer uses physical addresses (MAC addresses) to identify devices on the local network, allowing data to be sent to the correct destination device within the network.</a:t>
            </a:r>
          </a:p>
          <a:p>
            <a:r>
              <a:rPr lang="en-US" dirty="0">
                <a:latin typeface="Symbol" panose="05050102010706020507" pitchFamily="18" charset="2"/>
                <a:ea typeface="Times New Roman" panose="02020603050405020304" pitchFamily="18" charset="0"/>
              </a:rPr>
              <a:t>·</a:t>
            </a: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Access Control</a:t>
            </a:r>
            <a:r>
              <a:rPr lang="en-US" dirty="0">
                <a:latin typeface="Times New Roman" panose="02020603050405020304" pitchFamily="18" charset="0"/>
                <a:ea typeface="Times New Roman" panose="02020603050405020304" pitchFamily="18" charset="0"/>
              </a:rPr>
              <a:t>: It determines when a device can transmit data over a shared medium, using protocols like Ethernet, which employ Carrier Sense Multiple Access with Collision Detection (CSMA/CD) to avoid collisions on the network.</a:t>
            </a:r>
          </a:p>
          <a:p>
            <a:pPr>
              <a:lnSpc>
                <a:spcPct val="107000"/>
              </a:lnSpc>
              <a:spcAft>
                <a:spcPts val="800"/>
              </a:spcAf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55359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Framing in DLL</a:t>
            </a:r>
            <a:endParaRPr lang="en-US" dirty="0"/>
          </a:p>
        </p:txBody>
      </p:sp>
      <p:sp>
        <p:nvSpPr>
          <p:cNvPr id="3" name="Content Placeholder 2"/>
          <p:cNvSpPr>
            <a:spLocks noGrp="1"/>
          </p:cNvSpPr>
          <p:nvPr>
            <p:ph idx="1"/>
          </p:nvPr>
        </p:nvSpPr>
        <p:spPr>
          <a:xfrm>
            <a:off x="918328" y="1915910"/>
            <a:ext cx="6984013" cy="3318936"/>
          </a:xfrm>
        </p:spPr>
        <p:txBody>
          <a:bodyPr>
            <a:noAutofit/>
          </a:bodyPr>
          <a:lstStyle/>
          <a:p>
            <a:r>
              <a:rPr lang="en-US" sz="1400" dirty="0"/>
              <a:t>A frame at the Data Link Layer contains several key components to ensure proper communication between devices on a local network. The typical structure of a frame includes:</a:t>
            </a:r>
          </a:p>
          <a:p>
            <a:r>
              <a:rPr lang="en-US" sz="1400" b="1" dirty="0"/>
              <a:t>Header</a:t>
            </a:r>
            <a:r>
              <a:rPr lang="en-US" sz="1400" dirty="0"/>
              <a:t>: This contains control information for the frame, such as:</a:t>
            </a:r>
          </a:p>
          <a:p>
            <a:pPr lvl="1"/>
            <a:r>
              <a:rPr lang="en-US" sz="1200" b="1" dirty="0"/>
              <a:t>Source MAC Address</a:t>
            </a:r>
            <a:r>
              <a:rPr lang="en-US" sz="1200" dirty="0"/>
              <a:t>: The unique hardware address of the device sending the data.</a:t>
            </a:r>
          </a:p>
          <a:p>
            <a:pPr lvl="1"/>
            <a:r>
              <a:rPr lang="en-US" sz="1200" b="1" dirty="0"/>
              <a:t>Destination MAC Address</a:t>
            </a:r>
            <a:r>
              <a:rPr lang="en-US" sz="1200" dirty="0"/>
              <a:t>: The unique hardware address of the device receiving the data.</a:t>
            </a:r>
          </a:p>
          <a:p>
            <a:pPr lvl="1"/>
            <a:r>
              <a:rPr lang="en-US" sz="1200" b="1" dirty="0"/>
              <a:t>Frame Type</a:t>
            </a:r>
            <a:r>
              <a:rPr lang="en-US" sz="1200" dirty="0"/>
              <a:t>: Specifies the protocol or type of data being transmitted, e.g., IPv4, IPv6, ARP.</a:t>
            </a:r>
          </a:p>
          <a:p>
            <a:pPr lvl="1"/>
            <a:r>
              <a:rPr lang="en-US" sz="1200" b="1" dirty="0"/>
              <a:t>Control Information</a:t>
            </a:r>
            <a:r>
              <a:rPr lang="en-US" sz="1200" dirty="0"/>
              <a:t>: This can include flags or additional control data like flow control or sequence numbers.</a:t>
            </a:r>
          </a:p>
          <a:p>
            <a:r>
              <a:rPr lang="en-US" sz="1400" b="1" dirty="0"/>
              <a:t>Payload/Data</a:t>
            </a:r>
            <a:r>
              <a:rPr lang="en-US" sz="1400" dirty="0"/>
              <a:t>: This is the actual data being transmitted. It can contain:</a:t>
            </a:r>
          </a:p>
          <a:p>
            <a:pPr lvl="1"/>
            <a:r>
              <a:rPr lang="en-US" sz="1200" b="1" dirty="0"/>
              <a:t>The encapsulated higher-layer data</a:t>
            </a:r>
            <a:r>
              <a:rPr lang="en-US" sz="1200" dirty="0"/>
              <a:t>: This could be a packet from the Network Layer (such as an IP packet) or other types of data.</a:t>
            </a:r>
          </a:p>
          <a:p>
            <a:pPr lvl="1"/>
            <a:r>
              <a:rPr lang="en-US" sz="1200" dirty="0"/>
              <a:t>The payload is typically the largest part of the frame.</a:t>
            </a:r>
          </a:p>
          <a:p>
            <a:r>
              <a:rPr lang="en-US" sz="1400" b="1" dirty="0"/>
              <a:t>Trailer</a:t>
            </a:r>
            <a:r>
              <a:rPr lang="en-US" sz="1400" dirty="0"/>
              <a:t>: This usually contains error-checking data:</a:t>
            </a:r>
          </a:p>
          <a:p>
            <a:pPr lvl="1"/>
            <a:r>
              <a:rPr lang="en-US" sz="1200" b="1" dirty="0"/>
              <a:t>Frame Check Sequence (FCS)</a:t>
            </a:r>
            <a:r>
              <a:rPr lang="en-US" sz="1200" dirty="0"/>
              <a:t>: A value used for error detection, often using a technique like CRC (Cyclic Redundancy Check). It ensures that the data has not been corrupted during transmission.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2954" y="982132"/>
            <a:ext cx="4217444" cy="210872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2954" y="3575378"/>
            <a:ext cx="5209942" cy="2604971"/>
          </a:xfrm>
          <a:prstGeom prst="rect">
            <a:avLst/>
          </a:prstGeom>
        </p:spPr>
      </p:pic>
    </p:spTree>
    <p:extLst>
      <p:ext uri="{BB962C8B-B14F-4D97-AF65-F5344CB8AC3E}">
        <p14:creationId xmlns:p14="http://schemas.microsoft.com/office/powerpoint/2010/main" val="11061686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Framing</a:t>
            </a:r>
            <a:endParaRPr lang="en-US" dirty="0"/>
          </a:p>
        </p:txBody>
      </p:sp>
      <p:sp>
        <p:nvSpPr>
          <p:cNvPr id="3" name="Content Placeholder 2"/>
          <p:cNvSpPr>
            <a:spLocks noGrp="1"/>
          </p:cNvSpPr>
          <p:nvPr>
            <p:ph idx="1"/>
          </p:nvPr>
        </p:nvSpPr>
        <p:spPr>
          <a:xfrm>
            <a:off x="1295401" y="2556932"/>
            <a:ext cx="5256228" cy="3318936"/>
          </a:xfrm>
        </p:spPr>
        <p:txBody>
          <a:bodyPr>
            <a:normAutofit fontScale="85000" lnSpcReduction="10000"/>
          </a:bodyPr>
          <a:lstStyle/>
          <a:p>
            <a:pPr fontAlgn="base"/>
            <a:r>
              <a:rPr lang="en-US" b="1" dirty="0"/>
              <a:t>1. Fixed-Size Framing</a:t>
            </a:r>
          </a:p>
          <a:p>
            <a:pPr fontAlgn="base"/>
            <a:r>
              <a:rPr lang="en-US" dirty="0"/>
              <a:t>Frames have a predefined, fixed size.</a:t>
            </a:r>
          </a:p>
          <a:p>
            <a:pPr fontAlgn="base"/>
            <a:r>
              <a:rPr lang="en-US" dirty="0"/>
              <a:t>No explicit start or end delimiters are needed; the frame size itself acts as the boundary.</a:t>
            </a:r>
          </a:p>
          <a:p>
            <a:pPr fontAlgn="base"/>
            <a:r>
              <a:rPr lang="en-US" b="1" dirty="0"/>
              <a:t>Drawback:</a:t>
            </a:r>
            <a:r>
              <a:rPr lang="en-US" dirty="0"/>
              <a:t> Internal fragmentation occurs when the data is smaller than the frame size, wasting bandwidth.</a:t>
            </a:r>
          </a:p>
          <a:p>
            <a:pPr fontAlgn="base"/>
            <a:r>
              <a:rPr lang="en-US" dirty="0"/>
              <a:t>Solution: Padding is used to fill the frame to its full size.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3859" y="2746080"/>
            <a:ext cx="4287101" cy="2143551"/>
          </a:xfrm>
          <a:prstGeom prst="rect">
            <a:avLst/>
          </a:prstGeom>
        </p:spPr>
      </p:pic>
    </p:spTree>
    <p:extLst>
      <p:ext uri="{BB962C8B-B14F-4D97-AF65-F5344CB8AC3E}">
        <p14:creationId xmlns:p14="http://schemas.microsoft.com/office/powerpoint/2010/main" val="4620250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42336" y="809971"/>
            <a:ext cx="10759853" cy="4081054"/>
          </a:xfrm>
          <a:prstGeom prst="rect">
            <a:avLst/>
          </a:prstGeom>
        </p:spPr>
        <p:txBody>
          <a:bodyPr wrap="square">
            <a:spAutoFit/>
          </a:bodyPr>
          <a:lstStyle/>
          <a:p>
            <a:pPr fontAlgn="base">
              <a:lnSpc>
                <a:spcPct val="107000"/>
              </a:lnSpc>
            </a:pPr>
            <a:r>
              <a:rPr lang="en-US" b="1" spc="10"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2. Variable-Size Framing</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pP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This method requires explicit indicators of frame boundaries and includes two popular techniques: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Font typeface="+mj-lt"/>
              <a:buAutoNum type="arabicPeriod" startAt="2"/>
              <a:tabLst>
                <a:tab pos="457200" algn="l"/>
              </a:tabLst>
            </a:pPr>
            <a:r>
              <a:rPr lang="en-US" sz="1600" b="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Length Field: </a:t>
            </a: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The frame includes a length field that specifies the frame size. Used in Ethernet (802.3). Here, If the length field gets corrupted, the frame cannot be parsed correctly.</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Font typeface="+mj-lt"/>
              <a:buAutoNum type="arabicPeriod" startAt="2"/>
              <a:tabLst>
                <a:tab pos="457200" algn="l"/>
              </a:tabLst>
            </a:pPr>
            <a:r>
              <a:rPr lang="en-US" sz="1600" b="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End Delimiter (ED):</a:t>
            </a: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A unique pattern marks the end of the frame. Used in Token Ring networks. Here, The ED pattern may occur in the data.</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pP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To solve this problem, two stuffing techniques are used:</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pPr>
            <a:r>
              <a:rPr lang="en-US" sz="1400" b="1" spc="10"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 Character/Byte Stuffing</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Used when data is character-based.</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If the data contains the special delimiter character (e.g., </a:t>
            </a:r>
            <a:r>
              <a:rPr lang="en-US" sz="1200" spc="10" dirty="0" smtClean="0">
                <a:solidFill>
                  <a:srgbClr val="273239"/>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an escape character (e.g., </a:t>
            </a:r>
            <a:r>
              <a:rPr lang="en-US" sz="1200" spc="10" dirty="0" smtClean="0">
                <a:solidFill>
                  <a:srgbClr val="273239"/>
                </a:solidFill>
                <a:effectLst/>
                <a:latin typeface="Courier New" panose="02070309020205020404" pitchFamily="49" charset="0"/>
                <a:ea typeface="Times New Roman" panose="02020603050405020304" pitchFamily="18" charset="0"/>
                <a:cs typeface="Times New Roman" panose="02020603050405020304" pitchFamily="18" charset="0"/>
              </a:rPr>
              <a:t>\O</a:t>
            </a:r>
            <a:r>
              <a:rPr lang="en-US" sz="1600"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is inserted to distinguish it.</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US" sz="1600" b="1"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Example:</a:t>
            </a:r>
            <a:r>
              <a:rPr lang="en-US" sz="1600"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If ED = $, and data contains $, it becomes \O$.</a:t>
            </a:r>
            <a:br>
              <a:rPr lang="en-US" sz="1600"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br>
            <a:r>
              <a:rPr lang="en-US" sz="1600" b="1"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Disadvantage:</a:t>
            </a:r>
            <a:r>
              <a:rPr lang="en-US" sz="1600" i="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High processing overhead and obsolete in modern systems.</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pPr>
            <a:r>
              <a:rPr lang="en-US" sz="1600" b="1" spc="1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(b) Bit Stuffing</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dirty="0" smtClean="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7009107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4869" y="2490087"/>
            <a:ext cx="6635750" cy="3317875"/>
          </a:xfrm>
        </p:spPr>
      </p:pic>
    </p:spTree>
    <p:extLst>
      <p:ext uri="{BB962C8B-B14F-4D97-AF65-F5344CB8AC3E}">
        <p14:creationId xmlns:p14="http://schemas.microsoft.com/office/powerpoint/2010/main" val="12439195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Problems in Framing</a:t>
            </a:r>
          </a:p>
        </p:txBody>
      </p:sp>
      <p:sp>
        <p:nvSpPr>
          <p:cNvPr id="3" name="Content Placeholder 2"/>
          <p:cNvSpPr>
            <a:spLocks noGrp="1"/>
          </p:cNvSpPr>
          <p:nvPr>
            <p:ph idx="1"/>
          </p:nvPr>
        </p:nvSpPr>
        <p:spPr>
          <a:xfrm>
            <a:off x="1295401" y="2556932"/>
            <a:ext cx="7001576" cy="3318936"/>
          </a:xfrm>
        </p:spPr>
        <p:txBody>
          <a:bodyPr>
            <a:normAutofit fontScale="62500" lnSpcReduction="20000"/>
          </a:bodyPr>
          <a:lstStyle/>
          <a:p>
            <a:pPr fontAlgn="base"/>
            <a:r>
              <a:rPr lang="en-US" dirty="0" smtClean="0"/>
              <a:t>Framing </a:t>
            </a:r>
            <a:r>
              <a:rPr lang="en-US" dirty="0"/>
              <a:t>in computer networks faces several challenges:</a:t>
            </a:r>
          </a:p>
          <a:p>
            <a:pPr fontAlgn="base"/>
            <a:r>
              <a:rPr lang="en-US" b="1" dirty="0"/>
              <a:t>Start and End Detection</a:t>
            </a:r>
            <a:r>
              <a:rPr lang="en-US" dirty="0"/>
              <a:t> :The receiver must correctly identify frame boundaries using delimiters or flags.</a:t>
            </a:r>
          </a:p>
          <a:p>
            <a:pPr fontAlgn="base"/>
            <a:r>
              <a:rPr lang="en-US" b="1" dirty="0"/>
              <a:t>Synchronization:</a:t>
            </a:r>
            <a:r>
              <a:rPr lang="en-US" dirty="0"/>
              <a:t> Sender and receiver must stay aligned on frame timing, especially in high-speed networks.</a:t>
            </a:r>
          </a:p>
          <a:p>
            <a:pPr fontAlgn="base"/>
            <a:r>
              <a:rPr lang="en-US" b="1" dirty="0"/>
              <a:t>Error Handling:</a:t>
            </a:r>
            <a:r>
              <a:rPr lang="en-US" dirty="0"/>
              <a:t> Noise can corrupt data or delimiters; error detection methods like CRC or checksums are used.</a:t>
            </a:r>
          </a:p>
          <a:p>
            <a:pPr fontAlgn="base"/>
            <a:r>
              <a:rPr lang="en-US" b="1" dirty="0"/>
              <a:t>Overhead:</a:t>
            </a:r>
            <a:r>
              <a:rPr lang="en-US" dirty="0"/>
              <a:t> Headers and trailers add control information but reduce usable bandwidth.</a:t>
            </a:r>
          </a:p>
          <a:p>
            <a:pPr fontAlgn="base"/>
            <a:r>
              <a:rPr lang="en-US" b="1" dirty="0"/>
              <a:t>Efficiency:</a:t>
            </a:r>
            <a:r>
              <a:rPr lang="en-US" dirty="0"/>
              <a:t> The goal is to maximize payload while minimizing overhead and processing delays.</a:t>
            </a:r>
          </a:p>
          <a:p>
            <a:pPr fontAlgn="base"/>
            <a:r>
              <a:rPr lang="en-US" b="1" dirty="0"/>
              <a:t>Compatibility:</a:t>
            </a:r>
            <a:r>
              <a:rPr lang="en-US" dirty="0"/>
              <a:t> Different devices may use different framing methods, causing misinterpretation.</a:t>
            </a:r>
          </a:p>
        </p:txBody>
      </p:sp>
    </p:spTree>
    <p:extLst>
      <p:ext uri="{BB962C8B-B14F-4D97-AF65-F5344CB8AC3E}">
        <p14:creationId xmlns:p14="http://schemas.microsoft.com/office/powerpoint/2010/main" val="23128431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Control</a:t>
            </a:r>
            <a:endParaRPr lang="en-US" dirty="0"/>
          </a:p>
        </p:txBody>
      </p:sp>
      <p:sp>
        <p:nvSpPr>
          <p:cNvPr id="3" name="Content Placeholder 2"/>
          <p:cNvSpPr>
            <a:spLocks noGrp="1"/>
          </p:cNvSpPr>
          <p:nvPr>
            <p:ph idx="1"/>
          </p:nvPr>
        </p:nvSpPr>
        <p:spPr/>
        <p:txBody>
          <a:bodyPr>
            <a:normAutofit fontScale="92500" lnSpcReduction="20000"/>
          </a:bodyPr>
          <a:lstStyle/>
          <a:p>
            <a:r>
              <a:rPr lang="en-US" dirty="0"/>
              <a:t>Flow control in the data link layer is primarily responsible for managing the rate of data transmission between two devices to prevent overwhelming the receiver. </a:t>
            </a:r>
            <a:endParaRPr lang="en-US" dirty="0" smtClean="0"/>
          </a:p>
          <a:p>
            <a:r>
              <a:rPr lang="en-US" dirty="0" smtClean="0"/>
              <a:t>This </a:t>
            </a:r>
            <a:r>
              <a:rPr lang="en-US" dirty="0"/>
              <a:t>is critical because the receiver might not be able to handle data as quickly as the sender transmits, leading to loss of data or congestion</a:t>
            </a:r>
            <a:r>
              <a:rPr lang="en-US" dirty="0" smtClean="0"/>
              <a:t>.</a:t>
            </a:r>
          </a:p>
          <a:p>
            <a:r>
              <a:rPr lang="en-US" dirty="0" smtClean="0"/>
              <a:t> </a:t>
            </a:r>
            <a:r>
              <a:rPr lang="en-US" dirty="0"/>
              <a:t>Flow control mechanisms ensure that data is transmitted at a rate that the receiver can process</a:t>
            </a:r>
            <a:r>
              <a:rPr lang="en-US" dirty="0" smtClean="0"/>
              <a:t>.</a:t>
            </a:r>
          </a:p>
          <a:p>
            <a:r>
              <a:rPr lang="en-US" dirty="0"/>
              <a:t>There are two main types of flow control in the data link layer</a:t>
            </a:r>
            <a:r>
              <a:rPr lang="en-US" dirty="0" smtClean="0"/>
              <a:t>:</a:t>
            </a:r>
          </a:p>
          <a:p>
            <a:r>
              <a:rPr lang="en-US" dirty="0" err="1" smtClean="0"/>
              <a:t>i</a:t>
            </a:r>
            <a:r>
              <a:rPr lang="en-US" dirty="0" smtClean="0"/>
              <a:t>. Stop and Wait flow control</a:t>
            </a:r>
          </a:p>
          <a:p>
            <a:r>
              <a:rPr lang="en-US" dirty="0" smtClean="0"/>
              <a:t>Ii. Sliding window</a:t>
            </a:r>
            <a:endParaRPr lang="en-US" dirty="0"/>
          </a:p>
        </p:txBody>
      </p:sp>
    </p:spTree>
    <p:extLst>
      <p:ext uri="{BB962C8B-B14F-4D97-AF65-F5344CB8AC3E}">
        <p14:creationId xmlns:p14="http://schemas.microsoft.com/office/powerpoint/2010/main" val="35625733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and wait flow control</a:t>
            </a:r>
            <a:endParaRPr lang="en-US" dirty="0"/>
          </a:p>
        </p:txBody>
      </p:sp>
      <p:sp>
        <p:nvSpPr>
          <p:cNvPr id="3" name="Content Placeholder 2"/>
          <p:cNvSpPr>
            <a:spLocks noGrp="1"/>
          </p:cNvSpPr>
          <p:nvPr>
            <p:ph idx="1"/>
          </p:nvPr>
        </p:nvSpPr>
        <p:spPr>
          <a:xfrm>
            <a:off x="1295401" y="2556932"/>
            <a:ext cx="5080232" cy="3318936"/>
          </a:xfrm>
        </p:spPr>
        <p:txBody>
          <a:bodyPr>
            <a:normAutofit fontScale="55000" lnSpcReduction="20000"/>
          </a:bodyPr>
          <a:lstStyle/>
          <a:p>
            <a:r>
              <a:rPr lang="en-US" b="1" dirty="0"/>
              <a:t>How Stop-and-Wait Flow Control Works:</a:t>
            </a:r>
          </a:p>
          <a:p>
            <a:r>
              <a:rPr lang="en-US" b="1" dirty="0"/>
              <a:t>Frame Transmission:</a:t>
            </a:r>
            <a:r>
              <a:rPr lang="en-US" dirty="0"/>
              <a:t> The sender sends a single data frame to the receiver.</a:t>
            </a:r>
          </a:p>
          <a:p>
            <a:r>
              <a:rPr lang="en-US" b="1" dirty="0"/>
              <a:t>Wait for Acknowledgment:</a:t>
            </a:r>
            <a:r>
              <a:rPr lang="en-US" dirty="0"/>
              <a:t> After sending the frame, the sender stops and waits for an </a:t>
            </a:r>
            <a:r>
              <a:rPr lang="en-US" b="1" dirty="0"/>
              <a:t>acknowledgment (ACK)</a:t>
            </a:r>
            <a:r>
              <a:rPr lang="en-US" dirty="0"/>
              <a:t> from the receiver indicating that the frame was successfully received.</a:t>
            </a:r>
          </a:p>
          <a:p>
            <a:r>
              <a:rPr lang="en-US" b="1" dirty="0"/>
              <a:t>Frame Acknowledgment:</a:t>
            </a:r>
            <a:r>
              <a:rPr lang="en-US" dirty="0"/>
              <a:t> Once the receiver successfully receives the frame, it sends an acknowledgment back to the sender. This ACK confirms the successful receipt of the frame.</a:t>
            </a:r>
          </a:p>
          <a:p>
            <a:r>
              <a:rPr lang="en-US" b="1" dirty="0"/>
              <a:t>Send Next Frame:</a:t>
            </a:r>
            <a:r>
              <a:rPr lang="en-US" dirty="0"/>
              <a:t> After receiving the acknowledgment, the sender sends the next frame in the sequence.</a:t>
            </a:r>
          </a:p>
          <a:p>
            <a:r>
              <a:rPr lang="en-US" b="1" dirty="0"/>
              <a:t>Timeout:</a:t>
            </a:r>
            <a:r>
              <a:rPr lang="en-US" dirty="0"/>
              <a:t> If the sender does not receive an acknowledgment within a specific time frame (due to network issues, packet loss, etc.), it will </a:t>
            </a:r>
            <a:r>
              <a:rPr lang="en-US" b="1" dirty="0"/>
              <a:t>retransmit</a:t>
            </a:r>
            <a:r>
              <a:rPr lang="en-US" dirty="0"/>
              <a:t> the frame. This is known as a </a:t>
            </a:r>
            <a:r>
              <a:rPr lang="en-US" b="1" dirty="0"/>
              <a:t>timeout</a:t>
            </a:r>
            <a:r>
              <a:rPr lang="en-US" dirty="0"/>
              <a:t> mechanism.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842" y="1393141"/>
            <a:ext cx="4688237" cy="4412042"/>
          </a:xfrm>
          <a:prstGeom prst="rect">
            <a:avLst/>
          </a:prstGeom>
        </p:spPr>
      </p:pic>
    </p:spTree>
    <p:extLst>
      <p:ext uri="{BB962C8B-B14F-4D97-AF65-F5344CB8AC3E}">
        <p14:creationId xmlns:p14="http://schemas.microsoft.com/office/powerpoint/2010/main" val="35153870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Sliding Windows</a:t>
            </a:r>
            <a:endParaRPr lang="en-US" dirty="0"/>
          </a:p>
        </p:txBody>
      </p:sp>
      <p:sp>
        <p:nvSpPr>
          <p:cNvPr id="3" name="Content Placeholder 2"/>
          <p:cNvSpPr>
            <a:spLocks noGrp="1"/>
          </p:cNvSpPr>
          <p:nvPr>
            <p:ph idx="1"/>
          </p:nvPr>
        </p:nvSpPr>
        <p:spPr>
          <a:xfrm>
            <a:off x="1295400" y="2556932"/>
            <a:ext cx="8167381" cy="3318936"/>
          </a:xfrm>
        </p:spPr>
        <p:txBody>
          <a:bodyPr>
            <a:normAutofit fontScale="62500" lnSpcReduction="20000"/>
          </a:bodyPr>
          <a:lstStyle/>
          <a:p>
            <a:r>
              <a:rPr lang="en-US" b="1" dirty="0"/>
              <a:t>Key Elements of Sliding Window:</a:t>
            </a:r>
          </a:p>
          <a:p>
            <a:r>
              <a:rPr lang="en-US" b="1" dirty="0"/>
              <a:t>Sender Window:</a:t>
            </a:r>
            <a:r>
              <a:rPr lang="en-US" dirty="0"/>
              <a:t> The sender can send multiple frames within a certain window size, without needing to wait for an acknowledgment after each frame. The window size is determined by the receiver's buffer space or the maximum number of frames it can handle at once.</a:t>
            </a:r>
          </a:p>
          <a:p>
            <a:r>
              <a:rPr lang="en-US" b="1" dirty="0"/>
              <a:t>Receiver Window:</a:t>
            </a:r>
            <a:r>
              <a:rPr lang="en-US" dirty="0"/>
              <a:t> The receiver also has a window that specifies how many frames it can receive without sending an acknowledgment. Once it processes the frames in the window, the window "slides" to make space for more incoming frames.</a:t>
            </a:r>
          </a:p>
          <a:p>
            <a:r>
              <a:rPr lang="en-US" b="1" dirty="0"/>
              <a:t>Window Size:</a:t>
            </a:r>
            <a:r>
              <a:rPr lang="en-US" dirty="0"/>
              <a:t> The window size can be adjusted based on the receiver’s capacity and current network conditions. It defines how many frames the sender can transmit without waiting for individual acknowledgments for each frame.</a:t>
            </a:r>
          </a:p>
          <a:p>
            <a:r>
              <a:rPr lang="en-US" b="1" dirty="0"/>
              <a:t>Acknowledgment (ACK):</a:t>
            </a:r>
            <a:r>
              <a:rPr lang="en-US" dirty="0"/>
              <a:t> The receiver sends back an acknowledgment for one or more frames, indicating that those frames have been successfully received and processed. This acknowledgment also informs the sender of which frames can be safely transmitted next.</a:t>
            </a:r>
          </a:p>
        </p:txBody>
      </p:sp>
    </p:spTree>
    <p:extLst>
      <p:ext uri="{BB962C8B-B14F-4D97-AF65-F5344CB8AC3E}">
        <p14:creationId xmlns:p14="http://schemas.microsoft.com/office/powerpoint/2010/main" val="5158735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6678" y="870745"/>
            <a:ext cx="9601196" cy="3318936"/>
          </a:xfrm>
        </p:spPr>
        <p:txBody>
          <a:bodyPr>
            <a:noAutofit/>
          </a:bodyPr>
          <a:lstStyle/>
          <a:p>
            <a:r>
              <a:rPr lang="en-US" sz="1400" b="1" dirty="0"/>
              <a:t>Mechanism:</a:t>
            </a:r>
          </a:p>
          <a:p>
            <a:r>
              <a:rPr lang="en-US" sz="1400" b="1" dirty="0"/>
              <a:t>Sender Side:</a:t>
            </a:r>
            <a:endParaRPr lang="en-US" sz="1400" dirty="0"/>
          </a:p>
          <a:p>
            <a:pPr lvl="1"/>
            <a:r>
              <a:rPr lang="en-US" sz="1200" dirty="0"/>
              <a:t>The sender maintains a window of frames it is allowed to send.</a:t>
            </a:r>
          </a:p>
          <a:p>
            <a:pPr lvl="1"/>
            <a:r>
              <a:rPr lang="en-US" sz="1200" dirty="0"/>
              <a:t>It sends a number of frames equal to the window size.</a:t>
            </a:r>
          </a:p>
          <a:p>
            <a:pPr lvl="1"/>
            <a:r>
              <a:rPr lang="en-US" sz="1200" dirty="0"/>
              <a:t>The sender does not wait for an acknowledgment after sending each frame but continues sending frames as long as the window allows.</a:t>
            </a:r>
          </a:p>
          <a:p>
            <a:pPr lvl="1"/>
            <a:r>
              <a:rPr lang="en-US" sz="1200" dirty="0"/>
              <a:t>When the receiver sends an acknowledgment, the sender slides its window forward, allowing the transmission of new frames.</a:t>
            </a:r>
          </a:p>
          <a:p>
            <a:r>
              <a:rPr lang="en-US" sz="1400" b="1" dirty="0"/>
              <a:t>Receiver Side:</a:t>
            </a:r>
            <a:endParaRPr lang="en-US" sz="1400" dirty="0"/>
          </a:p>
          <a:p>
            <a:pPr lvl="1"/>
            <a:r>
              <a:rPr lang="en-US" sz="1200" dirty="0"/>
              <a:t>The receiver maintains a window that tells the sender how many frames it can handle.</a:t>
            </a:r>
          </a:p>
          <a:p>
            <a:pPr lvl="1"/>
            <a:r>
              <a:rPr lang="en-US" sz="1200" dirty="0"/>
              <a:t>After receiving a frame, the receiver sends an acknowledgment, indicating which frame it is acknowledging, and slides its window to accept the next frame.</a:t>
            </a:r>
          </a:p>
          <a:p>
            <a:r>
              <a:rPr lang="en-US" sz="1400" b="1" dirty="0"/>
              <a:t>Types of Sliding Window Protocols:</a:t>
            </a:r>
          </a:p>
          <a:p>
            <a:r>
              <a:rPr lang="en-US" sz="1400" b="1" dirty="0"/>
              <a:t>Go-Back-N (GBN) Protocol:</a:t>
            </a:r>
            <a:endParaRPr lang="en-US" sz="1400" dirty="0"/>
          </a:p>
          <a:p>
            <a:pPr lvl="1"/>
            <a:r>
              <a:rPr lang="en-US" sz="1200" dirty="0"/>
              <a:t>In Go-Back-N, the sender can send multiple frames within the window, but if any frame is lost or corrupted, the receiver will discard it, and the sender must retransmit the lost frame and all subsequent frames.</a:t>
            </a:r>
          </a:p>
          <a:p>
            <a:pPr lvl="1"/>
            <a:r>
              <a:rPr lang="en-US" sz="1200" dirty="0"/>
              <a:t>Acknowledgment is cumulative, meaning that a single acknowledgment can confirm the receipt of multiple frames.</a:t>
            </a:r>
          </a:p>
          <a:p>
            <a:r>
              <a:rPr lang="en-US" sz="1400" b="1" dirty="0"/>
              <a:t>Selective Repeat (SR) Protocol:</a:t>
            </a:r>
            <a:endParaRPr lang="en-US" sz="1400" dirty="0"/>
          </a:p>
          <a:p>
            <a:pPr lvl="1"/>
            <a:r>
              <a:rPr lang="en-US" sz="1200" dirty="0"/>
              <a:t>In Selective Repeat, the sender can also send multiple frames, but if a frame is lost or corrupted, only that frame needs to be retransmitted.</a:t>
            </a:r>
          </a:p>
          <a:p>
            <a:pPr lvl="1"/>
            <a:r>
              <a:rPr lang="en-US" sz="1200" dirty="0"/>
              <a:t>Each frame is individually acknowledged, and the sender does not need to retransmit correctly received frames.</a:t>
            </a:r>
          </a:p>
        </p:txBody>
      </p:sp>
    </p:spTree>
    <p:extLst>
      <p:ext uri="{BB962C8B-B14F-4D97-AF65-F5344CB8AC3E}">
        <p14:creationId xmlns:p14="http://schemas.microsoft.com/office/powerpoint/2010/main" val="36629164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9118" y="1610687"/>
            <a:ext cx="7392572" cy="4264652"/>
          </a:xfrm>
        </p:spPr>
      </p:pic>
    </p:spTree>
    <p:extLst>
      <p:ext uri="{BB962C8B-B14F-4D97-AF65-F5344CB8AC3E}">
        <p14:creationId xmlns:p14="http://schemas.microsoft.com/office/powerpoint/2010/main" val="20190318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Detection and Correction</a:t>
            </a:r>
            <a:endParaRPr lang="en-US" dirty="0"/>
          </a:p>
        </p:txBody>
      </p:sp>
      <p:sp>
        <p:nvSpPr>
          <p:cNvPr id="6" name="Rectangle 5"/>
          <p:cNvSpPr>
            <a:spLocks noChangeArrowheads="1"/>
          </p:cNvSpPr>
          <p:nvPr/>
        </p:nvSpPr>
        <p:spPr bwMode="auto">
          <a:xfrm>
            <a:off x="1010653" y="2083535"/>
            <a:ext cx="6131293"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1" i="0" u="none" strike="noStrike" cap="none" normalizeH="0" baseline="0" dirty="0" smtClean="0">
                <a:ln>
                  <a:noFill/>
                </a:ln>
                <a:solidFill>
                  <a:srgbClr val="273239"/>
                </a:solidFill>
                <a:effectLst/>
                <a:latin typeface="Arial" panose="020B0604020202020204" pitchFamily="34" charset="0"/>
                <a:ea typeface="Times New Roman" panose="02020603050405020304" pitchFamily="18" charset="0"/>
                <a:cs typeface="Arial" panose="020B0604020202020204" pitchFamily="34" charset="0"/>
              </a:rPr>
              <a:t>Error Detection</a:t>
            </a:r>
            <a:endParaRPr kumimoji="0" lang="en-US" altLang="en-US" sz="1400" b="1"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Error detection in computer networks ensures that data is transmitted accurately without corruption. It works by adding extra (redundant) bits to data so the receiver can verify its correctness. If errors are found, the receiver discards the frame and requests retransmission.</a:t>
            </a:r>
            <a:endParaRPr kumimoji="0" lang="en-US" altLang="en-US" sz="1400" b="0"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Detects errors caused by noise or interference.</a:t>
            </a:r>
            <a:endParaRPr kumimoji="0" lang="en-US" altLang="en-US" sz="1400" b="0"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Uses redundant bits for consistency checking.</a:t>
            </a:r>
            <a:endParaRPr kumimoji="0" lang="en-US" altLang="en-US" sz="1400" b="0"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Common methods: Parity Check, Checksum, CRC.</a:t>
            </a:r>
            <a:endParaRPr kumimoji="0" lang="en-US" altLang="en-US" sz="1400" b="0"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Ensures data integrity and reliable communication.</a:t>
            </a:r>
            <a:endParaRPr kumimoji="0" lang="en-US" altLang="en-US" sz="1400" b="0" i="0"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Types of Errors</a:t>
            </a:r>
            <a:endParaRPr kumimoji="0" lang="en-US" altLang="en-US" sz="1400" b="0" i="0"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1" i="0" u="none" strike="noStrike" cap="none" normalizeH="0" baseline="0" dirty="0" smtClean="0">
                <a:ln>
                  <a:noFill/>
                </a:ln>
                <a:solidFill>
                  <a:srgbClr val="273239"/>
                </a:solidFill>
                <a:effectLst/>
                <a:latin typeface="Arial" panose="020B0604020202020204" pitchFamily="34" charset="0"/>
                <a:ea typeface="Times New Roman" panose="02020603050405020304" pitchFamily="18" charset="0"/>
                <a:cs typeface="Arial" panose="020B0604020202020204" pitchFamily="34" charset="0"/>
              </a:rPr>
              <a:t>1. Single-Bit Error</a:t>
            </a:r>
            <a:endParaRPr kumimoji="0" lang="en-US" altLang="en-US" sz="1400" b="1"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rgbClr val="273239"/>
                </a:solidFill>
                <a:effectLst/>
                <a:ea typeface="Times New Roman" panose="02020603050405020304" pitchFamily="18" charset="0"/>
                <a:cs typeface="Arial" panose="020B0604020202020204" pitchFamily="34" charset="0"/>
              </a:rPr>
              <a:t>A single-bit error refers to a type of data transmission error that occurs when one bit (i.e., a single binary digit) of a transmitted data unit is altered during transmission, resulting in an incorrect or corrupted data unit.</a:t>
            </a:r>
          </a:p>
          <a:p>
            <a:pPr lvl="0">
              <a:tabLst/>
            </a:pPr>
            <a:r>
              <a:rPr lang="en-US" altLang="en-US" sz="1600" b="1" dirty="0">
                <a:solidFill>
                  <a:srgbClr val="273239"/>
                </a:solidFill>
                <a:ea typeface="Times New Roman" panose="02020603050405020304" pitchFamily="18" charset="0"/>
                <a:cs typeface="Arial" panose="020B0604020202020204" pitchFamily="34" charset="0"/>
              </a:rPr>
              <a:t>2. Burst Error</a:t>
            </a:r>
            <a:endParaRPr lang="en-US" altLang="en-US" sz="1400" b="1" dirty="0">
              <a:ea typeface="Times New Roman" panose="02020603050405020304" pitchFamily="18" charset="0"/>
            </a:endParaRPr>
          </a:p>
          <a:p>
            <a:pPr lvl="0">
              <a:tabLst/>
            </a:pPr>
            <a:r>
              <a:rPr lang="en-US" altLang="en-US" sz="1400" dirty="0">
                <a:solidFill>
                  <a:srgbClr val="273239"/>
                </a:solidFill>
                <a:ea typeface="Times New Roman" panose="02020603050405020304" pitchFamily="18" charset="0"/>
                <a:cs typeface="Arial" panose="020B0604020202020204" pitchFamily="34" charset="0"/>
              </a:rPr>
              <a:t>The term burst error means that 2 or more bits in the data unit have changed from 1 to 0 or from 0 </a:t>
            </a:r>
            <a:r>
              <a:rPr lang="en-US" altLang="en-US" sz="1400" dirty="0" smtClean="0">
                <a:solidFill>
                  <a:srgbClr val="273239"/>
                </a:solidFill>
                <a:ea typeface="Times New Roman" panose="02020603050405020304" pitchFamily="18" charset="0"/>
                <a:cs typeface="Arial" panose="020B0604020202020204" pitchFamily="34" charset="0"/>
              </a:rPr>
              <a:t>to 1</a:t>
            </a:r>
            <a:endParaRPr kumimoji="0" lang="en-US" altLang="en-US" sz="1400" b="0" i="0" u="none" strike="noStrike" cap="none" normalizeH="0" baseline="0" dirty="0" smtClean="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pic>
        <p:nvPicPr>
          <p:cNvPr id="3076" name="Picture 8" descr="single bit e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6345" y="1900990"/>
            <a:ext cx="2589062" cy="2186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Burst error"/>
          <p:cNvPicPr/>
          <p:nvPr/>
        </p:nvPicPr>
        <p:blipFill>
          <a:blip r:embed="rId3">
            <a:extLst>
              <a:ext uri="{28A0092B-C50C-407E-A947-70E740481C1C}">
                <a14:useLocalDpi xmlns:a14="http://schemas.microsoft.com/office/drawing/2010/main" val="0"/>
              </a:ext>
            </a:extLst>
          </a:blip>
          <a:srcRect/>
          <a:stretch>
            <a:fillRect/>
          </a:stretch>
        </p:blipFill>
        <p:spPr bwMode="auto">
          <a:xfrm>
            <a:off x="8219975" y="3919036"/>
            <a:ext cx="2676623" cy="2106379"/>
          </a:xfrm>
          <a:prstGeom prst="rect">
            <a:avLst/>
          </a:prstGeom>
          <a:noFill/>
          <a:ln>
            <a:noFill/>
          </a:ln>
        </p:spPr>
      </p:pic>
    </p:spTree>
    <p:extLst>
      <p:ext uri="{BB962C8B-B14F-4D97-AF65-F5344CB8AC3E}">
        <p14:creationId xmlns:p14="http://schemas.microsoft.com/office/powerpoint/2010/main" val="3432578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9523" y="2614685"/>
            <a:ext cx="5557786" cy="3318936"/>
          </a:xfrm>
        </p:spPr>
        <p:txBody>
          <a:bodyPr>
            <a:normAutofit fontScale="62500" lnSpcReduction="20000"/>
          </a:bodyPr>
          <a:lstStyle/>
          <a:p>
            <a:pPr fontAlgn="base"/>
            <a:r>
              <a:rPr lang="en-US" sz="3200" b="1" dirty="0"/>
              <a:t>1. Simple Parity Check</a:t>
            </a:r>
          </a:p>
          <a:p>
            <a:pPr fontAlgn="base"/>
            <a:r>
              <a:rPr lang="en-US" dirty="0"/>
              <a:t>Simple bit parity is a simple error detection method that involves adding an extra bit to a data transmission. It works as:</a:t>
            </a:r>
          </a:p>
          <a:p>
            <a:pPr lvl="0" fontAlgn="base"/>
            <a:r>
              <a:rPr lang="en-US" dirty="0"/>
              <a:t>Parity bits are used for </a:t>
            </a:r>
            <a:r>
              <a:rPr lang="en-US" b="1" dirty="0"/>
              <a:t>error detection</a:t>
            </a:r>
            <a:r>
              <a:rPr lang="en-US" dirty="0"/>
              <a:t> in data transmission. There are two types:</a:t>
            </a:r>
          </a:p>
          <a:p>
            <a:pPr fontAlgn="base"/>
            <a:r>
              <a:rPr lang="en-US" b="1" dirty="0"/>
              <a:t>Even Parity</a:t>
            </a:r>
          </a:p>
          <a:p>
            <a:pPr fontAlgn="base"/>
            <a:r>
              <a:rPr lang="en-US" dirty="0"/>
              <a:t>➤ The </a:t>
            </a:r>
            <a:r>
              <a:rPr lang="en-US" b="1" dirty="0"/>
              <a:t>number of 1’s</a:t>
            </a:r>
            <a:r>
              <a:rPr lang="en-US" dirty="0"/>
              <a:t> in each code word </a:t>
            </a:r>
            <a:r>
              <a:rPr lang="en-US" b="1" dirty="0"/>
              <a:t>including the parity bit</a:t>
            </a:r>
            <a:r>
              <a:rPr lang="en-US" dirty="0"/>
              <a:t> must be </a:t>
            </a:r>
            <a:r>
              <a:rPr lang="en-US" b="1" dirty="0"/>
              <a:t>even</a:t>
            </a:r>
            <a:r>
              <a:rPr lang="en-US" dirty="0"/>
              <a:t>.</a:t>
            </a:r>
          </a:p>
          <a:p>
            <a:pPr fontAlgn="base"/>
            <a:r>
              <a:rPr lang="en-US" b="1" dirty="0"/>
              <a:t>Odd Parity</a:t>
            </a:r>
          </a:p>
          <a:p>
            <a:pPr fontAlgn="base"/>
            <a:r>
              <a:rPr lang="en-US" dirty="0"/>
              <a:t>➤ The </a:t>
            </a:r>
            <a:r>
              <a:rPr lang="en-US" b="1" dirty="0"/>
              <a:t>number of 1’s</a:t>
            </a:r>
            <a:r>
              <a:rPr lang="en-US" dirty="0"/>
              <a:t> in each code word </a:t>
            </a:r>
            <a:r>
              <a:rPr lang="en-US" b="1" dirty="0"/>
              <a:t>including the parity bit</a:t>
            </a:r>
            <a:r>
              <a:rPr lang="en-US" dirty="0"/>
              <a:t> must be </a:t>
            </a:r>
            <a:r>
              <a:rPr lang="en-US" b="1" dirty="0"/>
              <a:t>odd</a:t>
            </a:r>
            <a:r>
              <a:rPr lang="en-US" dirty="0"/>
              <a:t>.</a:t>
            </a:r>
          </a:p>
        </p:txBody>
      </p:sp>
      <p:sp>
        <p:nvSpPr>
          <p:cNvPr id="5" name="Rectangle 4"/>
          <p:cNvSpPr/>
          <p:nvPr/>
        </p:nvSpPr>
        <p:spPr>
          <a:xfrm>
            <a:off x="2444816" y="760397"/>
            <a:ext cx="6468177" cy="741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smtClean="0">
                <a:solidFill>
                  <a:schemeClr val="tx1"/>
                </a:solidFill>
              </a:rPr>
              <a:t>Error Detection</a:t>
            </a:r>
            <a:endParaRPr lang="en-US" sz="3200" b="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3731" y="2794802"/>
            <a:ext cx="4420670" cy="2210335"/>
          </a:xfrm>
          <a:prstGeom prst="rect">
            <a:avLst/>
          </a:prstGeom>
        </p:spPr>
      </p:pic>
    </p:spTree>
    <p:extLst>
      <p:ext uri="{BB962C8B-B14F-4D97-AF65-F5344CB8AC3E}">
        <p14:creationId xmlns:p14="http://schemas.microsoft.com/office/powerpoint/2010/main" val="640424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and Disadvantages</a:t>
            </a:r>
            <a:endParaRPr lang="en-US" dirty="0"/>
          </a:p>
        </p:txBody>
      </p:sp>
      <p:sp>
        <p:nvSpPr>
          <p:cNvPr id="3" name="Content Placeholder 2"/>
          <p:cNvSpPr>
            <a:spLocks noGrp="1"/>
          </p:cNvSpPr>
          <p:nvPr>
            <p:ph idx="1"/>
          </p:nvPr>
        </p:nvSpPr>
        <p:spPr>
          <a:xfrm>
            <a:off x="1295401" y="2556932"/>
            <a:ext cx="5885045" cy="3318936"/>
          </a:xfrm>
        </p:spPr>
        <p:txBody>
          <a:bodyPr>
            <a:normAutofit fontScale="62500" lnSpcReduction="20000"/>
          </a:bodyPr>
          <a:lstStyle/>
          <a:p>
            <a:pPr fontAlgn="base"/>
            <a:r>
              <a:rPr lang="en-US" b="1" dirty="0"/>
              <a:t>Advantages of Simple Parity Check</a:t>
            </a:r>
          </a:p>
          <a:p>
            <a:pPr lvl="0" fontAlgn="base"/>
            <a:r>
              <a:rPr lang="en-US" dirty="0"/>
              <a:t>Simple parity check can detect all single bit error.</a:t>
            </a:r>
          </a:p>
          <a:p>
            <a:pPr lvl="0" fontAlgn="base"/>
            <a:r>
              <a:rPr lang="en-US" dirty="0"/>
              <a:t>Simple parity check can detect an odd number of errors.</a:t>
            </a:r>
          </a:p>
          <a:p>
            <a:pPr lvl="0" fontAlgn="base"/>
            <a:r>
              <a:rPr lang="en-US" b="1" dirty="0"/>
              <a:t>Implementation</a:t>
            </a:r>
            <a:r>
              <a:rPr lang="en-US" dirty="0"/>
              <a:t>: Simple Parity Check is easy to implement in both hardware and software.</a:t>
            </a:r>
          </a:p>
          <a:p>
            <a:pPr lvl="0" fontAlgn="base"/>
            <a:r>
              <a:rPr lang="en-US" b="1" dirty="0"/>
              <a:t>Minimal Extra Data</a:t>
            </a:r>
            <a:r>
              <a:rPr lang="en-US" dirty="0"/>
              <a:t>: Only one additional bit (the parity bit) is added per data unit (e.g., per byte).</a:t>
            </a:r>
          </a:p>
          <a:p>
            <a:pPr lvl="0" fontAlgn="base"/>
            <a:r>
              <a:rPr lang="en-US" b="1" dirty="0"/>
              <a:t>Fast Error Detection</a:t>
            </a:r>
            <a:r>
              <a:rPr lang="en-US" dirty="0"/>
              <a:t>: The process of calculating and checking the parity bit is quick, which allows for rapid error detection without significant delay in data processing or communication.</a:t>
            </a:r>
          </a:p>
          <a:p>
            <a:pPr lvl="0" fontAlgn="base"/>
            <a:r>
              <a:rPr lang="en-US" b="1" dirty="0"/>
              <a:t>Single-Bit Error Detection</a:t>
            </a:r>
            <a:r>
              <a:rPr lang="en-US" dirty="0"/>
              <a:t>: It can effectively detect single-bit errors within a data unit, providing a basic level of error detection for relatively low-error environments.</a:t>
            </a:r>
          </a:p>
        </p:txBody>
      </p:sp>
      <p:sp>
        <p:nvSpPr>
          <p:cNvPr id="4" name="Rectangle 3"/>
          <p:cNvSpPr/>
          <p:nvPr/>
        </p:nvSpPr>
        <p:spPr>
          <a:xfrm>
            <a:off x="6676724" y="2372773"/>
            <a:ext cx="4594459" cy="3530967"/>
          </a:xfrm>
          <a:prstGeom prst="rect">
            <a:avLst/>
          </a:prstGeom>
        </p:spPr>
        <p:txBody>
          <a:bodyPr wrap="square">
            <a:spAutoFit/>
          </a:bodyPr>
          <a:lstStyle/>
          <a:p>
            <a:pPr fontAlgn="base"/>
            <a:r>
              <a:rPr lang="en-US" b="1" dirty="0" smtClean="0">
                <a:solidFill>
                  <a:srgbClr val="273239"/>
                </a:solidFill>
                <a:effectLst/>
                <a:latin typeface="Arial" panose="020B0604020202020204" pitchFamily="34" charset="0"/>
                <a:ea typeface="Times New Roman" panose="02020603050405020304" pitchFamily="18" charset="0"/>
              </a:rPr>
              <a:t>Disadvantages of Simple Parity Check</a:t>
            </a:r>
            <a:endParaRPr lang="en-US" sz="1600" b="1" dirty="0">
              <a:latin typeface="Times New Roman" panose="02020603050405020304" pitchFamily="18" charset="0"/>
              <a:ea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Single Parity check is not able to detect even no. of bit error. </a:t>
            </a:r>
            <a:endParaRPr lang="en-US" sz="1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600" b="1" dirty="0">
                <a:solidFill>
                  <a:srgbClr val="273239"/>
                </a:solidFill>
                <a:latin typeface="Arial" panose="020B0604020202020204" pitchFamily="34" charset="0"/>
                <a:ea typeface="Calibri" panose="020F0502020204030204" pitchFamily="34" charset="0"/>
                <a:cs typeface="Times New Roman" panose="02020603050405020304" pitchFamily="18" charset="0"/>
              </a:rPr>
              <a:t>For example:</a:t>
            </a: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 the Data to be transmitted is </a:t>
            </a:r>
            <a:r>
              <a:rPr lang="en-US" sz="1600" b="1" dirty="0">
                <a:solidFill>
                  <a:srgbClr val="273239"/>
                </a:solidFill>
                <a:latin typeface="Arial" panose="020B0604020202020204" pitchFamily="34" charset="0"/>
                <a:ea typeface="Calibri" panose="020F0502020204030204" pitchFamily="34" charset="0"/>
                <a:cs typeface="Times New Roman" panose="02020603050405020304" pitchFamily="18" charset="0"/>
              </a:rPr>
              <a:t>101010</a:t>
            </a: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 </a:t>
            </a:r>
            <a:r>
              <a:rPr lang="en-US" sz="1600" dirty="0" err="1">
                <a:solidFill>
                  <a:srgbClr val="273239"/>
                </a:solidFill>
                <a:latin typeface="Arial" panose="020B0604020202020204" pitchFamily="34" charset="0"/>
                <a:ea typeface="Calibri" panose="020F0502020204030204" pitchFamily="34" charset="0"/>
                <a:cs typeface="Times New Roman" panose="02020603050405020304" pitchFamily="18" charset="0"/>
              </a:rPr>
              <a:t>Codeword</a:t>
            </a: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 transmitted to the receiver is 1010101 (we have used even parity). </a:t>
            </a:r>
            <a:b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b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Let's assume that during transmission, two of the bits of code word flipped to 1111101.</a:t>
            </a:r>
            <a:b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b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On receiving the code word, the receiver finds the no. of ones to be even and hence </a:t>
            </a:r>
            <a:r>
              <a:rPr lang="en-US" sz="1600" b="1" dirty="0">
                <a:solidFill>
                  <a:srgbClr val="273239"/>
                </a:solidFill>
                <a:latin typeface="Arial" panose="020B0604020202020204" pitchFamily="34" charset="0"/>
                <a:ea typeface="Calibri" panose="020F0502020204030204" pitchFamily="34" charset="0"/>
                <a:cs typeface="Times New Roman" panose="02020603050405020304" pitchFamily="18" charset="0"/>
              </a:rPr>
              <a:t>no error, </a:t>
            </a:r>
            <a:r>
              <a:rPr lang="en-US" sz="1600" dirty="0">
                <a:solidFill>
                  <a:srgbClr val="273239"/>
                </a:solidFill>
                <a:latin typeface="Arial" panose="020B0604020202020204" pitchFamily="34" charset="0"/>
                <a:ea typeface="Calibri" panose="020F0502020204030204" pitchFamily="34" charset="0"/>
                <a:cs typeface="Times New Roman" panose="02020603050405020304" pitchFamily="18" charset="0"/>
              </a:rPr>
              <a:t>which is a wrong assumption</a:t>
            </a:r>
            <a:r>
              <a:rPr lang="en-US" sz="1600" i="1" dirty="0">
                <a:solidFill>
                  <a:srgbClr val="273239"/>
                </a:solidFill>
                <a:latin typeface="Arial" panose="020B0604020202020204" pitchFamily="34"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30543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6012" y="959138"/>
            <a:ext cx="6645441" cy="3318936"/>
          </a:xfrm>
        </p:spPr>
        <p:txBody>
          <a:bodyPr>
            <a:noAutofit/>
          </a:bodyPr>
          <a:lstStyle/>
          <a:p>
            <a:pPr fontAlgn="base"/>
            <a:r>
              <a:rPr lang="en-US" sz="1600" b="1" dirty="0"/>
              <a:t>2. </a:t>
            </a:r>
            <a:r>
              <a:rPr lang="en-US" b="1" dirty="0"/>
              <a:t>Two-Dimensional Parity Check</a:t>
            </a:r>
          </a:p>
          <a:p>
            <a:pPr fontAlgn="base"/>
            <a:r>
              <a:rPr lang="en-US" sz="1600" dirty="0"/>
              <a:t>Two-dimensional Parity check bits are calculated for each row, which is equivalent to a simple parity check bit. Parity check bits are also calculated for all columns, then both are sent along with the data. At the receiving end, these are compared with the parity bits calculated on the received data.</a:t>
            </a:r>
          </a:p>
          <a:p>
            <a:pPr fontAlgn="base"/>
            <a:r>
              <a:rPr lang="en-US" sz="1600" b="1" dirty="0"/>
              <a:t>2-D Parity Check</a:t>
            </a:r>
          </a:p>
          <a:p>
            <a:pPr fontAlgn="base"/>
            <a:r>
              <a:rPr lang="en-US" sz="1600" b="1" dirty="0"/>
              <a:t>Advantages of Two-Dimensional Parity Check</a:t>
            </a:r>
          </a:p>
          <a:p>
            <a:pPr lvl="0" fontAlgn="base"/>
            <a:r>
              <a:rPr lang="en-US" sz="1600" dirty="0"/>
              <a:t>Two-Dimensional Parity Check can detect and correct all single bit error.</a:t>
            </a:r>
          </a:p>
          <a:p>
            <a:pPr lvl="0" fontAlgn="base"/>
            <a:r>
              <a:rPr lang="en-US" sz="1600" dirty="0"/>
              <a:t>Two-Dimensional Parity Check can detect two or three bit error that occur any where in the matrix.</a:t>
            </a:r>
          </a:p>
          <a:p>
            <a:pPr fontAlgn="base"/>
            <a:r>
              <a:rPr lang="en-US" sz="1600" b="1" dirty="0"/>
              <a:t>Disadvantages of Two-Dimensional Parity Check</a:t>
            </a:r>
          </a:p>
          <a:p>
            <a:pPr lvl="0" fontAlgn="base"/>
            <a:r>
              <a:rPr lang="en-US" sz="1600" dirty="0"/>
              <a:t>Two-Dimensional Parity Check can not correct two or three bit error. It can only detect two or three bit error.</a:t>
            </a:r>
          </a:p>
          <a:p>
            <a:pPr lvl="0" fontAlgn="base"/>
            <a:r>
              <a:rPr lang="en-US" sz="1600" dirty="0"/>
              <a:t>If we have a error in the parity bit then this scheme will not work.</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2745" y="2544544"/>
            <a:ext cx="4170414" cy="2085207"/>
          </a:xfrm>
          <a:prstGeom prst="rect">
            <a:avLst/>
          </a:prstGeom>
        </p:spPr>
      </p:pic>
    </p:spTree>
    <p:extLst>
      <p:ext uri="{BB962C8B-B14F-4D97-AF65-F5344CB8AC3E}">
        <p14:creationId xmlns:p14="http://schemas.microsoft.com/office/powerpoint/2010/main" val="27137315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4513" y="1007265"/>
            <a:ext cx="6116051" cy="3318936"/>
          </a:xfrm>
        </p:spPr>
        <p:txBody>
          <a:bodyPr>
            <a:noAutofit/>
          </a:bodyPr>
          <a:lstStyle/>
          <a:p>
            <a:pPr fontAlgn="base"/>
            <a:r>
              <a:rPr lang="en-US" sz="1600" b="1" dirty="0"/>
              <a:t>3. Checksum</a:t>
            </a:r>
          </a:p>
          <a:p>
            <a:pPr fontAlgn="base"/>
            <a:r>
              <a:rPr lang="en-US" sz="1600" dirty="0"/>
              <a:t>Checksum error detection is a method used to identify errors in transmitted data. The process involves dividing the data into equally sized segments and using a </a:t>
            </a:r>
            <a:r>
              <a:rPr lang="en-US" sz="1600" u="sng" dirty="0">
                <a:hlinkClick r:id="rId2"/>
              </a:rPr>
              <a:t>1's complement</a:t>
            </a:r>
            <a:r>
              <a:rPr lang="en-US" sz="1600" dirty="0"/>
              <a:t> to calculate the sum of these segments. The calculated sum is then sent along with the data to the receiver. At the receiver's end, the same process is repeated and if all zeroes are obtained in the sum, it means that the data is correct.</a:t>
            </a:r>
          </a:p>
          <a:p>
            <a:pPr fontAlgn="base"/>
            <a:r>
              <a:rPr lang="en-US" sz="1600" b="1" dirty="0"/>
              <a:t>Checksum - Operation at Sender's Side</a:t>
            </a:r>
          </a:p>
          <a:p>
            <a:pPr lvl="0" fontAlgn="base"/>
            <a:r>
              <a:rPr lang="en-US" sz="1600" dirty="0"/>
              <a:t>Firstly, the data is divided into k segments each of m bits.</a:t>
            </a:r>
          </a:p>
          <a:p>
            <a:pPr lvl="0" fontAlgn="base"/>
            <a:r>
              <a:rPr lang="en-US" sz="1600" dirty="0"/>
              <a:t>On the sender’s end, the segments are added using 1’s complement arithmetic to get the sum. The sum is complemented to get the checksum.</a:t>
            </a:r>
          </a:p>
          <a:p>
            <a:pPr lvl="0" fontAlgn="base"/>
            <a:r>
              <a:rPr lang="en-US" sz="1600" dirty="0"/>
              <a:t>The checksum segment is sent along with the data segments.</a:t>
            </a:r>
          </a:p>
          <a:p>
            <a:pPr fontAlgn="base"/>
            <a:r>
              <a:rPr lang="en-US" sz="1600" b="1" dirty="0"/>
              <a:t>Checksum - Operation at Receiver's Side</a:t>
            </a:r>
          </a:p>
          <a:p>
            <a:pPr lvl="0" fontAlgn="base"/>
            <a:r>
              <a:rPr lang="en-US" sz="1600" dirty="0"/>
              <a:t>At the receiver’s end, all received segments are added using 1’s complement arithmetic to get the sum. The sum is complemented.</a:t>
            </a:r>
          </a:p>
          <a:p>
            <a:pPr lvl="0" fontAlgn="base"/>
            <a:r>
              <a:rPr lang="en-US" sz="1600" dirty="0"/>
              <a:t>If the result is zero, the received data is accepted; otherwise discarded.</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8860" y="2583047"/>
            <a:ext cx="5036686" cy="2518343"/>
          </a:xfrm>
          <a:prstGeom prst="rect">
            <a:avLst/>
          </a:prstGeom>
        </p:spPr>
      </p:pic>
    </p:spTree>
    <p:extLst>
      <p:ext uri="{BB962C8B-B14F-4D97-AF65-F5344CB8AC3E}">
        <p14:creationId xmlns:p14="http://schemas.microsoft.com/office/powerpoint/2010/main" val="30778567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4887" y="814761"/>
            <a:ext cx="6106426" cy="3318936"/>
          </a:xfrm>
        </p:spPr>
        <p:txBody>
          <a:bodyPr>
            <a:noAutofit/>
          </a:bodyPr>
          <a:lstStyle/>
          <a:p>
            <a:pPr fontAlgn="base"/>
            <a:r>
              <a:rPr lang="en-US" sz="1200" b="1" dirty="0"/>
              <a:t>4. Cyclic Redundancy Check (CRC)</a:t>
            </a:r>
          </a:p>
          <a:p>
            <a:pPr lvl="0" fontAlgn="base"/>
            <a:r>
              <a:rPr lang="en-US" sz="1200" dirty="0"/>
              <a:t>Unlike the checksum scheme, which is based on addition, CRC is based on </a:t>
            </a:r>
            <a:r>
              <a:rPr lang="en-US" sz="1200" u="sng" dirty="0">
                <a:hlinkClick r:id="rId2"/>
              </a:rPr>
              <a:t>binary division</a:t>
            </a:r>
            <a:r>
              <a:rPr lang="en-US" sz="1200" dirty="0"/>
              <a:t>.</a:t>
            </a:r>
          </a:p>
          <a:p>
            <a:pPr lvl="0" fontAlgn="base"/>
            <a:r>
              <a:rPr lang="en-US" sz="1200" dirty="0"/>
              <a:t>In CRC, a sequence of redundant bits, called cyclic redundancy check bits, are appended to the end of the data unit so that the resulting data unit becomes exactly divisible by a second, predetermined binary number.</a:t>
            </a:r>
          </a:p>
          <a:p>
            <a:pPr lvl="0" fontAlgn="base"/>
            <a:r>
              <a:rPr lang="en-US" sz="1200" dirty="0"/>
              <a:t>At the destination, the incoming data unit is divided by the same number. If at this step there is no remainder, the data unit is assumed to be correct and is therefore accepted.</a:t>
            </a:r>
          </a:p>
          <a:p>
            <a:pPr lvl="0" fontAlgn="base"/>
            <a:r>
              <a:rPr lang="en-US" sz="1200" dirty="0"/>
              <a:t>A remainder indicates that the data unit has been damaged in transit and therefore must be rejected.</a:t>
            </a:r>
          </a:p>
          <a:p>
            <a:pPr fontAlgn="base"/>
            <a:r>
              <a:rPr lang="en-US" sz="1200" b="1" dirty="0"/>
              <a:t>CRCCRC Working</a:t>
            </a:r>
          </a:p>
          <a:p>
            <a:pPr fontAlgn="base"/>
            <a:r>
              <a:rPr lang="en-US" sz="1200" dirty="0"/>
              <a:t>We have given </a:t>
            </a:r>
            <a:r>
              <a:rPr lang="en-US" sz="1200" dirty="0" err="1"/>
              <a:t>dataword</a:t>
            </a:r>
            <a:r>
              <a:rPr lang="en-US" sz="1200" dirty="0"/>
              <a:t> of length n and divisor of length k.</a:t>
            </a:r>
          </a:p>
          <a:p>
            <a:pPr fontAlgn="base"/>
            <a:r>
              <a:rPr lang="en-US" sz="1200" b="1" dirty="0"/>
              <a:t>Step 1: </a:t>
            </a:r>
            <a:r>
              <a:rPr lang="en-US" sz="1200" dirty="0"/>
              <a:t>Append (k-1) zero's to the original message</a:t>
            </a:r>
            <a:br>
              <a:rPr lang="en-US" sz="1200" dirty="0"/>
            </a:br>
            <a:r>
              <a:rPr lang="en-US" sz="1200" b="1" dirty="0"/>
              <a:t>Step 2: </a:t>
            </a:r>
            <a:r>
              <a:rPr lang="en-US" sz="1200" dirty="0"/>
              <a:t>Perform modulo 2 division</a:t>
            </a:r>
            <a:br>
              <a:rPr lang="en-US" sz="1200" dirty="0"/>
            </a:br>
            <a:r>
              <a:rPr lang="en-US" sz="1200" b="1" dirty="0"/>
              <a:t>Step 3: </a:t>
            </a:r>
            <a:r>
              <a:rPr lang="en-US" sz="1200" dirty="0"/>
              <a:t>Remainder of division = CRC</a:t>
            </a:r>
            <a:br>
              <a:rPr lang="en-US" sz="1200" dirty="0"/>
            </a:br>
            <a:r>
              <a:rPr lang="en-US" sz="1200" b="1" dirty="0"/>
              <a:t>Step 4: </a:t>
            </a:r>
            <a:r>
              <a:rPr lang="en-US" sz="1200" dirty="0"/>
              <a:t>Code word = Data with append k-1 zero's + CRC</a:t>
            </a:r>
          </a:p>
          <a:p>
            <a:pPr fontAlgn="base"/>
            <a:r>
              <a:rPr lang="en-US" sz="1200" b="1" dirty="0"/>
              <a:t>Note:</a:t>
            </a:r>
            <a:endParaRPr lang="en-US" sz="1200" dirty="0"/>
          </a:p>
          <a:p>
            <a:pPr lvl="0" fontAlgn="base"/>
            <a:r>
              <a:rPr lang="en-US" sz="1200" dirty="0"/>
              <a:t>CRC must be k-1 bits</a:t>
            </a:r>
          </a:p>
          <a:p>
            <a:pPr lvl="0" fontAlgn="base"/>
            <a:r>
              <a:rPr lang="en-US" sz="1200" dirty="0"/>
              <a:t>Length of Code word = n+k-1 bits</a:t>
            </a:r>
          </a:p>
          <a:p>
            <a:pPr fontAlgn="base"/>
            <a:r>
              <a:rPr lang="en-US" sz="1200" b="1" dirty="0"/>
              <a:t>Example</a:t>
            </a:r>
            <a:r>
              <a:rPr lang="en-US" sz="1200" dirty="0"/>
              <a:t>: Let's data to be send is 1010000 and divisor in the form of polynomial is x3+1. CRC method discussed below.</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980" y="2554170"/>
            <a:ext cx="4998186" cy="2499093"/>
          </a:xfrm>
          <a:prstGeom prst="rect">
            <a:avLst/>
          </a:prstGeom>
        </p:spPr>
      </p:pic>
    </p:spTree>
    <p:extLst>
      <p:ext uri="{BB962C8B-B14F-4D97-AF65-F5344CB8AC3E}">
        <p14:creationId xmlns:p14="http://schemas.microsoft.com/office/powerpoint/2010/main" val="37145360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0871" y="979137"/>
            <a:ext cx="8228909" cy="4896201"/>
          </a:xfrm>
        </p:spPr>
      </p:pic>
    </p:spTree>
    <p:extLst>
      <p:ext uri="{BB962C8B-B14F-4D97-AF65-F5344CB8AC3E}">
        <p14:creationId xmlns:p14="http://schemas.microsoft.com/office/powerpoint/2010/main" val="34345326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 to Point Protocol</a:t>
            </a:r>
            <a:endParaRPr lang="en-US" dirty="0"/>
          </a:p>
        </p:txBody>
      </p:sp>
      <p:sp>
        <p:nvSpPr>
          <p:cNvPr id="3" name="Content Placeholder 2"/>
          <p:cNvSpPr>
            <a:spLocks noGrp="1"/>
          </p:cNvSpPr>
          <p:nvPr>
            <p:ph idx="1"/>
          </p:nvPr>
        </p:nvSpPr>
        <p:spPr>
          <a:xfrm>
            <a:off x="1141397" y="2460680"/>
            <a:ext cx="5644414" cy="3318936"/>
          </a:xfrm>
        </p:spPr>
        <p:txBody>
          <a:bodyPr>
            <a:noAutofit/>
          </a:bodyPr>
          <a:lstStyle/>
          <a:p>
            <a:r>
              <a:rPr lang="en-US" sz="1600" dirty="0"/>
              <a:t>Point-to-Point Protocol (PPP) is a data link layer protocol commonly used for establishing a direct connection between two nodes over serial links, such as dial-up or leased lines. It provides a standard method for transmitting multi-protocol datagrams over point-to-point links. </a:t>
            </a:r>
            <a:endParaRPr lang="en-US" sz="1600" dirty="0" smtClean="0"/>
          </a:p>
          <a:p>
            <a:r>
              <a:rPr lang="en-US" sz="1600" b="1" dirty="0"/>
              <a:t>Key Components of PPP:</a:t>
            </a:r>
          </a:p>
          <a:p>
            <a:r>
              <a:rPr lang="en-US" sz="1600" b="1" dirty="0"/>
              <a:t>LCP (Link Control Protocol)</a:t>
            </a:r>
            <a:r>
              <a:rPr lang="en-US" sz="1600" dirty="0"/>
              <a:t>: Manages the link setup, configuration, and termination.</a:t>
            </a:r>
          </a:p>
          <a:p>
            <a:r>
              <a:rPr lang="en-US" sz="1600" b="1" dirty="0"/>
              <a:t>NCP (Network Control Protocol)</a:t>
            </a:r>
            <a:r>
              <a:rPr lang="en-US" sz="1600" dirty="0"/>
              <a:t>: Handles the setup and configuration of network layer protocols (e.g., IP, IPX).</a:t>
            </a:r>
          </a:p>
          <a:p>
            <a:r>
              <a:rPr lang="en-US" sz="1600" b="1" dirty="0"/>
              <a:t>Authentication</a:t>
            </a:r>
            <a:r>
              <a:rPr lang="en-US" sz="1600" dirty="0"/>
              <a:t>: PAP or CHAP for verifying identities.</a:t>
            </a:r>
          </a:p>
          <a:p>
            <a:r>
              <a:rPr lang="en-US" sz="1600" b="1" dirty="0"/>
              <a:t>Error Detection</a:t>
            </a:r>
            <a:r>
              <a:rPr lang="en-US" sz="1600" dirty="0"/>
              <a:t>: FCS for detecting errors during transmission.</a:t>
            </a:r>
          </a:p>
          <a:p>
            <a:endParaRPr lang="en-US" sz="1600"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8434" y="2460680"/>
            <a:ext cx="4618942" cy="258660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8434" y="4641461"/>
            <a:ext cx="5356208" cy="1504319"/>
          </a:xfrm>
          <a:prstGeom prst="rect">
            <a:avLst/>
          </a:prstGeom>
        </p:spPr>
      </p:pic>
    </p:spTree>
    <p:extLst>
      <p:ext uri="{BB962C8B-B14F-4D97-AF65-F5344CB8AC3E}">
        <p14:creationId xmlns:p14="http://schemas.microsoft.com/office/powerpoint/2010/main" val="34337219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767" y="317989"/>
            <a:ext cx="9601196" cy="1303867"/>
          </a:xfrm>
        </p:spPr>
        <p:txBody>
          <a:bodyPr/>
          <a:lstStyle/>
          <a:p>
            <a:r>
              <a:rPr lang="en-US" dirty="0" smtClean="0"/>
              <a:t>How PPP works</a:t>
            </a:r>
            <a:endParaRPr lang="en-US" dirty="0"/>
          </a:p>
        </p:txBody>
      </p:sp>
      <p:sp>
        <p:nvSpPr>
          <p:cNvPr id="5" name="Content Placeholder 4"/>
          <p:cNvSpPr>
            <a:spLocks noGrp="1"/>
          </p:cNvSpPr>
          <p:nvPr>
            <p:ph idx="1"/>
          </p:nvPr>
        </p:nvSpPr>
        <p:spPr>
          <a:xfrm>
            <a:off x="862264" y="1363400"/>
            <a:ext cx="9601196" cy="3318936"/>
          </a:xfrm>
        </p:spPr>
        <p:txBody>
          <a:bodyPr>
            <a:noAutofit/>
          </a:bodyPr>
          <a:lstStyle/>
          <a:p>
            <a:pPr marL="0" indent="0">
              <a:buNone/>
            </a:pPr>
            <a:r>
              <a:rPr lang="en-US" sz="2000" b="1" dirty="0" smtClean="0"/>
              <a:t>1. PPP Frame format:</a:t>
            </a:r>
          </a:p>
          <a:p>
            <a:r>
              <a:rPr lang="en-US" sz="1400" dirty="0"/>
              <a:t>PPP uses frames to encapsulate network layer packets (such as IP packets) for transmission. The PPP frame structure consists of five key parts:</a:t>
            </a:r>
            <a:endParaRPr lang="en-US" sz="1400" dirty="0" smtClean="0"/>
          </a:p>
          <a:p>
            <a:pPr fontAlgn="base"/>
            <a:r>
              <a:rPr lang="en-US" sz="1400" b="1" dirty="0"/>
              <a:t>Flag field -</a:t>
            </a:r>
            <a:r>
              <a:rPr lang="en-US" sz="1400" dirty="0"/>
              <a:t> PPP frame similar to HDLC frame, always begins and ends with standard HDLC flag. It always has a value of 1 byte i.e., 01111110 binary value.</a:t>
            </a:r>
          </a:p>
          <a:p>
            <a:pPr fontAlgn="base"/>
            <a:r>
              <a:rPr lang="en-US" sz="1400" b="1" dirty="0"/>
              <a:t>Address field -</a:t>
            </a:r>
            <a:r>
              <a:rPr lang="en-US" sz="1400" dirty="0"/>
              <a:t> Address field is basically broadcast address. In this, all 1’s simply indicates that all of the stations are ready to accept frame. It has the value of 1 byte i.e., 11111111 binary value. PPP on the other hand, does not provide or assign individual station addresses.</a:t>
            </a:r>
          </a:p>
          <a:p>
            <a:pPr fontAlgn="base"/>
            <a:r>
              <a:rPr lang="en-US" sz="1400" b="1" dirty="0"/>
              <a:t>Control field -</a:t>
            </a:r>
            <a:r>
              <a:rPr lang="en-US" sz="1400" dirty="0"/>
              <a:t> This field basically uses format of U-frame i.e., Unnumbered frame in HDLC. In HDLC, control field is required for various purposes but in PPP, this field is set to 1 byte i.e., 00000011 binary value. This 1 byte is used for a connection-less data link.</a:t>
            </a:r>
          </a:p>
          <a:p>
            <a:pPr fontAlgn="base"/>
            <a:r>
              <a:rPr lang="en-US" sz="1400" b="1" dirty="0"/>
              <a:t>Protocol field -</a:t>
            </a:r>
            <a:r>
              <a:rPr lang="en-US" sz="1400" dirty="0"/>
              <a:t> This field basically identifies network protocol of the datagram. It usually identifies the kind of packet in the data field i.e., what exactly is being carried in data field. This field is of 1 or 2 bytes and helps in identifies the PDU (Protocol Data Unit) that is being encapsulated by PPP frame.</a:t>
            </a:r>
          </a:p>
          <a:p>
            <a:pPr fontAlgn="base"/>
            <a:r>
              <a:rPr lang="en-US" sz="1400" b="1" dirty="0"/>
              <a:t>Data field -</a:t>
            </a:r>
            <a:r>
              <a:rPr lang="en-US" sz="1400" dirty="0"/>
              <a:t> It usually contains the upper layer datagram. Network layer datagram is particularly encapsulated in this field for regular PPP data frames. Length of this field is not constant rather it varies.</a:t>
            </a:r>
          </a:p>
          <a:p>
            <a:pPr fontAlgn="base"/>
            <a:r>
              <a:rPr lang="en-US" sz="1400" b="1" dirty="0"/>
              <a:t>FCS field -</a:t>
            </a:r>
            <a:r>
              <a:rPr lang="en-US" sz="1400" dirty="0"/>
              <a:t> This field usually contains checksum simply for identification of errors. It can be either 16 bits or 32 bits in size. It is also calculated over address, control, protocol, and even information fields. Characters are added to frame for control and handling of errors.</a:t>
            </a:r>
          </a:p>
          <a:p>
            <a:endParaRPr lang="en-US" sz="1400" dirty="0"/>
          </a:p>
        </p:txBody>
      </p:sp>
    </p:spTree>
    <p:extLst>
      <p:ext uri="{BB962C8B-B14F-4D97-AF65-F5344CB8AC3E}">
        <p14:creationId xmlns:p14="http://schemas.microsoft.com/office/powerpoint/2010/main" val="2629972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766" y="872511"/>
            <a:ext cx="9601196" cy="3318936"/>
          </a:xfrm>
        </p:spPr>
        <p:txBody>
          <a:bodyPr>
            <a:noAutofit/>
          </a:bodyPr>
          <a:lstStyle/>
          <a:p>
            <a:r>
              <a:rPr lang="en-US" sz="1300" b="1" dirty="0"/>
              <a:t>2. </a:t>
            </a:r>
            <a:r>
              <a:rPr lang="en-US" sz="2000" b="1" dirty="0"/>
              <a:t>PPP Link Establishment (LCP):</a:t>
            </a:r>
          </a:p>
          <a:p>
            <a:r>
              <a:rPr lang="en-US" sz="1300" dirty="0"/>
              <a:t>When PPP is used to establish a link between two devices (like routers or modems), </a:t>
            </a:r>
            <a:r>
              <a:rPr lang="en-US" sz="1300" b="1" dirty="0"/>
              <a:t>Link Control Protocol (LCP)</a:t>
            </a:r>
            <a:r>
              <a:rPr lang="en-US" sz="1300" dirty="0"/>
              <a:t> is responsible for initiating, configuring, and testing the data link connection. The steps involved include:</a:t>
            </a:r>
          </a:p>
          <a:p>
            <a:r>
              <a:rPr lang="en-US" sz="1300" b="1" dirty="0"/>
              <a:t>a) LCP Configuration Phase:</a:t>
            </a:r>
          </a:p>
          <a:p>
            <a:r>
              <a:rPr lang="en-US" sz="1300" b="1" dirty="0"/>
              <a:t>Configuration Request (</a:t>
            </a:r>
            <a:r>
              <a:rPr lang="en-US" sz="1300" b="1" dirty="0" err="1"/>
              <a:t>Config</a:t>
            </a:r>
            <a:r>
              <a:rPr lang="en-US" sz="1300" b="1" dirty="0"/>
              <a:t>-Request)</a:t>
            </a:r>
            <a:r>
              <a:rPr lang="en-US" sz="1300" dirty="0"/>
              <a:t>: The originating device sends a request to establish the link, asking for various parameters like maximum transmission unit (MTU), authentication method, compression, etc.</a:t>
            </a:r>
          </a:p>
          <a:p>
            <a:r>
              <a:rPr lang="en-US" sz="1300" b="1" dirty="0"/>
              <a:t>Configuration </a:t>
            </a:r>
            <a:r>
              <a:rPr lang="en-US" sz="1300" b="1" dirty="0" err="1"/>
              <a:t>Ack</a:t>
            </a:r>
            <a:r>
              <a:rPr lang="en-US" sz="1300" b="1" dirty="0"/>
              <a:t> (</a:t>
            </a:r>
            <a:r>
              <a:rPr lang="en-US" sz="1300" b="1" dirty="0" err="1"/>
              <a:t>Config-Ack</a:t>
            </a:r>
            <a:r>
              <a:rPr lang="en-US" sz="1300" b="1" dirty="0"/>
              <a:t>)</a:t>
            </a:r>
            <a:r>
              <a:rPr lang="en-US" sz="1300" dirty="0"/>
              <a:t>: The peer device responds by acknowledging the configuration request and agreeing to the parameters.</a:t>
            </a:r>
          </a:p>
          <a:p>
            <a:r>
              <a:rPr lang="en-US" sz="1300" b="1" dirty="0"/>
              <a:t>Configuration </a:t>
            </a:r>
            <a:r>
              <a:rPr lang="en-US" sz="1300" b="1" dirty="0" err="1"/>
              <a:t>Nak</a:t>
            </a:r>
            <a:r>
              <a:rPr lang="en-US" sz="1300" b="1" dirty="0"/>
              <a:t> (</a:t>
            </a:r>
            <a:r>
              <a:rPr lang="en-US" sz="1300" b="1" dirty="0" err="1"/>
              <a:t>Config-Nak</a:t>
            </a:r>
            <a:r>
              <a:rPr lang="en-US" sz="1300" b="1" dirty="0"/>
              <a:t>)</a:t>
            </a:r>
            <a:r>
              <a:rPr lang="en-US" sz="1300" dirty="0"/>
              <a:t>: If the parameters in the request are not supported, the peer responds with a </a:t>
            </a:r>
            <a:r>
              <a:rPr lang="en-US" sz="1300" b="1" dirty="0" err="1"/>
              <a:t>Config-Nak</a:t>
            </a:r>
            <a:r>
              <a:rPr lang="en-US" sz="1300" dirty="0"/>
              <a:t> to negotiate new parameters.</a:t>
            </a:r>
          </a:p>
          <a:p>
            <a:r>
              <a:rPr lang="en-US" sz="1300" b="1" dirty="0"/>
              <a:t>Configuration Reject (</a:t>
            </a:r>
            <a:r>
              <a:rPr lang="en-US" sz="1300" b="1" dirty="0" err="1"/>
              <a:t>Config</a:t>
            </a:r>
            <a:r>
              <a:rPr lang="en-US" sz="1300" b="1" dirty="0"/>
              <a:t>-Reject)</a:t>
            </a:r>
            <a:r>
              <a:rPr lang="en-US" sz="1300" dirty="0"/>
              <a:t>: If the parameters cannot be agreed upon, the connection may be rejected.</a:t>
            </a:r>
          </a:p>
          <a:p>
            <a:r>
              <a:rPr lang="en-US" sz="1300" b="1" dirty="0"/>
              <a:t>b) </a:t>
            </a:r>
            <a:r>
              <a:rPr lang="en-US" sz="1300" b="1" dirty="0" smtClean="0"/>
              <a:t>Authentication:</a:t>
            </a:r>
            <a:endParaRPr lang="en-US" sz="1300" b="1" dirty="0"/>
          </a:p>
          <a:p>
            <a:r>
              <a:rPr lang="en-US" sz="1300" dirty="0"/>
              <a:t>PPP supports two main authentication methods for verifying the identities of the endpoints:</a:t>
            </a:r>
          </a:p>
          <a:p>
            <a:r>
              <a:rPr lang="en-US" sz="1300" b="1" dirty="0"/>
              <a:t>PAP (Password Authentication Protocol)</a:t>
            </a:r>
            <a:r>
              <a:rPr lang="en-US" sz="1300" dirty="0"/>
              <a:t>: A simple two-way authentication process where one device sends a password to the other device. If the password matches, the link is established.</a:t>
            </a:r>
          </a:p>
          <a:p>
            <a:r>
              <a:rPr lang="en-US" sz="1300" b="1" dirty="0"/>
              <a:t>CHAP (Challenge Handshake Authentication Protocol)</a:t>
            </a:r>
            <a:r>
              <a:rPr lang="en-US" sz="1300" dirty="0"/>
              <a:t>: A more secure method that involves a challenge-response mechanism. The server sends a random challenge, which the client must encrypt and return within a set time. This method is more resistant to attacks like replay attacks.</a:t>
            </a:r>
          </a:p>
          <a:p>
            <a:r>
              <a:rPr lang="en-US" sz="1300" b="1" dirty="0"/>
              <a:t>c) Link Quality Monitoring:</a:t>
            </a:r>
          </a:p>
          <a:p>
            <a:r>
              <a:rPr lang="en-US" sz="1300" b="1" dirty="0"/>
              <a:t>Link Quality Reports</a:t>
            </a:r>
            <a:r>
              <a:rPr lang="en-US" sz="1300" dirty="0"/>
              <a:t>: During the LCP phase, the link quality can be monitored, and if there are issues (e.g., poor signal quality or packet loss), the link can be reset or reconfigured to maintain a stable connection.</a:t>
            </a:r>
          </a:p>
        </p:txBody>
      </p:sp>
    </p:spTree>
    <p:extLst>
      <p:ext uri="{BB962C8B-B14F-4D97-AF65-F5344CB8AC3E}">
        <p14:creationId xmlns:p14="http://schemas.microsoft.com/office/powerpoint/2010/main" val="1307923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1515" y="680006"/>
            <a:ext cx="9601196" cy="3318936"/>
          </a:xfrm>
        </p:spPr>
        <p:txBody>
          <a:bodyPr>
            <a:noAutofit/>
          </a:bodyPr>
          <a:lstStyle/>
          <a:p>
            <a:r>
              <a:rPr lang="en-US" sz="1200" b="1" dirty="0"/>
              <a:t>3. </a:t>
            </a:r>
            <a:r>
              <a:rPr lang="en-US" sz="2000" b="1" dirty="0"/>
              <a:t>Network Layer Protocol Configuration (NCP):</a:t>
            </a:r>
          </a:p>
          <a:p>
            <a:r>
              <a:rPr lang="en-US" sz="1200" dirty="0"/>
              <a:t>Once the link is established and authenticated, </a:t>
            </a:r>
            <a:r>
              <a:rPr lang="en-US" sz="1200" b="1" dirty="0"/>
              <a:t>Network Control Protocol (NCP)</a:t>
            </a:r>
            <a:r>
              <a:rPr lang="en-US" sz="1200" dirty="0"/>
              <a:t> is used to configure and establish network layer protocols over the PPP connection.</a:t>
            </a:r>
          </a:p>
          <a:p>
            <a:r>
              <a:rPr lang="en-US" sz="1200" dirty="0"/>
              <a:t>Each supported network protocol (e.g., IP, IPX) has its own NCP. For example:</a:t>
            </a:r>
          </a:p>
          <a:p>
            <a:r>
              <a:rPr lang="en-US" sz="1200" b="1" dirty="0"/>
              <a:t>IPCP (Internet Protocol Control Protocol)</a:t>
            </a:r>
            <a:r>
              <a:rPr lang="en-US" sz="1200" dirty="0"/>
              <a:t>: Used to configure and assign IP addresses to the devices.</a:t>
            </a:r>
          </a:p>
          <a:p>
            <a:r>
              <a:rPr lang="en-US" sz="1200" b="1" dirty="0"/>
              <a:t>IPXCP (Internetwork Packet Exchange Control Protocol)</a:t>
            </a:r>
            <a:r>
              <a:rPr lang="en-US" sz="1200" dirty="0"/>
              <a:t>: Used for IPX-based communication.</a:t>
            </a:r>
          </a:p>
          <a:p>
            <a:r>
              <a:rPr lang="en-US" sz="1200" dirty="0"/>
              <a:t>The steps involved in NCP configuration are:</a:t>
            </a:r>
          </a:p>
          <a:p>
            <a:r>
              <a:rPr lang="en-US" sz="1200" b="1" dirty="0"/>
              <a:t>Request/Accept</a:t>
            </a:r>
            <a:r>
              <a:rPr lang="en-US" sz="1200" dirty="0"/>
              <a:t>: The network protocol is requested and accepted (or rejected) by the peer.</a:t>
            </a:r>
          </a:p>
          <a:p>
            <a:r>
              <a:rPr lang="en-US" sz="1200" b="1" dirty="0"/>
              <a:t>IP Address Assignment</a:t>
            </a:r>
            <a:r>
              <a:rPr lang="en-US" sz="1200" dirty="0"/>
              <a:t>: If using IP, an address is assigned, and it can be dynamically configured through PPP.</a:t>
            </a:r>
          </a:p>
          <a:p>
            <a:r>
              <a:rPr lang="en-US" sz="1200" b="1" dirty="0"/>
              <a:t>Network Configuration</a:t>
            </a:r>
            <a:r>
              <a:rPr lang="en-US" sz="1200" dirty="0"/>
              <a:t>: After agreement on network layer protocols, the link is ready to carry user data.</a:t>
            </a:r>
          </a:p>
          <a:p>
            <a:r>
              <a:rPr lang="en-US" sz="2000" b="1" dirty="0"/>
              <a:t>4. Data Transmission:</a:t>
            </a:r>
          </a:p>
          <a:p>
            <a:r>
              <a:rPr lang="en-US" sz="1200" dirty="0"/>
              <a:t>Once the link is established and network layer protocols are configured, </a:t>
            </a:r>
            <a:r>
              <a:rPr lang="en-US" sz="1200" b="1" dirty="0"/>
              <a:t>data transmission</a:t>
            </a:r>
            <a:r>
              <a:rPr lang="en-US" sz="1200" dirty="0"/>
              <a:t> begins. PPP uses a simple and efficient method for encapsulating data:</a:t>
            </a:r>
          </a:p>
          <a:p>
            <a:r>
              <a:rPr lang="en-US" sz="1200" b="1" dirty="0"/>
              <a:t>Data Encapsulation</a:t>
            </a:r>
            <a:r>
              <a:rPr lang="en-US" sz="1200" dirty="0"/>
              <a:t>: Network layer packets are encapsulated inside PPP frames. The </a:t>
            </a:r>
            <a:r>
              <a:rPr lang="en-US" sz="1200" b="1" dirty="0"/>
              <a:t>Protocol</a:t>
            </a:r>
            <a:r>
              <a:rPr lang="en-US" sz="1200" dirty="0"/>
              <a:t> field in the PPP frame indicates the type of data being carried (e.g., IPv4, IPv6).</a:t>
            </a:r>
          </a:p>
          <a:p>
            <a:r>
              <a:rPr lang="en-US" sz="1200" b="1" dirty="0"/>
              <a:t>Error Detection</a:t>
            </a:r>
            <a:r>
              <a:rPr lang="en-US" sz="1200" dirty="0"/>
              <a:t>: Each PPP frame contains an FCS (Frame Check Sequence) that is used to detect transmission errors. The receiver performs a CRC check on the frame's data to verify if it has been corrupted.</a:t>
            </a:r>
          </a:p>
          <a:p>
            <a:r>
              <a:rPr lang="en-US" sz="1200" b="1" dirty="0"/>
              <a:t>Flow Control</a:t>
            </a:r>
            <a:r>
              <a:rPr lang="en-US" sz="1200" dirty="0"/>
              <a:t>: PPP does not implement explicit flow control mechanisms, relying instead on the flow control provided by the underlying link (e.g., serial link control). If necessary, link flow control mechanisms can be negotiated using LCP.</a:t>
            </a:r>
          </a:p>
          <a:p>
            <a:r>
              <a:rPr lang="en-US" sz="1200" b="1" dirty="0"/>
              <a:t>Full-duplex Communication</a:t>
            </a:r>
            <a:r>
              <a:rPr lang="en-US" sz="1200" dirty="0"/>
              <a:t>: PPP supports full-duplex communication, allowing both endpoints to send and receive data simultaneously.</a:t>
            </a:r>
          </a:p>
        </p:txBody>
      </p:sp>
    </p:spTree>
    <p:extLst>
      <p:ext uri="{BB962C8B-B14F-4D97-AF65-F5344CB8AC3E}">
        <p14:creationId xmlns:p14="http://schemas.microsoft.com/office/powerpoint/2010/main" val="73220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7767" y="1440402"/>
            <a:ext cx="9601196" cy="3318936"/>
          </a:xfrm>
        </p:spPr>
        <p:txBody>
          <a:bodyPr>
            <a:noAutofit/>
          </a:bodyPr>
          <a:lstStyle/>
          <a:p>
            <a:r>
              <a:rPr lang="en-US" sz="2200" b="1" dirty="0" smtClean="0"/>
              <a:t>5. Link </a:t>
            </a:r>
            <a:r>
              <a:rPr lang="en-US" sz="2200" b="1" dirty="0"/>
              <a:t>Termination:</a:t>
            </a:r>
          </a:p>
          <a:p>
            <a:r>
              <a:rPr lang="en-US" sz="1600" b="1" dirty="0" smtClean="0"/>
              <a:t>. </a:t>
            </a:r>
            <a:r>
              <a:rPr lang="en-US" sz="1600" dirty="0" smtClean="0"/>
              <a:t>When </a:t>
            </a:r>
            <a:r>
              <a:rPr lang="en-US" sz="1600" dirty="0"/>
              <a:t>the communication session ends, PPP uses LCP to terminate the link.</a:t>
            </a:r>
          </a:p>
          <a:p>
            <a:r>
              <a:rPr lang="en-US" sz="1600" b="1" dirty="0"/>
              <a:t>Termination Request</a:t>
            </a:r>
            <a:r>
              <a:rPr lang="en-US" sz="1600" dirty="0"/>
              <a:t>: One of the devices sends a Terminate-Request (Term-Request) message.</a:t>
            </a:r>
          </a:p>
          <a:p>
            <a:r>
              <a:rPr lang="en-US" sz="1600" b="1" dirty="0"/>
              <a:t>Termination Acknowledge</a:t>
            </a:r>
            <a:r>
              <a:rPr lang="en-US" sz="1600" dirty="0"/>
              <a:t>: The other device responds with a Terminate-Acknowledge (Term-</a:t>
            </a:r>
            <a:r>
              <a:rPr lang="en-US" sz="1600" dirty="0" err="1"/>
              <a:t>Ack</a:t>
            </a:r>
            <a:r>
              <a:rPr lang="en-US" sz="1600" dirty="0"/>
              <a:t>), confirming the termination of the link.</a:t>
            </a:r>
          </a:p>
          <a:p>
            <a:r>
              <a:rPr lang="en-US" sz="1600" dirty="0"/>
              <a:t>PPP may also be terminated due to errors or other conditions that cause the link to be unusable.</a:t>
            </a:r>
          </a:p>
          <a:p>
            <a:r>
              <a:rPr lang="en-US" sz="2200" b="1" dirty="0"/>
              <a:t>6. Error Handling and Retransmission:</a:t>
            </a:r>
          </a:p>
          <a:p>
            <a:r>
              <a:rPr lang="en-US" sz="1600" dirty="0"/>
              <a:t>PPP provides error detection through the FCS field in each frame. If a frame is received with a mismatch in the FCS, the receiver discards the frame and typically requests retransmission of the data. However, PPP itself doesn't handle retransmissions; it relies on higher layers (like TCP) to manage retransmissions and error correction.</a:t>
            </a:r>
          </a:p>
          <a:p>
            <a:r>
              <a:rPr lang="en-US" sz="2200" b="1" dirty="0"/>
              <a:t>7. PPP Compression and Multilink:</a:t>
            </a:r>
          </a:p>
          <a:p>
            <a:r>
              <a:rPr lang="en-US" sz="1600" dirty="0"/>
              <a:t>PPP supports optional compression (through the </a:t>
            </a:r>
            <a:r>
              <a:rPr lang="en-US" sz="1600" b="1" dirty="0"/>
              <a:t>Compression Control Protocol</a:t>
            </a:r>
            <a:r>
              <a:rPr lang="en-US" sz="1600" dirty="0"/>
              <a:t> or CCP), which can reduce the size of transmitted data. Additionally, </a:t>
            </a:r>
            <a:r>
              <a:rPr lang="en-US" sz="1600" b="1" dirty="0"/>
              <a:t>Multilink PPP</a:t>
            </a:r>
            <a:r>
              <a:rPr lang="en-US" sz="1600" dirty="0"/>
              <a:t> (MP) allows multiple physical links to be used simultaneously to increase bandwidth, providing better throughput and redundancy.</a:t>
            </a:r>
          </a:p>
        </p:txBody>
      </p:sp>
    </p:spTree>
    <p:extLst>
      <p:ext uri="{BB962C8B-B14F-4D97-AF65-F5344CB8AC3E}">
        <p14:creationId xmlns:p14="http://schemas.microsoft.com/office/powerpoint/2010/main" val="97086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PPP</a:t>
            </a:r>
            <a:endParaRPr lang="en-US" dirty="0"/>
          </a:p>
        </p:txBody>
      </p:sp>
      <p:sp>
        <p:nvSpPr>
          <p:cNvPr id="3" name="Content Placeholder 2"/>
          <p:cNvSpPr>
            <a:spLocks noGrp="1"/>
          </p:cNvSpPr>
          <p:nvPr>
            <p:ph idx="1"/>
          </p:nvPr>
        </p:nvSpPr>
        <p:spPr/>
        <p:txBody>
          <a:bodyPr>
            <a:normAutofit/>
          </a:bodyPr>
          <a:lstStyle/>
          <a:p>
            <a:r>
              <a:rPr lang="en-US" b="1" dirty="0" smtClean="0"/>
              <a:t>Dial-up </a:t>
            </a:r>
            <a:r>
              <a:rPr lang="en-US" b="1" dirty="0"/>
              <a:t>Internet</a:t>
            </a:r>
            <a:r>
              <a:rPr lang="en-US" dirty="0"/>
              <a:t>: PPP was widely used for dial-up internet connections over phone lines.</a:t>
            </a:r>
          </a:p>
          <a:p>
            <a:r>
              <a:rPr lang="en-US" b="1" dirty="0"/>
              <a:t>VPNs</a:t>
            </a:r>
            <a:r>
              <a:rPr lang="en-US" dirty="0"/>
              <a:t>: PPP can also be used in Virtual Private Network (VPN) configurations for secure communications between remote devices and networks.</a:t>
            </a:r>
          </a:p>
          <a:p>
            <a:r>
              <a:rPr lang="en-US" b="1" dirty="0"/>
              <a:t>Frame Relay and DSL</a:t>
            </a:r>
            <a:r>
              <a:rPr lang="en-US" dirty="0"/>
              <a:t>: PPP is used in various WAN technologies like Frame Relay and Digital Subscriber Line (DSL) for link establishment and management.</a:t>
            </a:r>
          </a:p>
        </p:txBody>
      </p:sp>
    </p:spTree>
    <p:extLst>
      <p:ext uri="{BB962C8B-B14F-4D97-AF65-F5344CB8AC3E}">
        <p14:creationId xmlns:p14="http://schemas.microsoft.com/office/powerpoint/2010/main" val="3889382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High-level Data Link Control (HDLC</a:t>
            </a:r>
            <a:r>
              <a:rPr lang="en-US" dirty="0" smtClean="0"/>
              <a:t>) Protocol</a:t>
            </a:r>
            <a:endParaRPr lang="en-US" dirty="0"/>
          </a:p>
        </p:txBody>
      </p:sp>
      <p:sp>
        <p:nvSpPr>
          <p:cNvPr id="3" name="Content Placeholder 2"/>
          <p:cNvSpPr>
            <a:spLocks noGrp="1"/>
          </p:cNvSpPr>
          <p:nvPr>
            <p:ph idx="1"/>
          </p:nvPr>
        </p:nvSpPr>
        <p:spPr>
          <a:xfrm>
            <a:off x="1074020" y="2441429"/>
            <a:ext cx="9601196" cy="3318936"/>
          </a:xfrm>
        </p:spPr>
        <p:txBody>
          <a:bodyPr>
            <a:noAutofit/>
          </a:bodyPr>
          <a:lstStyle/>
          <a:p>
            <a:r>
              <a:rPr lang="en-US" sz="1600" dirty="0"/>
              <a:t>High-level Data Link Control (HDLC) is a group of communication protocols of the </a:t>
            </a:r>
            <a:r>
              <a:rPr lang="en-US" sz="1600" b="1" dirty="0">
                <a:hlinkClick r:id="rId2"/>
              </a:rPr>
              <a:t>data link layer</a:t>
            </a:r>
            <a:r>
              <a:rPr lang="en-US" sz="1600" dirty="0"/>
              <a:t> for transmitting data between network points or nodes. </a:t>
            </a:r>
            <a:endParaRPr lang="en-US" sz="1600" dirty="0" smtClean="0"/>
          </a:p>
          <a:p>
            <a:r>
              <a:rPr lang="en-US" sz="1600" dirty="0" smtClean="0"/>
              <a:t>Since </a:t>
            </a:r>
            <a:r>
              <a:rPr lang="en-US" sz="1600" dirty="0"/>
              <a:t>it is a </a:t>
            </a:r>
            <a:r>
              <a:rPr lang="en-US" sz="1600" b="1" dirty="0">
                <a:hlinkClick r:id="rId3"/>
              </a:rPr>
              <a:t>data link protocol</a:t>
            </a:r>
            <a:r>
              <a:rPr lang="en-US" sz="1600" dirty="0"/>
              <a:t>, data is organized into frames. A frame is transmitted via the network to the destination that verifies its successful arrival. It is a bit - oriented protocol that is applicable for both point - to - point and multipoint communications</a:t>
            </a:r>
            <a:r>
              <a:rPr lang="en-US" sz="1600" dirty="0" smtClean="0"/>
              <a:t>.</a:t>
            </a:r>
          </a:p>
          <a:p>
            <a:r>
              <a:rPr lang="en-US" b="1" dirty="0"/>
              <a:t>Transfer Modes</a:t>
            </a:r>
          </a:p>
          <a:p>
            <a:r>
              <a:rPr lang="en-US" sz="1600" dirty="0"/>
              <a:t>HDLC supports two types of transfer modes, normal response mode and asynchronous balanced mode.</a:t>
            </a:r>
          </a:p>
          <a:p>
            <a:pPr lvl="0"/>
            <a:r>
              <a:rPr lang="en-US" sz="1600" b="1" dirty="0"/>
              <a:t>Normal Response Mode (NRM)</a:t>
            </a:r>
            <a:r>
              <a:rPr lang="en-US" sz="1600" dirty="0"/>
              <a:t> − Here, two types of stations are there, a primary station that send commands and secondary station that can respond to received commands. It is used for both point - to - point and multipoint communications.</a:t>
            </a:r>
          </a:p>
          <a:p>
            <a:pPr lvl="0"/>
            <a:r>
              <a:rPr lang="en-US" sz="1600" b="1" dirty="0"/>
              <a:t>Asynchronous Balanced Mode (ABM)</a:t>
            </a:r>
            <a:r>
              <a:rPr lang="en-US" sz="1600" dirty="0"/>
              <a:t> − Here, the configuration is balanced, i.e. each station can both send commands and respond to commands. It is used for only point - to - point communications.</a:t>
            </a:r>
          </a:p>
          <a:p>
            <a:endParaRPr lang="en-US" sz="1600" dirty="0"/>
          </a:p>
        </p:txBody>
      </p:sp>
    </p:spTree>
    <p:extLst>
      <p:ext uri="{BB962C8B-B14F-4D97-AF65-F5344CB8AC3E}">
        <p14:creationId xmlns:p14="http://schemas.microsoft.com/office/powerpoint/2010/main" val="1733509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s://www.tutorialspoint.com/assets/questions/media/15399/transfer_modes.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5406" y="1588168"/>
            <a:ext cx="4119613" cy="3359218"/>
          </a:xfrm>
          <a:prstGeom prst="rect">
            <a:avLst/>
          </a:prstGeom>
          <a:noFill/>
          <a:ln>
            <a:noFill/>
          </a:ln>
        </p:spPr>
      </p:pic>
      <p:pic>
        <p:nvPicPr>
          <p:cNvPr id="5" name="Picture 4" descr="https://www.tutorialspoint.com/assets/questions/media/15399/abm.jpg"/>
          <p:cNvPicPr/>
          <p:nvPr/>
        </p:nvPicPr>
        <p:blipFill>
          <a:blip r:embed="rId3">
            <a:extLst>
              <a:ext uri="{28A0092B-C50C-407E-A947-70E740481C1C}">
                <a14:useLocalDpi xmlns:a14="http://schemas.microsoft.com/office/drawing/2010/main" val="0"/>
              </a:ext>
            </a:extLst>
          </a:blip>
          <a:srcRect/>
          <a:stretch>
            <a:fillRect/>
          </a:stretch>
        </p:blipFill>
        <p:spPr bwMode="auto">
          <a:xfrm>
            <a:off x="5875888" y="2388101"/>
            <a:ext cx="5118100" cy="2178050"/>
          </a:xfrm>
          <a:prstGeom prst="rect">
            <a:avLst/>
          </a:prstGeom>
          <a:noFill/>
          <a:ln>
            <a:noFill/>
          </a:ln>
        </p:spPr>
      </p:pic>
    </p:spTree>
    <p:extLst>
      <p:ext uri="{BB962C8B-B14F-4D97-AF65-F5344CB8AC3E}">
        <p14:creationId xmlns:p14="http://schemas.microsoft.com/office/powerpoint/2010/main" val="2946649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681" y="481618"/>
            <a:ext cx="9601196" cy="1303867"/>
          </a:xfrm>
        </p:spPr>
        <p:txBody>
          <a:bodyPr/>
          <a:lstStyle/>
          <a:p>
            <a:r>
              <a:rPr lang="en-US" dirty="0" smtClean="0"/>
              <a:t>HDLC Frame</a:t>
            </a:r>
            <a:endParaRPr lang="en-US" dirty="0"/>
          </a:p>
        </p:txBody>
      </p:sp>
      <p:sp>
        <p:nvSpPr>
          <p:cNvPr id="4" name="Rectangle 2"/>
          <p:cNvSpPr>
            <a:spLocks noChangeArrowheads="1"/>
          </p:cNvSpPr>
          <p:nvPr/>
        </p:nvSpPr>
        <p:spPr bwMode="auto">
          <a:xfrm>
            <a:off x="1295401" y="1572237"/>
            <a:ext cx="9355755"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rgbClr val="000000"/>
                </a:solidFill>
                <a:effectLst/>
                <a:latin typeface="Verdana" panose="020B0604030504040204" pitchFamily="34" charset="0"/>
                <a:ea typeface="Times New Roman" panose="02020603050405020304" pitchFamily="18" charset="0"/>
              </a:rPr>
              <a:t>HDLC is a bit - oriented protocol where each frame contains up to six fields. The structure varies according to the type of frame. The fields of a HDLC frame are −</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a:ea typeface="Times New Roman" panose="02020603050405020304" pitchFamily="18" charset="0"/>
              </a:rPr>
              <a:t>Flag</a:t>
            </a:r>
            <a:r>
              <a:rPr kumimoji="0" lang="en-US" altLang="en-US" sz="1400" b="0" i="0" u="none" strike="noStrike" cap="none" normalizeH="0" baseline="0" dirty="0" smtClean="0">
                <a:ln>
                  <a:noFill/>
                </a:ln>
                <a:solidFill>
                  <a:srgbClr val="000000"/>
                </a:solidFill>
                <a:effectLst/>
                <a:latin typeface="inherit"/>
                <a:ea typeface="Times New Roman" panose="02020603050405020304" pitchFamily="18" charset="0"/>
              </a:rPr>
              <a:t> − It is an 8-bit sequence that marks the beginning and the end of the frame. The bit pattern of the flag is 01111110.</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a:ea typeface="Times New Roman" panose="02020603050405020304" pitchFamily="18" charset="0"/>
              </a:rPr>
              <a:t>Address</a:t>
            </a:r>
            <a:r>
              <a:rPr kumimoji="0" lang="en-US" altLang="en-US" sz="1400" b="0" i="0" u="none" strike="noStrike" cap="none" normalizeH="0" baseline="0" dirty="0" smtClean="0">
                <a:ln>
                  <a:noFill/>
                </a:ln>
                <a:solidFill>
                  <a:srgbClr val="000000"/>
                </a:solidFill>
                <a:effectLst/>
                <a:latin typeface="inherit"/>
                <a:ea typeface="Times New Roman" panose="02020603050405020304" pitchFamily="18" charset="0"/>
              </a:rPr>
              <a:t> − It contains the address of the receiver. If the frame is sent by the primary station, it contains the address(</a:t>
            </a:r>
            <a:r>
              <a:rPr kumimoji="0" lang="en-US" altLang="en-US" sz="1400" b="0" i="0" u="none" strike="noStrike" cap="none" normalizeH="0" baseline="0" dirty="0" err="1" smtClean="0">
                <a:ln>
                  <a:noFill/>
                </a:ln>
                <a:solidFill>
                  <a:srgbClr val="000000"/>
                </a:solidFill>
                <a:effectLst/>
                <a:latin typeface="inherit"/>
                <a:ea typeface="Times New Roman" panose="02020603050405020304" pitchFamily="18" charset="0"/>
              </a:rPr>
              <a:t>es</a:t>
            </a:r>
            <a:r>
              <a:rPr kumimoji="0" lang="en-US" altLang="en-US" sz="1400" b="0" i="0" u="none" strike="noStrike" cap="none" normalizeH="0" baseline="0" dirty="0" smtClean="0">
                <a:ln>
                  <a:noFill/>
                </a:ln>
                <a:solidFill>
                  <a:srgbClr val="000000"/>
                </a:solidFill>
                <a:effectLst/>
                <a:latin typeface="inherit"/>
                <a:ea typeface="Times New Roman" panose="02020603050405020304" pitchFamily="18" charset="0"/>
              </a:rPr>
              <a:t>) of the secondary station(s). If it is sent by the secondary station, it contains the address of the primary station. The address field may be from 1 byte to several bytes.</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a:ea typeface="Times New Roman" panose="02020603050405020304" pitchFamily="18" charset="0"/>
              </a:rPr>
              <a:t>Control</a:t>
            </a:r>
            <a:r>
              <a:rPr kumimoji="0" lang="en-US" altLang="en-US" sz="1400" b="0" i="0" u="none" strike="noStrike" cap="none" normalizeH="0" baseline="0" dirty="0" smtClean="0">
                <a:ln>
                  <a:noFill/>
                </a:ln>
                <a:solidFill>
                  <a:srgbClr val="000000"/>
                </a:solidFill>
                <a:effectLst/>
                <a:latin typeface="inherit"/>
                <a:ea typeface="Times New Roman" panose="02020603050405020304" pitchFamily="18" charset="0"/>
              </a:rPr>
              <a:t> − It is 1 or 2 bytes containing flow and error control information.</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a:ea typeface="Times New Roman" panose="02020603050405020304" pitchFamily="18" charset="0"/>
              </a:rPr>
              <a:t>Payload</a:t>
            </a:r>
            <a:r>
              <a:rPr kumimoji="0" lang="en-US" altLang="en-US" sz="1400" b="0" i="0" u="none" strike="noStrike" cap="none" normalizeH="0" baseline="0" dirty="0" smtClean="0">
                <a:ln>
                  <a:noFill/>
                </a:ln>
                <a:solidFill>
                  <a:srgbClr val="000000"/>
                </a:solidFill>
                <a:effectLst/>
                <a:latin typeface="inherit"/>
                <a:ea typeface="Times New Roman" panose="02020603050405020304" pitchFamily="18" charset="0"/>
              </a:rPr>
              <a:t> − This carries the data from the network layer. Its length may vary from one network to another.</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a:ea typeface="Times New Roman" panose="02020603050405020304" pitchFamily="18" charset="0"/>
              </a:rPr>
              <a:t>FCS</a:t>
            </a:r>
            <a:r>
              <a:rPr kumimoji="0" lang="en-US" altLang="en-US" sz="1400" b="0" i="0" u="none" strike="noStrike" cap="none" normalizeH="0" baseline="0" dirty="0" smtClean="0">
                <a:ln>
                  <a:noFill/>
                </a:ln>
                <a:solidFill>
                  <a:srgbClr val="000000"/>
                </a:solidFill>
                <a:effectLst/>
                <a:latin typeface="inherit"/>
                <a:ea typeface="Times New Roman" panose="02020603050405020304" pitchFamily="18" charset="0"/>
              </a:rPr>
              <a:t> − It is a 2 byte or 4 bytes frame check sequence for error detection. The standard code used is CRC (cyclic redundancy code)</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pic>
        <p:nvPicPr>
          <p:cNvPr id="5121" name="Picture 10" descr="https://www.tutorialspoint.com/assets/questions/media/15399/hdlc_fra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952" y="4100587"/>
            <a:ext cx="5645150" cy="1651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1956881"/>
            <a:ext cx="65" cy="3026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5783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078030" y="1462544"/>
            <a:ext cx="4668253" cy="38728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1" i="0" u="none" strike="noStrike" cap="none" normalizeH="0" baseline="0" dirty="0" smtClean="0">
                <a:ln>
                  <a:noFill/>
                </a:ln>
                <a:solidFill>
                  <a:srgbClr val="000000"/>
                </a:solidFill>
                <a:effectLst/>
                <a:ea typeface="Times New Roman" panose="02020603050405020304" pitchFamily="18" charset="0"/>
                <a:cs typeface="Arial" panose="020B0604020202020204" pitchFamily="34" charset="0"/>
              </a:rPr>
              <a:t>Types of HDLC Frames</a:t>
            </a:r>
            <a:endParaRPr kumimoji="0" lang="en-US" altLang="en-US" sz="1600" b="0" i="0"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rgbClr val="000000"/>
                </a:solidFill>
                <a:effectLst/>
                <a:latin typeface="Verdana" panose="020B0604030504040204" pitchFamily="34" charset="0"/>
                <a:ea typeface="Times New Roman" panose="02020603050405020304" pitchFamily="18" charset="0"/>
              </a:rPr>
              <a:t>There are three types of HDLC frames. The type of frame is determined by the control field of the frame −</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charset="0"/>
                <a:ea typeface="Times New Roman" panose="02020603050405020304" pitchFamily="18" charset="0"/>
              </a:rPr>
              <a:t>I-frame</a:t>
            </a:r>
            <a:r>
              <a:rPr kumimoji="0" lang="en-US" altLang="en-US" sz="1400" b="0" i="0" u="none" strike="noStrike" cap="none" normalizeH="0" baseline="0" dirty="0" smtClean="0">
                <a:ln>
                  <a:noFill/>
                </a:ln>
                <a:solidFill>
                  <a:srgbClr val="000000"/>
                </a:solidFill>
                <a:effectLst/>
                <a:latin typeface="inherit" charset="0"/>
                <a:ea typeface="Times New Roman" panose="02020603050405020304" pitchFamily="18" charset="0"/>
              </a:rPr>
              <a:t> − I-frames or Information frames carry user data from the network layer. They also include flow and error control information that is piggybacked on user data. The first bit of control field of I-frame is 0.</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charset="0"/>
                <a:ea typeface="Times New Roman" panose="02020603050405020304" pitchFamily="18" charset="0"/>
              </a:rPr>
              <a:t>S-frame</a:t>
            </a:r>
            <a:r>
              <a:rPr kumimoji="0" lang="en-US" altLang="en-US" sz="1400" b="0" i="0" u="none" strike="noStrike" cap="none" normalizeH="0" baseline="0" dirty="0" smtClean="0">
                <a:ln>
                  <a:noFill/>
                </a:ln>
                <a:solidFill>
                  <a:srgbClr val="000000"/>
                </a:solidFill>
                <a:effectLst/>
                <a:latin typeface="inherit" charset="0"/>
                <a:ea typeface="Times New Roman" panose="02020603050405020304" pitchFamily="18" charset="0"/>
              </a:rPr>
              <a:t> − S-frames or Supervisory frames do not contain information field. They are used for flow and error control when piggybacking is not required. The first two bits of control field of S-frame is 10.</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rgbClr val="000000"/>
                </a:solidFill>
                <a:effectLst/>
                <a:latin typeface="inherit" charset="0"/>
                <a:ea typeface="Times New Roman" panose="02020603050405020304" pitchFamily="18" charset="0"/>
              </a:rPr>
              <a:t>U-frame</a:t>
            </a:r>
            <a:r>
              <a:rPr kumimoji="0" lang="en-US" altLang="en-US" sz="1400" b="0" i="0" u="none" strike="noStrike" cap="none" normalizeH="0" baseline="0" dirty="0" smtClean="0">
                <a:ln>
                  <a:noFill/>
                </a:ln>
                <a:solidFill>
                  <a:srgbClr val="000000"/>
                </a:solidFill>
                <a:effectLst/>
                <a:latin typeface="inherit" charset="0"/>
                <a:ea typeface="Times New Roman" panose="02020603050405020304" pitchFamily="18" charset="0"/>
              </a:rPr>
              <a:t> − U-frames or Un-numbered frames are used for myriad miscellaneous functions, like link management. It may contain an information field, if required. The first two bits of control field of U-frame is 11.</a:t>
            </a:r>
            <a:endParaRPr kumimoji="0" lang="en-US" altLang="en-US" sz="1600" b="0" i="0" u="none" strike="noStrike" cap="none" normalizeH="0" baseline="0" dirty="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pic>
        <p:nvPicPr>
          <p:cNvPr id="6145" name="Picture 9" descr="https://www.tutorialspoint.com/assets/questions/media/15399/hdlc_fram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266" y="1130968"/>
            <a:ext cx="5619750" cy="4775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523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023254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0274" y="423867"/>
            <a:ext cx="9601196" cy="1303867"/>
          </a:xfrm>
        </p:spPr>
        <p:txBody>
          <a:bodyPr/>
          <a:lstStyle/>
          <a:p>
            <a:r>
              <a:rPr lang="en-US" b="1" dirty="0"/>
              <a:t>HDLC Operation:</a:t>
            </a:r>
          </a:p>
        </p:txBody>
      </p:sp>
      <p:sp>
        <p:nvSpPr>
          <p:cNvPr id="3" name="Content Placeholder 2"/>
          <p:cNvSpPr>
            <a:spLocks noGrp="1"/>
          </p:cNvSpPr>
          <p:nvPr>
            <p:ph idx="1"/>
          </p:nvPr>
        </p:nvSpPr>
        <p:spPr>
          <a:xfrm>
            <a:off x="997018" y="1535229"/>
            <a:ext cx="9601196" cy="3318936"/>
          </a:xfrm>
        </p:spPr>
        <p:txBody>
          <a:bodyPr>
            <a:noAutofit/>
          </a:bodyPr>
          <a:lstStyle/>
          <a:p>
            <a:r>
              <a:rPr lang="en-US" sz="1600" b="1" dirty="0" smtClean="0"/>
              <a:t>Frame </a:t>
            </a:r>
            <a:r>
              <a:rPr lang="en-US" sz="1600" b="1" dirty="0"/>
              <a:t>Transmission</a:t>
            </a:r>
            <a:r>
              <a:rPr lang="en-US" sz="1600" dirty="0"/>
              <a:t>:</a:t>
            </a:r>
          </a:p>
          <a:p>
            <a:pPr lvl="1"/>
            <a:r>
              <a:rPr lang="en-US" sz="1100" dirty="0"/>
              <a:t>The sender transmits a frame that includes the flag, address, control, information, FCS, and another flag.</a:t>
            </a:r>
          </a:p>
          <a:p>
            <a:pPr lvl="1"/>
            <a:r>
              <a:rPr lang="en-US" sz="1100" dirty="0"/>
              <a:t>The receiver checks for the </a:t>
            </a:r>
            <a:r>
              <a:rPr lang="en-US" sz="1100" b="1" dirty="0"/>
              <a:t>flag</a:t>
            </a:r>
            <a:r>
              <a:rPr lang="en-US" sz="1100" dirty="0"/>
              <a:t> to identify the start and end of the frame. The control field is analyzed for sequence and acknowledgment information.</a:t>
            </a:r>
          </a:p>
          <a:p>
            <a:r>
              <a:rPr lang="en-US" sz="1600" b="1" dirty="0"/>
              <a:t>Error Detection</a:t>
            </a:r>
            <a:r>
              <a:rPr lang="en-US" sz="1600" dirty="0"/>
              <a:t>:</a:t>
            </a:r>
          </a:p>
          <a:p>
            <a:pPr lvl="1"/>
            <a:r>
              <a:rPr lang="en-US" sz="1100" dirty="0"/>
              <a:t>The receiver computes the CRC of the received frame. If the CRC doesn’t match the received FCS, an error is detected, and the frame is discarded.</a:t>
            </a:r>
          </a:p>
          <a:p>
            <a:pPr lvl="1"/>
            <a:r>
              <a:rPr lang="en-US" sz="1100" dirty="0"/>
              <a:t>A request for retransmission is made if the frame is found to be in error.</a:t>
            </a:r>
          </a:p>
          <a:p>
            <a:r>
              <a:rPr lang="en-US" sz="1600" b="1" dirty="0"/>
              <a:t>Acknowledgement</a:t>
            </a:r>
            <a:r>
              <a:rPr lang="en-US" sz="1600" dirty="0"/>
              <a:t>:</a:t>
            </a:r>
          </a:p>
          <a:p>
            <a:pPr lvl="1"/>
            <a:r>
              <a:rPr lang="en-US" sz="1100" dirty="0"/>
              <a:t>For </a:t>
            </a:r>
            <a:r>
              <a:rPr lang="en-US" sz="1100" b="1" dirty="0"/>
              <a:t>I-Frames</a:t>
            </a:r>
            <a:r>
              <a:rPr lang="en-US" sz="1100" dirty="0"/>
              <a:t>, the receiver sends an </a:t>
            </a:r>
            <a:r>
              <a:rPr lang="en-US" sz="1100" b="1" dirty="0"/>
              <a:t>acknowledgment</a:t>
            </a:r>
            <a:r>
              <a:rPr lang="en-US" sz="1100" dirty="0"/>
              <a:t> (ACK) to the sender indicating whether the data was successfully received. The acknowledgment may include a </a:t>
            </a:r>
            <a:r>
              <a:rPr lang="en-US" sz="1100" b="1" dirty="0"/>
              <a:t>sequence number</a:t>
            </a:r>
            <a:r>
              <a:rPr lang="en-US" sz="1100" dirty="0"/>
              <a:t> for the frame.</a:t>
            </a:r>
          </a:p>
          <a:p>
            <a:pPr lvl="1"/>
            <a:r>
              <a:rPr lang="en-US" sz="1100" dirty="0"/>
              <a:t>For </a:t>
            </a:r>
            <a:r>
              <a:rPr lang="en-US" sz="1100" b="1" dirty="0"/>
              <a:t>S-Frames</a:t>
            </a:r>
            <a:r>
              <a:rPr lang="en-US" sz="1100" dirty="0"/>
              <a:t>, the receiver might send an </a:t>
            </a:r>
            <a:r>
              <a:rPr lang="en-US" sz="1100" b="1" dirty="0"/>
              <a:t>ACK</a:t>
            </a:r>
            <a:r>
              <a:rPr lang="en-US" sz="1100" dirty="0"/>
              <a:t> or </a:t>
            </a:r>
            <a:r>
              <a:rPr lang="en-US" sz="1100" b="1" dirty="0"/>
              <a:t>NAK</a:t>
            </a:r>
            <a:r>
              <a:rPr lang="en-US" sz="1100" dirty="0"/>
              <a:t> (Negative Acknowledgment) based on the condition of the received frame.</a:t>
            </a:r>
          </a:p>
          <a:p>
            <a:r>
              <a:rPr lang="en-US" sz="1600" b="1" dirty="0"/>
              <a:t>Flow Control</a:t>
            </a:r>
            <a:r>
              <a:rPr lang="en-US" sz="1600" dirty="0"/>
              <a:t>:</a:t>
            </a:r>
          </a:p>
          <a:p>
            <a:pPr lvl="1"/>
            <a:r>
              <a:rPr lang="en-US" sz="1100" dirty="0"/>
              <a:t>HDLC can implement flow control mechanisms to ensure that the sender does not overwhelm the receiver by sending too many frames at once.</a:t>
            </a:r>
          </a:p>
          <a:p>
            <a:pPr lvl="1"/>
            <a:r>
              <a:rPr lang="en-US" sz="1100" dirty="0"/>
              <a:t>The </a:t>
            </a:r>
            <a:r>
              <a:rPr lang="en-US" sz="1100" b="1" dirty="0"/>
              <a:t>control field</a:t>
            </a:r>
            <a:r>
              <a:rPr lang="en-US" sz="1100" dirty="0"/>
              <a:t> in supervisory frames helps manage flow by preventing the receiver's buffer from overflowing.</a:t>
            </a:r>
          </a:p>
          <a:p>
            <a:r>
              <a:rPr lang="en-US" sz="1600" b="1" dirty="0"/>
              <a:t>Link Management</a:t>
            </a:r>
            <a:r>
              <a:rPr lang="en-US" sz="1600" dirty="0"/>
              <a:t>:</a:t>
            </a:r>
          </a:p>
          <a:p>
            <a:pPr lvl="1"/>
            <a:r>
              <a:rPr lang="en-US" sz="1100" dirty="0"/>
              <a:t>U-Frames are used for controlling the state of the link (i.e., when to initiate or terminate a connection). These are also used to reset the link or request information on link status.</a:t>
            </a:r>
          </a:p>
          <a:p>
            <a:endParaRPr lang="en-US" sz="1600" dirty="0"/>
          </a:p>
        </p:txBody>
      </p:sp>
    </p:spTree>
    <p:extLst>
      <p:ext uri="{BB962C8B-B14F-4D97-AF65-F5344CB8AC3E}">
        <p14:creationId xmlns:p14="http://schemas.microsoft.com/office/powerpoint/2010/main" val="2195349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HDLC:</a:t>
            </a:r>
          </a:p>
        </p:txBody>
      </p:sp>
      <p:sp>
        <p:nvSpPr>
          <p:cNvPr id="3" name="Content Placeholder 2"/>
          <p:cNvSpPr>
            <a:spLocks noGrp="1"/>
          </p:cNvSpPr>
          <p:nvPr>
            <p:ph idx="1"/>
          </p:nvPr>
        </p:nvSpPr>
        <p:spPr/>
        <p:txBody>
          <a:bodyPr>
            <a:normAutofit fontScale="92500" lnSpcReduction="10000"/>
          </a:bodyPr>
          <a:lstStyle/>
          <a:p>
            <a:r>
              <a:rPr lang="en-US" b="1" dirty="0" smtClean="0"/>
              <a:t>ISDN</a:t>
            </a:r>
            <a:r>
              <a:rPr lang="en-US" dirty="0" smtClean="0"/>
              <a:t> </a:t>
            </a:r>
            <a:r>
              <a:rPr lang="en-US" dirty="0"/>
              <a:t>(Integrated Services Digital Network): Used for data transmission over digital networks.</a:t>
            </a:r>
          </a:p>
          <a:p>
            <a:r>
              <a:rPr lang="en-US" b="1" dirty="0"/>
              <a:t>Frame Relay</a:t>
            </a:r>
            <a:r>
              <a:rPr lang="en-US" dirty="0"/>
              <a:t>: Used in wide area networks (WANs) for transferring data across leased lines.</a:t>
            </a:r>
          </a:p>
          <a:p>
            <a:r>
              <a:rPr lang="en-US" b="1" dirty="0"/>
              <a:t>ATM</a:t>
            </a:r>
            <a:r>
              <a:rPr lang="en-US" dirty="0"/>
              <a:t> (Asynchronous Transfer Mode): HDLC is used for encapsulating data in some ATM networks.</a:t>
            </a:r>
          </a:p>
          <a:p>
            <a:r>
              <a:rPr lang="en-US" b="1" dirty="0"/>
              <a:t>Synchronous Serial Links</a:t>
            </a:r>
            <a:r>
              <a:rPr lang="en-US" dirty="0"/>
              <a:t>: HDLC is commonly used in point-to-point communication links, such as </a:t>
            </a:r>
            <a:r>
              <a:rPr lang="en-US" b="1" dirty="0"/>
              <a:t>PPP (Point-to-Point Protocol)</a:t>
            </a:r>
            <a:r>
              <a:rPr lang="en-US" dirty="0"/>
              <a:t>, </a:t>
            </a:r>
            <a:r>
              <a:rPr lang="en-US" b="1" dirty="0"/>
              <a:t>X.25</a:t>
            </a:r>
            <a:r>
              <a:rPr lang="en-US" dirty="0"/>
              <a:t>, and </a:t>
            </a:r>
            <a:r>
              <a:rPr lang="en-US" b="1" dirty="0"/>
              <a:t>HDLC-based Frame Relay</a:t>
            </a:r>
            <a:r>
              <a:rPr lang="en-US" dirty="0"/>
              <a:t>.</a:t>
            </a:r>
          </a:p>
        </p:txBody>
      </p:sp>
    </p:spTree>
    <p:extLst>
      <p:ext uri="{BB962C8B-B14F-4D97-AF65-F5344CB8AC3E}">
        <p14:creationId xmlns:p14="http://schemas.microsoft.com/office/powerpoint/2010/main" val="3697646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LLC and MAC Sublayer</a:t>
            </a:r>
            <a:endParaRPr lang="en-US" dirty="0"/>
          </a:p>
        </p:txBody>
      </p:sp>
      <p:sp>
        <p:nvSpPr>
          <p:cNvPr id="3" name="Content Placeholder 2"/>
          <p:cNvSpPr>
            <a:spLocks noGrp="1"/>
          </p:cNvSpPr>
          <p:nvPr>
            <p:ph idx="1"/>
          </p:nvPr>
        </p:nvSpPr>
        <p:spPr>
          <a:xfrm>
            <a:off x="1074020" y="2547307"/>
            <a:ext cx="6953449" cy="3318936"/>
          </a:xfrm>
        </p:spPr>
        <p:txBody>
          <a:bodyPr>
            <a:normAutofit fontScale="62500" lnSpcReduction="20000"/>
          </a:bodyPr>
          <a:lstStyle/>
          <a:p>
            <a:r>
              <a:rPr lang="en-US" dirty="0"/>
              <a:t>The </a:t>
            </a:r>
            <a:r>
              <a:rPr lang="en-US" b="1" dirty="0"/>
              <a:t>Data Link Layer (Layer 2)</a:t>
            </a:r>
            <a:r>
              <a:rPr lang="en-US" dirty="0"/>
              <a:t> of the </a:t>
            </a:r>
            <a:r>
              <a:rPr lang="en-US" b="1" dirty="0"/>
              <a:t>OSI model</a:t>
            </a:r>
            <a:r>
              <a:rPr lang="en-US" dirty="0"/>
              <a:t> is responsible for node-to-node communication and error handling in a network. This layer is divided into two main </a:t>
            </a:r>
            <a:r>
              <a:rPr lang="en-US" b="1" dirty="0"/>
              <a:t>sublayers</a:t>
            </a:r>
            <a:r>
              <a:rPr lang="en-US" dirty="0"/>
              <a:t>:</a:t>
            </a:r>
          </a:p>
          <a:p>
            <a:r>
              <a:rPr lang="en-US" b="1" dirty="0"/>
              <a:t>1. MAC Sublayer (Media Access Control):</a:t>
            </a:r>
          </a:p>
          <a:p>
            <a:r>
              <a:rPr lang="en-US" dirty="0"/>
              <a:t>The </a:t>
            </a:r>
            <a:r>
              <a:rPr lang="en-US" b="1" dirty="0"/>
              <a:t>MAC sublayer</a:t>
            </a:r>
            <a:r>
              <a:rPr lang="en-US" dirty="0"/>
              <a:t> is responsible for controlling access to the physical transmission medium. It handles the framing, addressing, and access mechanisms for data transfer over the physical layer.</a:t>
            </a:r>
          </a:p>
          <a:p>
            <a:r>
              <a:rPr lang="en-US" b="1" dirty="0"/>
              <a:t>2. LLC Sublayer (Logical Link Control):</a:t>
            </a:r>
          </a:p>
          <a:p>
            <a:r>
              <a:rPr lang="en-US" dirty="0"/>
              <a:t>The </a:t>
            </a:r>
            <a:r>
              <a:rPr lang="en-US" b="1" dirty="0"/>
              <a:t>LLC sublayer</a:t>
            </a:r>
            <a:r>
              <a:rPr lang="en-US" dirty="0"/>
              <a:t> sits above the MAC sublayer and provides a standardized interface for communication between the data link layer and the network layer. It is responsible for logical link control and provides mechanisms for error handling, flow control, and multiplexing different network layer protocols.</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27469" y="2722882"/>
            <a:ext cx="5013807" cy="1839493"/>
          </a:xfrm>
          <a:prstGeom prst="rect">
            <a:avLst/>
          </a:prstGeom>
        </p:spPr>
      </p:pic>
    </p:spTree>
    <p:extLst>
      <p:ext uri="{BB962C8B-B14F-4D97-AF65-F5344CB8AC3E}">
        <p14:creationId xmlns:p14="http://schemas.microsoft.com/office/powerpoint/2010/main" val="2580805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 Link Control Sublayer</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a:t>
            </a:r>
            <a:r>
              <a:rPr lang="en-US" b="1" dirty="0"/>
              <a:t>Logical Link Control (LLC)</a:t>
            </a:r>
            <a:r>
              <a:rPr lang="en-US" dirty="0"/>
              <a:t> layer is the </a:t>
            </a:r>
            <a:r>
              <a:rPr lang="en-US" b="1" dirty="0"/>
              <a:t>upper sublayer</a:t>
            </a:r>
            <a:r>
              <a:rPr lang="en-US" dirty="0"/>
              <a:t> of the </a:t>
            </a:r>
            <a:r>
              <a:rPr lang="en-US" b="1" dirty="0"/>
              <a:t>Data Link Layer (Layer 2)</a:t>
            </a:r>
            <a:r>
              <a:rPr lang="en-US" dirty="0"/>
              <a:t> in the OSI model. </a:t>
            </a:r>
            <a:endParaRPr lang="en-US" dirty="0" smtClean="0"/>
          </a:p>
          <a:p>
            <a:r>
              <a:rPr lang="en-US" dirty="0" smtClean="0"/>
              <a:t>It </a:t>
            </a:r>
            <a:r>
              <a:rPr lang="en-US" dirty="0"/>
              <a:t>plays a crucial role in providing a standardized interface for communication between the </a:t>
            </a:r>
            <a:r>
              <a:rPr lang="en-US" b="1" dirty="0"/>
              <a:t>network layer (Layer 3)</a:t>
            </a:r>
            <a:r>
              <a:rPr lang="en-US" dirty="0"/>
              <a:t> and the </a:t>
            </a:r>
            <a:r>
              <a:rPr lang="en-US" b="1" dirty="0"/>
              <a:t>MAC (Media Access Control)</a:t>
            </a:r>
            <a:r>
              <a:rPr lang="en-US" dirty="0"/>
              <a:t> sublayer of the Data Link Layer.</a:t>
            </a:r>
          </a:p>
          <a:p>
            <a:r>
              <a:rPr lang="en-US" b="1" dirty="0"/>
              <a:t>Overview of the LLC Sublayer:</a:t>
            </a:r>
          </a:p>
          <a:p>
            <a:r>
              <a:rPr lang="en-US" dirty="0"/>
              <a:t>The </a:t>
            </a:r>
            <a:r>
              <a:rPr lang="en-US" b="1" dirty="0"/>
              <a:t>LLC</a:t>
            </a:r>
            <a:r>
              <a:rPr lang="en-US" dirty="0"/>
              <a:t> sublayer is responsible for handling logical communication between devices over the physical network, ensuring reliable data transfer, and managing the flow of data. It defines the interface that the </a:t>
            </a:r>
            <a:r>
              <a:rPr lang="en-US" b="1" dirty="0"/>
              <a:t>network layer</a:t>
            </a:r>
            <a:r>
              <a:rPr lang="en-US" dirty="0"/>
              <a:t> uses to interact with the </a:t>
            </a:r>
            <a:r>
              <a:rPr lang="en-US" b="1" dirty="0"/>
              <a:t>data link layer</a:t>
            </a:r>
            <a:r>
              <a:rPr lang="en-US" dirty="0"/>
              <a:t>, and it supports multiple network layer protocols over the same physical link.</a:t>
            </a:r>
          </a:p>
        </p:txBody>
      </p:sp>
    </p:spTree>
    <p:extLst>
      <p:ext uri="{BB962C8B-B14F-4D97-AF65-F5344CB8AC3E}">
        <p14:creationId xmlns:p14="http://schemas.microsoft.com/office/powerpoint/2010/main" val="2231804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LLC</a:t>
            </a:r>
            <a:endParaRPr lang="en-US" dirty="0"/>
          </a:p>
        </p:txBody>
      </p:sp>
      <p:sp>
        <p:nvSpPr>
          <p:cNvPr id="4" name="Rectangle 1"/>
          <p:cNvSpPr>
            <a:spLocks noGrp="1" noChangeArrowheads="1"/>
          </p:cNvSpPr>
          <p:nvPr>
            <p:ph idx="1"/>
          </p:nvPr>
        </p:nvSpPr>
        <p:spPr bwMode="auto">
          <a:xfrm>
            <a:off x="1151422" y="1886865"/>
            <a:ext cx="988915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smtClean="0">
                <a:ln>
                  <a:noFill/>
                </a:ln>
                <a:solidFill>
                  <a:schemeClr val="tx1"/>
                </a:solidFill>
                <a:effectLst/>
                <a:latin typeface="Arial" panose="020B0604020202020204" pitchFamily="34" charset="0"/>
              </a:rPr>
              <a:t>1. Multiplexing</a:t>
            </a:r>
            <a:r>
              <a:rPr kumimoji="0" lang="en-US" altLang="en-US" sz="16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The LLC sublayer allows different network protocols to share the same data link.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It uses </a:t>
            </a:r>
            <a:r>
              <a:rPr kumimoji="0" lang="en-US" altLang="en-US" sz="1600" b="1" i="0" u="none" strike="noStrike" cap="none" normalizeH="0" baseline="0" dirty="0" smtClean="0">
                <a:ln>
                  <a:noFill/>
                </a:ln>
                <a:solidFill>
                  <a:schemeClr val="tx1"/>
                </a:solidFill>
                <a:effectLst/>
                <a:latin typeface="Arial" panose="020B0604020202020204" pitchFamily="34" charset="0"/>
              </a:rPr>
              <a:t>Service Access Points (SAPs)</a:t>
            </a:r>
            <a:r>
              <a:rPr kumimoji="0" lang="en-US" altLang="en-US" sz="1600" b="0" i="0" u="none" strike="noStrike" cap="none" normalizeH="0" baseline="0" dirty="0" smtClean="0">
                <a:ln>
                  <a:noFill/>
                </a:ln>
                <a:solidFill>
                  <a:schemeClr val="tx1"/>
                </a:solidFill>
                <a:effectLst/>
                <a:latin typeface="Arial" panose="020B0604020202020204" pitchFamily="34" charset="0"/>
              </a:rPr>
              <a:t> to distinguish between different network layer protocols (such as </a:t>
            </a:r>
            <a:r>
              <a:rPr kumimoji="0" lang="en-US" altLang="en-US" sz="1600" b="1" i="0" u="none" strike="noStrike" cap="none" normalizeH="0" baseline="0" dirty="0" smtClean="0">
                <a:ln>
                  <a:noFill/>
                </a:ln>
                <a:solidFill>
                  <a:schemeClr val="tx1"/>
                </a:solidFill>
                <a:effectLst/>
                <a:latin typeface="Arial" panose="020B0604020202020204" pitchFamily="34" charset="0"/>
              </a:rPr>
              <a:t>IP</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1" i="0" u="none" strike="noStrike" cap="none" normalizeH="0" baseline="0" dirty="0" smtClean="0">
                <a:ln>
                  <a:noFill/>
                </a:ln>
                <a:solidFill>
                  <a:schemeClr val="tx1"/>
                </a:solidFill>
                <a:effectLst/>
                <a:latin typeface="Arial" panose="020B0604020202020204" pitchFamily="34" charset="0"/>
              </a:rPr>
              <a:t>IPX</a:t>
            </a:r>
            <a:r>
              <a:rPr kumimoji="0" lang="en-US" altLang="en-US" sz="1600" b="0" i="0" u="none" strike="noStrike" cap="none" normalizeH="0" baseline="0" dirty="0" smtClean="0">
                <a:ln>
                  <a:noFill/>
                </a:ln>
                <a:solidFill>
                  <a:schemeClr val="tx1"/>
                </a:solidFill>
                <a:effectLst/>
                <a:latin typeface="Arial" panose="020B0604020202020204" pitchFamily="34" charset="0"/>
              </a:rPr>
              <a:t>, or </a:t>
            </a:r>
            <a:r>
              <a:rPr kumimoji="0" lang="en-US" altLang="en-US" sz="1600" b="1" i="0" u="none" strike="noStrike" cap="none" normalizeH="0" baseline="0" dirty="0" smtClean="0">
                <a:ln>
                  <a:noFill/>
                </a:ln>
                <a:solidFill>
                  <a:schemeClr val="tx1"/>
                </a:solidFill>
                <a:effectLst/>
                <a:latin typeface="Arial" panose="020B0604020202020204" pitchFamily="34" charset="0"/>
              </a:rPr>
              <a:t>AppleTalk</a:t>
            </a:r>
            <a:r>
              <a:rPr kumimoji="0" lang="en-US" altLang="en-US" sz="1600" b="0" i="0" u="none" strike="noStrike" cap="none" normalizeH="0" baseline="0" dirty="0" smtClean="0">
                <a:ln>
                  <a:noFill/>
                </a:ln>
                <a:solidFill>
                  <a:schemeClr val="tx1"/>
                </a:solidFill>
                <a:effectLst/>
                <a:latin typeface="Arial" panose="020B0604020202020204" pitchFamily="34" charset="0"/>
              </a:rPr>
              <a:t>). Each network layer protocol is associated with a unique SAP, so the LLC can direct data to the correct protocol.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Arial" panose="020B0604020202020204" pitchFamily="34" charset="0"/>
              </a:rPr>
              <a:t>Example</a:t>
            </a:r>
            <a:r>
              <a:rPr kumimoji="0" lang="en-US" altLang="en-US" sz="1600" b="0" i="0" u="none" strike="noStrike" cap="none" normalizeH="0" baseline="0" dirty="0" smtClean="0">
                <a:ln>
                  <a:noFill/>
                </a:ln>
                <a:solidFill>
                  <a:schemeClr val="tx1"/>
                </a:solidFill>
                <a:effectLst/>
                <a:latin typeface="Arial" panose="020B0604020202020204" pitchFamily="34" charset="0"/>
              </a:rPr>
              <a:t>: On an Ethernet network, data from both </a:t>
            </a:r>
            <a:r>
              <a:rPr kumimoji="0" lang="en-US" altLang="en-US" sz="1600" b="1" i="0" u="none" strike="noStrike" cap="none" normalizeH="0" baseline="0" dirty="0" smtClean="0">
                <a:ln>
                  <a:noFill/>
                </a:ln>
                <a:solidFill>
                  <a:schemeClr val="tx1"/>
                </a:solidFill>
                <a:effectLst/>
                <a:latin typeface="Arial" panose="020B0604020202020204" pitchFamily="34" charset="0"/>
              </a:rPr>
              <a:t>IP</a:t>
            </a:r>
            <a:r>
              <a:rPr kumimoji="0" lang="en-US" altLang="en-US" sz="1600" b="0" i="0" u="none" strike="noStrike" cap="none" normalizeH="0" baseline="0" dirty="0" smtClean="0">
                <a:ln>
                  <a:noFill/>
                </a:ln>
                <a:solidFill>
                  <a:schemeClr val="tx1"/>
                </a:solidFill>
                <a:effectLst/>
                <a:latin typeface="Arial" panose="020B0604020202020204" pitchFamily="34" charset="0"/>
              </a:rPr>
              <a:t> and </a:t>
            </a:r>
            <a:r>
              <a:rPr kumimoji="0" lang="en-US" altLang="en-US" sz="1600" b="1" i="0" u="none" strike="noStrike" cap="none" normalizeH="0" baseline="0" dirty="0" smtClean="0">
                <a:ln>
                  <a:noFill/>
                </a:ln>
                <a:solidFill>
                  <a:schemeClr val="tx1"/>
                </a:solidFill>
                <a:effectLst/>
                <a:latin typeface="Arial" panose="020B0604020202020204" pitchFamily="34" charset="0"/>
              </a:rPr>
              <a:t>IPX</a:t>
            </a:r>
            <a:r>
              <a:rPr kumimoji="0" lang="en-US" altLang="en-US" sz="1600" b="0" i="0" u="none" strike="noStrike" cap="none" normalizeH="0" baseline="0" dirty="0" smtClean="0">
                <a:ln>
                  <a:noFill/>
                </a:ln>
                <a:solidFill>
                  <a:schemeClr val="tx1"/>
                </a:solidFill>
                <a:effectLst/>
                <a:latin typeface="Arial" panose="020B0604020202020204" pitchFamily="34" charset="0"/>
              </a:rPr>
              <a:t> can be transmitted over the same physical medium, and the LLC sublayer ensures that each protocol's data is correctly passed to the respective network layer.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smtClean="0">
                <a:ln>
                  <a:noFill/>
                </a:ln>
                <a:solidFill>
                  <a:schemeClr val="tx1"/>
                </a:solidFill>
                <a:effectLst/>
                <a:latin typeface="Arial" panose="020B0604020202020204" pitchFamily="34" charset="0"/>
              </a:rPr>
              <a:t>2. Error Control</a:t>
            </a:r>
            <a:r>
              <a:rPr kumimoji="0" lang="en-US" altLang="en-US" sz="16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The LLC sublayer provides optional error detection for data frames that are transmitted over the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Error detection is typically achieved using </a:t>
            </a:r>
            <a:r>
              <a:rPr kumimoji="0" lang="en-US" altLang="en-US" sz="1600" b="1" i="0" u="none" strike="noStrike" cap="none" normalizeH="0" baseline="0" dirty="0" smtClean="0">
                <a:ln>
                  <a:noFill/>
                </a:ln>
                <a:solidFill>
                  <a:schemeClr val="tx1"/>
                </a:solidFill>
                <a:effectLst/>
                <a:latin typeface="Arial" panose="020B0604020202020204" pitchFamily="34" charset="0"/>
              </a:rPr>
              <a:t>Cyclic Redundancy Check (CRC)</a:t>
            </a:r>
            <a:r>
              <a:rPr kumimoji="0" lang="en-US" altLang="en-US" sz="1600" b="0" i="0" u="none" strike="noStrike" cap="none" normalizeH="0" baseline="0" dirty="0" smtClean="0">
                <a:ln>
                  <a:noFill/>
                </a:ln>
                <a:solidFill>
                  <a:schemeClr val="tx1"/>
                </a:solidFill>
                <a:effectLst/>
                <a:latin typeface="Arial" panose="020B0604020202020204" pitchFamily="34" charset="0"/>
              </a:rPr>
              <a:t>. If the receiver detects errors in a frame (using CRC), it can discard the frame and request a retransmission, ensuring data integrity.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smtClean="0">
                <a:ln>
                  <a:noFill/>
                </a:ln>
                <a:solidFill>
                  <a:schemeClr val="tx1"/>
                </a:solidFill>
                <a:effectLst/>
                <a:latin typeface="Arial" panose="020B0604020202020204" pitchFamily="34" charset="0"/>
              </a:rPr>
              <a:t>3. Flow Control</a:t>
            </a:r>
            <a:r>
              <a:rPr kumimoji="0" lang="en-US" altLang="en-US" sz="16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Flow control mechanisms in the LLC sublayer manage the rate at which data is transmitted between sender and receiver, preventing the receiver from being overwhelmed with too much data at once.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This can be implemented by regulating the window size in the case of </a:t>
            </a:r>
            <a:r>
              <a:rPr kumimoji="0" lang="en-US" altLang="en-US" sz="1600" b="1" i="0" u="none" strike="noStrike" cap="none" normalizeH="0" baseline="0" dirty="0" smtClean="0">
                <a:ln>
                  <a:noFill/>
                </a:ln>
                <a:solidFill>
                  <a:schemeClr val="tx1"/>
                </a:solidFill>
                <a:effectLst/>
                <a:latin typeface="Arial" panose="020B0604020202020204" pitchFamily="34" charset="0"/>
              </a:rPr>
              <a:t>connection-oriented communication</a:t>
            </a:r>
            <a:r>
              <a:rPr kumimoji="0" lang="en-US" altLang="en-US" sz="1600" b="0" i="0" u="none" strike="noStrike" cap="none" normalizeH="0" baseline="0" dirty="0" smtClean="0">
                <a:ln>
                  <a:noFill/>
                </a:ln>
                <a:solidFill>
                  <a:schemeClr val="tx1"/>
                </a:solidFill>
                <a:effectLst/>
                <a:latin typeface="Arial" panose="020B0604020202020204" pitchFamily="34" charset="0"/>
              </a:rPr>
              <a:t> (Type 2 LLC).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9746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1295401" y="2369741"/>
            <a:ext cx="926351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4. Frame Sequencing</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LLC sublayer ensures that frames are delivered in the correct sequence. This is important when a stream of data is being transmitted and when data loss or reordering could occur in unreliable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uses sequence numbers to track frames, and the </a:t>
            </a:r>
            <a:r>
              <a:rPr kumimoji="0" lang="en-US" altLang="en-US" sz="1800" b="1" i="0" u="none" strike="noStrike" cap="none" normalizeH="0" baseline="0" dirty="0" smtClean="0">
                <a:ln>
                  <a:noFill/>
                </a:ln>
                <a:solidFill>
                  <a:schemeClr val="tx1"/>
                </a:solidFill>
                <a:effectLst/>
                <a:latin typeface="Arial" panose="020B0604020202020204" pitchFamily="34" charset="0"/>
              </a:rPr>
              <a:t>Type 2 LLC</a:t>
            </a:r>
            <a:r>
              <a:rPr kumimoji="0" lang="en-US" altLang="en-US" sz="1800" b="0" i="0" u="none" strike="noStrike" cap="none" normalizeH="0" baseline="0" dirty="0" smtClean="0">
                <a:ln>
                  <a:noFill/>
                </a:ln>
                <a:solidFill>
                  <a:schemeClr val="tx1"/>
                </a:solidFill>
                <a:effectLst/>
                <a:latin typeface="Arial" panose="020B0604020202020204" pitchFamily="34" charset="0"/>
              </a:rPr>
              <a:t> provides acknowledgments for correctly received frames, helping to reassemble the original data stream.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5. Logical Link Establishment, Maintenance, and Termination</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LLC sublayer manages the establishment, maintenance, and termination of logical links between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provides services to the </a:t>
            </a:r>
            <a:r>
              <a:rPr kumimoji="0" lang="en-US" altLang="en-US" sz="1800" b="1" i="0" u="none" strike="noStrike" cap="none" normalizeH="0" baseline="0" dirty="0" smtClean="0">
                <a:ln>
                  <a:noFill/>
                </a:ln>
                <a:solidFill>
                  <a:schemeClr val="tx1"/>
                </a:solidFill>
                <a:effectLst/>
                <a:latin typeface="Arial" panose="020B0604020202020204" pitchFamily="34" charset="0"/>
              </a:rPr>
              <a:t>network layer</a:t>
            </a:r>
            <a:r>
              <a:rPr kumimoji="0" lang="en-US" altLang="en-US" sz="1800" b="0" i="0" u="none" strike="noStrike" cap="none" normalizeH="0" baseline="0" dirty="0" smtClean="0">
                <a:ln>
                  <a:noFill/>
                </a:ln>
                <a:solidFill>
                  <a:schemeClr val="tx1"/>
                </a:solidFill>
                <a:effectLst/>
                <a:latin typeface="Arial" panose="020B0604020202020204" pitchFamily="34" charset="0"/>
              </a:rPr>
              <a:t> and ensures that the communication link remains open and operational for the duration of the session.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1275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1023" y="356490"/>
            <a:ext cx="9601196" cy="1303867"/>
          </a:xfrm>
        </p:spPr>
        <p:txBody>
          <a:bodyPr/>
          <a:lstStyle/>
          <a:p>
            <a:r>
              <a:rPr lang="en-US" dirty="0" smtClean="0"/>
              <a:t>LLC Frame Structure</a:t>
            </a:r>
            <a:endParaRPr lang="en-US" dirty="0"/>
          </a:p>
        </p:txBody>
      </p:sp>
      <p:sp>
        <p:nvSpPr>
          <p:cNvPr id="3" name="Content Placeholder 2"/>
          <p:cNvSpPr>
            <a:spLocks noGrp="1"/>
          </p:cNvSpPr>
          <p:nvPr>
            <p:ph idx="1"/>
          </p:nvPr>
        </p:nvSpPr>
        <p:spPr>
          <a:xfrm>
            <a:off x="862264" y="1276772"/>
            <a:ext cx="9601196" cy="3318936"/>
          </a:xfrm>
        </p:spPr>
        <p:txBody>
          <a:bodyPr>
            <a:noAutofit/>
          </a:bodyPr>
          <a:lstStyle/>
          <a:p>
            <a:r>
              <a:rPr lang="en-US" sz="1200" dirty="0"/>
              <a:t>An </a:t>
            </a:r>
            <a:r>
              <a:rPr lang="en-US" sz="1200" b="1" dirty="0"/>
              <a:t>LLC frame</a:t>
            </a:r>
            <a:r>
              <a:rPr lang="en-US" sz="1200" dirty="0"/>
              <a:t> is encapsulated within the </a:t>
            </a:r>
            <a:r>
              <a:rPr lang="en-US" sz="1200" b="1" dirty="0"/>
              <a:t>Data Link Layer frame</a:t>
            </a:r>
            <a:r>
              <a:rPr lang="en-US" sz="1200" dirty="0"/>
              <a:t> and includes several fields for identifying and managing communication. The structure of an LLC frame typically includes:</a:t>
            </a:r>
          </a:p>
          <a:p>
            <a:r>
              <a:rPr lang="en-US" sz="1200" b="1" dirty="0"/>
              <a:t>DSAP (Destination Service Access Point)</a:t>
            </a:r>
            <a:r>
              <a:rPr lang="en-US" sz="1200" dirty="0"/>
              <a:t>:</a:t>
            </a:r>
          </a:p>
          <a:p>
            <a:pPr lvl="1"/>
            <a:r>
              <a:rPr lang="en-US" sz="1100" dirty="0"/>
              <a:t>A 1-byte field that identifies the destination service access point.</a:t>
            </a:r>
          </a:p>
          <a:p>
            <a:pPr lvl="1"/>
            <a:r>
              <a:rPr lang="en-US" sz="1100" dirty="0"/>
              <a:t>It specifies which network layer protocol (e.g., </a:t>
            </a:r>
            <a:r>
              <a:rPr lang="en-US" sz="1100" b="1" dirty="0"/>
              <a:t>IP</a:t>
            </a:r>
            <a:r>
              <a:rPr lang="en-US" sz="1100" dirty="0"/>
              <a:t>, </a:t>
            </a:r>
            <a:r>
              <a:rPr lang="en-US" sz="1100" b="1" dirty="0"/>
              <a:t>IPX</a:t>
            </a:r>
            <a:r>
              <a:rPr lang="en-US" sz="1100" dirty="0"/>
              <a:t>) the frame is intended for.</a:t>
            </a:r>
          </a:p>
          <a:p>
            <a:r>
              <a:rPr lang="en-US" sz="1200" b="1" dirty="0"/>
              <a:t>SSAP (Source Service Access Point)</a:t>
            </a:r>
            <a:r>
              <a:rPr lang="en-US" sz="1200" dirty="0"/>
              <a:t>:</a:t>
            </a:r>
          </a:p>
          <a:p>
            <a:pPr lvl="1"/>
            <a:r>
              <a:rPr lang="en-US" sz="1100" dirty="0"/>
              <a:t>A 1-byte field that identifies the source service access point.</a:t>
            </a:r>
          </a:p>
          <a:p>
            <a:pPr lvl="1"/>
            <a:r>
              <a:rPr lang="en-US" sz="1100" dirty="0"/>
              <a:t>It specifies the network layer protocol from which the frame is being sent.</a:t>
            </a:r>
          </a:p>
          <a:p>
            <a:r>
              <a:rPr lang="en-US" sz="1200" b="1" dirty="0"/>
              <a:t>Control Field</a:t>
            </a:r>
            <a:r>
              <a:rPr lang="en-US" sz="1200" dirty="0"/>
              <a:t>:</a:t>
            </a:r>
          </a:p>
          <a:p>
            <a:pPr lvl="1"/>
            <a:r>
              <a:rPr lang="en-US" sz="1100" dirty="0"/>
              <a:t>A 1-byte field that defines the type of LLC frame. It specifies whether the frame is an </a:t>
            </a:r>
            <a:r>
              <a:rPr lang="en-US" sz="1100" b="1" dirty="0"/>
              <a:t>Information Frame (I-Frame)</a:t>
            </a:r>
            <a:r>
              <a:rPr lang="en-US" sz="1100" dirty="0"/>
              <a:t>, a </a:t>
            </a:r>
            <a:r>
              <a:rPr lang="en-US" sz="1100" b="1" dirty="0"/>
              <a:t>Supervisory Frame (S-Frame)</a:t>
            </a:r>
            <a:r>
              <a:rPr lang="en-US" sz="1100" dirty="0"/>
              <a:t>, or an </a:t>
            </a:r>
            <a:r>
              <a:rPr lang="en-US" sz="1100" b="1" dirty="0"/>
              <a:t>Unnumbered Frame (U-Frame)</a:t>
            </a:r>
            <a:r>
              <a:rPr lang="en-US" sz="1100" dirty="0"/>
              <a:t>.</a:t>
            </a:r>
          </a:p>
          <a:p>
            <a:pPr lvl="1"/>
            <a:r>
              <a:rPr lang="en-US" sz="1100" dirty="0"/>
              <a:t>The </a:t>
            </a:r>
            <a:r>
              <a:rPr lang="en-US" sz="1100" b="1" dirty="0"/>
              <a:t>Control Field</a:t>
            </a:r>
            <a:r>
              <a:rPr lang="en-US" sz="1100" dirty="0"/>
              <a:t> helps manage the flow of data, error checking, and the acknowledgment process.</a:t>
            </a:r>
          </a:p>
          <a:p>
            <a:r>
              <a:rPr lang="en-US" sz="1200" b="1" dirty="0"/>
              <a:t>Information Field</a:t>
            </a:r>
            <a:r>
              <a:rPr lang="en-US" sz="1200" dirty="0"/>
              <a:t>:</a:t>
            </a:r>
          </a:p>
          <a:p>
            <a:pPr lvl="1"/>
            <a:r>
              <a:rPr lang="en-US" sz="1100" dirty="0"/>
              <a:t>The actual payload or </a:t>
            </a:r>
            <a:r>
              <a:rPr lang="en-US" sz="1100" b="1" dirty="0"/>
              <a:t>data</a:t>
            </a:r>
            <a:r>
              <a:rPr lang="en-US" sz="1100" dirty="0"/>
              <a:t> that is being transferred by the frame. This field contains the network layer data (e.g., an </a:t>
            </a:r>
            <a:r>
              <a:rPr lang="en-US" sz="1100" b="1" dirty="0"/>
              <a:t>IP packet</a:t>
            </a:r>
            <a:r>
              <a:rPr lang="en-US" sz="1100" dirty="0"/>
              <a:t>).</a:t>
            </a:r>
          </a:p>
          <a:p>
            <a:pPr lvl="1"/>
            <a:r>
              <a:rPr lang="en-US" sz="1100" dirty="0"/>
              <a:t>This field’s size depends on the data being sent.</a:t>
            </a:r>
          </a:p>
          <a:p>
            <a:r>
              <a:rPr lang="en-US" sz="1200" b="1" dirty="0"/>
              <a:t>FCS (Frame Check Sequence)</a:t>
            </a:r>
            <a:r>
              <a:rPr lang="en-US" sz="1200" dirty="0"/>
              <a:t>:</a:t>
            </a:r>
          </a:p>
          <a:p>
            <a:pPr lvl="1"/>
            <a:r>
              <a:rPr lang="en-US" sz="1100" dirty="0"/>
              <a:t>A 2-byte or 4-byte field used for error detection.</a:t>
            </a:r>
          </a:p>
          <a:p>
            <a:pPr lvl="1"/>
            <a:r>
              <a:rPr lang="en-US" sz="1100" dirty="0"/>
              <a:t>The FCS is computed using CRC over the entire frame (excluding the flag) and is used by the receiver to detect errors during transmission.</a:t>
            </a:r>
          </a:p>
        </p:txBody>
      </p:sp>
    </p:spTree>
    <p:extLst>
      <p:ext uri="{BB962C8B-B14F-4D97-AF65-F5344CB8AC3E}">
        <p14:creationId xmlns:p14="http://schemas.microsoft.com/office/powerpoint/2010/main" val="4291195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327614"/>
            <a:ext cx="9601196" cy="1303867"/>
          </a:xfrm>
        </p:spPr>
        <p:txBody>
          <a:bodyPr/>
          <a:lstStyle/>
          <a:p>
            <a:r>
              <a:rPr lang="en-US" dirty="0" smtClean="0"/>
              <a:t>Types of LLC Frame</a:t>
            </a:r>
            <a:endParaRPr lang="en-US" dirty="0"/>
          </a:p>
        </p:txBody>
      </p:sp>
      <p:sp>
        <p:nvSpPr>
          <p:cNvPr id="4" name="Rectangle 1"/>
          <p:cNvSpPr>
            <a:spLocks noGrp="1" noChangeArrowheads="1"/>
          </p:cNvSpPr>
          <p:nvPr>
            <p:ph idx="1"/>
          </p:nvPr>
        </p:nvSpPr>
        <p:spPr bwMode="auto">
          <a:xfrm>
            <a:off x="1102896" y="1388487"/>
            <a:ext cx="943676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Information Frame (I-Frame)</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Used to carry </a:t>
            </a:r>
            <a:r>
              <a:rPr kumimoji="0" lang="en-US" altLang="en-US" sz="1800" b="1" i="0" u="none" strike="noStrike" cap="none" normalizeH="0" baseline="0" dirty="0" smtClean="0">
                <a:ln>
                  <a:noFill/>
                </a:ln>
                <a:solidFill>
                  <a:schemeClr val="tx1"/>
                </a:solidFill>
                <a:effectLst/>
                <a:latin typeface="Arial" panose="020B0604020202020204" pitchFamily="34" charset="0"/>
              </a:rPr>
              <a:t>data</a:t>
            </a:r>
            <a:r>
              <a:rPr kumimoji="0" lang="en-US" altLang="en-US" sz="1800" b="0" i="0" u="none" strike="noStrike" cap="none" normalizeH="0" baseline="0" dirty="0" smtClean="0">
                <a:ln>
                  <a:noFill/>
                </a:ln>
                <a:solidFill>
                  <a:schemeClr val="tx1"/>
                </a:solidFill>
                <a:effectLst/>
                <a:latin typeface="Arial" panose="020B0604020202020204" pitchFamily="34" charset="0"/>
              </a:rPr>
              <a:t> between devices in a </a:t>
            </a:r>
            <a:r>
              <a:rPr kumimoji="0" lang="en-US" altLang="en-US" sz="1800" b="1" i="0" u="none" strike="noStrike" cap="none" normalizeH="0" baseline="0" dirty="0" smtClean="0">
                <a:ln>
                  <a:noFill/>
                </a:ln>
                <a:solidFill>
                  <a:schemeClr val="tx1"/>
                </a:solidFill>
                <a:effectLst/>
                <a:latin typeface="Arial" panose="020B0604020202020204" pitchFamily="34" charset="0"/>
              </a:rPr>
              <a:t>connection-oriented</a:t>
            </a:r>
            <a:r>
              <a:rPr kumimoji="0" lang="en-US" altLang="en-US" sz="1800" b="0" i="0" u="none" strike="noStrike" cap="none" normalizeH="0" baseline="0" dirty="0" smtClean="0">
                <a:ln>
                  <a:noFill/>
                </a:ln>
                <a:solidFill>
                  <a:schemeClr val="tx1"/>
                </a:solidFill>
                <a:effectLst/>
                <a:latin typeface="Arial" panose="020B0604020202020204" pitchFamily="34" charset="0"/>
              </a:rPr>
              <a:t> or </a:t>
            </a:r>
            <a:r>
              <a:rPr kumimoji="0" lang="en-US" altLang="en-US" sz="1800" b="1" i="0" u="none" strike="noStrike" cap="none" normalizeH="0" baseline="0" dirty="0" smtClean="0">
                <a:ln>
                  <a:noFill/>
                </a:ln>
                <a:solidFill>
                  <a:schemeClr val="tx1"/>
                </a:solidFill>
                <a:effectLst/>
                <a:latin typeface="Arial" panose="020B0604020202020204" pitchFamily="34" charset="0"/>
              </a:rPr>
              <a:t>connectionless</a:t>
            </a:r>
            <a:r>
              <a:rPr kumimoji="0" lang="en-US" altLang="en-US" sz="1800" b="0" i="0" u="none" strike="noStrike" cap="none" normalizeH="0" baseline="0" dirty="0" smtClean="0">
                <a:ln>
                  <a:noFill/>
                </a:ln>
                <a:solidFill>
                  <a:schemeClr val="tx1"/>
                </a:solidFill>
                <a:effectLst/>
                <a:latin typeface="Arial" panose="020B0604020202020204" pitchFamily="34" charset="0"/>
              </a:rPr>
              <a:t> manner.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contains </a:t>
            </a:r>
            <a:r>
              <a:rPr kumimoji="0" lang="en-US" altLang="en-US" sz="1800" b="1" i="0" u="none" strike="noStrike" cap="none" normalizeH="0" baseline="0" dirty="0" smtClean="0">
                <a:ln>
                  <a:noFill/>
                </a:ln>
                <a:solidFill>
                  <a:schemeClr val="tx1"/>
                </a:solidFill>
                <a:effectLst/>
                <a:latin typeface="Arial" panose="020B0604020202020204" pitchFamily="34" charset="0"/>
              </a:rPr>
              <a:t>sequence numbers</a:t>
            </a:r>
            <a:r>
              <a:rPr kumimoji="0" lang="en-US" altLang="en-US" sz="1800" b="0" i="0" u="none" strike="noStrike" cap="none" normalizeH="0" baseline="0" dirty="0" smtClean="0">
                <a:ln>
                  <a:noFill/>
                </a:ln>
                <a:solidFill>
                  <a:schemeClr val="tx1"/>
                </a:solidFill>
                <a:effectLst/>
                <a:latin typeface="Arial" panose="020B0604020202020204" pitchFamily="34" charset="0"/>
              </a:rPr>
              <a:t> to maintain the order of frames and ensure reliable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Acknowledgments</a:t>
            </a:r>
            <a:r>
              <a:rPr kumimoji="0" lang="en-US" altLang="en-US" sz="1800" b="0" i="0" u="none" strike="noStrike" cap="none" normalizeH="0" baseline="0" dirty="0" smtClean="0">
                <a:ln>
                  <a:noFill/>
                </a:ln>
                <a:solidFill>
                  <a:schemeClr val="tx1"/>
                </a:solidFill>
                <a:effectLst/>
                <a:latin typeface="Arial" panose="020B0604020202020204" pitchFamily="34" charset="0"/>
              </a:rPr>
              <a:t> are typically sent by the receiver to confirm successful reception.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Supervisory Frame (S-Frame)</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Used for </a:t>
            </a:r>
            <a:r>
              <a:rPr kumimoji="0" lang="en-US" altLang="en-US" sz="1800" b="1" i="0" u="none" strike="noStrike" cap="none" normalizeH="0" baseline="0" dirty="0" smtClean="0">
                <a:ln>
                  <a:noFill/>
                </a:ln>
                <a:solidFill>
                  <a:schemeClr val="tx1"/>
                </a:solidFill>
                <a:effectLst/>
                <a:latin typeface="Arial" panose="020B0604020202020204" pitchFamily="34" charset="0"/>
              </a:rPr>
              <a:t>flow control</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error reporting</a:t>
            </a:r>
            <a:r>
              <a:rPr kumimoji="0" lang="en-US" altLang="en-US" sz="1800" b="0" i="0" u="none" strike="noStrike" cap="none" normalizeH="0" baseline="0" dirty="0" smtClean="0">
                <a:ln>
                  <a:noFill/>
                </a:ln>
                <a:solidFill>
                  <a:schemeClr val="tx1"/>
                </a:solidFill>
                <a:effectLst/>
                <a:latin typeface="Arial" panose="020B0604020202020204" pitchFamily="34" charset="0"/>
              </a:rPr>
              <a:t>, and </a:t>
            </a:r>
            <a:r>
              <a:rPr kumimoji="0" lang="en-US" altLang="en-US" sz="1800" b="1" i="0" u="none" strike="noStrike" cap="none" normalizeH="0" baseline="0" dirty="0" smtClean="0">
                <a:ln>
                  <a:noFill/>
                </a:ln>
                <a:solidFill>
                  <a:schemeClr val="tx1"/>
                </a:solidFill>
                <a:effectLst/>
                <a:latin typeface="Arial" panose="020B0604020202020204" pitchFamily="34" charset="0"/>
              </a:rPr>
              <a:t>acknowledgment</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helps manage the flow of data by allowing the sender to pause or resume the transmission based on the receiver's capacity to process the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can also be used to acknowledge the receipt of </a:t>
            </a:r>
            <a:r>
              <a:rPr kumimoji="0" lang="en-US" altLang="en-US" sz="1800" b="1" i="0" u="none" strike="noStrike" cap="none" normalizeH="0" baseline="0" dirty="0" smtClean="0">
                <a:ln>
                  <a:noFill/>
                </a:ln>
                <a:solidFill>
                  <a:schemeClr val="tx1"/>
                </a:solidFill>
                <a:effectLst/>
                <a:latin typeface="Arial" panose="020B0604020202020204" pitchFamily="34" charset="0"/>
              </a:rPr>
              <a:t>I-Frames</a:t>
            </a:r>
            <a:r>
              <a:rPr kumimoji="0" lang="en-US" altLang="en-US" sz="1800" b="0" i="0" u="none" strike="noStrike" cap="none" normalizeH="0" baseline="0" dirty="0" smtClean="0">
                <a:ln>
                  <a:noFill/>
                </a:ln>
                <a:solidFill>
                  <a:schemeClr val="tx1"/>
                </a:solidFill>
                <a:effectLst/>
                <a:latin typeface="Arial" panose="020B0604020202020204" pitchFamily="34" charset="0"/>
              </a:rPr>
              <a:t> or request retransmissions if an error occurs.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Unnumbered Frame (U-Frame)</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Used for </a:t>
            </a:r>
            <a:r>
              <a:rPr kumimoji="0" lang="en-US" altLang="en-US" sz="1800" b="1" i="0" u="none" strike="noStrike" cap="none" normalizeH="0" baseline="0" dirty="0" smtClean="0">
                <a:ln>
                  <a:noFill/>
                </a:ln>
                <a:solidFill>
                  <a:schemeClr val="tx1"/>
                </a:solidFill>
                <a:effectLst/>
                <a:latin typeface="Arial" panose="020B0604020202020204" pitchFamily="34" charset="0"/>
              </a:rPr>
              <a:t>link management</a:t>
            </a:r>
            <a:r>
              <a:rPr kumimoji="0" lang="en-US" altLang="en-US" sz="1800" b="0" i="0" u="none" strike="noStrike" cap="none" normalizeH="0" baseline="0" dirty="0" smtClean="0">
                <a:ln>
                  <a:noFill/>
                </a:ln>
                <a:solidFill>
                  <a:schemeClr val="tx1"/>
                </a:solidFill>
                <a:effectLst/>
                <a:latin typeface="Arial" panose="020B0604020202020204" pitchFamily="34" charset="0"/>
              </a:rPr>
              <a:t> purposes, such as </a:t>
            </a:r>
            <a:r>
              <a:rPr kumimoji="0" lang="en-US" altLang="en-US" sz="1800" b="1" i="0" u="none" strike="noStrike" cap="none" normalizeH="0" baseline="0" dirty="0" smtClean="0">
                <a:ln>
                  <a:noFill/>
                </a:ln>
                <a:solidFill>
                  <a:schemeClr val="tx1"/>
                </a:solidFill>
                <a:effectLst/>
                <a:latin typeface="Arial" panose="020B0604020202020204" pitchFamily="34" charset="0"/>
              </a:rPr>
              <a:t>establishing</a:t>
            </a:r>
            <a:r>
              <a:rPr kumimoji="0" lang="en-US" altLang="en-US" sz="1800" b="0" i="0" u="none" strike="noStrike" cap="none" normalizeH="0" baseline="0" dirty="0" smtClean="0">
                <a:ln>
                  <a:noFill/>
                </a:ln>
                <a:solidFill>
                  <a:schemeClr val="tx1"/>
                </a:solidFill>
                <a:effectLst/>
                <a:latin typeface="Arial" panose="020B0604020202020204" pitchFamily="34" charset="0"/>
              </a:rPr>
              <a:t> or </a:t>
            </a:r>
            <a:r>
              <a:rPr kumimoji="0" lang="en-US" altLang="en-US" sz="1800" b="1" i="0" u="none" strike="noStrike" cap="none" normalizeH="0" baseline="0" dirty="0" smtClean="0">
                <a:ln>
                  <a:noFill/>
                </a:ln>
                <a:solidFill>
                  <a:schemeClr val="tx1"/>
                </a:solidFill>
                <a:effectLst/>
                <a:latin typeface="Arial" panose="020B0604020202020204" pitchFamily="34" charset="0"/>
              </a:rPr>
              <a:t>terminating</a:t>
            </a:r>
            <a:r>
              <a:rPr kumimoji="0" lang="en-US" altLang="en-US" sz="1800" b="0" i="0" u="none" strike="noStrike" cap="none" normalizeH="0" baseline="0" dirty="0" smtClean="0">
                <a:ln>
                  <a:noFill/>
                </a:ln>
                <a:solidFill>
                  <a:schemeClr val="tx1"/>
                </a:solidFill>
                <a:effectLst/>
                <a:latin typeface="Arial" panose="020B0604020202020204" pitchFamily="34" charset="0"/>
              </a:rPr>
              <a:t> a logical link.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U-Frames are also used for functions like </a:t>
            </a:r>
            <a:r>
              <a:rPr kumimoji="0" lang="en-US" altLang="en-US" sz="1800" b="1" i="0" u="none" strike="noStrike" cap="none" normalizeH="0" baseline="0" dirty="0" smtClean="0">
                <a:ln>
                  <a:noFill/>
                </a:ln>
                <a:solidFill>
                  <a:schemeClr val="tx1"/>
                </a:solidFill>
                <a:effectLst/>
                <a:latin typeface="Arial" panose="020B0604020202020204" pitchFamily="34" charset="0"/>
              </a:rPr>
              <a:t>resetting</a:t>
            </a:r>
            <a:r>
              <a:rPr kumimoji="0" lang="en-US" altLang="en-US" sz="1800" b="0" i="0" u="none" strike="noStrike" cap="none" normalizeH="0" baseline="0" dirty="0" smtClean="0">
                <a:ln>
                  <a:noFill/>
                </a:ln>
                <a:solidFill>
                  <a:schemeClr val="tx1"/>
                </a:solidFill>
                <a:effectLst/>
                <a:latin typeface="Arial" panose="020B0604020202020204" pitchFamily="34" charset="0"/>
              </a:rPr>
              <a:t> the link, querying the status, or negotiating parameters.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63876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2" y="321732"/>
            <a:ext cx="9601196" cy="1303867"/>
          </a:xfrm>
        </p:spPr>
        <p:txBody>
          <a:bodyPr/>
          <a:lstStyle/>
          <a:p>
            <a:r>
              <a:rPr lang="en-US" dirty="0" smtClean="0"/>
              <a:t>LLC Protocols</a:t>
            </a:r>
            <a:endParaRPr lang="en-US" dirty="0"/>
          </a:p>
        </p:txBody>
      </p:sp>
      <p:sp>
        <p:nvSpPr>
          <p:cNvPr id="4" name="Rectangle 1"/>
          <p:cNvSpPr>
            <a:spLocks noChangeArrowheads="1"/>
          </p:cNvSpPr>
          <p:nvPr/>
        </p:nvSpPr>
        <p:spPr bwMode="auto">
          <a:xfrm>
            <a:off x="742950" y="1833348"/>
            <a:ext cx="107061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The </a:t>
            </a:r>
            <a:r>
              <a:rPr lang="en-US" altLang="en-US" b="1" dirty="0" smtClean="0">
                <a:latin typeface="Arial" panose="020B0604020202020204" pitchFamily="34" charset="0"/>
              </a:rPr>
              <a:t>IEE</a:t>
            </a:r>
            <a:r>
              <a:rPr kumimoji="0" lang="en-US" altLang="en-US" b="1" i="0" u="none" strike="noStrike" cap="none" normalizeH="0" baseline="0" dirty="0" smtClean="0">
                <a:ln>
                  <a:noFill/>
                </a:ln>
                <a:solidFill>
                  <a:schemeClr val="tx1"/>
                </a:solidFill>
                <a:effectLst/>
                <a:latin typeface="Arial" panose="020B0604020202020204" pitchFamily="34" charset="0"/>
              </a:rPr>
              <a:t>E </a:t>
            </a:r>
            <a:r>
              <a:rPr kumimoji="0" lang="en-US" altLang="en-US" sz="1800" b="1" i="0" u="none" strike="noStrike" cap="none" normalizeH="0" baseline="0" dirty="0" smtClean="0">
                <a:ln>
                  <a:noFill/>
                </a:ln>
                <a:solidFill>
                  <a:schemeClr val="tx1"/>
                </a:solidFill>
                <a:effectLst/>
                <a:latin typeface="Arial" panose="020B0604020202020204" pitchFamily="34" charset="0"/>
              </a:rPr>
              <a:t>802.2 standard</a:t>
            </a:r>
            <a:r>
              <a:rPr kumimoji="0" lang="en-US" altLang="en-US" sz="1800" b="0" i="0" u="none" strike="noStrike" cap="none" normalizeH="0" baseline="0" dirty="0" smtClean="0">
                <a:ln>
                  <a:noFill/>
                </a:ln>
                <a:solidFill>
                  <a:schemeClr val="tx1"/>
                </a:solidFill>
                <a:effectLst/>
                <a:latin typeface="Arial" panose="020B0604020202020204" pitchFamily="34" charset="0"/>
              </a:rPr>
              <a:t> defines two different types of LLC services based on how the logical link is managed: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 1 (Unacknowledged Connectionless Service)</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type does not provide </a:t>
            </a:r>
            <a:r>
              <a:rPr kumimoji="0" lang="en-US" altLang="en-US" sz="1800" b="1" i="0" u="none" strike="noStrike" cap="none" normalizeH="0" baseline="0" dirty="0" smtClean="0">
                <a:ln>
                  <a:noFill/>
                </a:ln>
                <a:solidFill>
                  <a:schemeClr val="tx1"/>
                </a:solidFill>
                <a:effectLst/>
                <a:latin typeface="Arial" panose="020B0604020202020204" pitchFamily="34" charset="0"/>
              </a:rPr>
              <a:t>acknowledgments</a:t>
            </a:r>
            <a:r>
              <a:rPr kumimoji="0" lang="en-US" altLang="en-US" sz="1800" b="0" i="0" u="none" strike="noStrike" cap="none" normalizeH="0" baseline="0" dirty="0" smtClean="0">
                <a:ln>
                  <a:noFill/>
                </a:ln>
                <a:solidFill>
                  <a:schemeClr val="tx1"/>
                </a:solidFill>
                <a:effectLst/>
                <a:latin typeface="Arial" panose="020B0604020202020204" pitchFamily="34" charset="0"/>
              </a:rPr>
              <a:t> or </a:t>
            </a:r>
            <a:r>
              <a:rPr kumimoji="0" lang="en-US" altLang="en-US" sz="1800" b="1" i="0" u="none" strike="noStrike" cap="none" normalizeH="0" baseline="0" dirty="0" smtClean="0">
                <a:ln>
                  <a:noFill/>
                </a:ln>
                <a:solidFill>
                  <a:schemeClr val="tx1"/>
                </a:solidFill>
                <a:effectLst/>
                <a:latin typeface="Arial" panose="020B0604020202020204" pitchFamily="34" charset="0"/>
              </a:rPr>
              <a:t>error recovery</a:t>
            </a: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panose="020B0604020202020204" pitchFamily="34" charset="0"/>
              </a:rPr>
              <a:t>It is used when the sender does not require confirmation of data delivery. This is typically used in situations where low overhead is preferred and occasional data loss is acceptable (e.g., real-time communication, live video/audio streaming).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 2 (Acknowledged Connection-Oriented Service)</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type provides </a:t>
            </a:r>
            <a:r>
              <a:rPr kumimoji="0" lang="en-US" altLang="en-US" sz="1800" b="1" i="0" u="none" strike="noStrike" cap="none" normalizeH="0" baseline="0" dirty="0" smtClean="0">
                <a:ln>
                  <a:noFill/>
                </a:ln>
                <a:solidFill>
                  <a:schemeClr val="tx1"/>
                </a:solidFill>
                <a:effectLst/>
                <a:latin typeface="Arial" panose="020B0604020202020204" pitchFamily="34" charset="0"/>
              </a:rPr>
              <a:t>acknowledgments</a:t>
            </a:r>
            <a:r>
              <a:rPr kumimoji="0" lang="en-US" altLang="en-US" sz="1800" b="0" i="0" u="none" strike="noStrike" cap="none" normalizeH="0" baseline="0" dirty="0" smtClean="0">
                <a:ln>
                  <a:noFill/>
                </a:ln>
                <a:solidFill>
                  <a:schemeClr val="tx1"/>
                </a:solidFill>
                <a:effectLst/>
                <a:latin typeface="Arial" panose="020B0604020202020204" pitchFamily="34" charset="0"/>
              </a:rPr>
              <a:t> and ensures reliable data delivery, including error control and flow control.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guarantees that the data is delivered in order and without errors, making it suitable for reliable communication (e.g., </a:t>
            </a:r>
            <a:r>
              <a:rPr kumimoji="0" lang="en-US" altLang="en-US" sz="1800" b="1" i="0" u="none" strike="noStrike" cap="none" normalizeH="0" baseline="0" dirty="0" smtClean="0">
                <a:ln>
                  <a:noFill/>
                </a:ln>
                <a:solidFill>
                  <a:schemeClr val="tx1"/>
                </a:solidFill>
                <a:effectLst/>
                <a:latin typeface="Arial" panose="020B0604020202020204" pitchFamily="34" charset="0"/>
              </a:rPr>
              <a:t>TCP</a:t>
            </a:r>
            <a:r>
              <a:rPr kumimoji="0" lang="en-US" altLang="en-US" sz="1800" b="0" i="0" u="none" strike="noStrike" cap="none" normalizeH="0" baseline="0" dirty="0" smtClean="0">
                <a:ln>
                  <a:noFill/>
                </a:ln>
                <a:solidFill>
                  <a:schemeClr val="tx1"/>
                </a:solidFill>
                <a:effectLst/>
                <a:latin typeface="Arial" panose="020B0604020202020204" pitchFamily="34" charset="0"/>
              </a:rPr>
              <a:t> for connection-oriented communication).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sender waits for an acknowledgment after sending a frame, and if no acknowledgment is received (due to errors), the frame is retransmitted.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691792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Media Access Control (MAC) Sublayer</a:t>
            </a:r>
            <a:endParaRPr lang="en-US" dirty="0"/>
          </a:p>
        </p:txBody>
      </p:sp>
      <p:sp>
        <p:nvSpPr>
          <p:cNvPr id="3" name="Content Placeholder 2"/>
          <p:cNvSpPr>
            <a:spLocks noGrp="1"/>
          </p:cNvSpPr>
          <p:nvPr>
            <p:ph idx="1"/>
          </p:nvPr>
        </p:nvSpPr>
        <p:spPr/>
        <p:txBody>
          <a:bodyPr>
            <a:normAutofit fontScale="92500"/>
          </a:bodyPr>
          <a:lstStyle/>
          <a:p>
            <a:r>
              <a:rPr lang="en-US" dirty="0"/>
              <a:t>The </a:t>
            </a:r>
            <a:r>
              <a:rPr lang="en-US" b="1" dirty="0"/>
              <a:t>Media Access Control (MAC)</a:t>
            </a:r>
            <a:r>
              <a:rPr lang="en-US" dirty="0"/>
              <a:t> sublayer is the </a:t>
            </a:r>
            <a:r>
              <a:rPr lang="en-US" b="1" dirty="0"/>
              <a:t>lower sublayer</a:t>
            </a:r>
            <a:r>
              <a:rPr lang="en-US" dirty="0"/>
              <a:t> of the </a:t>
            </a:r>
            <a:r>
              <a:rPr lang="en-US" b="1" dirty="0"/>
              <a:t>Data Link Layer (Layer 2)</a:t>
            </a:r>
            <a:r>
              <a:rPr lang="en-US" dirty="0"/>
              <a:t> in the OSI (Open Systems Interconnection) model. </a:t>
            </a:r>
            <a:endParaRPr lang="en-US" dirty="0" smtClean="0"/>
          </a:p>
          <a:p>
            <a:r>
              <a:rPr lang="en-US" dirty="0" smtClean="0"/>
              <a:t>The </a:t>
            </a:r>
            <a:r>
              <a:rPr lang="en-US" dirty="0"/>
              <a:t>MAC sublayer is responsible for controlling access to the </a:t>
            </a:r>
            <a:r>
              <a:rPr lang="en-US" b="1" dirty="0"/>
              <a:t>physical transmission medium</a:t>
            </a:r>
            <a:r>
              <a:rPr lang="en-US" dirty="0"/>
              <a:t> and managing how data is transmitted over the network. </a:t>
            </a:r>
            <a:endParaRPr lang="en-US" dirty="0" smtClean="0"/>
          </a:p>
          <a:p>
            <a:r>
              <a:rPr lang="en-US" dirty="0" smtClean="0"/>
              <a:t>It </a:t>
            </a:r>
            <a:r>
              <a:rPr lang="en-US" dirty="0"/>
              <a:t>plays a crucial role in determining when and how devices on the same network can send and receive data, ensuring that data transmission is coordinated, efficient, and collision-free (or collision-avoiding, depending on the protocol).</a:t>
            </a:r>
          </a:p>
        </p:txBody>
      </p:sp>
    </p:spTree>
    <p:extLst>
      <p:ext uri="{BB962C8B-B14F-4D97-AF65-F5344CB8AC3E}">
        <p14:creationId xmlns:p14="http://schemas.microsoft.com/office/powerpoint/2010/main" val="2277204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4601" y="105832"/>
            <a:ext cx="9601196" cy="1303867"/>
          </a:xfrm>
        </p:spPr>
        <p:txBody>
          <a:bodyPr/>
          <a:lstStyle/>
          <a:p>
            <a:r>
              <a:rPr lang="en-US" dirty="0" smtClean="0"/>
              <a:t>Key Functions of MAC Sublayer</a:t>
            </a:r>
            <a:endParaRPr lang="en-US" dirty="0"/>
          </a:p>
        </p:txBody>
      </p:sp>
      <p:sp>
        <p:nvSpPr>
          <p:cNvPr id="4" name="Rectangle 1"/>
          <p:cNvSpPr>
            <a:spLocks noGrp="1" noChangeArrowheads="1"/>
          </p:cNvSpPr>
          <p:nvPr>
            <p:ph idx="1"/>
          </p:nvPr>
        </p:nvSpPr>
        <p:spPr bwMode="auto">
          <a:xfrm>
            <a:off x="889001" y="1059661"/>
            <a:ext cx="10528299" cy="567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Frame Framing</a:t>
            </a:r>
            <a:r>
              <a:rPr kumimoji="0" lang="en-US" altLang="en-US" sz="25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MAC sublayer adds its own </a:t>
            </a:r>
            <a:r>
              <a:rPr kumimoji="0" lang="en-US" altLang="en-US" sz="1800" b="1" i="0" u="none" strike="noStrike" cap="none" normalizeH="0" baseline="0" dirty="0" smtClean="0">
                <a:ln>
                  <a:noFill/>
                </a:ln>
                <a:solidFill>
                  <a:schemeClr val="tx1"/>
                </a:solidFill>
                <a:effectLst/>
                <a:latin typeface="Arial" panose="020B0604020202020204" pitchFamily="34" charset="0"/>
              </a:rPr>
              <a:t>header</a:t>
            </a:r>
            <a:r>
              <a:rPr kumimoji="0" lang="en-US" altLang="en-US" sz="1800" b="0" i="0" u="none" strike="noStrike" cap="none" normalizeH="0" baseline="0" dirty="0" smtClean="0">
                <a:ln>
                  <a:noFill/>
                </a:ln>
                <a:solidFill>
                  <a:schemeClr val="tx1"/>
                </a:solidFill>
                <a:effectLst/>
                <a:latin typeface="Arial" panose="020B0604020202020204" pitchFamily="34" charset="0"/>
              </a:rPr>
              <a:t> and </a:t>
            </a:r>
            <a:r>
              <a:rPr kumimoji="0" lang="en-US" altLang="en-US" sz="1800" b="1" i="0" u="none" strike="noStrike" cap="none" normalizeH="0" baseline="0" dirty="0" smtClean="0">
                <a:ln>
                  <a:noFill/>
                </a:ln>
                <a:solidFill>
                  <a:schemeClr val="tx1"/>
                </a:solidFill>
                <a:effectLst/>
                <a:latin typeface="Arial" panose="020B0604020202020204" pitchFamily="34" charset="0"/>
              </a:rPr>
              <a:t>trailer</a:t>
            </a:r>
            <a:r>
              <a:rPr kumimoji="0" lang="en-US" altLang="en-US" sz="1800" b="0" i="0" u="none" strike="noStrike" cap="none" normalizeH="0" baseline="0" dirty="0" smtClean="0">
                <a:ln>
                  <a:noFill/>
                </a:ln>
                <a:solidFill>
                  <a:schemeClr val="tx1"/>
                </a:solidFill>
                <a:effectLst/>
                <a:latin typeface="Arial" panose="020B0604020202020204" pitchFamily="34" charset="0"/>
              </a:rPr>
              <a:t> to the data received from the </a:t>
            </a:r>
            <a:r>
              <a:rPr kumimoji="0" lang="en-US" altLang="en-US" sz="1800" b="1" i="0" u="none" strike="noStrike" cap="none" normalizeH="0" baseline="0" dirty="0" smtClean="0">
                <a:ln>
                  <a:noFill/>
                </a:ln>
                <a:solidFill>
                  <a:schemeClr val="tx1"/>
                </a:solidFill>
                <a:effectLst/>
                <a:latin typeface="Arial" panose="020B0604020202020204" pitchFamily="34" charset="0"/>
              </a:rPr>
              <a:t>Logical Link Control (LLC)</a:t>
            </a:r>
            <a:r>
              <a:rPr kumimoji="0" lang="en-US" altLang="en-US" sz="1800" b="0" i="0" u="none" strike="noStrike" cap="none" normalizeH="0" baseline="0" dirty="0" smtClean="0">
                <a:ln>
                  <a:noFill/>
                </a:ln>
                <a:solidFill>
                  <a:schemeClr val="tx1"/>
                </a:solidFill>
                <a:effectLst/>
                <a:latin typeface="Arial" panose="020B0604020202020204" pitchFamily="34" charset="0"/>
              </a:rPr>
              <a:t> sublayer. This forms a complete </a:t>
            </a:r>
            <a:r>
              <a:rPr kumimoji="0" lang="en-US" altLang="en-US" sz="1800" b="1" i="0" u="none" strike="noStrike" cap="none" normalizeH="0" baseline="0" dirty="0" smtClean="0">
                <a:ln>
                  <a:noFill/>
                </a:ln>
                <a:solidFill>
                  <a:schemeClr val="tx1"/>
                </a:solidFill>
                <a:effectLst/>
                <a:latin typeface="Arial" panose="020B0604020202020204" pitchFamily="34" charset="0"/>
              </a:rPr>
              <a:t>data frame</a:t>
            </a:r>
            <a:r>
              <a:rPr kumimoji="0" lang="en-US" altLang="en-US" sz="1800" b="0" i="0" u="none" strike="noStrike" cap="none" normalizeH="0" baseline="0" dirty="0" smtClean="0">
                <a:ln>
                  <a:noFill/>
                </a:ln>
                <a:solidFill>
                  <a:schemeClr val="tx1"/>
                </a:solidFill>
                <a:effectLst/>
                <a:latin typeface="Arial" panose="020B0604020202020204" pitchFamily="34" charset="0"/>
              </a:rPr>
              <a:t> that can be transmitted over the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frame contains essential information, including </a:t>
            </a:r>
            <a:r>
              <a:rPr kumimoji="0" lang="en-US" altLang="en-US" sz="1800" b="1" i="0" u="none" strike="noStrike" cap="none" normalizeH="0" baseline="0" dirty="0" smtClean="0">
                <a:ln>
                  <a:noFill/>
                </a:ln>
                <a:solidFill>
                  <a:schemeClr val="tx1"/>
                </a:solidFill>
                <a:effectLst/>
                <a:latin typeface="Arial" panose="020B0604020202020204" pitchFamily="34" charset="0"/>
              </a:rPr>
              <a:t>MAC addresses</a:t>
            </a:r>
            <a:r>
              <a:rPr kumimoji="0" lang="en-US" altLang="en-US" sz="1800" b="0" i="0" u="none" strike="noStrike" cap="none" normalizeH="0" baseline="0" dirty="0" smtClean="0">
                <a:ln>
                  <a:noFill/>
                </a:ln>
                <a:solidFill>
                  <a:schemeClr val="tx1"/>
                </a:solidFill>
                <a:effectLst/>
                <a:latin typeface="Arial" panose="020B0604020202020204" pitchFamily="34" charset="0"/>
              </a:rPr>
              <a:t> (source and destination) and a </a:t>
            </a:r>
            <a:r>
              <a:rPr kumimoji="0" lang="en-US" altLang="en-US" sz="1800" b="1" i="0" u="none" strike="noStrike" cap="none" normalizeH="0" baseline="0" dirty="0" smtClean="0">
                <a:ln>
                  <a:noFill/>
                </a:ln>
                <a:solidFill>
                  <a:schemeClr val="tx1"/>
                </a:solidFill>
                <a:effectLst/>
                <a:latin typeface="Arial" panose="020B0604020202020204" pitchFamily="34" charset="0"/>
              </a:rPr>
              <a:t>Frame Check Sequence (FCS)</a:t>
            </a:r>
            <a:r>
              <a:rPr kumimoji="0" lang="en-US" altLang="en-US" sz="1800" b="0" i="0" u="none" strike="noStrike" cap="none" normalizeH="0" baseline="0" dirty="0" smtClean="0">
                <a:ln>
                  <a:noFill/>
                </a:ln>
                <a:solidFill>
                  <a:schemeClr val="tx1"/>
                </a:solidFill>
                <a:effectLst/>
                <a:latin typeface="Arial" panose="020B0604020202020204" pitchFamily="34" charset="0"/>
              </a:rPr>
              <a:t> for error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MAC Addressing</a:t>
            </a:r>
            <a:r>
              <a:rPr kumimoji="0" lang="en-US" altLang="en-US" sz="25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MAC sublayer uses </a:t>
            </a:r>
            <a:r>
              <a:rPr kumimoji="0" lang="en-US" altLang="en-US" sz="1800" b="1" i="0" u="none" strike="noStrike" cap="none" normalizeH="0" baseline="0" dirty="0" smtClean="0">
                <a:ln>
                  <a:noFill/>
                </a:ln>
                <a:solidFill>
                  <a:schemeClr val="tx1"/>
                </a:solidFill>
                <a:effectLst/>
                <a:latin typeface="Arial" panose="020B0604020202020204" pitchFamily="34" charset="0"/>
              </a:rPr>
              <a:t>MAC addresses</a:t>
            </a:r>
            <a:r>
              <a:rPr kumimoji="0" lang="en-US" altLang="en-US" sz="1800" b="0" i="0" u="none" strike="noStrike" cap="none" normalizeH="0" baseline="0" dirty="0" smtClean="0">
                <a:ln>
                  <a:noFill/>
                </a:ln>
                <a:solidFill>
                  <a:schemeClr val="tx1"/>
                </a:solidFill>
                <a:effectLst/>
                <a:latin typeface="Arial" panose="020B0604020202020204" pitchFamily="34" charset="0"/>
              </a:rPr>
              <a:t> (also known as </a:t>
            </a:r>
            <a:r>
              <a:rPr kumimoji="0" lang="en-US" altLang="en-US" sz="1800" b="1" i="0" u="none" strike="noStrike" cap="none" normalizeH="0" baseline="0" dirty="0" smtClean="0">
                <a:ln>
                  <a:noFill/>
                </a:ln>
                <a:solidFill>
                  <a:schemeClr val="tx1"/>
                </a:solidFill>
                <a:effectLst/>
                <a:latin typeface="Arial" panose="020B0604020202020204" pitchFamily="34" charset="0"/>
              </a:rPr>
              <a:t>physical addresses</a:t>
            </a:r>
            <a:r>
              <a:rPr kumimoji="0" lang="en-US" altLang="en-US" sz="1800" b="0" i="0" u="none" strike="noStrike" cap="none" normalizeH="0" baseline="0" dirty="0" smtClean="0">
                <a:ln>
                  <a:noFill/>
                </a:ln>
                <a:solidFill>
                  <a:schemeClr val="tx1"/>
                </a:solidFill>
                <a:effectLst/>
                <a:latin typeface="Arial" panose="020B0604020202020204" pitchFamily="34" charset="0"/>
              </a:rPr>
              <a:t>) to uniquely identify devices on a local network. These 48-bit addresses are assigned to network interfaces at the time of manufacture and are globally unique.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Each frame transmitted by a device contains the </a:t>
            </a:r>
            <a:r>
              <a:rPr kumimoji="0" lang="en-US" altLang="en-US" sz="1800" b="1" i="0" u="none" strike="noStrike" cap="none" normalizeH="0" baseline="0" dirty="0" smtClean="0">
                <a:ln>
                  <a:noFill/>
                </a:ln>
                <a:solidFill>
                  <a:schemeClr val="tx1"/>
                </a:solidFill>
                <a:effectLst/>
                <a:latin typeface="Arial" panose="020B0604020202020204" pitchFamily="34" charset="0"/>
              </a:rPr>
              <a:t>destination MAC address</a:t>
            </a:r>
            <a:r>
              <a:rPr kumimoji="0" lang="en-US" altLang="en-US" sz="1800" b="0" i="0" u="none" strike="noStrike" cap="none" normalizeH="0" baseline="0" dirty="0" smtClean="0">
                <a:ln>
                  <a:noFill/>
                </a:ln>
                <a:solidFill>
                  <a:schemeClr val="tx1"/>
                </a:solidFill>
                <a:effectLst/>
                <a:latin typeface="Arial" panose="020B0604020202020204" pitchFamily="34" charset="0"/>
              </a:rPr>
              <a:t> (the address of the device intended to receive the data) and the </a:t>
            </a:r>
            <a:r>
              <a:rPr kumimoji="0" lang="en-US" altLang="en-US" sz="1800" b="1" i="0" u="none" strike="noStrike" cap="none" normalizeH="0" baseline="0" dirty="0" smtClean="0">
                <a:ln>
                  <a:noFill/>
                </a:ln>
                <a:solidFill>
                  <a:schemeClr val="tx1"/>
                </a:solidFill>
                <a:effectLst/>
                <a:latin typeface="Arial" panose="020B0604020202020204" pitchFamily="34" charset="0"/>
              </a:rPr>
              <a:t>source MAC address</a:t>
            </a:r>
            <a:r>
              <a:rPr kumimoji="0" lang="en-US" altLang="en-US" sz="1800" b="0" i="0" u="none" strike="noStrike" cap="none" normalizeH="0" baseline="0" dirty="0" smtClean="0">
                <a:ln>
                  <a:noFill/>
                </a:ln>
                <a:solidFill>
                  <a:schemeClr val="tx1"/>
                </a:solidFill>
                <a:effectLst/>
                <a:latin typeface="Arial" panose="020B0604020202020204" pitchFamily="34" charset="0"/>
              </a:rPr>
              <a:t> (the address of the sending device).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Media Access Control</a:t>
            </a:r>
            <a:r>
              <a:rPr kumimoji="0" lang="en-US" altLang="en-US" sz="25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MAC sublayer is responsible for controlling access to the </a:t>
            </a:r>
            <a:r>
              <a:rPr kumimoji="0" lang="en-US" altLang="en-US" sz="1800" b="1" i="0" u="none" strike="noStrike" cap="none" normalizeH="0" baseline="0" dirty="0" smtClean="0">
                <a:ln>
                  <a:noFill/>
                </a:ln>
                <a:solidFill>
                  <a:schemeClr val="tx1"/>
                </a:solidFill>
                <a:effectLst/>
                <a:latin typeface="Arial" panose="020B0604020202020204" pitchFamily="34" charset="0"/>
              </a:rPr>
              <a:t>shared communication medium</a:t>
            </a:r>
            <a:r>
              <a:rPr kumimoji="0" lang="en-US" altLang="en-US" sz="1800" b="0" i="0" u="none" strike="noStrike" cap="none" normalizeH="0" baseline="0" dirty="0" smtClean="0">
                <a:ln>
                  <a:noFill/>
                </a:ln>
                <a:solidFill>
                  <a:schemeClr val="tx1"/>
                </a:solidFill>
                <a:effectLst/>
                <a:latin typeface="Arial" panose="020B0604020202020204" pitchFamily="34" charset="0"/>
              </a:rPr>
              <a:t>, especially in network environments where multiple devices are connected to the same medium (e.g., Ethernet or Wi-Fi).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manages how devices take turns to transmit data, preventing conflicts such as </a:t>
            </a:r>
            <a:r>
              <a:rPr kumimoji="0" lang="en-US" altLang="en-US" sz="1800" b="1" i="0" u="none" strike="noStrike" cap="none" normalizeH="0" baseline="0" dirty="0" smtClean="0">
                <a:ln>
                  <a:noFill/>
                </a:ln>
                <a:solidFill>
                  <a:schemeClr val="tx1"/>
                </a:solidFill>
                <a:effectLst/>
                <a:latin typeface="Arial" panose="020B0604020202020204" pitchFamily="34" charset="0"/>
              </a:rPr>
              <a:t>collisions</a:t>
            </a:r>
            <a:r>
              <a:rPr kumimoji="0" lang="en-US" altLang="en-US" sz="1800" b="0" i="0" u="none" strike="noStrike" cap="none" normalizeH="0" baseline="0" dirty="0" smtClean="0">
                <a:ln>
                  <a:noFill/>
                </a:ln>
                <a:solidFill>
                  <a:schemeClr val="tx1"/>
                </a:solidFill>
                <a:effectLst/>
                <a:latin typeface="Arial" panose="020B0604020202020204" pitchFamily="34" charset="0"/>
              </a:rPr>
              <a:t> (when two devices try to send data at the same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1465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660401" y="647512"/>
            <a:ext cx="10667999"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Arial" panose="020B0604020202020204" pitchFamily="34" charset="0"/>
              </a:rPr>
              <a:t>Collision Detection and Avoidance</a:t>
            </a:r>
            <a:r>
              <a:rPr kumimoji="0" lang="en-US" altLang="en-US" sz="22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 shared mediums, there is a risk that two devices might send data at the same time, resulting in a </a:t>
            </a:r>
            <a:r>
              <a:rPr kumimoji="0" lang="en-US" altLang="en-US" sz="1800" b="1" i="0" u="none" strike="noStrike" cap="none" normalizeH="0" baseline="0" dirty="0" smtClean="0">
                <a:ln>
                  <a:noFill/>
                </a:ln>
                <a:solidFill>
                  <a:schemeClr val="tx1"/>
                </a:solidFill>
                <a:effectLst/>
                <a:latin typeface="Arial" panose="020B0604020202020204" pitchFamily="34" charset="0"/>
              </a:rPr>
              <a:t>collision</a:t>
            </a:r>
            <a:r>
              <a:rPr kumimoji="0" lang="en-US" altLang="en-US" sz="1800" b="0" i="0" u="none" strike="noStrike" cap="none" normalizeH="0" baseline="0" dirty="0" smtClean="0">
                <a:ln>
                  <a:noFill/>
                </a:ln>
                <a:solidFill>
                  <a:schemeClr val="tx1"/>
                </a:solidFill>
                <a:effectLst/>
                <a:latin typeface="Arial" panose="020B0604020202020204" pitchFamily="34" charset="0"/>
              </a:rPr>
              <a:t>. The MAC sublayer must handle this.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Collision Detection</a:t>
            </a:r>
            <a:r>
              <a:rPr kumimoji="0" lang="en-US" altLang="en-US" sz="1800" b="0" i="0" u="none" strike="noStrike" cap="none" normalizeH="0" baseline="0" dirty="0" smtClean="0">
                <a:ln>
                  <a:noFill/>
                </a:ln>
                <a:solidFill>
                  <a:schemeClr val="tx1"/>
                </a:solidFill>
                <a:effectLst/>
                <a:latin typeface="Arial" panose="020B0604020202020204" pitchFamily="34" charset="0"/>
              </a:rPr>
              <a:t>: In technologies like </a:t>
            </a:r>
            <a:r>
              <a:rPr kumimoji="0" lang="en-US" altLang="en-US" sz="1800" b="1" i="0" u="none" strike="noStrike" cap="none" normalizeH="0" baseline="0" dirty="0" smtClean="0">
                <a:ln>
                  <a:noFill/>
                </a:ln>
                <a:solidFill>
                  <a:schemeClr val="tx1"/>
                </a:solidFill>
                <a:effectLst/>
                <a:latin typeface="Arial" panose="020B0604020202020204" pitchFamily="34" charset="0"/>
              </a:rPr>
              <a:t>Ethernet</a:t>
            </a:r>
            <a:r>
              <a:rPr kumimoji="0" lang="en-US" altLang="en-US" sz="1800" b="0" i="0" u="none" strike="noStrike" cap="none" normalizeH="0" baseline="0" dirty="0" smtClean="0">
                <a:ln>
                  <a:noFill/>
                </a:ln>
                <a:solidFill>
                  <a:schemeClr val="tx1"/>
                </a:solidFill>
                <a:effectLst/>
                <a:latin typeface="Arial" panose="020B0604020202020204" pitchFamily="34" charset="0"/>
              </a:rPr>
              <a:t> (using </a:t>
            </a:r>
            <a:r>
              <a:rPr kumimoji="0" lang="en-US" altLang="en-US" sz="1800" b="1" i="0" u="none" strike="noStrike" cap="none" normalizeH="0" baseline="0" dirty="0" smtClean="0">
                <a:ln>
                  <a:noFill/>
                </a:ln>
                <a:solidFill>
                  <a:schemeClr val="tx1"/>
                </a:solidFill>
                <a:effectLst/>
                <a:latin typeface="Arial" panose="020B0604020202020204" pitchFamily="34" charset="0"/>
              </a:rPr>
              <a:t>CSMA/CD</a:t>
            </a:r>
            <a:r>
              <a:rPr kumimoji="0" lang="en-US" altLang="en-US" sz="1800" b="0" i="0" u="none" strike="noStrike" cap="none" normalizeH="0" baseline="0" dirty="0" smtClean="0">
                <a:ln>
                  <a:noFill/>
                </a:ln>
                <a:solidFill>
                  <a:schemeClr val="tx1"/>
                </a:solidFill>
                <a:effectLst/>
                <a:latin typeface="Arial" panose="020B0604020202020204" pitchFamily="34" charset="0"/>
              </a:rPr>
              <a:t>, or Carrier Sense Multiple Access with Collision Detection), the sender listens to the network before transmitting to ensure the medium is idle. If a collision occurs, the sender waits for a random time before retrying.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Collision Avoidance</a:t>
            </a:r>
            <a:r>
              <a:rPr kumimoji="0" lang="en-US" altLang="en-US" sz="1800" b="0" i="0" u="none" strike="noStrike" cap="none" normalizeH="0" baseline="0" dirty="0" smtClean="0">
                <a:ln>
                  <a:noFill/>
                </a:ln>
                <a:solidFill>
                  <a:schemeClr val="tx1"/>
                </a:solidFill>
                <a:effectLst/>
                <a:latin typeface="Arial" panose="020B0604020202020204" pitchFamily="34" charset="0"/>
              </a:rPr>
              <a:t>: In </a:t>
            </a:r>
            <a:r>
              <a:rPr kumimoji="0" lang="en-US" altLang="en-US" sz="1800" b="1" i="0" u="none" strike="noStrike" cap="none" normalizeH="0" baseline="0" dirty="0" smtClean="0">
                <a:ln>
                  <a:noFill/>
                </a:ln>
                <a:solidFill>
                  <a:schemeClr val="tx1"/>
                </a:solidFill>
                <a:effectLst/>
                <a:latin typeface="Arial" panose="020B0604020202020204" pitchFamily="34" charset="0"/>
              </a:rPr>
              <a:t>wireless networks</a:t>
            </a:r>
            <a:r>
              <a:rPr kumimoji="0" lang="en-US" altLang="en-US" sz="1800" b="0" i="0" u="none" strike="noStrike" cap="none" normalizeH="0" baseline="0" dirty="0" smtClean="0">
                <a:ln>
                  <a:noFill/>
                </a:ln>
                <a:solidFill>
                  <a:schemeClr val="tx1"/>
                </a:solidFill>
                <a:effectLst/>
                <a:latin typeface="Arial" panose="020B0604020202020204" pitchFamily="34" charset="0"/>
              </a:rPr>
              <a:t> (like </a:t>
            </a:r>
            <a:r>
              <a:rPr kumimoji="0" lang="en-US" altLang="en-US" sz="1800" b="1" i="0" u="none" strike="noStrike" cap="none" normalizeH="0" baseline="0" dirty="0" smtClean="0">
                <a:ln>
                  <a:noFill/>
                </a:ln>
                <a:solidFill>
                  <a:schemeClr val="tx1"/>
                </a:solidFill>
                <a:effectLst/>
                <a:latin typeface="Arial" panose="020B0604020202020204" pitchFamily="34" charset="0"/>
              </a:rPr>
              <a:t>Wi-Fi</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CSMA/CA</a:t>
            </a:r>
            <a:r>
              <a:rPr kumimoji="0" lang="en-US" altLang="en-US" sz="1800" b="0" i="0" u="none" strike="noStrike" cap="none" normalizeH="0" baseline="0" dirty="0" smtClean="0">
                <a:ln>
                  <a:noFill/>
                </a:ln>
                <a:solidFill>
                  <a:schemeClr val="tx1"/>
                </a:solidFill>
                <a:effectLst/>
                <a:latin typeface="Arial" panose="020B0604020202020204" pitchFamily="34" charset="0"/>
              </a:rPr>
              <a:t> (Carrier Sense Multiple Access with Collision Avoidance) is used, which involves devices waiting for a random </a:t>
            </a:r>
            <a:r>
              <a:rPr kumimoji="0" lang="en-US" altLang="en-US" sz="1800" b="0" i="0" u="none" strike="noStrike" cap="none" normalizeH="0" baseline="0" dirty="0" err="1" smtClean="0">
                <a:ln>
                  <a:noFill/>
                </a:ln>
                <a:solidFill>
                  <a:schemeClr val="tx1"/>
                </a:solidFill>
                <a:effectLst/>
                <a:latin typeface="Arial" panose="020B0604020202020204" pitchFamily="34" charset="0"/>
              </a:rPr>
              <a:t>backoff</a:t>
            </a:r>
            <a:r>
              <a:rPr kumimoji="0" lang="en-US" altLang="en-US" sz="1800" b="0" i="0" u="none" strike="noStrike" cap="none" normalizeH="0" baseline="0" dirty="0" smtClean="0">
                <a:ln>
                  <a:noFill/>
                </a:ln>
                <a:solidFill>
                  <a:schemeClr val="tx1"/>
                </a:solidFill>
                <a:effectLst/>
                <a:latin typeface="Arial" panose="020B0604020202020204" pitchFamily="34" charset="0"/>
              </a:rPr>
              <a:t> period to avoid collisions.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Arial" panose="020B0604020202020204" pitchFamily="34" charset="0"/>
              </a:rPr>
              <a:t>Frame Error Detection</a:t>
            </a:r>
            <a:r>
              <a:rPr kumimoji="0" lang="en-US" altLang="en-US" sz="22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MAC sublayer is responsible for error detection in transmitted frames. It includes a </a:t>
            </a:r>
            <a:r>
              <a:rPr kumimoji="0" lang="en-US" altLang="en-US" sz="1800" b="1" i="0" u="none" strike="noStrike" cap="none" normalizeH="0" baseline="0" dirty="0" smtClean="0">
                <a:ln>
                  <a:noFill/>
                </a:ln>
                <a:solidFill>
                  <a:schemeClr val="tx1"/>
                </a:solidFill>
                <a:effectLst/>
                <a:latin typeface="Arial" panose="020B0604020202020204" pitchFamily="34" charset="0"/>
              </a:rPr>
              <a:t>Frame Check Sequence (FCS)</a:t>
            </a:r>
            <a:r>
              <a:rPr kumimoji="0" lang="en-US" altLang="en-US" sz="1800" b="0" i="0" u="none" strike="noStrike" cap="none" normalizeH="0" baseline="0" dirty="0" smtClean="0">
                <a:ln>
                  <a:noFill/>
                </a:ln>
                <a:solidFill>
                  <a:schemeClr val="tx1"/>
                </a:solidFill>
                <a:effectLst/>
                <a:latin typeface="Arial" panose="020B0604020202020204" pitchFamily="34" charset="0"/>
              </a:rPr>
              <a:t> field in the frame's trailer, which uses a </a:t>
            </a:r>
            <a:r>
              <a:rPr kumimoji="0" lang="en-US" altLang="en-US" sz="1800" b="1" i="0" u="none" strike="noStrike" cap="none" normalizeH="0" baseline="0" dirty="0" smtClean="0">
                <a:ln>
                  <a:noFill/>
                </a:ln>
                <a:solidFill>
                  <a:schemeClr val="tx1"/>
                </a:solidFill>
                <a:effectLst/>
                <a:latin typeface="Arial" panose="020B0604020202020204" pitchFamily="34" charset="0"/>
              </a:rPr>
              <a:t>Cyclic Redundancy Check (CRC)</a:t>
            </a:r>
            <a:r>
              <a:rPr kumimoji="0" lang="en-US" altLang="en-US" sz="1800" b="0" i="0" u="none" strike="noStrike" cap="none" normalizeH="0" baseline="0" dirty="0" smtClean="0">
                <a:ln>
                  <a:noFill/>
                </a:ln>
                <a:solidFill>
                  <a:schemeClr val="tx1"/>
                </a:solidFill>
                <a:effectLst/>
                <a:latin typeface="Arial" panose="020B0604020202020204" pitchFamily="34" charset="0"/>
              </a:rPr>
              <a:t> to check for errors during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If a frame is corrupted, it is discarded, and the receiver requests a retransmission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Arial" panose="020B0604020202020204" pitchFamily="34" charset="0"/>
              </a:rPr>
              <a:t>Flow Control</a:t>
            </a:r>
            <a:r>
              <a:rPr kumimoji="0" lang="en-US" altLang="en-US" sz="22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Some MAC sublayers implement </a:t>
            </a:r>
            <a:r>
              <a:rPr kumimoji="0" lang="en-US" altLang="en-US" sz="1800" b="1" i="0" u="none" strike="noStrike" cap="none" normalizeH="0" baseline="0" dirty="0" smtClean="0">
                <a:ln>
                  <a:noFill/>
                </a:ln>
                <a:solidFill>
                  <a:schemeClr val="tx1"/>
                </a:solidFill>
                <a:effectLst/>
                <a:latin typeface="Arial" panose="020B0604020202020204" pitchFamily="34" charset="0"/>
              </a:rPr>
              <a:t>flow control</a:t>
            </a:r>
            <a:r>
              <a:rPr kumimoji="0" lang="en-US" altLang="en-US" sz="1800" b="0" i="0" u="none" strike="noStrike" cap="none" normalizeH="0" baseline="0" dirty="0" smtClean="0">
                <a:ln>
                  <a:noFill/>
                </a:ln>
                <a:solidFill>
                  <a:schemeClr val="tx1"/>
                </a:solidFill>
                <a:effectLst/>
                <a:latin typeface="Arial" panose="020B0604020202020204" pitchFamily="34" charset="0"/>
              </a:rPr>
              <a:t>, ensuring that the sender does not overwhelm the receiver with more data than it can handle.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For example, </a:t>
            </a:r>
            <a:r>
              <a:rPr kumimoji="0" lang="en-US" altLang="en-US" sz="1800" b="1" i="0" u="none" strike="noStrike" cap="none" normalizeH="0" baseline="0" dirty="0" smtClean="0">
                <a:ln>
                  <a:noFill/>
                </a:ln>
                <a:solidFill>
                  <a:schemeClr val="tx1"/>
                </a:solidFill>
                <a:effectLst/>
                <a:latin typeface="Arial" panose="020B0604020202020204" pitchFamily="34" charset="0"/>
              </a:rPr>
              <a:t>Ethernet</a:t>
            </a:r>
            <a:r>
              <a:rPr kumimoji="0" lang="en-US" altLang="en-US" sz="1800" b="0" i="0" u="none" strike="noStrike" cap="none" normalizeH="0" baseline="0" dirty="0" smtClean="0">
                <a:ln>
                  <a:noFill/>
                </a:ln>
                <a:solidFill>
                  <a:schemeClr val="tx1"/>
                </a:solidFill>
                <a:effectLst/>
                <a:latin typeface="Arial" panose="020B0604020202020204" pitchFamily="34" charset="0"/>
              </a:rPr>
              <a:t> does not have built-in flow control, while </a:t>
            </a:r>
            <a:r>
              <a:rPr kumimoji="0" lang="en-US" altLang="en-US" sz="1800" b="1" i="0" u="none" strike="noStrike" cap="none" normalizeH="0" baseline="0" dirty="0" smtClean="0">
                <a:ln>
                  <a:noFill/>
                </a:ln>
                <a:solidFill>
                  <a:schemeClr val="tx1"/>
                </a:solidFill>
                <a:effectLst/>
                <a:latin typeface="Arial" panose="020B0604020202020204" pitchFamily="34" charset="0"/>
              </a:rPr>
              <a:t>Wi-Fi</a:t>
            </a:r>
            <a:r>
              <a:rPr kumimoji="0" lang="en-US" altLang="en-US" sz="1800" b="0" i="0" u="none" strike="noStrike" cap="none" normalizeH="0" baseline="0" dirty="0" smtClean="0">
                <a:ln>
                  <a:noFill/>
                </a:ln>
                <a:solidFill>
                  <a:schemeClr val="tx1"/>
                </a:solidFill>
                <a:effectLst/>
                <a:latin typeface="Arial" panose="020B0604020202020204" pitchFamily="34" charset="0"/>
              </a:rPr>
              <a:t> (IEEE 802.11) implements a form of flow control through the </a:t>
            </a:r>
            <a:r>
              <a:rPr kumimoji="0" lang="en-US" altLang="en-US" sz="1800" b="1" i="0" u="none" strike="noStrike" cap="none" normalizeH="0" baseline="0" dirty="0" smtClean="0">
                <a:ln>
                  <a:noFill/>
                </a:ln>
                <a:solidFill>
                  <a:schemeClr val="tx1"/>
                </a:solidFill>
                <a:effectLst/>
                <a:latin typeface="Arial" panose="020B0604020202020204" pitchFamily="34" charset="0"/>
              </a:rPr>
              <a:t>RTS/CTS (Request to Send/Clear to Send)</a:t>
            </a:r>
            <a:r>
              <a:rPr kumimoji="0" lang="en-US" altLang="en-US" sz="1800" b="0" i="0" u="none" strike="noStrike" cap="none" normalizeH="0" baseline="0" dirty="0" smtClean="0">
                <a:ln>
                  <a:noFill/>
                </a:ln>
                <a:solidFill>
                  <a:schemeClr val="tx1"/>
                </a:solidFill>
                <a:effectLst/>
                <a:latin typeface="Arial" panose="020B0604020202020204" pitchFamily="34" charset="0"/>
              </a:rPr>
              <a:t> mechanism.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6462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372532"/>
            <a:ext cx="9601196" cy="1303867"/>
          </a:xfrm>
        </p:spPr>
        <p:txBody>
          <a:bodyPr/>
          <a:lstStyle/>
          <a:p>
            <a:r>
              <a:rPr lang="en-US" dirty="0" smtClean="0"/>
              <a:t>MAC Frame Structure</a:t>
            </a:r>
            <a:endParaRPr lang="en-US" dirty="0"/>
          </a:p>
        </p:txBody>
      </p:sp>
      <p:sp>
        <p:nvSpPr>
          <p:cNvPr id="3" name="Content Placeholder 2"/>
          <p:cNvSpPr>
            <a:spLocks noGrp="1"/>
          </p:cNvSpPr>
          <p:nvPr>
            <p:ph idx="1"/>
          </p:nvPr>
        </p:nvSpPr>
        <p:spPr>
          <a:xfrm>
            <a:off x="889001" y="1562099"/>
            <a:ext cx="5016499" cy="3318936"/>
          </a:xfrm>
        </p:spPr>
        <p:txBody>
          <a:bodyPr>
            <a:noAutofit/>
          </a:bodyPr>
          <a:lstStyle/>
          <a:p>
            <a:r>
              <a:rPr lang="en-US" sz="1500" dirty="0"/>
              <a:t>An </a:t>
            </a:r>
            <a:r>
              <a:rPr lang="en-US" sz="1500" b="1" dirty="0"/>
              <a:t>MAC frame</a:t>
            </a:r>
            <a:r>
              <a:rPr lang="en-US" sz="1500" dirty="0"/>
              <a:t> contains several components, including the </a:t>
            </a:r>
            <a:r>
              <a:rPr lang="en-US" sz="1500" b="1" dirty="0"/>
              <a:t>MAC header</a:t>
            </a:r>
            <a:r>
              <a:rPr lang="en-US" sz="1500" dirty="0"/>
              <a:t>, the </a:t>
            </a:r>
            <a:r>
              <a:rPr lang="en-US" sz="1500" b="1" dirty="0"/>
              <a:t>payload</a:t>
            </a:r>
            <a:r>
              <a:rPr lang="en-US" sz="1500" dirty="0"/>
              <a:t> (network data), and the </a:t>
            </a:r>
            <a:r>
              <a:rPr lang="en-US" sz="1500" b="1" dirty="0"/>
              <a:t>trailer</a:t>
            </a:r>
            <a:r>
              <a:rPr lang="en-US" sz="1500" dirty="0"/>
              <a:t>. Here is a typical structure for an Ethernet MAC frame:</a:t>
            </a:r>
          </a:p>
          <a:p>
            <a:r>
              <a:rPr lang="en-US" sz="1500" b="1" dirty="0"/>
              <a:t>Preamble</a:t>
            </a:r>
            <a:r>
              <a:rPr lang="en-US" sz="1500" dirty="0"/>
              <a:t>: (Only in Ethernet)</a:t>
            </a:r>
          </a:p>
          <a:p>
            <a:pPr lvl="1"/>
            <a:r>
              <a:rPr lang="en-US" sz="1500" dirty="0"/>
              <a:t>A sequence of bits (7 bytes) used to synchronize the communication between the sender and receiver.</a:t>
            </a:r>
          </a:p>
          <a:p>
            <a:r>
              <a:rPr lang="en-US" sz="1500" b="1" dirty="0"/>
              <a:t>Start of Frame Delimiter (SFD)</a:t>
            </a:r>
            <a:r>
              <a:rPr lang="en-US" sz="1500" dirty="0"/>
              <a:t>: (Only in Ethernet)</a:t>
            </a:r>
          </a:p>
          <a:p>
            <a:pPr lvl="1"/>
            <a:r>
              <a:rPr lang="en-US" sz="1500" dirty="0"/>
              <a:t>Marks the beginning of the actual frame (after the preamble).</a:t>
            </a:r>
          </a:p>
          <a:p>
            <a:r>
              <a:rPr lang="en-US" sz="1500" b="1" dirty="0"/>
              <a:t>Destination MAC Address</a:t>
            </a:r>
            <a:r>
              <a:rPr lang="en-US" sz="1500" dirty="0"/>
              <a:t>: (6 bytes)</a:t>
            </a:r>
          </a:p>
          <a:p>
            <a:pPr lvl="1"/>
            <a:r>
              <a:rPr lang="en-US" sz="1500" dirty="0"/>
              <a:t>The MAC address of the device that is intended to receive the frame.</a:t>
            </a:r>
          </a:p>
          <a:p>
            <a:r>
              <a:rPr lang="en-US" sz="1500" b="1" dirty="0"/>
              <a:t>Source MAC Address</a:t>
            </a:r>
            <a:r>
              <a:rPr lang="en-US" sz="1500" dirty="0"/>
              <a:t>: (6 bytes)</a:t>
            </a:r>
          </a:p>
          <a:p>
            <a:pPr lvl="1"/>
            <a:r>
              <a:rPr lang="en-US" sz="1500" dirty="0"/>
              <a:t>The MAC address of the device that is sending the frame</a:t>
            </a:r>
            <a:r>
              <a:rPr lang="en-US" sz="1500" dirty="0" smtClean="0"/>
              <a:t>.</a:t>
            </a:r>
            <a:endParaRPr lang="en-US" sz="1500" dirty="0"/>
          </a:p>
        </p:txBody>
      </p:sp>
      <p:sp>
        <p:nvSpPr>
          <p:cNvPr id="4" name="Rectangle 3"/>
          <p:cNvSpPr/>
          <p:nvPr/>
        </p:nvSpPr>
        <p:spPr>
          <a:xfrm>
            <a:off x="6375401" y="1676399"/>
            <a:ext cx="4927598" cy="3554819"/>
          </a:xfrm>
          <a:prstGeom prst="rect">
            <a:avLst/>
          </a:prstGeom>
        </p:spPr>
        <p:txBody>
          <a:bodyPr wrap="square">
            <a:spAutoFit/>
          </a:bodyPr>
          <a:lstStyle/>
          <a:p>
            <a:r>
              <a:rPr lang="en-US" sz="1500" b="1" dirty="0" smtClean="0"/>
              <a:t>Length/Type</a:t>
            </a:r>
            <a:r>
              <a:rPr lang="en-US" sz="1500" dirty="0" smtClean="0"/>
              <a:t>: (2 bytes)</a:t>
            </a:r>
          </a:p>
          <a:p>
            <a:pPr lvl="1"/>
            <a:r>
              <a:rPr lang="en-US" sz="1500" dirty="0" smtClean="0"/>
              <a:t>This field can either specify the length of the data field or the type of protocol being carried (e.g., IP, ARP).</a:t>
            </a:r>
          </a:p>
          <a:p>
            <a:r>
              <a:rPr lang="en-US" sz="1500" b="1" dirty="0" smtClean="0"/>
              <a:t>Data (Payload)</a:t>
            </a:r>
            <a:r>
              <a:rPr lang="en-US" sz="1500" dirty="0" smtClean="0"/>
              <a:t>:</a:t>
            </a:r>
          </a:p>
          <a:p>
            <a:pPr lvl="1"/>
            <a:r>
              <a:rPr lang="en-US" sz="1500" dirty="0" smtClean="0"/>
              <a:t>The actual data being transmitted, typically an IP packet, network layer data, or higher-layer data.</a:t>
            </a:r>
          </a:p>
          <a:p>
            <a:pPr lvl="1"/>
            <a:r>
              <a:rPr lang="en-US" sz="1500" dirty="0" smtClean="0"/>
              <a:t>The size of the data field can vary, but it typically ranges from 46 to 1500 bytes in Ethernet.</a:t>
            </a:r>
          </a:p>
          <a:p>
            <a:r>
              <a:rPr lang="en-US" sz="1500" b="1" dirty="0" smtClean="0"/>
              <a:t>Frame Check Sequence (FCS)</a:t>
            </a:r>
            <a:r>
              <a:rPr lang="en-US" sz="1500" dirty="0" smtClean="0"/>
              <a:t>: (4 bytes)</a:t>
            </a:r>
          </a:p>
          <a:p>
            <a:pPr lvl="1"/>
            <a:r>
              <a:rPr lang="en-US" sz="1500" dirty="0" smtClean="0"/>
              <a:t>The CRC value used for error detection. The receiver computes the CRC over the frame and compares it to the FCS value to verify that the data has not been corrupted.</a:t>
            </a:r>
          </a:p>
          <a:p>
            <a:r>
              <a:rPr lang="en-US" sz="1500" b="1" dirty="0" smtClean="0"/>
              <a:t>End of Frame</a:t>
            </a:r>
            <a:r>
              <a:rPr lang="en-US" sz="1500" dirty="0" smtClean="0"/>
              <a:t>: (Only in Ethernet)</a:t>
            </a:r>
          </a:p>
          <a:p>
            <a:pPr lvl="1"/>
            <a:r>
              <a:rPr lang="en-US" sz="1500" dirty="0" smtClean="0"/>
              <a:t>The frame ends with the </a:t>
            </a:r>
            <a:r>
              <a:rPr lang="en-US" sz="1500" b="1" dirty="0" smtClean="0"/>
              <a:t>SFD</a:t>
            </a:r>
            <a:r>
              <a:rPr lang="en-US" sz="1500" dirty="0" smtClean="0"/>
              <a:t> to ensure the frame’s boundaries are detected.</a:t>
            </a:r>
            <a:endParaRPr lang="en-US" sz="1500" dirty="0"/>
          </a:p>
        </p:txBody>
      </p:sp>
    </p:spTree>
    <p:extLst>
      <p:ext uri="{BB962C8B-B14F-4D97-AF65-F5344CB8AC3E}">
        <p14:creationId xmlns:p14="http://schemas.microsoft.com/office/powerpoint/2010/main" val="194012473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246842"/>
            <a:ext cx="9601196" cy="1303867"/>
          </a:xfrm>
        </p:spPr>
        <p:txBody>
          <a:bodyPr/>
          <a:lstStyle/>
          <a:p>
            <a:r>
              <a:rPr lang="en-US" dirty="0" smtClean="0"/>
              <a:t>Random Access Protocol</a:t>
            </a:r>
            <a:endParaRPr lang="en-US" dirty="0"/>
          </a:p>
        </p:txBody>
      </p:sp>
      <p:sp>
        <p:nvSpPr>
          <p:cNvPr id="3" name="Content Placeholder 2"/>
          <p:cNvSpPr>
            <a:spLocks noGrp="1"/>
          </p:cNvSpPr>
          <p:nvPr>
            <p:ph idx="1"/>
          </p:nvPr>
        </p:nvSpPr>
        <p:spPr/>
        <p:txBody>
          <a:bodyPr>
            <a:normAutofit fontScale="70000" lnSpcReduction="20000"/>
          </a:bodyPr>
          <a:lstStyle/>
          <a:p>
            <a:r>
              <a:rPr lang="en-US" dirty="0"/>
              <a:t>In Random Access methods, there is no station that is superior to another station and none is assigned control over the other. It simply means that there is no station that permits another station to send.</a:t>
            </a:r>
          </a:p>
          <a:p>
            <a:r>
              <a:rPr lang="en-US" dirty="0"/>
              <a:t>A station that has the data to send mainly makes the use of a procedure that is defined by the protocol in order to make a decision whether to send or not to send the data.</a:t>
            </a:r>
          </a:p>
          <a:p>
            <a:r>
              <a:rPr lang="en-US" dirty="0"/>
              <a:t>And the decision mainly depends upon the state of the medium as a medium can either be idle or it can be busy.</a:t>
            </a:r>
          </a:p>
          <a:p>
            <a:r>
              <a:rPr lang="en-US" dirty="0"/>
              <a:t>There is no time scheduled for any station in order to transmit the data, the transmission is random among all stations; that is why these methods are called </a:t>
            </a:r>
            <a:r>
              <a:rPr lang="en-US" b="1" i="1" dirty="0"/>
              <a:t>random access.</a:t>
            </a:r>
            <a:endParaRPr lang="en-US" dirty="0"/>
          </a:p>
          <a:p>
            <a:r>
              <a:rPr lang="en-US" dirty="0"/>
              <a:t>There are no rules regarding which station should send the data next, all stations compete with one another in order to access the medium. Thus these methods are also referred to as </a:t>
            </a:r>
            <a:r>
              <a:rPr lang="en-US" b="1" dirty="0"/>
              <a:t>Contention methods.</a:t>
            </a:r>
            <a:endParaRPr lang="en-US" dirty="0"/>
          </a:p>
          <a:p>
            <a:r>
              <a:rPr lang="en-US" dirty="0"/>
              <a:t>In case if there are two or more stations that try to send the data, there occurs a conflict in the access and it is referred to as </a:t>
            </a:r>
            <a:r>
              <a:rPr lang="en-US" b="1" dirty="0"/>
              <a:t>Collision</a:t>
            </a:r>
            <a:r>
              <a:rPr lang="en-US" dirty="0"/>
              <a:t>.</a:t>
            </a:r>
          </a:p>
        </p:txBody>
      </p:sp>
    </p:spTree>
    <p:extLst>
      <p:ext uri="{BB962C8B-B14F-4D97-AF65-F5344CB8AC3E}">
        <p14:creationId xmlns:p14="http://schemas.microsoft.com/office/powerpoint/2010/main" val="24946909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Given below are the protocols that lie under the category of </a:t>
            </a:r>
            <a:r>
              <a:rPr lang="en-US" b="1" dirty="0"/>
              <a:t>Random Access Protocols</a:t>
            </a:r>
            <a:r>
              <a:rPr lang="en-US" dirty="0"/>
              <a:t>:</a:t>
            </a:r>
          </a:p>
          <a:p>
            <a:r>
              <a:rPr lang="en-US" dirty="0"/>
              <a:t>ALOHA(Pure ALOHA and slotted ALOHA)</a:t>
            </a:r>
          </a:p>
          <a:p>
            <a:r>
              <a:rPr lang="en-US" dirty="0"/>
              <a:t>CSMA</a:t>
            </a:r>
          </a:p>
          <a:p>
            <a:r>
              <a:rPr lang="en-US" dirty="0"/>
              <a:t>CSMA/CD</a:t>
            </a:r>
          </a:p>
          <a:p>
            <a:r>
              <a:rPr lang="en-US" dirty="0"/>
              <a:t>CSMA/CA</a:t>
            </a:r>
          </a:p>
        </p:txBody>
      </p:sp>
    </p:spTree>
    <p:extLst>
      <p:ext uri="{BB962C8B-B14F-4D97-AF65-F5344CB8AC3E}">
        <p14:creationId xmlns:p14="http://schemas.microsoft.com/office/powerpoint/2010/main" val="21334115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720" y="633341"/>
            <a:ext cx="9601196" cy="1303867"/>
          </a:xfrm>
        </p:spPr>
        <p:txBody>
          <a:bodyPr>
            <a:normAutofit fontScale="90000"/>
          </a:bodyPr>
          <a:lstStyle/>
          <a:p>
            <a:r>
              <a:rPr lang="en-US" dirty="0"/>
              <a:t>Pure ALOHA</a:t>
            </a:r>
            <a:br>
              <a:rPr lang="en-US" dirty="0"/>
            </a:br>
            <a:endParaRPr lang="en-US" dirty="0"/>
          </a:p>
        </p:txBody>
      </p:sp>
      <p:sp>
        <p:nvSpPr>
          <p:cNvPr id="3" name="Content Placeholder 2"/>
          <p:cNvSpPr>
            <a:spLocks noGrp="1"/>
          </p:cNvSpPr>
          <p:nvPr>
            <p:ph idx="1"/>
          </p:nvPr>
        </p:nvSpPr>
        <p:spPr>
          <a:xfrm>
            <a:off x="1295401" y="2556932"/>
            <a:ext cx="5397630" cy="3318936"/>
          </a:xfrm>
        </p:spPr>
        <p:txBody>
          <a:bodyPr>
            <a:normAutofit fontScale="85000" lnSpcReduction="20000"/>
          </a:bodyPr>
          <a:lstStyle/>
          <a:p>
            <a:r>
              <a:rPr lang="en-US" dirty="0"/>
              <a:t>This protocol is very simple but elegant at the same time.</a:t>
            </a:r>
          </a:p>
          <a:p>
            <a:r>
              <a:rPr lang="en-US" dirty="0"/>
              <a:t>The main idea behind this protocol is that each station sends a frame whenever it has a frame to send.</a:t>
            </a:r>
          </a:p>
          <a:p>
            <a:r>
              <a:rPr lang="en-US" dirty="0"/>
              <a:t>As we have already told you that the medium is shared among different stations, thus there is a possibility of collision between frames from the different stations.</a:t>
            </a:r>
          </a:p>
          <a:p>
            <a:r>
              <a:rPr lang="en-US" dirty="0"/>
              <a:t>Let us now take a look at the frames in a pure ALOHA network:</a:t>
            </a:r>
          </a:p>
        </p:txBody>
      </p:sp>
      <p:pic>
        <p:nvPicPr>
          <p:cNvPr id="1026" name="Picture 2" descr="https://s3.ap-south-1.amazonaws.com/s3.studytonight.com/tutorials/uploads/pictures/1611726344-7144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8800" y="1484842"/>
            <a:ext cx="3694808" cy="4391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511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0049" y="756413"/>
            <a:ext cx="9601196" cy="3318936"/>
          </a:xfrm>
        </p:spPr>
        <p:txBody>
          <a:bodyPr>
            <a:noAutofit/>
          </a:bodyPr>
          <a:lstStyle/>
          <a:p>
            <a:r>
              <a:rPr lang="en-US" sz="1800" dirty="0"/>
              <a:t>The above figure shows that there are 4 stations and each station sends two frames, thus there is a total of 8 frames on the shared medium. Among these 8 frames, there are some frames that collide with each other.</a:t>
            </a:r>
          </a:p>
          <a:p>
            <a:r>
              <a:rPr lang="en-US" sz="1800" dirty="0"/>
              <a:t>Thus there is the only frame that is frame 1.1 from station 1 that survives.</a:t>
            </a:r>
          </a:p>
          <a:p>
            <a:r>
              <a:rPr lang="en-US" sz="1800" dirty="0"/>
              <a:t>We need to resend those frames that have been destroyed during the transmission. The pure ALOHA method depends upon the acknowledgment from the receiver, whenever any station sends a frame, then it expects the receiver to send an acknowledgment. If there is no arrival of acknowledgment after the time-out period then the station assumes that the frame or the acknowledgment gets destroyed and in this way, it resends the frame.</a:t>
            </a:r>
          </a:p>
          <a:p>
            <a:r>
              <a:rPr lang="en-US" sz="1800" dirty="0"/>
              <a:t>In the collision there is mainly the involvement of two or more stations, in case if all the stations try to resend the frames after the time-out period passes then all the frames will collide again.</a:t>
            </a:r>
          </a:p>
          <a:p>
            <a:r>
              <a:rPr lang="en-US" sz="1800" dirty="0"/>
              <a:t>Thus in Pure ALOHA, when the time-out period passes then each station waits for a random amount of time before resending its frame and this randomness helps to avoid more collisions and this time is referred to as back-off time </a:t>
            </a:r>
            <a:r>
              <a:rPr lang="en-US" sz="1800" i="1" dirty="0"/>
              <a:t>(TB)</a:t>
            </a:r>
            <a:r>
              <a:rPr lang="en-US" sz="1800" dirty="0"/>
              <a:t>.</a:t>
            </a:r>
          </a:p>
          <a:p>
            <a:r>
              <a:rPr lang="en-US" sz="1800" dirty="0"/>
              <a:t>Given below is the procedure used for Pure ALOHA protocol:</a:t>
            </a:r>
          </a:p>
        </p:txBody>
      </p:sp>
    </p:spTree>
    <p:extLst>
      <p:ext uri="{BB962C8B-B14F-4D97-AF65-F5344CB8AC3E}">
        <p14:creationId xmlns:p14="http://schemas.microsoft.com/office/powerpoint/2010/main" val="755157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https://s3.ap-south-1.amazonaws.com/s3.studytonight.com/tutorials/uploads/pictures/1611728172-71449.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5174" y="687591"/>
            <a:ext cx="6740165" cy="5187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0139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720" y="303402"/>
            <a:ext cx="9601196" cy="1303867"/>
          </a:xfrm>
        </p:spPr>
        <p:txBody>
          <a:bodyPr/>
          <a:lstStyle/>
          <a:p>
            <a:r>
              <a:rPr lang="en-US" dirty="0"/>
              <a:t>Slotted ALOHA</a:t>
            </a:r>
          </a:p>
        </p:txBody>
      </p:sp>
      <p:sp>
        <p:nvSpPr>
          <p:cNvPr id="3" name="Content Placeholder 2"/>
          <p:cNvSpPr>
            <a:spLocks noGrp="1"/>
          </p:cNvSpPr>
          <p:nvPr>
            <p:ph idx="1"/>
          </p:nvPr>
        </p:nvSpPr>
        <p:spPr>
          <a:xfrm>
            <a:off x="1295401" y="2556932"/>
            <a:ext cx="5237374" cy="3318936"/>
          </a:xfrm>
        </p:spPr>
        <p:txBody>
          <a:bodyPr>
            <a:normAutofit fontScale="70000" lnSpcReduction="20000"/>
          </a:bodyPr>
          <a:lstStyle/>
          <a:p>
            <a:r>
              <a:rPr lang="en-US" dirty="0"/>
              <a:t>As the name suggests, in the slotted ALOHA the time of the shared channel is simply divided into discrete intervals that are commonly known as Time Slots.</a:t>
            </a:r>
          </a:p>
          <a:p>
            <a:r>
              <a:rPr lang="en-US" dirty="0"/>
              <a:t>In Slotted ALOHA it is imposed on each station to send the data only at the beginning of the time slot.</a:t>
            </a:r>
          </a:p>
          <a:p>
            <a:r>
              <a:rPr lang="en-US" dirty="0"/>
              <a:t>As a station is allowed to send the data only at the beginning of the time slot, in case if any station misses this moment then it must have to wait until the beginning of the next time slot.</a:t>
            </a:r>
          </a:p>
          <a:p>
            <a:r>
              <a:rPr lang="en-US" dirty="0"/>
              <a:t>In case if two stations try to send at the beginning of the same time slot then there are chances for the occurrence of the collision</a:t>
            </a:r>
          </a:p>
        </p:txBody>
      </p:sp>
      <p:pic>
        <p:nvPicPr>
          <p:cNvPr id="3074" name="Picture 2" descr="https://s3.ap-south-1.amazonaws.com/s3.studytonight.com/tutorials/uploads/pictures/1611730669-7144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2775" y="2356339"/>
            <a:ext cx="4812351" cy="3200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4504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47563245"/>
              </p:ext>
            </p:extLst>
          </p:nvPr>
        </p:nvGraphicFramePr>
        <p:xfrm>
          <a:off x="2262432" y="755890"/>
          <a:ext cx="6862714" cy="5571784"/>
        </p:xfrm>
        <a:graphic>
          <a:graphicData uri="http://schemas.openxmlformats.org/drawingml/2006/table">
            <a:tbl>
              <a:tblPr/>
              <a:tblGrid>
                <a:gridCol w="3431357">
                  <a:extLst>
                    <a:ext uri="{9D8B030D-6E8A-4147-A177-3AD203B41FA5}">
                      <a16:colId xmlns:a16="http://schemas.microsoft.com/office/drawing/2014/main" val="1770777492"/>
                    </a:ext>
                  </a:extLst>
                </a:gridCol>
                <a:gridCol w="3431357">
                  <a:extLst>
                    <a:ext uri="{9D8B030D-6E8A-4147-A177-3AD203B41FA5}">
                      <a16:colId xmlns:a16="http://schemas.microsoft.com/office/drawing/2014/main" val="2634949622"/>
                    </a:ext>
                  </a:extLst>
                </a:gridCol>
              </a:tblGrid>
              <a:tr h="180162">
                <a:tc gridSpan="2">
                  <a:txBody>
                    <a:bodyPr/>
                    <a:lstStyle/>
                    <a:p>
                      <a:pPr algn="ctr"/>
                      <a:r>
                        <a:rPr lang="it-IT" sz="1600" dirty="0"/>
                        <a:t>Pure ALOHA vs Slotted ALOHA</a:t>
                      </a:r>
                    </a:p>
                  </a:txBody>
                  <a:tcPr marL="19844" marR="19844" marT="19844" marB="19844" anchor="ctr">
                    <a:solidFill>
                      <a:srgbClr val="FFFFFF"/>
                    </a:solidFill>
                  </a:tcPr>
                </a:tc>
                <a:tc hMerge="1">
                  <a:txBody>
                    <a:bodyPr/>
                    <a:lstStyle/>
                    <a:p>
                      <a:endParaRPr lang="en-US"/>
                    </a:p>
                  </a:txBody>
                  <a:tcPr/>
                </a:tc>
                <a:extLst>
                  <a:ext uri="{0D108BD9-81ED-4DB2-BD59-A6C34878D82A}">
                    <a16:rowId xmlns:a16="http://schemas.microsoft.com/office/drawing/2014/main" val="1675555528"/>
                  </a:ext>
                </a:extLst>
              </a:tr>
              <a:tr h="180162">
                <a:tc>
                  <a:txBody>
                    <a:bodyPr/>
                    <a:lstStyle/>
                    <a:p>
                      <a:pPr algn="l"/>
                      <a:r>
                        <a:rPr lang="en-US" sz="1600">
                          <a:effectLst/>
                        </a:rPr>
                        <a:t>Pure ALOHA</a:t>
                      </a:r>
                    </a:p>
                  </a:txBody>
                  <a:tcPr marL="19844" marR="19844" marT="19844" marB="19844" anchor="ctr">
                    <a:lnL w="6350" cap="flat" cmpd="sng" algn="ctr">
                      <a:solidFill>
                        <a:srgbClr val="2095AB"/>
                      </a:solidFill>
                      <a:prstDash val="solid"/>
                      <a:round/>
                      <a:headEnd type="none" w="med" len="med"/>
                      <a:tailEnd type="none" w="med" len="med"/>
                    </a:lnL>
                    <a:lnR w="6350" cap="flat" cmpd="sng" algn="ctr">
                      <a:solidFill>
                        <a:srgbClr val="8090AB"/>
                      </a:solidFill>
                      <a:prstDash val="solid"/>
                      <a:round/>
                      <a:headEnd type="none" w="med" len="med"/>
                      <a:tailEnd type="none" w="med" len="med"/>
                    </a:lnR>
                    <a:lnB w="6350" cap="flat" cmpd="sng" algn="ctr">
                      <a:solidFill>
                        <a:srgbClr val="0094AB"/>
                      </a:solidFill>
                      <a:prstDash val="solid"/>
                      <a:round/>
                      <a:headEnd type="none" w="med" len="med"/>
                      <a:tailEnd type="none" w="med" len="med"/>
                    </a:lnB>
                    <a:solidFill>
                      <a:srgbClr val="FFFFFF"/>
                    </a:solidFill>
                  </a:tcPr>
                </a:tc>
                <a:tc>
                  <a:txBody>
                    <a:bodyPr/>
                    <a:lstStyle/>
                    <a:p>
                      <a:pPr algn="l"/>
                      <a:r>
                        <a:rPr lang="en-US" sz="1600">
                          <a:effectLst/>
                        </a:rPr>
                        <a:t>Slotted ALOHA</a:t>
                      </a:r>
                    </a:p>
                  </a:txBody>
                  <a:tcPr marL="19844" marR="19844" marT="19844" marB="19844" anchor="ctr">
                    <a:lnL w="6350" cap="flat" cmpd="sng" algn="ctr">
                      <a:solidFill>
                        <a:srgbClr val="8090AB"/>
                      </a:solidFill>
                      <a:prstDash val="solid"/>
                      <a:round/>
                      <a:headEnd type="none" w="med" len="med"/>
                      <a:tailEnd type="none" w="med" len="med"/>
                    </a:lnL>
                    <a:lnR w="6350" cap="flat" cmpd="sng" algn="ctr">
                      <a:solidFill>
                        <a:srgbClr val="8090AB"/>
                      </a:solidFill>
                      <a:prstDash val="solid"/>
                      <a:round/>
                      <a:headEnd type="none" w="med" len="med"/>
                      <a:tailEnd type="none" w="med" len="med"/>
                    </a:lnR>
                    <a:lnT w="6350" cap="flat" cmpd="sng" algn="ctr">
                      <a:solidFill>
                        <a:srgbClr val="8090AB"/>
                      </a:solidFill>
                      <a:prstDash val="solid"/>
                      <a:round/>
                      <a:headEnd type="none" w="med" len="med"/>
                      <a:tailEnd type="none" w="med" len="med"/>
                    </a:lnT>
                    <a:lnB w="6350" cap="flat" cmpd="sng" algn="ctr">
                      <a:solidFill>
                        <a:srgbClr val="2091AB"/>
                      </a:solidFill>
                      <a:prstDash val="solid"/>
                      <a:round/>
                      <a:headEnd type="none" w="med" len="med"/>
                      <a:tailEnd type="none" w="med" len="med"/>
                    </a:lnB>
                    <a:solidFill>
                      <a:srgbClr val="FFFFFF"/>
                    </a:solidFill>
                  </a:tcPr>
                </a:tc>
                <a:extLst>
                  <a:ext uri="{0D108BD9-81ED-4DB2-BD59-A6C34878D82A}">
                    <a16:rowId xmlns:a16="http://schemas.microsoft.com/office/drawing/2014/main" val="1755346854"/>
                  </a:ext>
                </a:extLst>
              </a:tr>
              <a:tr h="808328">
                <a:tc>
                  <a:txBody>
                    <a:bodyPr/>
                    <a:lstStyle/>
                    <a:p>
                      <a:r>
                        <a:rPr lang="en-US" sz="1600">
                          <a:effectLst/>
                        </a:rPr>
                        <a:t>In the Pure ALOHA, the station can transmit the data frame whenever the station has data to send.</a:t>
                      </a:r>
                    </a:p>
                  </a:txBody>
                  <a:tcPr marL="19844" marR="19844" marT="19844" marB="19844" anchor="ctr">
                    <a:lnL w="6350" cap="flat" cmpd="sng" algn="ctr">
                      <a:solidFill>
                        <a:srgbClr val="0094AB"/>
                      </a:solidFill>
                      <a:prstDash val="solid"/>
                      <a:round/>
                      <a:headEnd type="none" w="med" len="med"/>
                      <a:tailEnd type="none" w="med" len="med"/>
                    </a:lnL>
                    <a:lnR w="6350" cap="flat" cmpd="sng" algn="ctr">
                      <a:solidFill>
                        <a:srgbClr val="2091AB"/>
                      </a:solidFill>
                      <a:prstDash val="solid"/>
                      <a:round/>
                      <a:headEnd type="none" w="med" len="med"/>
                      <a:tailEnd type="none" w="med" len="med"/>
                    </a:lnR>
                    <a:lnT w="6350" cap="flat" cmpd="sng" algn="ctr">
                      <a:solidFill>
                        <a:srgbClr val="0094AB"/>
                      </a:solidFill>
                      <a:prstDash val="solid"/>
                      <a:round/>
                      <a:headEnd type="none" w="med" len="med"/>
                      <a:tailEnd type="none" w="med" len="med"/>
                    </a:lnT>
                    <a:lnB w="6350" cap="flat" cmpd="sng" algn="ctr">
                      <a:solidFill>
                        <a:srgbClr val="A091AB"/>
                      </a:solidFill>
                      <a:prstDash val="solid"/>
                      <a:round/>
                      <a:headEnd type="none" w="med" len="med"/>
                      <a:tailEnd type="none" w="med" len="med"/>
                    </a:lnB>
                    <a:solidFill>
                      <a:srgbClr val="FFFFFF"/>
                    </a:solidFill>
                  </a:tcPr>
                </a:tc>
                <a:tc>
                  <a:txBody>
                    <a:bodyPr/>
                    <a:lstStyle/>
                    <a:p>
                      <a:r>
                        <a:rPr lang="en-US" sz="1600">
                          <a:effectLst/>
                        </a:rPr>
                        <a:t>In this, the station can transmit the data only at the beginning of the time slot.</a:t>
                      </a:r>
                    </a:p>
                  </a:txBody>
                  <a:tcPr marL="19844" marR="19844" marT="19844" marB="19844" anchor="ctr">
                    <a:lnL w="6350" cap="flat" cmpd="sng" algn="ctr">
                      <a:solidFill>
                        <a:srgbClr val="2091AB"/>
                      </a:solidFill>
                      <a:prstDash val="solid"/>
                      <a:round/>
                      <a:headEnd type="none" w="med" len="med"/>
                      <a:tailEnd type="none" w="med" len="med"/>
                    </a:lnL>
                    <a:lnR w="6350" cap="flat" cmpd="sng" algn="ctr">
                      <a:solidFill>
                        <a:srgbClr val="2091AB"/>
                      </a:solidFill>
                      <a:prstDash val="solid"/>
                      <a:round/>
                      <a:headEnd type="none" w="med" len="med"/>
                      <a:tailEnd type="none" w="med" len="med"/>
                    </a:lnR>
                    <a:lnT w="6350" cap="flat" cmpd="sng" algn="ctr">
                      <a:solidFill>
                        <a:srgbClr val="2091AB"/>
                      </a:solidFill>
                      <a:prstDash val="solid"/>
                      <a:round/>
                      <a:headEnd type="none" w="med" len="med"/>
                      <a:tailEnd type="none" w="med" len="med"/>
                    </a:lnT>
                    <a:lnB w="6350" cap="flat" cmpd="sng" algn="ctr">
                      <a:solidFill>
                        <a:srgbClr val="209DAB"/>
                      </a:solidFill>
                      <a:prstDash val="solid"/>
                      <a:round/>
                      <a:headEnd type="none" w="med" len="med"/>
                      <a:tailEnd type="none" w="med" len="med"/>
                    </a:lnB>
                    <a:solidFill>
                      <a:srgbClr val="FFFFFF"/>
                    </a:solidFill>
                  </a:tcPr>
                </a:tc>
                <a:extLst>
                  <a:ext uri="{0D108BD9-81ED-4DB2-BD59-A6C34878D82A}">
                    <a16:rowId xmlns:a16="http://schemas.microsoft.com/office/drawing/2014/main" val="4196113894"/>
                  </a:ext>
                </a:extLst>
              </a:tr>
              <a:tr h="557062">
                <a:tc>
                  <a:txBody>
                    <a:bodyPr/>
                    <a:lstStyle/>
                    <a:p>
                      <a:r>
                        <a:rPr lang="en-US" sz="1600">
                          <a:effectLst/>
                        </a:rPr>
                        <a:t>In the case of Pure ALOHA, the time is continuous</a:t>
                      </a:r>
                    </a:p>
                  </a:txBody>
                  <a:tcPr marL="19844" marR="19844" marT="19844" marB="19844" anchor="ctr">
                    <a:lnL w="6350" cap="flat" cmpd="sng" algn="ctr">
                      <a:solidFill>
                        <a:srgbClr val="A091AB"/>
                      </a:solidFill>
                      <a:prstDash val="solid"/>
                      <a:round/>
                      <a:headEnd type="none" w="med" len="med"/>
                      <a:tailEnd type="none" w="med" len="med"/>
                    </a:lnL>
                    <a:lnR w="6350" cap="flat" cmpd="sng" algn="ctr">
                      <a:solidFill>
                        <a:srgbClr val="209DAB"/>
                      </a:solidFill>
                      <a:prstDash val="solid"/>
                      <a:round/>
                      <a:headEnd type="none" w="med" len="med"/>
                      <a:tailEnd type="none" w="med" len="med"/>
                    </a:lnR>
                    <a:lnT w="6350" cap="flat" cmpd="sng" algn="ctr">
                      <a:solidFill>
                        <a:srgbClr val="A091AB"/>
                      </a:solidFill>
                      <a:prstDash val="solid"/>
                      <a:round/>
                      <a:headEnd type="none" w="med" len="med"/>
                      <a:tailEnd type="none" w="med" len="med"/>
                    </a:lnT>
                    <a:lnB w="6350" cap="flat" cmpd="sng" algn="ctr">
                      <a:solidFill>
                        <a:srgbClr val="8098AB"/>
                      </a:solidFill>
                      <a:prstDash val="solid"/>
                      <a:round/>
                      <a:headEnd type="none" w="med" len="med"/>
                      <a:tailEnd type="none" w="med" len="med"/>
                    </a:lnB>
                    <a:solidFill>
                      <a:srgbClr val="FFFFFF"/>
                    </a:solidFill>
                  </a:tcPr>
                </a:tc>
                <a:tc>
                  <a:txBody>
                    <a:bodyPr/>
                    <a:lstStyle/>
                    <a:p>
                      <a:r>
                        <a:rPr lang="en-US" sz="1600">
                          <a:effectLst/>
                        </a:rPr>
                        <a:t>In the case of Slotted ALOHA, the time is discrete and is in the form of time slots.</a:t>
                      </a:r>
                    </a:p>
                  </a:txBody>
                  <a:tcPr marL="19844" marR="19844" marT="19844" marB="19844" anchor="ctr">
                    <a:lnL w="6350" cap="flat" cmpd="sng" algn="ctr">
                      <a:solidFill>
                        <a:srgbClr val="209DAB"/>
                      </a:solidFill>
                      <a:prstDash val="solid"/>
                      <a:round/>
                      <a:headEnd type="none" w="med" len="med"/>
                      <a:tailEnd type="none" w="med" len="med"/>
                    </a:lnL>
                    <a:lnR w="6350" cap="flat" cmpd="sng" algn="ctr">
                      <a:solidFill>
                        <a:srgbClr val="209DAB"/>
                      </a:solidFill>
                      <a:prstDash val="solid"/>
                      <a:round/>
                      <a:headEnd type="none" w="med" len="med"/>
                      <a:tailEnd type="none" w="med" len="med"/>
                    </a:lnR>
                    <a:lnT w="6350" cap="flat" cmpd="sng" algn="ctr">
                      <a:solidFill>
                        <a:srgbClr val="209DAB"/>
                      </a:solidFill>
                      <a:prstDash val="solid"/>
                      <a:round/>
                      <a:headEnd type="none" w="med" len="med"/>
                      <a:tailEnd type="none" w="med" len="med"/>
                    </a:lnT>
                    <a:lnB w="6350" cap="flat" cmpd="sng" algn="ctr">
                      <a:solidFill>
                        <a:srgbClr val="6099AB"/>
                      </a:solidFill>
                      <a:prstDash val="solid"/>
                      <a:round/>
                      <a:headEnd type="none" w="med" len="med"/>
                      <a:tailEnd type="none" w="med" len="med"/>
                    </a:lnB>
                    <a:solidFill>
                      <a:srgbClr val="FFFFFF"/>
                    </a:solidFill>
                  </a:tcPr>
                </a:tc>
                <a:extLst>
                  <a:ext uri="{0D108BD9-81ED-4DB2-BD59-A6C34878D82A}">
                    <a16:rowId xmlns:a16="http://schemas.microsoft.com/office/drawing/2014/main" val="1487046202"/>
                  </a:ext>
                </a:extLst>
              </a:tr>
              <a:tr h="1813394">
                <a:tc>
                  <a:txBody>
                    <a:bodyPr/>
                    <a:lstStyle/>
                    <a:p>
                      <a:r>
                        <a:rPr lang="en-US" sz="1600" dirty="0">
                          <a:effectLst/>
                        </a:rPr>
                        <a:t>One of the main advantages of using Pure ALOHA is that the implementation of this method is simple.</a:t>
                      </a:r>
                    </a:p>
                  </a:txBody>
                  <a:tcPr marL="19844" marR="19844" marT="19844" marB="19844" anchor="ctr">
                    <a:lnL w="6350" cap="flat" cmpd="sng" algn="ctr">
                      <a:solidFill>
                        <a:srgbClr val="8098AB"/>
                      </a:solidFill>
                      <a:prstDash val="solid"/>
                      <a:round/>
                      <a:headEnd type="none" w="med" len="med"/>
                      <a:tailEnd type="none" w="med" len="med"/>
                    </a:lnL>
                    <a:lnR w="6350" cap="flat" cmpd="sng" algn="ctr">
                      <a:solidFill>
                        <a:srgbClr val="6099AB"/>
                      </a:solidFill>
                      <a:prstDash val="solid"/>
                      <a:round/>
                      <a:headEnd type="none" w="med" len="med"/>
                      <a:tailEnd type="none" w="med" len="med"/>
                    </a:lnR>
                    <a:lnT w="6350" cap="flat" cmpd="sng" algn="ctr">
                      <a:solidFill>
                        <a:srgbClr val="8098AB"/>
                      </a:solidFill>
                      <a:prstDash val="solid"/>
                      <a:round/>
                      <a:headEnd type="none" w="med" len="med"/>
                      <a:tailEnd type="none" w="med" len="med"/>
                    </a:lnT>
                    <a:lnB w="6350" cap="flat" cmpd="sng" algn="ctr">
                      <a:solidFill>
                        <a:srgbClr val="C09BAB"/>
                      </a:solidFill>
                      <a:prstDash val="solid"/>
                      <a:round/>
                      <a:headEnd type="none" w="med" len="med"/>
                      <a:tailEnd type="none" w="med" len="med"/>
                    </a:lnB>
                    <a:solidFill>
                      <a:srgbClr val="FFFFFF"/>
                    </a:solidFill>
                  </a:tcPr>
                </a:tc>
                <a:tc>
                  <a:txBody>
                    <a:bodyPr/>
                    <a:lstStyle/>
                    <a:p>
                      <a:r>
                        <a:rPr lang="en-US" sz="1600">
                          <a:effectLst/>
                        </a:rPr>
                        <a:t>One of the main advantages of using the slotted ALOHA is that there is a reduction in the number of collisions and there is an increase in efficiency as compared to Pure ALOHA. In simple terms, collisions are reduced to half while the efficiency increases to double.</a:t>
                      </a:r>
                    </a:p>
                  </a:txBody>
                  <a:tcPr marL="19844" marR="19844" marT="19844" marB="19844" anchor="ctr">
                    <a:lnL w="6350" cap="flat" cmpd="sng" algn="ctr">
                      <a:solidFill>
                        <a:srgbClr val="6099AB"/>
                      </a:solidFill>
                      <a:prstDash val="solid"/>
                      <a:round/>
                      <a:headEnd type="none" w="med" len="med"/>
                      <a:tailEnd type="none" w="med" len="med"/>
                    </a:lnL>
                    <a:lnR w="6350" cap="flat" cmpd="sng" algn="ctr">
                      <a:solidFill>
                        <a:srgbClr val="6099AB"/>
                      </a:solidFill>
                      <a:prstDash val="solid"/>
                      <a:round/>
                      <a:headEnd type="none" w="med" len="med"/>
                      <a:tailEnd type="none" w="med" len="med"/>
                    </a:lnR>
                    <a:lnT w="6350" cap="flat" cmpd="sng" algn="ctr">
                      <a:solidFill>
                        <a:srgbClr val="6099AB"/>
                      </a:solidFill>
                      <a:prstDash val="solid"/>
                      <a:round/>
                      <a:headEnd type="none" w="med" len="med"/>
                      <a:tailEnd type="none" w="med" len="med"/>
                    </a:lnT>
                    <a:lnB w="6350" cap="flat" cmpd="sng" algn="ctr">
                      <a:solidFill>
                        <a:srgbClr val="209CAB"/>
                      </a:solidFill>
                      <a:prstDash val="solid"/>
                      <a:round/>
                      <a:headEnd type="none" w="med" len="med"/>
                      <a:tailEnd type="none" w="med" len="med"/>
                    </a:lnB>
                    <a:solidFill>
                      <a:srgbClr val="FFFFFF"/>
                    </a:solidFill>
                  </a:tcPr>
                </a:tc>
                <a:extLst>
                  <a:ext uri="{0D108BD9-81ED-4DB2-BD59-A6C34878D82A}">
                    <a16:rowId xmlns:a16="http://schemas.microsoft.com/office/drawing/2014/main" val="3927857418"/>
                  </a:ext>
                </a:extLst>
              </a:tr>
              <a:tr h="431428">
                <a:tc>
                  <a:txBody>
                    <a:bodyPr/>
                    <a:lstStyle/>
                    <a:p>
                      <a:r>
                        <a:rPr lang="en-US" sz="1600">
                          <a:effectLst/>
                        </a:rPr>
                        <a:t>The efficiency offered by the Pure ALOHA is 18.4%.</a:t>
                      </a:r>
                    </a:p>
                  </a:txBody>
                  <a:tcPr marL="19844" marR="19844" marT="19844" marB="19844" anchor="ctr">
                    <a:lnL w="6350" cap="flat" cmpd="sng" algn="ctr">
                      <a:solidFill>
                        <a:srgbClr val="C09BAB"/>
                      </a:solidFill>
                      <a:prstDash val="solid"/>
                      <a:round/>
                      <a:headEnd type="none" w="med" len="med"/>
                      <a:tailEnd type="none" w="med" len="med"/>
                    </a:lnL>
                    <a:lnR w="6350" cap="flat" cmpd="sng" algn="ctr">
                      <a:solidFill>
                        <a:srgbClr val="209CAB"/>
                      </a:solidFill>
                      <a:prstDash val="solid"/>
                      <a:round/>
                      <a:headEnd type="none" w="med" len="med"/>
                      <a:tailEnd type="none" w="med" len="med"/>
                    </a:lnR>
                    <a:lnT w="6350" cap="flat" cmpd="sng" algn="ctr">
                      <a:solidFill>
                        <a:srgbClr val="C09BAB"/>
                      </a:solidFill>
                      <a:prstDash val="solid"/>
                      <a:round/>
                      <a:headEnd type="none" w="med" len="med"/>
                      <a:tailEnd type="none" w="med" len="med"/>
                    </a:lnT>
                    <a:lnB w="6350" cap="flat" cmpd="sng" algn="ctr">
                      <a:solidFill>
                        <a:srgbClr val="2099AB"/>
                      </a:solidFill>
                      <a:prstDash val="solid"/>
                      <a:round/>
                      <a:headEnd type="none" w="med" len="med"/>
                      <a:tailEnd type="none" w="med" len="med"/>
                    </a:lnB>
                    <a:solidFill>
                      <a:srgbClr val="FFFFFF"/>
                    </a:solidFill>
                  </a:tcPr>
                </a:tc>
                <a:tc>
                  <a:txBody>
                    <a:bodyPr/>
                    <a:lstStyle/>
                    <a:p>
                      <a:r>
                        <a:rPr lang="en-US" sz="1600">
                          <a:effectLst/>
                        </a:rPr>
                        <a:t>The Efficiency offered by the slotted ALOHA is 36.8%</a:t>
                      </a:r>
                    </a:p>
                  </a:txBody>
                  <a:tcPr marL="19844" marR="19844" marT="19844" marB="19844" anchor="ctr">
                    <a:lnL w="6350" cap="flat" cmpd="sng" algn="ctr">
                      <a:solidFill>
                        <a:srgbClr val="209CAB"/>
                      </a:solidFill>
                      <a:prstDash val="solid"/>
                      <a:round/>
                      <a:headEnd type="none" w="med" len="med"/>
                      <a:tailEnd type="none" w="med" len="med"/>
                    </a:lnL>
                    <a:lnR w="6350" cap="flat" cmpd="sng" algn="ctr">
                      <a:solidFill>
                        <a:srgbClr val="209CAB"/>
                      </a:solidFill>
                      <a:prstDash val="solid"/>
                      <a:round/>
                      <a:headEnd type="none" w="med" len="med"/>
                      <a:tailEnd type="none" w="med" len="med"/>
                    </a:lnR>
                    <a:lnT w="6350" cap="flat" cmpd="sng" algn="ctr">
                      <a:solidFill>
                        <a:srgbClr val="209CAB"/>
                      </a:solidFill>
                      <a:prstDash val="solid"/>
                      <a:round/>
                      <a:headEnd type="none" w="med" len="med"/>
                      <a:tailEnd type="none" w="med" len="med"/>
                    </a:lnT>
                    <a:lnB w="6350" cap="flat" cmpd="sng" algn="ctr">
                      <a:solidFill>
                        <a:srgbClr val="C09BAB"/>
                      </a:solidFill>
                      <a:prstDash val="solid"/>
                      <a:round/>
                      <a:headEnd type="none" w="med" len="med"/>
                      <a:tailEnd type="none" w="med" len="med"/>
                    </a:lnB>
                    <a:solidFill>
                      <a:srgbClr val="FFFFFF"/>
                    </a:solidFill>
                  </a:tcPr>
                </a:tc>
                <a:extLst>
                  <a:ext uri="{0D108BD9-81ED-4DB2-BD59-A6C34878D82A}">
                    <a16:rowId xmlns:a16="http://schemas.microsoft.com/office/drawing/2014/main" val="200960717"/>
                  </a:ext>
                </a:extLst>
              </a:tr>
              <a:tr h="682695">
                <a:tc>
                  <a:txBody>
                    <a:bodyPr/>
                    <a:lstStyle/>
                    <a:p>
                      <a:r>
                        <a:rPr lang="en-US" sz="1600">
                          <a:effectLst/>
                        </a:rPr>
                        <a:t>The probability of the successful transmission of the data packet is equals to G x e-2G</a:t>
                      </a:r>
                    </a:p>
                  </a:txBody>
                  <a:tcPr marL="19844" marR="19844" marT="19844" marB="19844" anchor="ctr">
                    <a:lnL w="6350" cap="flat" cmpd="sng" algn="ctr">
                      <a:solidFill>
                        <a:srgbClr val="2099AB"/>
                      </a:solidFill>
                      <a:prstDash val="solid"/>
                      <a:round/>
                      <a:headEnd type="none" w="med" len="med"/>
                      <a:tailEnd type="none" w="med" len="med"/>
                    </a:lnL>
                    <a:lnR w="6350" cap="flat" cmpd="sng" algn="ctr">
                      <a:solidFill>
                        <a:srgbClr val="C09BAB"/>
                      </a:solidFill>
                      <a:prstDash val="solid"/>
                      <a:round/>
                      <a:headEnd type="none" w="med" len="med"/>
                      <a:tailEnd type="none" w="med" len="med"/>
                    </a:lnR>
                    <a:lnT w="6350" cap="flat" cmpd="sng" algn="ctr">
                      <a:solidFill>
                        <a:srgbClr val="2099AB"/>
                      </a:solidFill>
                      <a:prstDash val="solid"/>
                      <a:round/>
                      <a:headEnd type="none" w="med" len="med"/>
                      <a:tailEnd type="none" w="med" len="med"/>
                    </a:lnT>
                    <a:lnB w="6350" cap="flat" cmpd="sng" algn="ctr">
                      <a:solidFill>
                        <a:srgbClr val="209CAB"/>
                      </a:solidFill>
                      <a:prstDash val="solid"/>
                      <a:round/>
                      <a:headEnd type="none" w="med" len="med"/>
                      <a:tailEnd type="none" w="med" len="med"/>
                    </a:lnB>
                    <a:solidFill>
                      <a:srgbClr val="FFFFFF"/>
                    </a:solidFill>
                  </a:tcPr>
                </a:tc>
                <a:tc>
                  <a:txBody>
                    <a:bodyPr/>
                    <a:lstStyle/>
                    <a:p>
                      <a:r>
                        <a:rPr lang="en-US" sz="1600">
                          <a:effectLst/>
                        </a:rPr>
                        <a:t>The probability of the successful transmission of the data packet is equals to G x e-G</a:t>
                      </a:r>
                    </a:p>
                  </a:txBody>
                  <a:tcPr marL="19844" marR="19844" marT="19844" marB="19844" anchor="ctr">
                    <a:lnL w="6350" cap="flat" cmpd="sng" algn="ctr">
                      <a:solidFill>
                        <a:srgbClr val="C09BAB"/>
                      </a:solidFill>
                      <a:prstDash val="solid"/>
                      <a:round/>
                      <a:headEnd type="none" w="med" len="med"/>
                      <a:tailEnd type="none" w="med" len="med"/>
                    </a:lnL>
                    <a:lnR w="6350" cap="flat" cmpd="sng" algn="ctr">
                      <a:solidFill>
                        <a:srgbClr val="C09BAB"/>
                      </a:solidFill>
                      <a:prstDash val="solid"/>
                      <a:round/>
                      <a:headEnd type="none" w="med" len="med"/>
                      <a:tailEnd type="none" w="med" len="med"/>
                    </a:lnR>
                    <a:lnT w="6350" cap="flat" cmpd="sng" algn="ctr">
                      <a:solidFill>
                        <a:srgbClr val="C09BAB"/>
                      </a:solidFill>
                      <a:prstDash val="solid"/>
                      <a:round/>
                      <a:headEnd type="none" w="med" len="med"/>
                      <a:tailEnd type="none" w="med" len="med"/>
                    </a:lnT>
                    <a:lnB w="6350" cap="flat" cmpd="sng" algn="ctr">
                      <a:solidFill>
                        <a:srgbClr val="209CAB"/>
                      </a:solidFill>
                      <a:prstDash val="solid"/>
                      <a:round/>
                      <a:headEnd type="none" w="med" len="med"/>
                      <a:tailEnd type="none" w="med" len="med"/>
                    </a:lnB>
                    <a:solidFill>
                      <a:srgbClr val="FFFFFF"/>
                    </a:solidFill>
                  </a:tcPr>
                </a:tc>
                <a:extLst>
                  <a:ext uri="{0D108BD9-81ED-4DB2-BD59-A6C34878D82A}">
                    <a16:rowId xmlns:a16="http://schemas.microsoft.com/office/drawing/2014/main" val="3001744274"/>
                  </a:ext>
                </a:extLst>
              </a:tr>
              <a:tr h="431428">
                <a:tc>
                  <a:txBody>
                    <a:bodyPr/>
                    <a:lstStyle/>
                    <a:p>
                      <a:r>
                        <a:rPr lang="en-US" sz="1600">
                          <a:effectLst/>
                        </a:rPr>
                        <a:t>The Vulnerable time offered by the Pure ALOHA is 2 x T fr</a:t>
                      </a:r>
                    </a:p>
                  </a:txBody>
                  <a:tcPr marL="19844" marR="19844" marT="19844" marB="19844" anchor="ctr">
                    <a:lnL w="6350" cap="flat" cmpd="sng" algn="ctr">
                      <a:solidFill>
                        <a:srgbClr val="209CAB"/>
                      </a:solidFill>
                      <a:prstDash val="solid"/>
                      <a:round/>
                      <a:headEnd type="none" w="med" len="med"/>
                      <a:tailEnd type="none" w="med" len="med"/>
                    </a:lnL>
                    <a:lnR w="6350" cap="flat" cmpd="sng" algn="ctr">
                      <a:solidFill>
                        <a:srgbClr val="209CAB"/>
                      </a:solidFill>
                      <a:prstDash val="solid"/>
                      <a:round/>
                      <a:headEnd type="none" w="med" len="med"/>
                      <a:tailEnd type="none" w="med" len="med"/>
                    </a:lnR>
                    <a:lnT w="6350" cap="flat" cmpd="sng" algn="ctr">
                      <a:solidFill>
                        <a:srgbClr val="209CAB"/>
                      </a:solidFill>
                      <a:prstDash val="solid"/>
                      <a:round/>
                      <a:headEnd type="none" w="med" len="med"/>
                      <a:tailEnd type="none" w="med" len="med"/>
                    </a:lnT>
                    <a:lnB w="6350" cap="flat" cmpd="sng" algn="ctr">
                      <a:solidFill>
                        <a:srgbClr val="209CAB"/>
                      </a:solidFill>
                      <a:prstDash val="solid"/>
                      <a:round/>
                      <a:headEnd type="none" w="med" len="med"/>
                      <a:tailEnd type="none" w="med" len="med"/>
                    </a:lnB>
                    <a:solidFill>
                      <a:srgbClr val="FFFFFF"/>
                    </a:solidFill>
                  </a:tcPr>
                </a:tc>
                <a:tc>
                  <a:txBody>
                    <a:bodyPr/>
                    <a:lstStyle/>
                    <a:p>
                      <a:r>
                        <a:rPr lang="en-US" sz="1600" dirty="0">
                          <a:effectLst/>
                        </a:rPr>
                        <a:t>The Vulnerable time offered by the slotted ALOHA is T </a:t>
                      </a:r>
                      <a:r>
                        <a:rPr lang="en-US" sz="1600" dirty="0" err="1">
                          <a:effectLst/>
                        </a:rPr>
                        <a:t>fr</a:t>
                      </a:r>
                      <a:endParaRPr lang="en-US" sz="1600" dirty="0">
                        <a:effectLst/>
                      </a:endParaRPr>
                    </a:p>
                  </a:txBody>
                  <a:tcPr marL="19844" marR="19844" marT="19844" marB="19844" anchor="ctr">
                    <a:lnL w="6350" cap="flat" cmpd="sng" algn="ctr">
                      <a:solidFill>
                        <a:srgbClr val="209CAB"/>
                      </a:solidFill>
                      <a:prstDash val="solid"/>
                      <a:round/>
                      <a:headEnd type="none" w="med" len="med"/>
                      <a:tailEnd type="none" w="med" len="med"/>
                    </a:lnL>
                    <a:lnR w="6350" cap="flat" cmpd="sng" algn="ctr">
                      <a:solidFill>
                        <a:srgbClr val="209CAB"/>
                      </a:solidFill>
                      <a:prstDash val="solid"/>
                      <a:round/>
                      <a:headEnd type="none" w="med" len="med"/>
                      <a:tailEnd type="none" w="med" len="med"/>
                    </a:lnR>
                    <a:lnT w="6350" cap="flat" cmpd="sng" algn="ctr">
                      <a:solidFill>
                        <a:srgbClr val="209CAB"/>
                      </a:solidFill>
                      <a:prstDash val="solid"/>
                      <a:round/>
                      <a:headEnd type="none" w="med" len="med"/>
                      <a:tailEnd type="none" w="med" len="med"/>
                    </a:lnT>
                    <a:lnB w="6350" cap="flat" cmpd="sng" algn="ctr">
                      <a:solidFill>
                        <a:srgbClr val="209CAB"/>
                      </a:solidFill>
                      <a:prstDash val="solid"/>
                      <a:round/>
                      <a:headEnd type="none" w="med" len="med"/>
                      <a:tailEnd type="none" w="med" len="med"/>
                    </a:lnB>
                    <a:solidFill>
                      <a:srgbClr val="FFFFFF"/>
                    </a:solidFill>
                  </a:tcPr>
                </a:tc>
                <a:extLst>
                  <a:ext uri="{0D108BD9-81ED-4DB2-BD59-A6C34878D82A}">
                    <a16:rowId xmlns:a16="http://schemas.microsoft.com/office/drawing/2014/main" val="874576879"/>
                  </a:ext>
                </a:extLst>
              </a:tr>
            </a:tbl>
          </a:graphicData>
        </a:graphic>
      </p:graphicFrame>
    </p:spTree>
    <p:extLst>
      <p:ext uri="{BB962C8B-B14F-4D97-AF65-F5344CB8AC3E}">
        <p14:creationId xmlns:p14="http://schemas.microsoft.com/office/powerpoint/2010/main" val="4069756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ln>
                  <a:noFill/>
                </a:ln>
                <a:solidFill>
                  <a:srgbClr val="191919"/>
                </a:solidFill>
                <a:latin typeface="Monaco"/>
              </a:rPr>
              <a:t>Carrier Sense Multiple Access (CSMA)</a:t>
            </a:r>
            <a:r>
              <a:rPr lang="en-US" altLang="en-US" sz="4800" dirty="0">
                <a:ln>
                  <a:noFill/>
                </a:ln>
                <a:solidFill>
                  <a:srgbClr val="191919"/>
                </a:solidFill>
                <a:latin typeface="Roboto Slab"/>
              </a:rPr>
              <a:t>.</a:t>
            </a:r>
            <a:endParaRPr lang="en-US" dirty="0"/>
          </a:p>
        </p:txBody>
      </p:sp>
      <p:sp>
        <p:nvSpPr>
          <p:cNvPr id="4" name="Rectangle 1"/>
          <p:cNvSpPr>
            <a:spLocks noGrp="1" noChangeArrowheads="1"/>
          </p:cNvSpPr>
          <p:nvPr>
            <p:ph idx="1"/>
          </p:nvPr>
        </p:nvSpPr>
        <p:spPr bwMode="auto">
          <a:xfrm>
            <a:off x="861768" y="2538480"/>
            <a:ext cx="9865935" cy="33181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0" tIns="0" rIns="0" bIns="23805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191919"/>
                </a:solidFill>
                <a:effectLst/>
                <a:latin typeface="Roboto Slab"/>
              </a:rPr>
              <a:t>CSMA</a:t>
            </a:r>
            <a:r>
              <a:rPr kumimoji="0" lang="en-US" altLang="en-US" sz="1600" b="0" i="0" u="none" strike="noStrike" cap="none" normalizeH="0" baseline="0" dirty="0" smtClean="0">
                <a:ln>
                  <a:noFill/>
                </a:ln>
                <a:solidFill>
                  <a:srgbClr val="191919"/>
                </a:solidFill>
                <a:effectLst/>
                <a:latin typeface="Roboto Slab"/>
              </a:rPr>
              <a:t> stands for </a:t>
            </a:r>
            <a:r>
              <a:rPr kumimoji="0" lang="en-US" altLang="en-US" sz="1400" b="0" i="0" u="none" strike="noStrike" cap="none" normalizeH="0" baseline="0" dirty="0" smtClean="0">
                <a:ln>
                  <a:noFill/>
                </a:ln>
                <a:solidFill>
                  <a:srgbClr val="191919"/>
                </a:solidFill>
                <a:effectLst/>
                <a:latin typeface="Monaco"/>
              </a:rPr>
              <a:t>Carrier Sense Multiple Access (CSMA)</a:t>
            </a:r>
            <a:r>
              <a:rPr kumimoji="0" lang="en-US" altLang="en-US" sz="1600" b="0" i="0" u="none" strike="noStrike" cap="none" normalizeH="0" baseline="0" dirty="0" smtClean="0">
                <a:ln>
                  <a:noFill/>
                </a:ln>
                <a:solidFill>
                  <a:srgbClr val="191919"/>
                </a:solidFill>
                <a:effectLst/>
                <a:latin typeface="Roboto Slab"/>
              </a:rPr>
              <a:t>. CSMA is one of the network protocols which works on the principle of ‘carrier sense’. CSMA is a protocol developed to increase the performance of the network and reduce the chance of collision in the network.</a:t>
            </a:r>
            <a:endParaRPr kumimoji="0" lang="en-US" altLang="en-US" sz="1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If any device wants to send data then the device first senses or listens to the network medium to check whether the shared network is free or not. If the channel is found idle then the device will transmit its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This sense reduces the chance of collision in the network but this method is not able to eliminate the collision.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rgbClr val="191919"/>
                </a:solidFill>
                <a:effectLst/>
                <a:latin typeface="Monaco"/>
              </a:rPr>
              <a:t>Carrier Sense Multiple Access (CSMA)</a:t>
            </a:r>
            <a:r>
              <a:rPr kumimoji="0" lang="en-US" altLang="en-US" sz="1600" b="0" i="0" u="none" strike="noStrike" cap="none" normalizeH="0" baseline="0" dirty="0" smtClean="0">
                <a:ln>
                  <a:noFill/>
                </a:ln>
                <a:solidFill>
                  <a:srgbClr val="191919"/>
                </a:solidFill>
                <a:effectLst/>
                <a:latin typeface="Roboto Slab"/>
              </a:rPr>
              <a:t> is a protocol that senses or listens to the medium before any transmission of data in the medium.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CSMA is used in Ethernet networks where two or more network devices are connected.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36424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165929" y="2557463"/>
            <a:ext cx="5860142"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579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Vulnerable Time in CSMA</a:t>
            </a:r>
          </a:p>
        </p:txBody>
      </p:sp>
      <p:sp>
        <p:nvSpPr>
          <p:cNvPr id="3" name="Content Placeholder 2"/>
          <p:cNvSpPr>
            <a:spLocks noGrp="1"/>
          </p:cNvSpPr>
          <p:nvPr>
            <p:ph idx="1"/>
          </p:nvPr>
        </p:nvSpPr>
        <p:spPr>
          <a:xfrm>
            <a:off x="1295401" y="2556932"/>
            <a:ext cx="4502084" cy="3318936"/>
          </a:xfrm>
        </p:spPr>
        <p:txBody>
          <a:bodyPr>
            <a:noAutofit/>
          </a:bodyPr>
          <a:lstStyle/>
          <a:p>
            <a:r>
              <a:rPr lang="en-US" sz="1600" dirty="0" smtClean="0"/>
              <a:t>In </a:t>
            </a:r>
            <a:r>
              <a:rPr lang="en-US" sz="1600" dirty="0"/>
              <a:t>the CSMA vulnerable time is considered as the propagation time and </a:t>
            </a:r>
            <a:r>
              <a:rPr lang="en-US" sz="1600" b="1" dirty="0" err="1"/>
              <a:t>Tp</a:t>
            </a:r>
            <a:r>
              <a:rPr lang="en-US" sz="1600" dirty="0"/>
              <a:t> is used to denote it. Generally, it is the time taken by the data frame to reach from one end of the channel to another end.</a:t>
            </a:r>
            <a:br>
              <a:rPr lang="en-US" sz="1600" dirty="0"/>
            </a:br>
            <a:r>
              <a:rPr lang="en-US" sz="1600" dirty="0"/>
              <a:t>When two stations send the data simultaneously then it will result in a collision in the network. In a situation, if the first bit of the frame sent by the station reaches the end of the shared medium then every station connected in a network hears that bit and every device in the network refrains from sending it.</a:t>
            </a:r>
          </a:p>
          <a:p>
            <a:r>
              <a:rPr lang="en-US" sz="1600" dirty="0"/>
              <a:t>Refer to the below image for the vulnerable time of </a:t>
            </a:r>
            <a:r>
              <a:rPr lang="en-US" sz="1600" dirty="0" smtClean="0"/>
              <a:t>CSMA</a:t>
            </a:r>
            <a:r>
              <a:rPr lang="en-US" sz="1600" dirty="0"/>
              <a:t/>
            </a:r>
            <a:br>
              <a:rPr lang="en-US" sz="1600" dirty="0"/>
            </a:br>
            <a:endParaRPr lang="en-US"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0487" y="2331390"/>
            <a:ext cx="4859365" cy="3544478"/>
          </a:xfrm>
          <a:prstGeom prst="rect">
            <a:avLst/>
          </a:prstGeom>
        </p:spPr>
      </p:pic>
    </p:spTree>
    <p:extLst>
      <p:ext uri="{BB962C8B-B14F-4D97-AF65-F5344CB8AC3E}">
        <p14:creationId xmlns:p14="http://schemas.microsoft.com/office/powerpoint/2010/main" val="1802028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CSMA Access Modes</a:t>
            </a:r>
          </a:p>
        </p:txBody>
      </p:sp>
      <p:sp>
        <p:nvSpPr>
          <p:cNvPr id="3" name="Content Placeholder 2"/>
          <p:cNvSpPr>
            <a:spLocks noGrp="1"/>
          </p:cNvSpPr>
          <p:nvPr>
            <p:ph idx="1"/>
          </p:nvPr>
        </p:nvSpPr>
        <p:spPr>
          <a:xfrm>
            <a:off x="1295401" y="2556932"/>
            <a:ext cx="6453432" cy="3318936"/>
          </a:xfrm>
        </p:spPr>
        <p:txBody>
          <a:bodyPr>
            <a:normAutofit fontScale="70000" lnSpcReduction="20000"/>
          </a:bodyPr>
          <a:lstStyle/>
          <a:p>
            <a:r>
              <a:rPr lang="en-US" b="1" dirty="0"/>
              <a:t>1-Persistent</a:t>
            </a:r>
          </a:p>
          <a:p>
            <a:r>
              <a:rPr lang="en-US" dirty="0"/>
              <a:t>This method is considered the straightforward and simplest method of CSMA. In this method, if the station finds the medium idle then the station will immediately send the data frame with 1- probability.</a:t>
            </a:r>
          </a:p>
          <a:p>
            <a:r>
              <a:rPr lang="en-US" dirty="0"/>
              <a:t>In this, if the station wants to transmit the data. Then the station first senses the medium.</a:t>
            </a:r>
          </a:p>
          <a:p>
            <a:r>
              <a:rPr lang="en-US" dirty="0"/>
              <a:t>If the medium is busy then the station waits until the channel becomes idle. And the station continuously senses the channel until the medium becomes idle.</a:t>
            </a:r>
          </a:p>
          <a:p>
            <a:r>
              <a:rPr lang="en-US" dirty="0"/>
              <a:t>If the station detects the channel as idle then the station will immediately send the data frame with 1 probability that’s why the name of this method is 1-persistent</a:t>
            </a:r>
            <a:r>
              <a:rPr lang="en-US" dirty="0" smtClean="0"/>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5414" y="2556932"/>
            <a:ext cx="4116273" cy="2556932"/>
          </a:xfrm>
          <a:prstGeom prst="rect">
            <a:avLst/>
          </a:prstGeom>
        </p:spPr>
      </p:pic>
    </p:spTree>
    <p:extLst>
      <p:ext uri="{BB962C8B-B14F-4D97-AF65-F5344CB8AC3E}">
        <p14:creationId xmlns:p14="http://schemas.microsoft.com/office/powerpoint/2010/main" val="42134965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0559" y="2368395"/>
            <a:ext cx="4549218" cy="3318936"/>
          </a:xfrm>
        </p:spPr>
        <p:txBody>
          <a:bodyPr>
            <a:noAutofit/>
          </a:bodyPr>
          <a:lstStyle/>
          <a:p>
            <a:r>
              <a:rPr lang="en-US" sz="1800" dirty="0"/>
              <a:t>In this method, there is a high possibility of collision as two or more station senses the channel idle at the same time and transmits data simultaneously which may lead to a collision.</a:t>
            </a:r>
            <a:br>
              <a:rPr lang="en-US" sz="1800" dirty="0"/>
            </a:br>
            <a:r>
              <a:rPr lang="en-US" sz="1800" dirty="0"/>
              <a:t>This is one of the most straightforward methods. In this method, once the station finds that the medium is idle then it immediately sends the frame. By using this method there are higher chances for collision because it is possible that two or more stations find the shared medium idle at the same time and then they send their frames immediately.</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50851" y="2416230"/>
            <a:ext cx="5768540" cy="3271101"/>
          </a:xfrm>
          <a:prstGeom prst="rect">
            <a:avLst/>
          </a:prstGeom>
        </p:spPr>
      </p:pic>
    </p:spTree>
    <p:extLst>
      <p:ext uri="{BB962C8B-B14F-4D97-AF65-F5344CB8AC3E}">
        <p14:creationId xmlns:p14="http://schemas.microsoft.com/office/powerpoint/2010/main" val="11205937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854" y="520218"/>
            <a:ext cx="9601196" cy="1303867"/>
          </a:xfrm>
        </p:spPr>
        <p:txBody>
          <a:bodyPr/>
          <a:lstStyle/>
          <a:p>
            <a:pPr lvl="0" defTabSz="914400" eaLnBrk="0" fontAlgn="base" hangingPunct="0">
              <a:spcAft>
                <a:spcPct val="0"/>
              </a:spcAft>
            </a:pPr>
            <a:r>
              <a:rPr lang="en-US" altLang="en-US" b="1" dirty="0">
                <a:ln>
                  <a:noFill/>
                </a:ln>
                <a:solidFill>
                  <a:srgbClr val="191919"/>
                </a:solidFill>
                <a:latin typeface="Barlow Semi Condensed"/>
              </a:rPr>
              <a:t>Non-Persistent</a:t>
            </a:r>
          </a:p>
        </p:txBody>
      </p:sp>
      <p:sp>
        <p:nvSpPr>
          <p:cNvPr id="4" name="Rectangle 1"/>
          <p:cNvSpPr>
            <a:spLocks noGrp="1" noChangeArrowheads="1"/>
          </p:cNvSpPr>
          <p:nvPr>
            <p:ph idx="1"/>
          </p:nvPr>
        </p:nvSpPr>
        <p:spPr bwMode="auto">
          <a:xfrm>
            <a:off x="1295402" y="1941777"/>
            <a:ext cx="5143105" cy="45492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0" tIns="0" rIns="0" bIns="2380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191919"/>
                </a:solidFill>
                <a:effectLst/>
                <a:latin typeface="Roboto Slab"/>
              </a:rPr>
              <a:t>In this method of </a:t>
            </a:r>
            <a:r>
              <a:rPr kumimoji="0" lang="en-US" altLang="en-US" sz="1400" b="0" i="0" u="none" strike="noStrike" cap="none" normalizeH="0" baseline="0" dirty="0" smtClean="0">
                <a:ln>
                  <a:noFill/>
                </a:ln>
                <a:solidFill>
                  <a:srgbClr val="191919"/>
                </a:solidFill>
                <a:effectLst/>
                <a:latin typeface="Monaco"/>
              </a:rPr>
              <a:t>CSMA</a:t>
            </a:r>
            <a:r>
              <a:rPr kumimoji="0" lang="en-US" altLang="en-US" sz="1600" b="0" i="0" u="none" strike="noStrike" cap="none" normalizeH="0" baseline="0" dirty="0" smtClean="0">
                <a:ln>
                  <a:noFill/>
                </a:ln>
                <a:solidFill>
                  <a:srgbClr val="191919"/>
                </a:solidFill>
                <a:effectLst/>
                <a:latin typeface="Roboto Slab"/>
              </a:rPr>
              <a:t>, if the station finds the channel busy then it will wait for a random amount of time before sensing the channel again.</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If the station wants to transmit the data then first of all it will sense the medium.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If the medium is idle then the station will immediately send the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Otherwise, if the medium is busy then the station waits for a random amount of time and then again senses the channel after waiting for a random amount of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191919"/>
                </a:solidFill>
                <a:effectLst/>
                <a:latin typeface="Roboto Slab"/>
              </a:rPr>
              <a:t>In P-persistent there is less chance of collision in comparison to the 1-persistent method as this station will not continuously sense the channel but since the channel after waiting for a random amount of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32932" y="1824086"/>
            <a:ext cx="5488210" cy="3417218"/>
          </a:xfrm>
          <a:prstGeom prst="rect">
            <a:avLst/>
          </a:prstGeom>
        </p:spPr>
      </p:pic>
    </p:spTree>
    <p:extLst>
      <p:ext uri="{BB962C8B-B14F-4D97-AF65-F5344CB8AC3E}">
        <p14:creationId xmlns:p14="http://schemas.microsoft.com/office/powerpoint/2010/main" val="8603380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2556932"/>
            <a:ext cx="2786405" cy="3318936"/>
          </a:xfrm>
        </p:spPr>
        <p:txBody>
          <a:bodyPr/>
          <a:lstStyle/>
          <a:p>
            <a:r>
              <a:rPr lang="en-US" dirty="0"/>
              <a:t>So the random amount of time is unlikely to be the same for two stations that’s why this method reduces the chance of collision.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0719" y="2383236"/>
            <a:ext cx="5705438" cy="3525625"/>
          </a:xfrm>
          <a:prstGeom prst="rect">
            <a:avLst/>
          </a:prstGeom>
        </p:spPr>
      </p:pic>
    </p:spTree>
    <p:extLst>
      <p:ext uri="{BB962C8B-B14F-4D97-AF65-F5344CB8AC3E}">
        <p14:creationId xmlns:p14="http://schemas.microsoft.com/office/powerpoint/2010/main" val="14453122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480686"/>
            <a:ext cx="9601196" cy="1303867"/>
          </a:xfrm>
        </p:spPr>
        <p:txBody>
          <a:bodyPr/>
          <a:lstStyle/>
          <a:p>
            <a:pPr lvl="0" defTabSz="914400" eaLnBrk="0" fontAlgn="base" hangingPunct="0">
              <a:spcAft>
                <a:spcPct val="0"/>
              </a:spcAft>
            </a:pPr>
            <a:r>
              <a:rPr lang="en-US" altLang="en-US" b="1" dirty="0">
                <a:ln>
                  <a:noFill/>
                </a:ln>
                <a:solidFill>
                  <a:srgbClr val="191919"/>
                </a:solidFill>
                <a:latin typeface="Barlow Semi Condensed"/>
              </a:rPr>
              <a:t>P-Persistent</a:t>
            </a:r>
          </a:p>
        </p:txBody>
      </p:sp>
      <p:sp>
        <p:nvSpPr>
          <p:cNvPr id="4" name="Rectangle 1"/>
          <p:cNvSpPr>
            <a:spLocks noGrp="1" noChangeArrowheads="1"/>
          </p:cNvSpPr>
          <p:nvPr>
            <p:ph idx="1"/>
          </p:nvPr>
        </p:nvSpPr>
        <p:spPr bwMode="auto">
          <a:xfrm>
            <a:off x="1295401" y="2188000"/>
            <a:ext cx="9206059" cy="405680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0" tIns="0" rIns="0" bIns="2380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191919"/>
                </a:solidFill>
                <a:effectLst/>
                <a:latin typeface="Roboto Slab"/>
              </a:rPr>
              <a:t>The </a:t>
            </a:r>
            <a:r>
              <a:rPr kumimoji="0" lang="en-US" altLang="en-US" sz="1400" b="0" i="0" u="none" strike="noStrike" cap="none" normalizeH="0" baseline="0" dirty="0" smtClean="0">
                <a:ln>
                  <a:noFill/>
                </a:ln>
                <a:solidFill>
                  <a:srgbClr val="191919"/>
                </a:solidFill>
                <a:effectLst/>
                <a:latin typeface="Monaco"/>
              </a:rPr>
              <a:t>p-persistent method</a:t>
            </a:r>
            <a:r>
              <a:rPr kumimoji="0" lang="en-US" altLang="en-US" sz="1600" b="0" i="0" u="none" strike="noStrike" cap="none" normalizeH="0" baseline="0" dirty="0" smtClean="0">
                <a:ln>
                  <a:noFill/>
                </a:ln>
                <a:solidFill>
                  <a:srgbClr val="191919"/>
                </a:solidFill>
                <a:effectLst/>
                <a:latin typeface="Roboto Slab"/>
              </a:rPr>
              <a:t> of CSMA is used when the channel is divided into multiple time slots and the duration of time slots is greater than or equal to the maximum propagation time. This method is designed as a combination of the advantages of 1-Persistent and Non-Persistent CSMA.</a:t>
            </a:r>
            <a:br>
              <a:rPr kumimoji="0" lang="en-US" altLang="en-US" sz="1600" b="0" i="0" u="none" strike="noStrike" cap="none" normalizeH="0" baseline="0" dirty="0" smtClean="0">
                <a:ln>
                  <a:noFill/>
                </a:ln>
                <a:solidFill>
                  <a:srgbClr val="191919"/>
                </a:solidFill>
                <a:effectLst/>
                <a:latin typeface="Roboto Slab"/>
              </a:rPr>
            </a:br>
            <a:r>
              <a:rPr kumimoji="0" lang="en-US" altLang="en-US" sz="1600" b="0" i="0" u="none" strike="noStrike" cap="none" normalizeH="0" baseline="0" dirty="0" smtClean="0">
                <a:ln>
                  <a:noFill/>
                </a:ln>
                <a:solidFill>
                  <a:srgbClr val="191919"/>
                </a:solidFill>
                <a:effectLst/>
                <a:latin typeface="Roboto Slab"/>
              </a:rPr>
              <a:t>The </a:t>
            </a:r>
            <a:r>
              <a:rPr kumimoji="0" lang="en-US" altLang="en-US" sz="1400" b="0" i="0" u="none" strike="noStrike" cap="none" normalizeH="0" baseline="0" dirty="0" smtClean="0">
                <a:ln>
                  <a:noFill/>
                </a:ln>
                <a:solidFill>
                  <a:srgbClr val="191919"/>
                </a:solidFill>
                <a:effectLst/>
                <a:latin typeface="Monaco"/>
              </a:rPr>
              <a:t>p-persistent method</a:t>
            </a:r>
            <a:r>
              <a:rPr kumimoji="0" lang="en-US" altLang="en-US" sz="1600" b="0" i="0" u="none" strike="noStrike" cap="none" normalizeH="0" baseline="0" dirty="0" smtClean="0">
                <a:ln>
                  <a:noFill/>
                </a:ln>
                <a:solidFill>
                  <a:srgbClr val="191919"/>
                </a:solidFill>
                <a:effectLst/>
                <a:latin typeface="Roboto Slab"/>
              </a:rPr>
              <a:t> of CSMA reduces the chance of collision in the network and there is an increment in the efficiency of the network.</a:t>
            </a:r>
            <a:br>
              <a:rPr kumimoji="0" lang="en-US" altLang="en-US" sz="1600" b="0" i="0" u="none" strike="noStrike" cap="none" normalizeH="0" baseline="0" dirty="0" smtClean="0">
                <a:ln>
                  <a:noFill/>
                </a:ln>
                <a:solidFill>
                  <a:srgbClr val="191919"/>
                </a:solidFill>
                <a:effectLst/>
                <a:latin typeface="Roboto Slab"/>
              </a:rPr>
            </a:br>
            <a:r>
              <a:rPr kumimoji="0" lang="en-US" altLang="en-US" sz="1600" b="0" i="0" u="none" strike="noStrike" cap="none" normalizeH="0" baseline="0" dirty="0" smtClean="0">
                <a:ln>
                  <a:noFill/>
                </a:ln>
                <a:solidFill>
                  <a:srgbClr val="191919"/>
                </a:solidFill>
                <a:effectLst/>
                <a:latin typeface="Roboto Slab"/>
              </a:rPr>
              <a:t>When any station wants to transmit the data firstly it will sense the channel If the channel is busy then the station continuously senses the channel until the channel becomes idle.</a:t>
            </a:r>
            <a:br>
              <a:rPr kumimoji="0" lang="en-US" altLang="en-US" sz="1600" b="0" i="0" u="none" strike="noStrike" cap="none" normalizeH="0" baseline="0" dirty="0" smtClean="0">
                <a:ln>
                  <a:noFill/>
                </a:ln>
                <a:solidFill>
                  <a:srgbClr val="191919"/>
                </a:solidFill>
                <a:effectLst/>
                <a:latin typeface="Roboto Slab"/>
              </a:rPr>
            </a:br>
            <a:r>
              <a:rPr kumimoji="0" lang="en-US" altLang="en-US" sz="1600" b="0" i="0" u="none" strike="noStrike" cap="none" normalizeH="0" baseline="0" dirty="0" smtClean="0">
                <a:ln>
                  <a:noFill/>
                </a:ln>
                <a:solidFill>
                  <a:srgbClr val="191919"/>
                </a:solidFill>
                <a:effectLst/>
                <a:latin typeface="Roboto Slab"/>
              </a:rPr>
              <a:t>If the channel is idle then the station does the following steps.</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smtClean="0">
                <a:ln>
                  <a:noFill/>
                </a:ln>
                <a:solidFill>
                  <a:srgbClr val="191919"/>
                </a:solidFill>
                <a:effectLst/>
                <a:latin typeface="Roboto Slab"/>
              </a:rPr>
              <a:t>The station transmits its data frame in the network by p probability.</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smtClean="0">
                <a:ln>
                  <a:noFill/>
                </a:ln>
                <a:solidFill>
                  <a:srgbClr val="191919"/>
                </a:solidFill>
                <a:effectLst/>
                <a:latin typeface="Roboto Slab"/>
              </a:rPr>
              <a:t>The station waits for the start of the next time slot with probability q=1-p and after waiting again senses the channel.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smtClean="0">
                <a:ln>
                  <a:noFill/>
                </a:ln>
                <a:solidFill>
                  <a:srgbClr val="191919"/>
                </a:solidFill>
                <a:effectLst/>
                <a:latin typeface="Roboto Slab"/>
              </a:rPr>
              <a:t>If the channel is again idle, then it again performs step 1.</a:t>
            </a:r>
            <a:br>
              <a:rPr kumimoji="0" lang="en-US" altLang="en-US" sz="1600" b="0" i="0" u="none" strike="noStrike" cap="none" normalizeH="0" baseline="0" dirty="0" smtClean="0">
                <a:ln>
                  <a:noFill/>
                </a:ln>
                <a:solidFill>
                  <a:srgbClr val="191919"/>
                </a:solidFill>
                <a:effectLst/>
                <a:latin typeface="Roboto Slab"/>
              </a:rPr>
            </a:br>
            <a:r>
              <a:rPr kumimoji="0" lang="en-US" altLang="en-US" sz="1600" b="0" i="0" u="none" strike="noStrike" cap="none" normalizeH="0" baseline="0" dirty="0" smtClean="0">
                <a:ln>
                  <a:noFill/>
                </a:ln>
                <a:solidFill>
                  <a:srgbClr val="191919"/>
                </a:solidFill>
                <a:effectLst/>
                <a:latin typeface="Roboto Slab"/>
              </a:rPr>
              <a:t>If the channel is busy, then it thinks that there is a collision in the network and now this station will follow the back-off procedure.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30853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41694" y="685763"/>
            <a:ext cx="6232624" cy="5189576"/>
          </a:xfrm>
        </p:spPr>
      </p:pic>
    </p:spTree>
    <p:extLst>
      <p:ext uri="{BB962C8B-B14F-4D97-AF65-F5344CB8AC3E}">
        <p14:creationId xmlns:p14="http://schemas.microsoft.com/office/powerpoint/2010/main" val="41998456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O-Persistent</a:t>
            </a:r>
          </a:p>
        </p:txBody>
      </p:sp>
      <p:sp>
        <p:nvSpPr>
          <p:cNvPr id="3" name="Content Placeholder 2"/>
          <p:cNvSpPr>
            <a:spLocks noGrp="1"/>
          </p:cNvSpPr>
          <p:nvPr>
            <p:ph idx="1"/>
          </p:nvPr>
        </p:nvSpPr>
        <p:spPr/>
        <p:txBody>
          <a:bodyPr/>
          <a:lstStyle/>
          <a:p>
            <a:r>
              <a:rPr lang="en-US" dirty="0" smtClean="0"/>
              <a:t>In </a:t>
            </a:r>
            <a:r>
              <a:rPr lang="en-US" dirty="0"/>
              <a:t>this method of CSMA supervisory node assigns a transmission order to each node in the network. When the channel is idle instead of immediately sending the data channel will wait for its transmission order assigned to them. </a:t>
            </a:r>
            <a:endParaRPr lang="en-US" dirty="0" smtClean="0"/>
          </a:p>
          <a:p>
            <a:r>
              <a:rPr lang="en-US" dirty="0" smtClean="0"/>
              <a:t>This </a:t>
            </a:r>
            <a:r>
              <a:rPr lang="en-US" dirty="0"/>
              <a:t>mode of CSMA defines the superiority of the station before data transmission in the medium. In this mode, if the channel is inactive then all stations will wait to transmit the data for its turn. Every station in the channel transmits the data in its turn.</a:t>
            </a:r>
          </a:p>
        </p:txBody>
      </p:sp>
    </p:spTree>
    <p:extLst>
      <p:ext uri="{BB962C8B-B14F-4D97-AF65-F5344CB8AC3E}">
        <p14:creationId xmlns:p14="http://schemas.microsoft.com/office/powerpoint/2010/main" val="4187929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CSMA CD</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network protocol for carrier transmission known as CSMA/CD (Carrier Sense Multiple Access with Collision Detection) runs at the Medium Access Control (MAC) layer. </a:t>
            </a:r>
            <a:endParaRPr lang="en-US" dirty="0" smtClean="0"/>
          </a:p>
          <a:p>
            <a:r>
              <a:rPr lang="en-US" dirty="0" smtClean="0"/>
              <a:t>The </a:t>
            </a:r>
            <a:r>
              <a:rPr lang="en-US" dirty="0"/>
              <a:t>shared channel for communication is detected or heard, and transmissions are postponed until the channel is clear. </a:t>
            </a:r>
            <a:endParaRPr lang="en-US" dirty="0" smtClean="0"/>
          </a:p>
          <a:p>
            <a:r>
              <a:rPr lang="en-US" dirty="0" smtClean="0"/>
              <a:t>By </a:t>
            </a:r>
            <a:r>
              <a:rPr lang="en-US" dirty="0"/>
              <a:t>detecting transmissions from other stations, the collision detection technique finds collisions. When a collision is detected, the station immediately ceases transmission, broadcasts a jam signal, and thereafter waits for a random amount of time before retransmission.</a:t>
            </a:r>
          </a:p>
        </p:txBody>
      </p:sp>
    </p:spTree>
    <p:extLst>
      <p:ext uri="{BB962C8B-B14F-4D97-AF65-F5344CB8AC3E}">
        <p14:creationId xmlns:p14="http://schemas.microsoft.com/office/powerpoint/2010/main" val="13792722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586" y="341110"/>
            <a:ext cx="9601196" cy="1303867"/>
          </a:xfrm>
        </p:spPr>
        <p:txBody>
          <a:bodyPr/>
          <a:lstStyle/>
          <a:p>
            <a:r>
              <a:rPr lang="en-US" dirty="0" smtClean="0"/>
              <a:t>How it works??</a:t>
            </a:r>
            <a:endParaRPr lang="en-US" dirty="0"/>
          </a:p>
        </p:txBody>
      </p:sp>
      <p:sp>
        <p:nvSpPr>
          <p:cNvPr id="3" name="Content Placeholder 2"/>
          <p:cNvSpPr>
            <a:spLocks noGrp="1"/>
          </p:cNvSpPr>
          <p:nvPr>
            <p:ph idx="1"/>
          </p:nvPr>
        </p:nvSpPr>
        <p:spPr>
          <a:xfrm>
            <a:off x="1003170" y="1644977"/>
            <a:ext cx="9601196" cy="3318936"/>
          </a:xfrm>
        </p:spPr>
        <p:txBody>
          <a:bodyPr>
            <a:noAutofit/>
          </a:bodyPr>
          <a:lstStyle/>
          <a:p>
            <a:r>
              <a:rPr lang="en-US" sz="1600" dirty="0"/>
              <a:t>The CSMA/CD algorithm are:</a:t>
            </a:r>
          </a:p>
          <a:p>
            <a:r>
              <a:rPr lang="en-US" sz="1600" dirty="0"/>
              <a:t>The transmitting station determines whether the channel is busy or idle when a frame is ready.</a:t>
            </a:r>
          </a:p>
          <a:p>
            <a:r>
              <a:rPr lang="en-US" sz="1600" dirty="0"/>
              <a:t>If the channel is occupied, the station waits till it is free.</a:t>
            </a:r>
          </a:p>
          <a:p>
            <a:r>
              <a:rPr lang="en-US" sz="1600" dirty="0"/>
              <a:t>The station begins transmitting and continuously scans the channel for collisions if the channel is empty.</a:t>
            </a:r>
          </a:p>
          <a:p>
            <a:r>
              <a:rPr lang="en-US" sz="1600" dirty="0"/>
              <a:t>The station begins the collision resolution mechanism when a collision is detected.</a:t>
            </a:r>
          </a:p>
          <a:p>
            <a:r>
              <a:rPr lang="en-US" sz="1600" dirty="0"/>
              <a:t>After finishing frame transmission, the stations reset the retransmission counters.</a:t>
            </a:r>
          </a:p>
          <a:p>
            <a:r>
              <a:rPr lang="en-US" sz="1600" dirty="0"/>
              <a:t>The collision resolution algorithm are:</a:t>
            </a:r>
          </a:p>
          <a:p>
            <a:r>
              <a:rPr lang="en-US" sz="1600" dirty="0"/>
              <a:t>In order to make sure that all other stations notice a collision, the station keeps transmitting the current frame for a predetermined amount of time while also sending out a jam signal.</a:t>
            </a:r>
          </a:p>
          <a:p>
            <a:r>
              <a:rPr lang="en-US" sz="1600" dirty="0"/>
              <a:t>The station increases the retransmission counter.</a:t>
            </a:r>
          </a:p>
          <a:p>
            <a:r>
              <a:rPr lang="en-US" sz="1600" dirty="0"/>
              <a:t>The station stops transmission if the allotted number of retransmission attempts has been used.</a:t>
            </a:r>
          </a:p>
          <a:p>
            <a:r>
              <a:rPr lang="en-US" sz="1600" dirty="0"/>
              <a:t>In the absence of a restart main algorithm, the station waits for a </a:t>
            </a:r>
            <a:r>
              <a:rPr lang="en-US" sz="1600" dirty="0" err="1"/>
              <a:t>backoff</a:t>
            </a:r>
            <a:r>
              <a:rPr lang="en-US" sz="1600" dirty="0"/>
              <a:t> period, which is often a function of the number of collisions</a:t>
            </a:r>
          </a:p>
        </p:txBody>
      </p:sp>
    </p:spTree>
    <p:extLst>
      <p:ext uri="{BB962C8B-B14F-4D97-AF65-F5344CB8AC3E}">
        <p14:creationId xmlns:p14="http://schemas.microsoft.com/office/powerpoint/2010/main" val="25266727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99761" y="921801"/>
            <a:ext cx="6400800" cy="5594606"/>
          </a:xfrm>
        </p:spPr>
      </p:pic>
    </p:spTree>
    <p:extLst>
      <p:ext uri="{BB962C8B-B14F-4D97-AF65-F5344CB8AC3E}">
        <p14:creationId xmlns:p14="http://schemas.microsoft.com/office/powerpoint/2010/main" val="16697257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CSMA/CA</a:t>
            </a:r>
          </a:p>
        </p:txBody>
      </p:sp>
      <p:sp>
        <p:nvSpPr>
          <p:cNvPr id="3" name="Content Placeholder 2"/>
          <p:cNvSpPr>
            <a:spLocks noGrp="1"/>
          </p:cNvSpPr>
          <p:nvPr>
            <p:ph idx="1"/>
          </p:nvPr>
        </p:nvSpPr>
        <p:spPr/>
        <p:txBody>
          <a:bodyPr>
            <a:normAutofit fontScale="85000" lnSpcReduction="20000"/>
          </a:bodyPr>
          <a:lstStyle/>
          <a:p>
            <a:r>
              <a:rPr lang="en-US" dirty="0"/>
              <a:t>CSMA/CA is a network access method used mainly in </a:t>
            </a:r>
            <a:r>
              <a:rPr lang="en-US" b="1" dirty="0"/>
              <a:t>Wi-Fi (IEEE 802.11)</a:t>
            </a:r>
            <a:r>
              <a:rPr lang="en-US" dirty="0"/>
              <a:t> to reduce collisions </a:t>
            </a:r>
            <a:r>
              <a:rPr lang="en-US" b="1" dirty="0"/>
              <a:t>before they occur</a:t>
            </a:r>
            <a:r>
              <a:rPr lang="en-US" dirty="0"/>
              <a:t>, because Wi-Fi devices generally </a:t>
            </a:r>
            <a:r>
              <a:rPr lang="en-US" b="1" dirty="0"/>
              <a:t>cannot detect collisions</a:t>
            </a:r>
            <a:r>
              <a:rPr lang="en-US" dirty="0"/>
              <a:t> while transmitting (no CD like Ethernet</a:t>
            </a:r>
            <a:r>
              <a:rPr lang="en-US" dirty="0" smtClean="0"/>
              <a:t>).</a:t>
            </a:r>
          </a:p>
          <a:p>
            <a:r>
              <a:rPr lang="en-US" dirty="0"/>
              <a:t>CSMA/CA uses acknowledgements like CSMA. Each frame contains a sequence number and a CRC. The CRC is used to detect transmission errors while the sequence number is used to avoid frame duplication. When a device receives a correct frame, it returns a special acknowledgement frame to the sender</a:t>
            </a:r>
            <a:r>
              <a:rPr lang="en-US" dirty="0" smtClean="0"/>
              <a:t>.</a:t>
            </a:r>
          </a:p>
          <a:p>
            <a:r>
              <a:rPr lang="en-US" dirty="0" smtClean="0"/>
              <a:t> </a:t>
            </a:r>
            <a:r>
              <a:rPr lang="en-US" dirty="0"/>
              <a:t>CSMA/CA introduces a small delay, named </a:t>
            </a:r>
            <a:r>
              <a:rPr lang="en-US" i="1" dirty="0"/>
              <a:t>Short Inter Frame Spacing (SIFS)</a:t>
            </a:r>
            <a:r>
              <a:rPr lang="en-US" dirty="0"/>
              <a:t>, between the reception of a frame and the transmission of the acknowledgement frame. This delay corresponds to the time that is required to switch the radio of a device between the reception and transmission modes.</a:t>
            </a:r>
          </a:p>
        </p:txBody>
      </p:sp>
    </p:spTree>
    <p:extLst>
      <p:ext uri="{BB962C8B-B14F-4D97-AF65-F5344CB8AC3E}">
        <p14:creationId xmlns:p14="http://schemas.microsoft.com/office/powerpoint/2010/main" val="35008515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of CSMA/CA (Step-by-Step)</a:t>
            </a:r>
          </a:p>
        </p:txBody>
      </p:sp>
      <p:sp>
        <p:nvSpPr>
          <p:cNvPr id="3" name="Content Placeholder 2"/>
          <p:cNvSpPr>
            <a:spLocks noGrp="1"/>
          </p:cNvSpPr>
          <p:nvPr>
            <p:ph idx="1"/>
          </p:nvPr>
        </p:nvSpPr>
        <p:spPr>
          <a:xfrm>
            <a:off x="1295401" y="2556932"/>
            <a:ext cx="5868797" cy="3318936"/>
          </a:xfrm>
        </p:spPr>
        <p:txBody>
          <a:bodyPr>
            <a:normAutofit fontScale="62500" lnSpcReduction="20000"/>
          </a:bodyPr>
          <a:lstStyle/>
          <a:p>
            <a:r>
              <a:rPr lang="en-US" b="1" dirty="0"/>
              <a:t>1. Carrier Sensing</a:t>
            </a:r>
          </a:p>
          <a:p>
            <a:r>
              <a:rPr lang="en-US" dirty="0"/>
              <a:t>The station checks whether the wireless channel is </a:t>
            </a:r>
            <a:r>
              <a:rPr lang="en-US" b="1" dirty="0"/>
              <a:t>idle or busy</a:t>
            </a:r>
            <a:r>
              <a:rPr lang="en-US" dirty="0"/>
              <a:t>.</a:t>
            </a:r>
          </a:p>
          <a:p>
            <a:r>
              <a:rPr lang="en-US" b="1" dirty="0"/>
              <a:t>2. Wait for </a:t>
            </a:r>
            <a:r>
              <a:rPr lang="en-US" b="1" dirty="0" err="1"/>
              <a:t>Interframe</a:t>
            </a:r>
            <a:r>
              <a:rPr lang="en-US" b="1" dirty="0"/>
              <a:t> Space (IFS)</a:t>
            </a:r>
          </a:p>
          <a:p>
            <a:r>
              <a:rPr lang="en-US" dirty="0"/>
              <a:t>If the channel is free, the device waits for a time interval such as:</a:t>
            </a:r>
          </a:p>
          <a:p>
            <a:r>
              <a:rPr lang="en-US" b="1" dirty="0"/>
              <a:t>DIFS</a:t>
            </a:r>
            <a:r>
              <a:rPr lang="en-US" dirty="0"/>
              <a:t> (Distributed </a:t>
            </a:r>
            <a:r>
              <a:rPr lang="en-US" dirty="0" err="1"/>
              <a:t>Interframe</a:t>
            </a:r>
            <a:r>
              <a:rPr lang="en-US" dirty="0"/>
              <a:t> Space) in Wi-Fi</a:t>
            </a:r>
          </a:p>
          <a:p>
            <a:r>
              <a:rPr lang="en-US" b="1" dirty="0"/>
              <a:t>3. </a:t>
            </a:r>
            <a:r>
              <a:rPr lang="en-US" b="1" dirty="0" err="1"/>
              <a:t>Backoff</a:t>
            </a:r>
            <a:r>
              <a:rPr lang="en-US" b="1" dirty="0"/>
              <a:t> Mechanism</a:t>
            </a:r>
          </a:p>
          <a:p>
            <a:r>
              <a:rPr lang="en-US" dirty="0"/>
              <a:t>To reduce the chance of two devices transmitting simultaneously:</a:t>
            </a:r>
          </a:p>
          <a:p>
            <a:r>
              <a:rPr lang="en-US" dirty="0"/>
              <a:t>A random </a:t>
            </a:r>
            <a:r>
              <a:rPr lang="en-US" b="1" dirty="0" err="1"/>
              <a:t>backoff</a:t>
            </a:r>
            <a:r>
              <a:rPr lang="en-US" b="1" dirty="0"/>
              <a:t> counter</a:t>
            </a:r>
            <a:r>
              <a:rPr lang="en-US" dirty="0"/>
              <a:t> is chosen.</a:t>
            </a:r>
          </a:p>
          <a:p>
            <a:r>
              <a:rPr lang="en-US" dirty="0"/>
              <a:t>The counter decreases only when the channel is idle.</a:t>
            </a:r>
          </a:p>
          <a:p>
            <a:r>
              <a:rPr lang="en-US" dirty="0"/>
              <a:t>If someone else transmits, the counter pauses.</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5647" y="1365352"/>
            <a:ext cx="3305175" cy="5133975"/>
          </a:xfrm>
          <a:prstGeom prst="rect">
            <a:avLst/>
          </a:prstGeom>
        </p:spPr>
      </p:pic>
    </p:spTree>
    <p:extLst>
      <p:ext uri="{BB962C8B-B14F-4D97-AF65-F5344CB8AC3E}">
        <p14:creationId xmlns:p14="http://schemas.microsoft.com/office/powerpoint/2010/main" val="716923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a:t>4. Frame Transmission</a:t>
            </a:r>
          </a:p>
          <a:p>
            <a:r>
              <a:rPr lang="en-US" dirty="0"/>
              <a:t>When the </a:t>
            </a:r>
            <a:r>
              <a:rPr lang="en-US" dirty="0" err="1"/>
              <a:t>backoff</a:t>
            </a:r>
            <a:r>
              <a:rPr lang="en-US" dirty="0"/>
              <a:t> timer reaches zero → the device transmits.</a:t>
            </a:r>
          </a:p>
          <a:p>
            <a:r>
              <a:rPr lang="en-US" b="1" dirty="0"/>
              <a:t>5. Acknowledgement (ACK)</a:t>
            </a:r>
          </a:p>
          <a:p>
            <a:r>
              <a:rPr lang="en-US" dirty="0"/>
              <a:t>The receiver sends an </a:t>
            </a:r>
            <a:r>
              <a:rPr lang="en-US" b="1" dirty="0"/>
              <a:t>ACK frame</a:t>
            </a:r>
            <a:r>
              <a:rPr lang="en-US" dirty="0"/>
              <a:t> confirming successful delivery.</a:t>
            </a:r>
          </a:p>
          <a:p>
            <a:r>
              <a:rPr lang="en-US" dirty="0"/>
              <a:t>No ACK → transmission assumed failed → start </a:t>
            </a:r>
            <a:r>
              <a:rPr lang="en-US" dirty="0" err="1"/>
              <a:t>backoff</a:t>
            </a:r>
            <a:r>
              <a:rPr lang="en-US" dirty="0"/>
              <a:t> again.</a:t>
            </a:r>
          </a:p>
          <a:p>
            <a:r>
              <a:rPr lang="en-US" b="1" dirty="0"/>
              <a:t>6. Collision Avoidance</a:t>
            </a:r>
          </a:p>
          <a:p>
            <a:r>
              <a:rPr lang="en-US" dirty="0"/>
              <a:t>Because Wi-Fi can't detect collisions during transmission, </a:t>
            </a:r>
            <a:r>
              <a:rPr lang="en-US" b="1" dirty="0"/>
              <a:t>avoiding</a:t>
            </a:r>
            <a:r>
              <a:rPr lang="en-US" dirty="0"/>
              <a:t> them is essential:</a:t>
            </a:r>
          </a:p>
          <a:p>
            <a:r>
              <a:rPr lang="en-US" dirty="0"/>
              <a:t>Random </a:t>
            </a:r>
            <a:r>
              <a:rPr lang="en-US" dirty="0" err="1"/>
              <a:t>backoff</a:t>
            </a:r>
            <a:r>
              <a:rPr lang="en-US" dirty="0"/>
              <a:t> time</a:t>
            </a:r>
          </a:p>
          <a:p>
            <a:r>
              <a:rPr lang="en-US" dirty="0"/>
              <a:t>Optional RTS/CTS handshake</a:t>
            </a:r>
          </a:p>
        </p:txBody>
      </p:sp>
    </p:spTree>
    <p:extLst>
      <p:ext uri="{BB962C8B-B14F-4D97-AF65-F5344CB8AC3E}">
        <p14:creationId xmlns:p14="http://schemas.microsoft.com/office/powerpoint/2010/main" val="70868400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 based </a:t>
            </a:r>
            <a:r>
              <a:rPr lang="en-US" dirty="0" smtClean="0"/>
              <a:t>protocols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Token-based protocols are </a:t>
            </a:r>
            <a:r>
              <a:rPr lang="en-US" b="1" dirty="0"/>
              <a:t>controlled access protocols</a:t>
            </a:r>
            <a:r>
              <a:rPr lang="en-US" dirty="0"/>
              <a:t> used in computer networks to regulate how multiple nodes share a common transmission medium.</a:t>
            </a:r>
          </a:p>
          <a:p>
            <a:r>
              <a:rPr lang="en-US" dirty="0"/>
              <a:t>A </a:t>
            </a:r>
            <a:r>
              <a:rPr lang="en-US" b="1" dirty="0"/>
              <a:t>special control frame called a </a:t>
            </a:r>
            <a:r>
              <a:rPr lang="en-US" b="1" i="1" dirty="0"/>
              <a:t>token</a:t>
            </a:r>
            <a:r>
              <a:rPr lang="en-US" dirty="0"/>
              <a:t> is continuously passed from one node to another in a predefined order (usually a logical ring).</a:t>
            </a:r>
          </a:p>
          <a:p>
            <a:r>
              <a:rPr lang="en-US" dirty="0"/>
              <a:t>👉 </a:t>
            </a:r>
            <a:r>
              <a:rPr lang="en-US" b="1" dirty="0"/>
              <a:t>Only the node that currently holds the token is permitted to transmit data.</a:t>
            </a:r>
            <a:r>
              <a:rPr lang="en-US" dirty="0"/>
              <a:t/>
            </a:r>
            <a:br>
              <a:rPr lang="en-US" dirty="0"/>
            </a:br>
            <a:r>
              <a:rPr lang="en-US" dirty="0"/>
              <a:t>If a node does not have the token, it </a:t>
            </a:r>
            <a:r>
              <a:rPr lang="en-US" b="1" dirty="0"/>
              <a:t>must remain silent</a:t>
            </a:r>
            <a:r>
              <a:rPr lang="en-US" dirty="0"/>
              <a:t>, even if the channel is idle.</a:t>
            </a:r>
          </a:p>
          <a:p>
            <a:r>
              <a:rPr lang="en-US" dirty="0"/>
              <a:t>This strict rule </a:t>
            </a:r>
            <a:r>
              <a:rPr lang="en-US" b="1" dirty="0"/>
              <a:t>completely prevents collisions</a:t>
            </a:r>
            <a:r>
              <a:rPr lang="en-US" dirty="0"/>
              <a:t>, unlike random access protocols such as </a:t>
            </a:r>
            <a:r>
              <a:rPr lang="en-US" b="1" dirty="0"/>
              <a:t>CSMA/CD</a:t>
            </a:r>
            <a:r>
              <a:rPr lang="en-US" dirty="0"/>
              <a:t>, where multiple devices may attempt to transmit simultaneously, causing collisions and retransmissions.</a:t>
            </a:r>
          </a:p>
        </p:txBody>
      </p:sp>
    </p:spTree>
    <p:extLst>
      <p:ext uri="{BB962C8B-B14F-4D97-AF65-F5344CB8AC3E}">
        <p14:creationId xmlns:p14="http://schemas.microsoft.com/office/powerpoint/2010/main" val="210228204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Why token-based protocols </a:t>
            </a:r>
            <a:r>
              <a:rPr lang="en-US" b="1" dirty="0" smtClean="0"/>
              <a:t>exist</a:t>
            </a:r>
            <a:endParaRPr lang="en-US" b="1" dirty="0"/>
          </a:p>
        </p:txBody>
      </p:sp>
      <p:sp>
        <p:nvSpPr>
          <p:cNvPr id="3" name="Content Placeholder 2"/>
          <p:cNvSpPr>
            <a:spLocks noGrp="1"/>
          </p:cNvSpPr>
          <p:nvPr>
            <p:ph idx="1"/>
          </p:nvPr>
        </p:nvSpPr>
        <p:spPr>
          <a:xfrm>
            <a:off x="1144399" y="2439486"/>
            <a:ext cx="6237913" cy="3318936"/>
          </a:xfrm>
        </p:spPr>
        <p:txBody>
          <a:bodyPr>
            <a:noAutofit/>
          </a:bodyPr>
          <a:lstStyle/>
          <a:p>
            <a:r>
              <a:rPr lang="en-US" sz="1200" dirty="0" smtClean="0"/>
              <a:t>Token </a:t>
            </a:r>
            <a:r>
              <a:rPr lang="en-US" sz="1200" dirty="0"/>
              <a:t>protocols were created to overcome serious limitations of random access methods:</a:t>
            </a:r>
          </a:p>
          <a:p>
            <a:r>
              <a:rPr lang="en-US" sz="1200" b="1" dirty="0"/>
              <a:t>1. Collision elimination</a:t>
            </a:r>
          </a:p>
          <a:p>
            <a:r>
              <a:rPr lang="en-US" sz="1200" dirty="0"/>
              <a:t>In CSMA/CD, collisions waste bandwidth and increase delay.</a:t>
            </a:r>
            <a:br>
              <a:rPr lang="en-US" sz="1200" dirty="0"/>
            </a:br>
            <a:r>
              <a:rPr lang="en-US" sz="1200" dirty="0"/>
              <a:t>In token-based protocols:</a:t>
            </a:r>
          </a:p>
          <a:p>
            <a:pPr lvl="0"/>
            <a:r>
              <a:rPr lang="en-US" sz="1200" dirty="0"/>
              <a:t>Only one node transmits at a time</a:t>
            </a:r>
          </a:p>
          <a:p>
            <a:pPr lvl="0"/>
            <a:r>
              <a:rPr lang="en-US" sz="1200" dirty="0"/>
              <a:t>No two nodes can transmit simultaneously</a:t>
            </a:r>
            <a:br>
              <a:rPr lang="en-US" sz="1200" dirty="0"/>
            </a:br>
            <a:r>
              <a:rPr lang="en-US" sz="1200" dirty="0"/>
              <a:t>➡ </a:t>
            </a:r>
            <a:r>
              <a:rPr lang="en-US" sz="1200" b="1" dirty="0"/>
              <a:t>Collisions are completely eliminated</a:t>
            </a:r>
            <a:endParaRPr lang="en-US" sz="1200" dirty="0"/>
          </a:p>
          <a:p>
            <a:r>
              <a:rPr lang="en-US" sz="1200" b="1" dirty="0"/>
              <a:t>2. Fair access to the medium</a:t>
            </a:r>
          </a:p>
          <a:p>
            <a:r>
              <a:rPr lang="en-US" sz="1200" dirty="0"/>
              <a:t>Random access methods do </a:t>
            </a:r>
            <a:r>
              <a:rPr lang="en-US" sz="1200" b="1" dirty="0"/>
              <a:t>not guarantee fairness</a:t>
            </a:r>
            <a:r>
              <a:rPr lang="en-US" sz="1200" dirty="0"/>
              <a:t>. A busy node may dominate the channel while others starve.</a:t>
            </a:r>
          </a:p>
          <a:p>
            <a:r>
              <a:rPr lang="en-US" sz="1200" dirty="0"/>
              <a:t>In token-based systems:</a:t>
            </a:r>
          </a:p>
          <a:p>
            <a:pPr lvl="0"/>
            <a:r>
              <a:rPr lang="en-US" sz="1200" dirty="0"/>
              <a:t>The token is passed sequentially</a:t>
            </a:r>
          </a:p>
          <a:p>
            <a:pPr lvl="0"/>
            <a:r>
              <a:rPr lang="en-US" sz="1200" dirty="0"/>
              <a:t>Every node </a:t>
            </a:r>
            <a:r>
              <a:rPr lang="en-US" sz="1200" b="1" dirty="0"/>
              <a:t>gets an equal opportunity</a:t>
            </a:r>
            <a:r>
              <a:rPr lang="en-US" sz="1200" dirty="0"/>
              <a:t> to transmit</a:t>
            </a:r>
            <a:br>
              <a:rPr lang="en-US" sz="1200" dirty="0"/>
            </a:br>
            <a:r>
              <a:rPr lang="en-US" sz="1200" dirty="0"/>
              <a:t>➡ </a:t>
            </a:r>
            <a:r>
              <a:rPr lang="en-US" sz="1200" b="1" dirty="0"/>
              <a:t>Starvation is </a:t>
            </a:r>
            <a:r>
              <a:rPr lang="en-US" sz="1200" b="1" dirty="0" smtClean="0"/>
              <a:t>impossible</a:t>
            </a:r>
            <a:endParaRPr lang="en-US" sz="1200" dirty="0"/>
          </a:p>
        </p:txBody>
      </p:sp>
      <p:sp>
        <p:nvSpPr>
          <p:cNvPr id="4" name="Rectangle 3"/>
          <p:cNvSpPr/>
          <p:nvPr/>
        </p:nvSpPr>
        <p:spPr>
          <a:xfrm>
            <a:off x="7183772" y="2619101"/>
            <a:ext cx="4132977" cy="3416320"/>
          </a:xfrm>
          <a:prstGeom prst="rect">
            <a:avLst/>
          </a:prstGeom>
        </p:spPr>
        <p:txBody>
          <a:bodyPr wrap="square">
            <a:spAutoFit/>
          </a:bodyPr>
          <a:lstStyle/>
          <a:p>
            <a:r>
              <a:rPr lang="en-US" b="1" dirty="0"/>
              <a:t>3. Predictable and bounded delay</a:t>
            </a:r>
          </a:p>
          <a:p>
            <a:r>
              <a:rPr lang="en-US" dirty="0"/>
              <a:t>In real-time systems (industrial control, aviation, medical systems), unpredictable delay is unacceptable.</a:t>
            </a:r>
          </a:p>
          <a:p>
            <a:r>
              <a:rPr lang="en-US" dirty="0"/>
              <a:t>With token passing:</a:t>
            </a:r>
          </a:p>
          <a:p>
            <a:pPr lvl="0"/>
            <a:r>
              <a:rPr lang="en-US" dirty="0"/>
              <a:t>Maximum waiting time = time for token to complete one full cycle</a:t>
            </a:r>
          </a:p>
          <a:p>
            <a:pPr lvl="0"/>
            <a:r>
              <a:rPr lang="en-US" dirty="0"/>
              <a:t>Delay can be calculated in advance</a:t>
            </a:r>
            <a:br>
              <a:rPr lang="en-US" dirty="0"/>
            </a:br>
            <a:r>
              <a:rPr lang="en-US" dirty="0"/>
              <a:t>➡ </a:t>
            </a:r>
            <a:r>
              <a:rPr lang="en-US" b="1" dirty="0"/>
              <a:t>Deterministic </a:t>
            </a:r>
            <a:r>
              <a:rPr lang="en-US" b="1" dirty="0" err="1"/>
              <a:t>behaviour</a:t>
            </a:r>
            <a:r>
              <a:rPr lang="en-US" b="1" dirty="0"/>
              <a:t> is guaranteed</a:t>
            </a:r>
            <a:endParaRPr lang="en-US" dirty="0"/>
          </a:p>
          <a:p>
            <a:r>
              <a:rPr lang="en-US" dirty="0"/>
              <a:t>This is the </a:t>
            </a:r>
            <a:r>
              <a:rPr lang="en-US" b="1" dirty="0"/>
              <a:t>main technical advantage</a:t>
            </a:r>
            <a:r>
              <a:rPr lang="en-US" dirty="0"/>
              <a:t> of token-based protocols.</a:t>
            </a:r>
          </a:p>
        </p:txBody>
      </p:sp>
    </p:spTree>
    <p:extLst>
      <p:ext uri="{BB962C8B-B14F-4D97-AF65-F5344CB8AC3E}">
        <p14:creationId xmlns:p14="http://schemas.microsoft.com/office/powerpoint/2010/main" val="69695966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token-based protocols work (step-by-step elaboration)</a:t>
            </a:r>
          </a:p>
        </p:txBody>
      </p:sp>
      <p:sp>
        <p:nvSpPr>
          <p:cNvPr id="3" name="Content Placeholder 2"/>
          <p:cNvSpPr>
            <a:spLocks noGrp="1"/>
          </p:cNvSpPr>
          <p:nvPr>
            <p:ph idx="1"/>
          </p:nvPr>
        </p:nvSpPr>
        <p:spPr>
          <a:xfrm>
            <a:off x="1136010" y="2422708"/>
            <a:ext cx="5256401" cy="3318936"/>
          </a:xfrm>
        </p:spPr>
        <p:txBody>
          <a:bodyPr>
            <a:noAutofit/>
          </a:bodyPr>
          <a:lstStyle/>
          <a:p>
            <a:pPr marL="0" indent="0">
              <a:buNone/>
            </a:pPr>
            <a:r>
              <a:rPr lang="en-US" sz="800" b="1" dirty="0" smtClean="0"/>
              <a:t>Step </a:t>
            </a:r>
            <a:r>
              <a:rPr lang="en-US" sz="800" b="1" dirty="0"/>
              <a:t>1: Token circulation</a:t>
            </a:r>
          </a:p>
          <a:p>
            <a:r>
              <a:rPr lang="en-US" sz="800" dirty="0"/>
              <a:t>A token frame (a small control packet) continuously circulates among all nodes in the network following a logical order (e.g., Node A → B → C → D → A).</a:t>
            </a:r>
          </a:p>
          <a:p>
            <a:r>
              <a:rPr lang="en-US" sz="800" dirty="0"/>
              <a:t>This token contains control information, not user data.</a:t>
            </a:r>
          </a:p>
          <a:p>
            <a:pPr marL="0" indent="0">
              <a:buNone/>
            </a:pPr>
            <a:r>
              <a:rPr lang="en-US" sz="800" b="1" dirty="0"/>
              <a:t>Step 2: Token reception</a:t>
            </a:r>
          </a:p>
          <a:p>
            <a:r>
              <a:rPr lang="en-US" sz="800" dirty="0"/>
              <a:t>When a node receives the token:</a:t>
            </a:r>
          </a:p>
          <a:p>
            <a:pPr lvl="0"/>
            <a:r>
              <a:rPr lang="en-US" sz="800" dirty="0"/>
              <a:t>It checks whether it has data to send</a:t>
            </a:r>
          </a:p>
          <a:p>
            <a:pPr lvl="0"/>
            <a:r>
              <a:rPr lang="en-US" sz="800" dirty="0"/>
              <a:t>If it has </a:t>
            </a:r>
            <a:r>
              <a:rPr lang="en-US" sz="800" b="1" dirty="0"/>
              <a:t>no data</a:t>
            </a:r>
            <a:r>
              <a:rPr lang="en-US" sz="800" dirty="0"/>
              <a:t>, it immediately passes the token to the next node</a:t>
            </a:r>
          </a:p>
          <a:p>
            <a:pPr lvl="0"/>
            <a:r>
              <a:rPr lang="en-US" sz="800" dirty="0"/>
              <a:t>If it </a:t>
            </a:r>
            <a:r>
              <a:rPr lang="en-US" sz="800" b="1" dirty="0"/>
              <a:t>has data</a:t>
            </a:r>
            <a:r>
              <a:rPr lang="en-US" sz="800" dirty="0"/>
              <a:t>, it captures the token</a:t>
            </a:r>
          </a:p>
          <a:p>
            <a:r>
              <a:rPr lang="en-US" sz="800" dirty="0"/>
              <a:t>This decision happens very fast to avoid unnecessary delay.</a:t>
            </a:r>
          </a:p>
          <a:p>
            <a:pPr marL="0" indent="0">
              <a:buNone/>
            </a:pPr>
            <a:r>
              <a:rPr lang="en-US" sz="800" b="1" dirty="0"/>
              <a:t>Step 3: Token capture and data transmission</a:t>
            </a:r>
          </a:p>
          <a:p>
            <a:r>
              <a:rPr lang="en-US" sz="800" dirty="0"/>
              <a:t>If the node has data:</a:t>
            </a:r>
          </a:p>
          <a:p>
            <a:pPr lvl="0"/>
            <a:r>
              <a:rPr lang="en-US" sz="800" dirty="0"/>
              <a:t>It seizes the token</a:t>
            </a:r>
          </a:p>
          <a:p>
            <a:pPr lvl="0"/>
            <a:r>
              <a:rPr lang="en-US" sz="800" dirty="0"/>
              <a:t>Converts it from a </a:t>
            </a:r>
            <a:r>
              <a:rPr lang="en-US" sz="800" b="1" dirty="0"/>
              <a:t>free token</a:t>
            </a:r>
            <a:r>
              <a:rPr lang="en-US" sz="800" dirty="0"/>
              <a:t> into a </a:t>
            </a:r>
            <a:r>
              <a:rPr lang="en-US" sz="800" b="1" dirty="0"/>
              <a:t>busy token</a:t>
            </a:r>
            <a:endParaRPr lang="en-US" sz="800" dirty="0"/>
          </a:p>
          <a:p>
            <a:pPr lvl="0"/>
            <a:r>
              <a:rPr lang="en-US" sz="800" dirty="0"/>
              <a:t>Transmits data frames onto the network</a:t>
            </a:r>
          </a:p>
          <a:p>
            <a:pPr marL="0" indent="0">
              <a:buNone/>
            </a:pPr>
            <a:r>
              <a:rPr lang="en-US" sz="800" dirty="0"/>
              <a:t>To prevent </a:t>
            </a:r>
            <a:r>
              <a:rPr lang="en-US" sz="800" dirty="0" err="1"/>
              <a:t>monopolisation</a:t>
            </a:r>
            <a:r>
              <a:rPr lang="en-US" sz="800" dirty="0"/>
              <a:t>:</a:t>
            </a:r>
          </a:p>
          <a:p>
            <a:pPr lvl="0"/>
            <a:r>
              <a:rPr lang="en-US" sz="800" dirty="0"/>
              <a:t>Transmission is limited by </a:t>
            </a:r>
            <a:r>
              <a:rPr lang="en-US" sz="800" b="1" dirty="0"/>
              <a:t>time</a:t>
            </a:r>
            <a:r>
              <a:rPr lang="en-US" sz="800" dirty="0"/>
              <a:t> (token holding time) or </a:t>
            </a:r>
            <a:r>
              <a:rPr lang="en-US" sz="800" b="1" dirty="0"/>
              <a:t>frame count</a:t>
            </a:r>
            <a:endParaRPr lang="en-US" sz="800" dirty="0"/>
          </a:p>
          <a:p>
            <a:r>
              <a:rPr lang="en-US" sz="800" dirty="0"/>
              <a:t>This ensures fairness</a:t>
            </a:r>
            <a:r>
              <a:rPr lang="en-US" sz="800" dirty="0" smtClean="0"/>
              <a:t>.</a:t>
            </a:r>
            <a:endParaRPr lang="en-US" sz="800" dirty="0"/>
          </a:p>
        </p:txBody>
      </p:sp>
      <p:sp>
        <p:nvSpPr>
          <p:cNvPr id="4" name="Rectangle 3"/>
          <p:cNvSpPr/>
          <p:nvPr/>
        </p:nvSpPr>
        <p:spPr>
          <a:xfrm>
            <a:off x="6392411" y="2422708"/>
            <a:ext cx="4576892" cy="4247317"/>
          </a:xfrm>
          <a:prstGeom prst="rect">
            <a:avLst/>
          </a:prstGeom>
        </p:spPr>
        <p:txBody>
          <a:bodyPr wrap="square">
            <a:spAutoFit/>
          </a:bodyPr>
          <a:lstStyle/>
          <a:p>
            <a:r>
              <a:rPr lang="en-US" b="1" dirty="0"/>
              <a:t>Step 4: Release of the token</a:t>
            </a:r>
          </a:p>
          <a:p>
            <a:r>
              <a:rPr lang="en-US" dirty="0"/>
              <a:t>After transmission:</a:t>
            </a:r>
          </a:p>
          <a:p>
            <a:pPr lvl="0"/>
            <a:r>
              <a:rPr lang="en-US" dirty="0"/>
              <a:t>The node releases the token</a:t>
            </a:r>
          </a:p>
          <a:p>
            <a:pPr lvl="0"/>
            <a:r>
              <a:rPr lang="en-US" dirty="0"/>
              <a:t>Either by regenerating a free token</a:t>
            </a:r>
          </a:p>
          <a:p>
            <a:pPr lvl="0"/>
            <a:r>
              <a:rPr lang="en-US" dirty="0"/>
              <a:t>Or by modifying the busy token back into a free token</a:t>
            </a:r>
          </a:p>
          <a:p>
            <a:r>
              <a:rPr lang="en-US" dirty="0"/>
              <a:t>This signals that the medium is available again.</a:t>
            </a:r>
          </a:p>
          <a:p>
            <a:r>
              <a:rPr lang="en-US" b="1" dirty="0"/>
              <a:t>Step 5: Token passes to the next node</a:t>
            </a:r>
          </a:p>
          <a:p>
            <a:r>
              <a:rPr lang="en-US" dirty="0"/>
              <a:t>The released token moves to the next node in the logical sequence.</a:t>
            </a:r>
          </a:p>
          <a:p>
            <a:r>
              <a:rPr lang="en-US" dirty="0"/>
              <a:t>The cycle continues indefinitely, ensuring:</a:t>
            </a:r>
          </a:p>
          <a:p>
            <a:pPr lvl="0"/>
            <a:r>
              <a:rPr lang="en-US" dirty="0"/>
              <a:t>Orderly access</a:t>
            </a:r>
          </a:p>
          <a:p>
            <a:pPr lvl="0"/>
            <a:r>
              <a:rPr lang="en-US" dirty="0"/>
              <a:t>Zero collisions</a:t>
            </a:r>
          </a:p>
          <a:p>
            <a:pPr lvl="0"/>
            <a:r>
              <a:rPr lang="en-US" dirty="0"/>
              <a:t>Predictable delays</a:t>
            </a:r>
          </a:p>
          <a:p>
            <a:r>
              <a:rPr lang="en-US" dirty="0"/>
              <a:t> </a:t>
            </a:r>
          </a:p>
        </p:txBody>
      </p:sp>
    </p:spTree>
    <p:extLst>
      <p:ext uri="{BB962C8B-B14F-4D97-AF65-F5344CB8AC3E}">
        <p14:creationId xmlns:p14="http://schemas.microsoft.com/office/powerpoint/2010/main" val="147363494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Token Bus (IEEE 802.4)</a:t>
            </a:r>
            <a:endParaRPr lang="en-US" dirty="0"/>
          </a:p>
        </p:txBody>
      </p:sp>
      <p:sp>
        <p:nvSpPr>
          <p:cNvPr id="3" name="Content Placeholder 2"/>
          <p:cNvSpPr>
            <a:spLocks noGrp="1"/>
          </p:cNvSpPr>
          <p:nvPr>
            <p:ph idx="1"/>
          </p:nvPr>
        </p:nvSpPr>
        <p:spPr>
          <a:xfrm>
            <a:off x="1295401" y="2556932"/>
            <a:ext cx="7445927" cy="3318936"/>
          </a:xfrm>
        </p:spPr>
        <p:txBody>
          <a:bodyPr>
            <a:normAutofit fontScale="70000" lnSpcReduction="20000"/>
          </a:bodyPr>
          <a:lstStyle/>
          <a:p>
            <a:pPr fontAlgn="base"/>
            <a:r>
              <a:rPr lang="en-US" b="1" dirty="0"/>
              <a:t>Token Bus (IEEE 802.4)</a:t>
            </a:r>
            <a:r>
              <a:rPr lang="en-US" dirty="0"/>
              <a:t> is a popular standard for token passing LANs. In a token bus LAN, the physical media is a bus or a tree, and a logical ring is created using a coaxial cable. The token is passed from one user to another in a sequence (clockwise or anticlockwise). Each station knows the address of the station to its "left" and "right" as per the sequence in the logical ring. A station can only transmit data when it has the token. The working of a token bus is somewhat similar to </a:t>
            </a:r>
            <a:r>
              <a:rPr lang="en-US" u="sng" dirty="0">
                <a:hlinkClick r:id="rId2"/>
              </a:rPr>
              <a:t>Token Ring</a:t>
            </a:r>
            <a:r>
              <a:rPr lang="en-US" dirty="0"/>
              <a:t>. </a:t>
            </a:r>
          </a:p>
          <a:p>
            <a:pPr fontAlgn="base"/>
            <a:r>
              <a:rPr lang="en-US" dirty="0"/>
              <a:t>The Token Bus (IEEE 802.4) is a standard for deploying token rings in LANs over a virtual ring. The physical medium uses coaxial cables and has a bus or tree architecture. The nodes/stations form a virtual ring, and the token is transmitted from one node to the next in a sequence along the virtual ring. Each node knows the address of the station before it and the station after it. When a station has the token, it can only broadcast data. </a:t>
            </a:r>
            <a:r>
              <a:rPr lang="en-US" b="1" dirty="0"/>
              <a:t>The token bus works in a similar way as the Token Ring.</a:t>
            </a:r>
            <a:endParaRPr lang="en-US" dirty="0"/>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0386" y="2417209"/>
            <a:ext cx="2567032" cy="2828925"/>
          </a:xfrm>
          <a:prstGeom prst="rect">
            <a:avLst/>
          </a:prstGeom>
        </p:spPr>
      </p:pic>
    </p:spTree>
    <p:extLst>
      <p:ext uri="{BB962C8B-B14F-4D97-AF65-F5344CB8AC3E}">
        <p14:creationId xmlns:p14="http://schemas.microsoft.com/office/powerpoint/2010/main" val="144957467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 Format</a:t>
            </a:r>
            <a:endParaRPr lang="en-US" dirty="0"/>
          </a:p>
        </p:txBody>
      </p:sp>
      <p:sp>
        <p:nvSpPr>
          <p:cNvPr id="3" name="Content Placeholder 2"/>
          <p:cNvSpPr>
            <a:spLocks noGrp="1"/>
          </p:cNvSpPr>
          <p:nvPr>
            <p:ph idx="1"/>
          </p:nvPr>
        </p:nvSpPr>
        <p:spPr>
          <a:xfrm>
            <a:off x="1295401" y="2556932"/>
            <a:ext cx="6925810" cy="3318936"/>
          </a:xfrm>
        </p:spPr>
        <p:txBody>
          <a:bodyPr>
            <a:normAutofit fontScale="62500" lnSpcReduction="20000"/>
          </a:bodyPr>
          <a:lstStyle/>
          <a:p>
            <a:pPr fontAlgn="base"/>
            <a:r>
              <a:rPr lang="en-US" b="1" dirty="0"/>
              <a:t>Preamble -</a:t>
            </a:r>
            <a:r>
              <a:rPr lang="en-US" dirty="0"/>
              <a:t> It is used for bit synchronization. It is a 1-byte field. </a:t>
            </a:r>
          </a:p>
          <a:p>
            <a:pPr fontAlgn="base"/>
            <a:r>
              <a:rPr lang="en-US" b="1" dirty="0"/>
              <a:t>Start Delimiter -</a:t>
            </a:r>
            <a:r>
              <a:rPr lang="en-US" dirty="0"/>
              <a:t> These bits mark the beginning of the frame. It is a 1-byte field. </a:t>
            </a:r>
          </a:p>
          <a:p>
            <a:pPr fontAlgn="base"/>
            <a:r>
              <a:rPr lang="en-US" b="1" dirty="0"/>
              <a:t>Frame Control -</a:t>
            </a:r>
            <a:r>
              <a:rPr lang="en-US" dirty="0"/>
              <a:t> This field specifies the type of frame - data frame and control frames. It is a 1-byte field. </a:t>
            </a:r>
          </a:p>
          <a:p>
            <a:pPr fontAlgn="base"/>
            <a:r>
              <a:rPr lang="en-US" b="1" dirty="0"/>
              <a:t>Destination Address -</a:t>
            </a:r>
            <a:r>
              <a:rPr lang="en-US" dirty="0"/>
              <a:t> This field contains the destination address. It is a 2 to 6 bytes field. </a:t>
            </a:r>
          </a:p>
          <a:p>
            <a:pPr fontAlgn="base"/>
            <a:r>
              <a:rPr lang="en-US" b="1" dirty="0"/>
              <a:t>Source Address -</a:t>
            </a:r>
            <a:r>
              <a:rPr lang="en-US" dirty="0"/>
              <a:t> This field contains the source address. It is a 2 to 6 bytes field. </a:t>
            </a:r>
          </a:p>
          <a:p>
            <a:pPr fontAlgn="base"/>
            <a:r>
              <a:rPr lang="en-US" b="1" dirty="0"/>
              <a:t>Data -</a:t>
            </a:r>
            <a:r>
              <a:rPr lang="en-US" dirty="0"/>
              <a:t> If 2-byte addresses are used then the field may be up to 8182 bytes and 8174 bytes in the case of 6-byte addresses. </a:t>
            </a:r>
          </a:p>
          <a:p>
            <a:pPr fontAlgn="base"/>
            <a:r>
              <a:rPr lang="en-US" b="1" dirty="0"/>
              <a:t>Checksum -</a:t>
            </a:r>
            <a:r>
              <a:rPr lang="en-US" dirty="0"/>
              <a:t> This field contains the checksum bits which are used to detect errors in the transmitted data. It is 4 bytes field. </a:t>
            </a:r>
          </a:p>
          <a:p>
            <a:pPr fontAlgn="base"/>
            <a:r>
              <a:rPr lang="en-US" b="1" dirty="0"/>
              <a:t>End Delimiter -</a:t>
            </a:r>
            <a:r>
              <a:rPr lang="en-US" dirty="0"/>
              <a:t> This field marks the end of a frame. It is a 1-byte field.</a:t>
            </a:r>
          </a:p>
          <a:p>
            <a:endParaRPr lang="en-US" dirty="0"/>
          </a:p>
        </p:txBody>
      </p:sp>
      <p:pic>
        <p:nvPicPr>
          <p:cNvPr id="1026" name="Picture 2" descr="https://media.geeksforgeeks.org/wp-content/uploads/555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3506" y="2870826"/>
            <a:ext cx="3686582" cy="1608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64655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Characteristics</a:t>
            </a:r>
            <a:r>
              <a:rPr lang="en-US" dirty="0"/>
              <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pPr fontAlgn="base"/>
            <a:r>
              <a:rPr lang="en-US" dirty="0" smtClean="0"/>
              <a:t>Bus </a:t>
            </a:r>
            <a:r>
              <a:rPr lang="en-US" dirty="0"/>
              <a:t>Topology: Token Bus uses a bus topology, where all devices on the network are connected to a single cable or "bus".</a:t>
            </a:r>
          </a:p>
          <a:p>
            <a:pPr fontAlgn="base"/>
            <a:r>
              <a:rPr lang="en-US" dirty="0"/>
              <a:t>Token Passing: A "token" is passed around the network, which gives permission for a device to transmit data.</a:t>
            </a:r>
          </a:p>
          <a:p>
            <a:pPr fontAlgn="base"/>
            <a:r>
              <a:rPr lang="en-US" dirty="0"/>
              <a:t>Priority Levels: Token Bus uses three priority levels to prioritize data transmission. The highest priority level is reserved for control messages and the lowest for data transmission.</a:t>
            </a:r>
          </a:p>
          <a:p>
            <a:pPr fontAlgn="base"/>
            <a:r>
              <a:rPr lang="en-US" dirty="0"/>
              <a:t>Collision Detection: Token Bus employs a collision detection mechanism to ensure that two devices do not transmit data at the same time.</a:t>
            </a:r>
          </a:p>
          <a:p>
            <a:pPr fontAlgn="base"/>
            <a:r>
              <a:rPr lang="en-US" dirty="0"/>
              <a:t>Maximum Cable Length: The maximum cable length for Token Bus is limited to 1000 meters.</a:t>
            </a:r>
          </a:p>
          <a:p>
            <a:pPr fontAlgn="base"/>
            <a:r>
              <a:rPr lang="en-US" dirty="0"/>
              <a:t>Data Transmission Rates: Token Bus can transmit data at speeds of up to 10 Mbps.</a:t>
            </a:r>
          </a:p>
          <a:p>
            <a:pPr fontAlgn="base"/>
            <a:r>
              <a:rPr lang="en-US" dirty="0"/>
              <a:t>Limited Network Size: Token Bus is typically used for small to medium-sized networks with up to 72 devices.</a:t>
            </a:r>
          </a:p>
          <a:p>
            <a:pPr fontAlgn="base"/>
            <a:r>
              <a:rPr lang="en-US" dirty="0"/>
              <a:t>No Centralized Control: Token Bus does not require a central controller to manage network access, which can make it more flexible and easier to implement.</a:t>
            </a:r>
          </a:p>
          <a:p>
            <a:pPr fontAlgn="base"/>
            <a:r>
              <a:rPr lang="en-US" dirty="0"/>
              <a:t>Vulnerable to Network Failure: If the token is lost or a device fails, the network can become congested or fail altogether.</a:t>
            </a:r>
          </a:p>
          <a:p>
            <a:pPr fontAlgn="base"/>
            <a:r>
              <a:rPr lang="en-US" dirty="0"/>
              <a:t>Security: Token Bus has limited security features, and unauthorized devices can potentially gain access to the network.</a:t>
            </a:r>
          </a:p>
        </p:txBody>
      </p:sp>
    </p:spTree>
    <p:extLst>
      <p:ext uri="{BB962C8B-B14F-4D97-AF65-F5344CB8AC3E}">
        <p14:creationId xmlns:p14="http://schemas.microsoft.com/office/powerpoint/2010/main" val="36174114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and Disadvantages</a:t>
            </a:r>
            <a:endParaRPr lang="en-US" dirty="0"/>
          </a:p>
        </p:txBody>
      </p:sp>
      <p:sp>
        <p:nvSpPr>
          <p:cNvPr id="3" name="Content Placeholder 2"/>
          <p:cNvSpPr>
            <a:spLocks noGrp="1"/>
          </p:cNvSpPr>
          <p:nvPr>
            <p:ph idx="1"/>
          </p:nvPr>
        </p:nvSpPr>
        <p:spPr>
          <a:xfrm>
            <a:off x="1152788" y="2389152"/>
            <a:ext cx="9601196" cy="3318936"/>
          </a:xfrm>
        </p:spPr>
        <p:txBody>
          <a:bodyPr>
            <a:noAutofit/>
          </a:bodyPr>
          <a:lstStyle/>
          <a:p>
            <a:pPr fontAlgn="base"/>
            <a:r>
              <a:rPr lang="en-US" sz="1200" b="1" dirty="0"/>
              <a:t>Advantages:</a:t>
            </a:r>
            <a:endParaRPr lang="en-US" sz="1200" dirty="0"/>
          </a:p>
          <a:p>
            <a:pPr fontAlgn="base"/>
            <a:r>
              <a:rPr lang="en-US" sz="1200" dirty="0"/>
              <a:t>Token Bus provides a fair access mechanism, which ensures that each device gets an equal opportunity to transmit data.</a:t>
            </a:r>
          </a:p>
          <a:p>
            <a:pPr fontAlgn="base"/>
            <a:r>
              <a:rPr lang="en-US" sz="1200" dirty="0"/>
              <a:t>It supports a large number of nodes (up to 72 nodes), which makes it suitable for use in large networks.</a:t>
            </a:r>
          </a:p>
          <a:p>
            <a:pPr fontAlgn="base"/>
            <a:r>
              <a:rPr lang="en-US" sz="1200" dirty="0"/>
              <a:t>Token Bus is a deterministic protocol, which means that the time required for a device to access the network is predictable.</a:t>
            </a:r>
          </a:p>
          <a:p>
            <a:pPr fontAlgn="base"/>
            <a:r>
              <a:rPr lang="en-US" sz="1200" dirty="0"/>
              <a:t>It provides a high level of reliability and fault tolerance, as a single point of failure (such as a broken cable) does not affect the entire network.</a:t>
            </a:r>
          </a:p>
          <a:p>
            <a:pPr fontAlgn="base"/>
            <a:r>
              <a:rPr lang="en-US" sz="1200" dirty="0"/>
              <a:t>Token Bus is a standardized protocol, which ensures interoperability between devices from different vendors.</a:t>
            </a:r>
          </a:p>
          <a:p>
            <a:pPr fontAlgn="base"/>
            <a:r>
              <a:rPr lang="en-US" sz="1200" b="1" dirty="0"/>
              <a:t>Disadvantages:</a:t>
            </a:r>
            <a:endParaRPr lang="en-US" sz="1200" dirty="0"/>
          </a:p>
          <a:p>
            <a:pPr fontAlgn="base"/>
            <a:r>
              <a:rPr lang="en-US" sz="1200" dirty="0"/>
              <a:t>Token Bus has a relatively low data transfer rate compared to other LAN protocols, such as Ethernet.</a:t>
            </a:r>
          </a:p>
          <a:p>
            <a:pPr fontAlgn="base"/>
            <a:r>
              <a:rPr lang="en-US" sz="1200" dirty="0"/>
              <a:t>It requires a strict physical layout of the network, with a maximum length of 2500 meters and a maximum of 8 taps (devices) between any two active nodes.</a:t>
            </a:r>
          </a:p>
          <a:p>
            <a:pPr fontAlgn="base"/>
            <a:r>
              <a:rPr lang="en-US" sz="1200" dirty="0"/>
              <a:t>Token Bus has a complex protocol, which requires a high level of expertise to design and implement.</a:t>
            </a:r>
          </a:p>
          <a:p>
            <a:pPr fontAlgn="base"/>
            <a:r>
              <a:rPr lang="en-US" sz="1200" dirty="0"/>
              <a:t>It is susceptible to collisions, as multiple devices may try to access the network at the same time.</a:t>
            </a:r>
          </a:p>
          <a:p>
            <a:pPr fontAlgn="base"/>
            <a:r>
              <a:rPr lang="en-US" sz="1200" dirty="0"/>
              <a:t>Token Bus requires a dedicated token, which can result in increased latency and decreased network performance.</a:t>
            </a:r>
          </a:p>
        </p:txBody>
      </p:sp>
    </p:spTree>
    <p:extLst>
      <p:ext uri="{BB962C8B-B14F-4D97-AF65-F5344CB8AC3E}">
        <p14:creationId xmlns:p14="http://schemas.microsoft.com/office/powerpoint/2010/main" val="109581153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Token Ring Network (IEEE Standard 802.5)</a:t>
            </a:r>
          </a:p>
        </p:txBody>
      </p:sp>
      <p:sp>
        <p:nvSpPr>
          <p:cNvPr id="3" name="Content Placeholder 2"/>
          <p:cNvSpPr>
            <a:spLocks noGrp="1"/>
          </p:cNvSpPr>
          <p:nvPr>
            <p:ph idx="1"/>
          </p:nvPr>
        </p:nvSpPr>
        <p:spPr>
          <a:xfrm>
            <a:off x="1295401" y="2556932"/>
            <a:ext cx="7018089" cy="3318936"/>
          </a:xfrm>
        </p:spPr>
        <p:txBody>
          <a:bodyPr>
            <a:normAutofit fontScale="62500" lnSpcReduction="20000"/>
          </a:bodyPr>
          <a:lstStyle/>
          <a:p>
            <a:r>
              <a:rPr lang="en-US" dirty="0" smtClean="0"/>
              <a:t>In </a:t>
            </a:r>
            <a:r>
              <a:rPr lang="en-US" dirty="0"/>
              <a:t>a token ring, a special bit pattern, known as a token, circulates around the ring when all the stations are idle. Token Ring is formed by the nodes connected in ring format, as shown in the diagram below.</a:t>
            </a:r>
          </a:p>
          <a:p>
            <a:r>
              <a:rPr lang="en-US" dirty="0"/>
              <a:t>The principle used in the token ring network is that a token is circulating in the ring, and whichever node grabs that token will have the right to transmit the data.</a:t>
            </a:r>
          </a:p>
          <a:p>
            <a:r>
              <a:rPr lang="en-US" dirty="0"/>
              <a:t>Whenever a station wants to transmit a frame, it inverts a single bit of the 3-byte token, which instantaneously changes it into a normal data packet. As there is only one token, there can be only one transmission at a time.</a:t>
            </a:r>
          </a:p>
          <a:p>
            <a:r>
              <a:rPr lang="en-US" dirty="0"/>
              <a:t>Since the token rotates in the ring, it is guaranteed that every node gets the token within some specified time. So there is an upper bound on the time of waiting to grab the token so that starvation is avoided. There is also an upper limit of 250 on the number of nodes in the network.</a:t>
            </a:r>
          </a:p>
          <a:p>
            <a:r>
              <a:rPr lang="en-US" dirty="0"/>
              <a:t>The ring network is depicted in the figure given below</a:t>
            </a:r>
          </a:p>
        </p:txBody>
      </p:sp>
      <p:pic>
        <p:nvPicPr>
          <p:cNvPr id="2050" name="Picture 2" descr="Token Ring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8046" y="2443933"/>
            <a:ext cx="3412427" cy="3431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78058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 Ring Frame</a:t>
            </a:r>
            <a:endParaRPr lang="en-US" dirty="0"/>
          </a:p>
        </p:txBody>
      </p:sp>
      <p:sp>
        <p:nvSpPr>
          <p:cNvPr id="3" name="Content Placeholder 2"/>
          <p:cNvSpPr>
            <a:spLocks noGrp="1"/>
          </p:cNvSpPr>
          <p:nvPr>
            <p:ph idx="1"/>
          </p:nvPr>
        </p:nvSpPr>
        <p:spPr>
          <a:xfrm>
            <a:off x="1295401" y="2556932"/>
            <a:ext cx="5843630" cy="3318936"/>
          </a:xfrm>
        </p:spPr>
        <p:txBody>
          <a:bodyPr>
            <a:normAutofit fontScale="70000" lnSpcReduction="20000"/>
          </a:bodyPr>
          <a:lstStyle/>
          <a:p>
            <a:pPr fontAlgn="base"/>
            <a:r>
              <a:rPr lang="en-US" b="1" dirty="0"/>
              <a:t>Start Delimiter (SD) 1 Byte</a:t>
            </a:r>
            <a:r>
              <a:rPr lang="en-US" dirty="0"/>
              <a:t> : Used for the marking the beginning of the frame. This has a unique bit pattern so that the receiving station knows exactly when a new frame starts. It includes symbols to indicate timing and </a:t>
            </a:r>
            <a:r>
              <a:rPr lang="en-US" u="sng" dirty="0">
                <a:hlinkClick r:id="rId2"/>
              </a:rPr>
              <a:t>frame synchronization</a:t>
            </a:r>
            <a:r>
              <a:rPr lang="en-US" dirty="0"/>
              <a:t>.</a:t>
            </a:r>
          </a:p>
          <a:p>
            <a:pPr fontAlgn="base"/>
            <a:r>
              <a:rPr lang="en-US" b="1" dirty="0"/>
              <a:t>Access Control (AC) 1 Byte : </a:t>
            </a:r>
            <a:r>
              <a:rPr lang="en-US" dirty="0"/>
              <a:t>Used to manage token passing and transmission control. Fields Include:</a:t>
            </a:r>
          </a:p>
          <a:p>
            <a:pPr marL="0" lvl="0" indent="0" fontAlgn="base">
              <a:buNone/>
            </a:pPr>
            <a:r>
              <a:rPr lang="en-US" b="1" dirty="0"/>
              <a:t>Priority bits (3 bits):</a:t>
            </a:r>
            <a:r>
              <a:rPr lang="en-US" dirty="0"/>
              <a:t> Used to determine the priority of the frame.</a:t>
            </a:r>
          </a:p>
          <a:p>
            <a:pPr marL="0" lvl="0" indent="0" fontAlgn="base">
              <a:buNone/>
            </a:pPr>
            <a:r>
              <a:rPr lang="en-US" b="1" dirty="0"/>
              <a:t>Token bit (T):</a:t>
            </a:r>
            <a:r>
              <a:rPr lang="en-US" dirty="0"/>
              <a:t> Indicates whether the frame is a token or data.</a:t>
            </a:r>
          </a:p>
          <a:p>
            <a:pPr marL="0" lvl="0" indent="0" fontAlgn="base">
              <a:buNone/>
            </a:pPr>
            <a:r>
              <a:rPr lang="en-US" b="1" dirty="0"/>
              <a:t>Monitor bit (M):</a:t>
            </a:r>
            <a:r>
              <a:rPr lang="en-US" dirty="0"/>
              <a:t> Ensures only one token exists in the ring.</a:t>
            </a:r>
          </a:p>
          <a:p>
            <a:pPr marL="0" lvl="0" indent="0" fontAlgn="base">
              <a:buNone/>
            </a:pPr>
            <a:r>
              <a:rPr lang="en-US" b="1" dirty="0"/>
              <a:t>Reservation bits (3 bits):</a:t>
            </a:r>
            <a:r>
              <a:rPr lang="en-US" dirty="0"/>
              <a:t> Allow a station to reserve the </a:t>
            </a:r>
            <a:r>
              <a:rPr lang="en-US" u="sng" dirty="0">
                <a:hlinkClick r:id="rId3"/>
              </a:rPr>
              <a:t>token</a:t>
            </a:r>
            <a:r>
              <a:rPr lang="en-US" dirty="0"/>
              <a:t> for higher priority transmissions.</a:t>
            </a:r>
          </a:p>
        </p:txBody>
      </p:sp>
      <p:pic>
        <p:nvPicPr>
          <p:cNvPr id="4" name="Picture 3" descr="tok-3"/>
          <p:cNvPicPr/>
          <p:nvPr/>
        </p:nvPicPr>
        <p:blipFill>
          <a:blip r:embed="rId4">
            <a:extLst>
              <a:ext uri="{28A0092B-C50C-407E-A947-70E740481C1C}">
                <a14:useLocalDpi xmlns:a14="http://schemas.microsoft.com/office/drawing/2010/main" val="0"/>
              </a:ext>
            </a:extLst>
          </a:blip>
          <a:srcRect/>
          <a:stretch>
            <a:fillRect/>
          </a:stretch>
        </p:blipFill>
        <p:spPr bwMode="auto">
          <a:xfrm>
            <a:off x="7239699" y="2471945"/>
            <a:ext cx="4380192" cy="1343660"/>
          </a:xfrm>
          <a:prstGeom prst="rect">
            <a:avLst/>
          </a:prstGeom>
          <a:noFill/>
          <a:ln>
            <a:noFill/>
          </a:ln>
        </p:spPr>
      </p:pic>
      <p:pic>
        <p:nvPicPr>
          <p:cNvPr id="5" name="Picture 4" descr="tok"/>
          <p:cNvPicPr/>
          <p:nvPr/>
        </p:nvPicPr>
        <p:blipFill>
          <a:blip r:embed="rId5">
            <a:extLst>
              <a:ext uri="{28A0092B-C50C-407E-A947-70E740481C1C}">
                <a14:useLocalDpi xmlns:a14="http://schemas.microsoft.com/office/drawing/2010/main" val="0"/>
              </a:ext>
            </a:extLst>
          </a:blip>
          <a:srcRect/>
          <a:stretch>
            <a:fillRect/>
          </a:stretch>
        </p:blipFill>
        <p:spPr bwMode="auto">
          <a:xfrm>
            <a:off x="8059731" y="3815605"/>
            <a:ext cx="3068955" cy="2106930"/>
          </a:xfrm>
          <a:prstGeom prst="rect">
            <a:avLst/>
          </a:prstGeom>
          <a:noFill/>
          <a:ln>
            <a:noFill/>
          </a:ln>
        </p:spPr>
      </p:pic>
    </p:spTree>
    <p:extLst>
      <p:ext uri="{BB962C8B-B14F-4D97-AF65-F5344CB8AC3E}">
        <p14:creationId xmlns:p14="http://schemas.microsoft.com/office/powerpoint/2010/main" val="96867836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4674" y="610686"/>
            <a:ext cx="9601196" cy="3318936"/>
          </a:xfrm>
        </p:spPr>
        <p:txBody>
          <a:bodyPr>
            <a:noAutofit/>
          </a:bodyPr>
          <a:lstStyle/>
          <a:p>
            <a:pPr fontAlgn="base"/>
            <a:r>
              <a:rPr lang="en-US" sz="1300" b="1" dirty="0"/>
              <a:t>Frame Control (FC) 1 Byte : </a:t>
            </a:r>
            <a:r>
              <a:rPr lang="en-US" sz="1300" dirty="0"/>
              <a:t>It identifies the type of frame being transmitted. It helps devices interpret the rest of the frame correctly. First 2 bits indicates whether the frame contains data or control information. In control frames, this byte specifies the type of control </a:t>
            </a:r>
            <a:r>
              <a:rPr lang="en-US" sz="1300" dirty="0" err="1"/>
              <a:t>information.Types</a:t>
            </a:r>
            <a:r>
              <a:rPr lang="en-US" sz="1300" dirty="0"/>
              <a:t>:</a:t>
            </a:r>
          </a:p>
          <a:p>
            <a:pPr lvl="0" fontAlgn="base"/>
            <a:r>
              <a:rPr lang="en-US" sz="1300" b="1" dirty="0"/>
              <a:t>Data Frame:</a:t>
            </a:r>
            <a:r>
              <a:rPr lang="en-US" sz="1300" dirty="0"/>
              <a:t> Carries user data.</a:t>
            </a:r>
          </a:p>
          <a:p>
            <a:pPr lvl="0" fontAlgn="base"/>
            <a:r>
              <a:rPr lang="en-US" sz="1300" b="1" dirty="0"/>
              <a:t>MAC Frame:</a:t>
            </a:r>
            <a:r>
              <a:rPr lang="en-US" sz="1300" dirty="0"/>
              <a:t> Used for control purposes such as ring maintenance</a:t>
            </a:r>
            <a:r>
              <a:rPr lang="en-US" sz="1300" dirty="0" smtClean="0"/>
              <a:t>.</a:t>
            </a:r>
          </a:p>
          <a:p>
            <a:pPr fontAlgn="base"/>
            <a:r>
              <a:rPr lang="en-US" sz="1300" b="1" dirty="0"/>
              <a:t>Destination Address (DA) 2 or 6 Bytes : </a:t>
            </a:r>
            <a:r>
              <a:rPr lang="en-US" sz="1300" dirty="0"/>
              <a:t>It specifies the intended receiver’s MAC address. The size depends on whether the network uses 16-bit or 48-bit addressing. This allows unicast, multicast, or broadcast communication.</a:t>
            </a:r>
          </a:p>
          <a:p>
            <a:pPr fontAlgn="base"/>
            <a:r>
              <a:rPr lang="en-US" sz="1300" b="1" dirty="0"/>
              <a:t>Source Address (SA) 2 or 6 Bytes : </a:t>
            </a:r>
            <a:r>
              <a:rPr lang="en-US" sz="1300" dirty="0"/>
              <a:t>It contains the </a:t>
            </a:r>
            <a:r>
              <a:rPr lang="en-US" sz="1300" u="sng" dirty="0">
                <a:hlinkClick r:id="rId2"/>
              </a:rPr>
              <a:t>MAC address</a:t>
            </a:r>
            <a:r>
              <a:rPr lang="en-US" sz="1300" dirty="0"/>
              <a:t> of the sender. It has the same size as the destination address.</a:t>
            </a:r>
          </a:p>
          <a:p>
            <a:pPr fontAlgn="base"/>
            <a:r>
              <a:rPr lang="en-US" sz="1300" b="1" dirty="0"/>
              <a:t>Data Variable Length : </a:t>
            </a:r>
            <a:r>
              <a:rPr lang="en-US" sz="1300" dirty="0"/>
              <a:t>It carries the actual message or payload. It sizes typically up to 4,000 bytes, but can vary based on network configuration. This is the information the sender wants to deliver.</a:t>
            </a:r>
          </a:p>
          <a:p>
            <a:pPr fontAlgn="base"/>
            <a:r>
              <a:rPr lang="en-US" sz="1300" b="1" dirty="0"/>
              <a:t>Frame Check Sequence (FCS) 4 Bytes :</a:t>
            </a:r>
            <a:r>
              <a:rPr lang="en-US" sz="1300" dirty="0"/>
              <a:t> Used for error-checking using </a:t>
            </a:r>
            <a:r>
              <a:rPr lang="en-US" sz="1300" u="sng" dirty="0">
                <a:hlinkClick r:id="rId3"/>
              </a:rPr>
              <a:t>Cyclic Redundancy Check (CRC)</a:t>
            </a:r>
            <a:r>
              <a:rPr lang="en-US" sz="1300" dirty="0"/>
              <a:t>. It ensures the data was not corrupted in transit. The recipient recalculates the CRC and compares it to detect any errors. 32 bit CRC which is used to check for errors in the frame, i.e., whether the frame is corrupted or not. If the frame is corrupted, then its discarded.</a:t>
            </a:r>
          </a:p>
          <a:p>
            <a:pPr fontAlgn="base"/>
            <a:r>
              <a:rPr lang="en-US" sz="1300" b="1" dirty="0"/>
              <a:t>Ending Delimiter (ED) 1 Byte : </a:t>
            </a:r>
            <a:r>
              <a:rPr lang="en-US" sz="1300" dirty="0"/>
              <a:t>It marks the end of the frame allows the receiver to detect when the frame is complete. It has a specific bit pattern that signifies the end of data transmission.</a:t>
            </a:r>
          </a:p>
          <a:p>
            <a:pPr fontAlgn="base"/>
            <a:r>
              <a:rPr lang="en-US" sz="1300" b="1" dirty="0"/>
              <a:t>Frame Status (FS) 1 Byte :</a:t>
            </a:r>
            <a:r>
              <a:rPr lang="en-US" sz="1300" dirty="0"/>
              <a:t> It indicates whether the frame was recognized and copied by the destination.</a:t>
            </a:r>
          </a:p>
          <a:p>
            <a:pPr marL="0" lvl="0" indent="0" fontAlgn="base">
              <a:buNone/>
            </a:pPr>
            <a:r>
              <a:rPr lang="en-US" sz="1300" b="1" dirty="0"/>
              <a:t>A (Address Recognized):</a:t>
            </a:r>
            <a:r>
              <a:rPr lang="en-US" sz="1300" dirty="0"/>
              <a:t> Set by the recipient if it recognizes its address.</a:t>
            </a:r>
          </a:p>
          <a:p>
            <a:pPr marL="0" lvl="0" indent="0" fontAlgn="base">
              <a:buNone/>
            </a:pPr>
            <a:r>
              <a:rPr lang="en-US" sz="1300" b="1" dirty="0"/>
              <a:t>C (Frame Copied):</a:t>
            </a:r>
            <a:r>
              <a:rPr lang="en-US" sz="1300" dirty="0"/>
              <a:t> Set if the frame’s contents were successfully copied.</a:t>
            </a:r>
          </a:p>
          <a:p>
            <a:pPr marL="0" indent="0" fontAlgn="base">
              <a:buNone/>
            </a:pPr>
            <a:r>
              <a:rPr lang="en-US" sz="1300" dirty="0"/>
              <a:t>It makes use of 2 copies of AC bits are used as a error detection mechanism (100% redundancy) as CRC does not cover FS byte so that destination does not have to recalculate CRC when modifying AC bits.</a:t>
            </a:r>
          </a:p>
          <a:p>
            <a:pPr lvl="0" fontAlgn="base"/>
            <a:endParaRPr lang="en-US" sz="1300" dirty="0"/>
          </a:p>
        </p:txBody>
      </p:sp>
    </p:spTree>
    <p:extLst>
      <p:ext uri="{BB962C8B-B14F-4D97-AF65-F5344CB8AC3E}">
        <p14:creationId xmlns:p14="http://schemas.microsoft.com/office/powerpoint/2010/main" val="3334109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1017347"/>
              </p:ext>
            </p:extLst>
          </p:nvPr>
        </p:nvGraphicFramePr>
        <p:xfrm>
          <a:off x="1635852" y="763401"/>
          <a:ext cx="8456103" cy="4965027"/>
        </p:xfrm>
        <a:graphic>
          <a:graphicData uri="http://schemas.openxmlformats.org/drawingml/2006/table">
            <a:tbl>
              <a:tblPr/>
              <a:tblGrid>
                <a:gridCol w="2333637">
                  <a:extLst>
                    <a:ext uri="{9D8B030D-6E8A-4147-A177-3AD203B41FA5}">
                      <a16:colId xmlns:a16="http://schemas.microsoft.com/office/drawing/2014/main" val="2295168815"/>
                    </a:ext>
                  </a:extLst>
                </a:gridCol>
                <a:gridCol w="2074344">
                  <a:extLst>
                    <a:ext uri="{9D8B030D-6E8A-4147-A177-3AD203B41FA5}">
                      <a16:colId xmlns:a16="http://schemas.microsoft.com/office/drawing/2014/main" val="2980349317"/>
                    </a:ext>
                  </a:extLst>
                </a:gridCol>
                <a:gridCol w="4048122">
                  <a:extLst>
                    <a:ext uri="{9D8B030D-6E8A-4147-A177-3AD203B41FA5}">
                      <a16:colId xmlns:a16="http://schemas.microsoft.com/office/drawing/2014/main" val="1882341790"/>
                    </a:ext>
                  </a:extLst>
                </a:gridCol>
              </a:tblGrid>
              <a:tr h="384161">
                <a:tc>
                  <a:txBody>
                    <a:bodyPr/>
                    <a:lstStyle/>
                    <a:p>
                      <a:pPr algn="ctr" fontAlgn="base"/>
                      <a:r>
                        <a:rPr lang="en-US" sz="1100" b="1">
                          <a:effectLst/>
                        </a:rPr>
                        <a:t>Field</a:t>
                      </a:r>
                    </a:p>
                  </a:txBody>
                  <a:tcPr marL="25398" marR="25398" marT="63496" marB="6349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100" b="1">
                          <a:effectLst/>
                        </a:rPr>
                        <a:t>Size</a:t>
                      </a:r>
                    </a:p>
                  </a:txBody>
                  <a:tcPr marL="63496" marR="63496" marT="63496" marB="6349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100" b="1">
                          <a:effectLst/>
                        </a:rPr>
                        <a:t>Purpose</a:t>
                      </a:r>
                    </a:p>
                  </a:txBody>
                  <a:tcPr marL="63496" marR="63496" marT="63496" marB="6349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91268298"/>
                  </a:ext>
                </a:extLst>
              </a:tr>
              <a:tr h="434899">
                <a:tc>
                  <a:txBody>
                    <a:bodyPr/>
                    <a:lstStyle/>
                    <a:p>
                      <a:pPr algn="ctr" fontAlgn="base"/>
                      <a:r>
                        <a:rPr lang="en-US" sz="1800" b="1" dirty="0">
                          <a:effectLst/>
                        </a:rPr>
                        <a:t>Start Delimiter</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1 byte</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Marks frame start, unique bit pattern</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91831195"/>
                  </a:ext>
                </a:extLst>
              </a:tr>
              <a:tr h="434899">
                <a:tc>
                  <a:txBody>
                    <a:bodyPr/>
                    <a:lstStyle/>
                    <a:p>
                      <a:pPr algn="ctr" fontAlgn="base"/>
                      <a:r>
                        <a:rPr lang="en-US" sz="1800" b="1">
                          <a:effectLst/>
                        </a:rPr>
                        <a:t>Access Control</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1 byte</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Manages priority, token status, and ring monitoring</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446523"/>
                  </a:ext>
                </a:extLst>
              </a:tr>
              <a:tr h="434899">
                <a:tc>
                  <a:txBody>
                    <a:bodyPr/>
                    <a:lstStyle/>
                    <a:p>
                      <a:pPr algn="ctr" fontAlgn="base"/>
                      <a:r>
                        <a:rPr lang="en-US" sz="1800" b="1">
                          <a:effectLst/>
                        </a:rPr>
                        <a:t>Frame Control</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1 byte</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Identifies frame type (data or control)</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268427486"/>
                  </a:ext>
                </a:extLst>
              </a:tr>
              <a:tr h="653002">
                <a:tc>
                  <a:txBody>
                    <a:bodyPr/>
                    <a:lstStyle/>
                    <a:p>
                      <a:pPr algn="ctr" fontAlgn="base"/>
                      <a:r>
                        <a:rPr lang="en-US" sz="1800" b="1">
                          <a:effectLst/>
                        </a:rPr>
                        <a:t>Destination Address</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2 or 6 bytes</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Address of the receiver</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13141269"/>
                  </a:ext>
                </a:extLst>
              </a:tr>
              <a:tr h="434899">
                <a:tc>
                  <a:txBody>
                    <a:bodyPr/>
                    <a:lstStyle/>
                    <a:p>
                      <a:pPr algn="ctr" fontAlgn="base"/>
                      <a:r>
                        <a:rPr lang="en-US" sz="1800" b="1">
                          <a:effectLst/>
                        </a:rPr>
                        <a:t>Source Address</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2 or 6 bytes</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Address of the sender</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36312910"/>
                  </a:ext>
                </a:extLst>
              </a:tr>
              <a:tr h="434899">
                <a:tc>
                  <a:txBody>
                    <a:bodyPr/>
                    <a:lstStyle/>
                    <a:p>
                      <a:pPr algn="ctr" fontAlgn="base"/>
                      <a:r>
                        <a:rPr lang="en-US" sz="1800" b="1" dirty="0">
                          <a:effectLst/>
                        </a:rPr>
                        <a:t>Data</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Variable</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Payload (up to 4,000 bytes)</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24197792"/>
                  </a:ext>
                </a:extLst>
              </a:tr>
              <a:tr h="653002">
                <a:tc>
                  <a:txBody>
                    <a:bodyPr/>
                    <a:lstStyle/>
                    <a:p>
                      <a:pPr algn="ctr" fontAlgn="base"/>
                      <a:r>
                        <a:rPr lang="en-US" sz="1800" b="1">
                          <a:effectLst/>
                        </a:rPr>
                        <a:t>Frame Check Sequence</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4 bytes</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Error detection via CRC</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38591394"/>
                  </a:ext>
                </a:extLst>
              </a:tr>
              <a:tr h="434899">
                <a:tc>
                  <a:txBody>
                    <a:bodyPr/>
                    <a:lstStyle/>
                    <a:p>
                      <a:pPr algn="ctr" fontAlgn="base"/>
                      <a:r>
                        <a:rPr lang="en-US" sz="1800" b="1">
                          <a:effectLst/>
                        </a:rPr>
                        <a:t>End Delimiter</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1 byte</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Marks frame end</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70081522"/>
                  </a:ext>
                </a:extLst>
              </a:tr>
              <a:tr h="434899">
                <a:tc>
                  <a:txBody>
                    <a:bodyPr/>
                    <a:lstStyle/>
                    <a:p>
                      <a:pPr algn="ctr" fontAlgn="base"/>
                      <a:r>
                        <a:rPr lang="en-US" sz="1800" b="1">
                          <a:effectLst/>
                        </a:rPr>
                        <a:t>Frame Status</a:t>
                      </a:r>
                    </a:p>
                  </a:txBody>
                  <a:tcPr marL="25398" marR="25398" marT="45933" marB="4593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0" dirty="0">
                          <a:effectLst/>
                        </a:rPr>
                        <a:t>1 byte</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Indicates if frame was recognized and copied</a:t>
                      </a:r>
                    </a:p>
                  </a:txBody>
                  <a:tcPr marL="63496" marR="63496" marT="88894" marB="888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12994400"/>
                  </a:ext>
                </a:extLst>
              </a:tr>
            </a:tbl>
          </a:graphicData>
        </a:graphic>
      </p:graphicFrame>
    </p:spTree>
    <p:extLst>
      <p:ext uri="{BB962C8B-B14F-4D97-AF65-F5344CB8AC3E}">
        <p14:creationId xmlns:p14="http://schemas.microsoft.com/office/powerpoint/2010/main" val="68799754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Fiber Distributed Data Interface</a:t>
            </a:r>
          </a:p>
        </p:txBody>
      </p:sp>
      <p:sp>
        <p:nvSpPr>
          <p:cNvPr id="3" name="Content Placeholder 2"/>
          <p:cNvSpPr>
            <a:spLocks noGrp="1"/>
          </p:cNvSpPr>
          <p:nvPr>
            <p:ph idx="1"/>
          </p:nvPr>
        </p:nvSpPr>
        <p:spPr>
          <a:xfrm>
            <a:off x="943064" y="2397541"/>
            <a:ext cx="6346970" cy="3318936"/>
          </a:xfrm>
        </p:spPr>
        <p:txBody>
          <a:bodyPr>
            <a:noAutofit/>
          </a:bodyPr>
          <a:lstStyle/>
          <a:p>
            <a:pPr algn="just"/>
            <a:r>
              <a:rPr lang="en-US" sz="1400" dirty="0"/>
              <a:t>FDDI stands for Fiber Distributed Data Interface. It is a collection of ANSI and ISO standards for data transmission on fiber-optic lines in a local area network (LAN) that can broaden in the range up to 200 km (124 miles). The FDDI protocol depends on the token ring protocol.</a:t>
            </a:r>
          </a:p>
          <a:p>
            <a:pPr algn="just"/>
            <a:r>
              <a:rPr lang="en-US" sz="1400" dirty="0"/>
              <a:t>FDDI cabling consists of two fiber rings, one transmitting clockwise and the other transmitting counterclockwise. Fiber Distributed Data Interface (FDDI) is generally implemented as a dual token-passing ring within a ring topology (for campus networks) or star topology (inside a building). The dual ring includes a primary and secondary ring.</a:t>
            </a:r>
          </a:p>
          <a:p>
            <a:pPr algn="just"/>
            <a:r>
              <a:rPr lang="en-US" sz="1400" dirty="0"/>
              <a:t>The primary ring transport data. The counter-rotating secondary ring can hold data in the opposite direction but is more frequently reserved as an alternative in case the primary ring goes below. This supports FDDI with the cost of fault tolerance essential for network backbones.</a:t>
            </a:r>
          </a:p>
          <a:p>
            <a:pPr algn="just"/>
            <a:r>
              <a:rPr lang="en-US" sz="1400" dirty="0"/>
              <a:t>FDDI allows nodes to connect to the network by means of a single cable, such nodes are called single attainment (SAS), and their dual-connected counterpart is called dual attachment station (DAS).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7153" y="1978796"/>
            <a:ext cx="3152775" cy="3990975"/>
          </a:xfrm>
          <a:prstGeom prst="rect">
            <a:avLst/>
          </a:prstGeom>
        </p:spPr>
      </p:pic>
    </p:spTree>
    <p:extLst>
      <p:ext uri="{BB962C8B-B14F-4D97-AF65-F5344CB8AC3E}">
        <p14:creationId xmlns:p14="http://schemas.microsoft.com/office/powerpoint/2010/main" val="379149519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8050" y="982132"/>
            <a:ext cx="7515053" cy="4273041"/>
          </a:xfrm>
        </p:spPr>
      </p:pic>
    </p:spTree>
    <p:extLst>
      <p:ext uri="{BB962C8B-B14F-4D97-AF65-F5344CB8AC3E}">
        <p14:creationId xmlns:p14="http://schemas.microsoft.com/office/powerpoint/2010/main" val="217903571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There are two types of traffic in FDDI, which are as follows−</a:t>
            </a:r>
          </a:p>
          <a:p>
            <a:r>
              <a:rPr lang="en-US" b="1" dirty="0"/>
              <a:t>Synchronous FDDI:</a:t>
            </a:r>
            <a:r>
              <a:rPr lang="en-US" dirty="0"/>
              <a:t> It means that the traffic is delay sensitive, used to send voice or video. Whenever a node receives a token, it is allowed to send synchronous data without regard to whether the token is early or late.</a:t>
            </a:r>
          </a:p>
          <a:p>
            <a:r>
              <a:rPr lang="en-US" b="1" dirty="0"/>
              <a:t>Asynchronous FDDI:</a:t>
            </a:r>
            <a:r>
              <a:rPr lang="en-US" dirty="0"/>
              <a:t> It is used only when the token is early.</a:t>
            </a:r>
          </a:p>
          <a:p>
            <a:r>
              <a:rPr lang="en-US" dirty="0"/>
              <a:t>In the FDDI mechanism, Token is always in circulation &amp; different from 802.5. All rings on FDDI monitor that token is not lost. FDDI MAC protocol uses three timers as the first one is holding a timer to determine how long a station may-continue to transmit once it has acquired a token.</a:t>
            </a:r>
          </a:p>
          <a:p>
            <a:r>
              <a:rPr lang="en-US" dirty="0"/>
              <a:t>The second rotation timer is restarted every time the token is seen. If the timer expires, it means that the one has not been sighted for two Rings on interval or has been lost. The third timer is the transmission timer used to time out and recover from certain transient ring errors.</a:t>
            </a:r>
          </a:p>
        </p:txBody>
      </p:sp>
    </p:spTree>
    <p:extLst>
      <p:ext uri="{BB962C8B-B14F-4D97-AF65-F5344CB8AC3E}">
        <p14:creationId xmlns:p14="http://schemas.microsoft.com/office/powerpoint/2010/main" val="290049840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452" y="780796"/>
            <a:ext cx="9580228" cy="1303867"/>
          </a:xfrm>
        </p:spPr>
        <p:txBody>
          <a:bodyPr/>
          <a:lstStyle/>
          <a:p>
            <a:r>
              <a:rPr lang="en-US" dirty="0"/>
              <a:t>Features</a:t>
            </a:r>
          </a:p>
        </p:txBody>
      </p:sp>
      <p:sp>
        <p:nvSpPr>
          <p:cNvPr id="3" name="Content Placeholder 2"/>
          <p:cNvSpPr>
            <a:spLocks noGrp="1"/>
          </p:cNvSpPr>
          <p:nvPr>
            <p:ph idx="1"/>
          </p:nvPr>
        </p:nvSpPr>
        <p:spPr>
          <a:xfrm>
            <a:off x="1068897" y="2431097"/>
            <a:ext cx="10105237" cy="3318936"/>
          </a:xfrm>
        </p:spPr>
        <p:txBody>
          <a:bodyPr>
            <a:noAutofit/>
          </a:bodyPr>
          <a:lstStyle/>
          <a:p>
            <a:r>
              <a:rPr lang="en-US" sz="1600" dirty="0" smtClean="0"/>
              <a:t>FDDI </a:t>
            </a:r>
            <a:r>
              <a:rPr lang="en-US" sz="1600" dirty="0"/>
              <a:t>uses optical fiber as its physical medium.</a:t>
            </a:r>
          </a:p>
          <a:p>
            <a:r>
              <a:rPr lang="en-US" sz="1600" dirty="0"/>
              <a:t>It operates in the physical and medium access control (</a:t>
            </a:r>
            <a:r>
              <a:rPr lang="en-US" sz="1600" b="1" dirty="0">
                <a:hlinkClick r:id="rId2"/>
              </a:rPr>
              <a:t>MAC layer</a:t>
            </a:r>
            <a:r>
              <a:rPr lang="en-US" sz="1600" dirty="0"/>
              <a:t>) of the </a:t>
            </a:r>
            <a:r>
              <a:rPr lang="en-US" sz="1600" b="1" dirty="0">
                <a:hlinkClick r:id="rId3"/>
              </a:rPr>
              <a:t>Open Systems Interconnection (OSI) network model</a:t>
            </a:r>
            <a:r>
              <a:rPr lang="en-US" sz="1600" dirty="0"/>
              <a:t>.</a:t>
            </a:r>
          </a:p>
          <a:p>
            <a:r>
              <a:rPr lang="en-US" sz="1600" dirty="0"/>
              <a:t>It provides high data rate of 100 Mbps and can support thousands of users.</a:t>
            </a:r>
          </a:p>
          <a:p>
            <a:r>
              <a:rPr lang="en-US" sz="1600" dirty="0"/>
              <a:t>It is used in LANs up to 200 kilometers for long distance voice and multimedia communication.</a:t>
            </a:r>
          </a:p>
          <a:p>
            <a:r>
              <a:rPr lang="en-US" sz="1600" dirty="0"/>
              <a:t>It uses ring based token passing mechanism and is derived from IEEE 802.4 token bus standard.</a:t>
            </a:r>
          </a:p>
          <a:p>
            <a:r>
              <a:rPr lang="en-US" sz="1600" dirty="0"/>
              <a:t>It contains two token rings, a primary ring for data and token transmission and a secondary ring that provides backup if the primary ring fails.</a:t>
            </a:r>
          </a:p>
          <a:p>
            <a:r>
              <a:rPr lang="en-US" sz="1600" dirty="0"/>
              <a:t>FDDI technology can also be used as a backbone for a </a:t>
            </a:r>
            <a:r>
              <a:rPr lang="en-US" sz="1600" b="1" dirty="0">
                <a:hlinkClick r:id="rId4"/>
              </a:rPr>
              <a:t>wide area network (WAN)</a:t>
            </a:r>
            <a:r>
              <a:rPr lang="en-US" sz="1600" dirty="0"/>
              <a:t>.</a:t>
            </a:r>
          </a:p>
          <a:p>
            <a:endParaRPr lang="en-US" sz="1600" dirty="0"/>
          </a:p>
        </p:txBody>
      </p:sp>
    </p:spTree>
    <p:extLst>
      <p:ext uri="{BB962C8B-B14F-4D97-AF65-F5344CB8AC3E}">
        <p14:creationId xmlns:p14="http://schemas.microsoft.com/office/powerpoint/2010/main" val="233670965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 Format</a:t>
            </a:r>
            <a:endParaRPr lang="en-US" dirty="0"/>
          </a:p>
        </p:txBody>
      </p:sp>
      <p:sp>
        <p:nvSpPr>
          <p:cNvPr id="3" name="Content Placeholder 2"/>
          <p:cNvSpPr>
            <a:spLocks noGrp="1"/>
          </p:cNvSpPr>
          <p:nvPr>
            <p:ph idx="1"/>
          </p:nvPr>
        </p:nvSpPr>
        <p:spPr>
          <a:xfrm>
            <a:off x="1295401" y="2556932"/>
            <a:ext cx="5382236" cy="3318936"/>
          </a:xfrm>
        </p:spPr>
        <p:txBody>
          <a:bodyPr>
            <a:noAutofit/>
          </a:bodyPr>
          <a:lstStyle/>
          <a:p>
            <a:r>
              <a:rPr lang="en-US" sz="1400" dirty="0"/>
              <a:t>The fields of an FDDI frame are −</a:t>
            </a:r>
          </a:p>
          <a:p>
            <a:r>
              <a:rPr lang="en-US" sz="1400" b="1" dirty="0"/>
              <a:t>Preamble:</a:t>
            </a:r>
            <a:r>
              <a:rPr lang="en-US" sz="1400" dirty="0"/>
              <a:t> 1 byte for synchronization.</a:t>
            </a:r>
          </a:p>
          <a:p>
            <a:r>
              <a:rPr lang="en-US" sz="1400" b="1" dirty="0"/>
              <a:t>Start Delimiter:</a:t>
            </a:r>
            <a:r>
              <a:rPr lang="en-US" sz="1400" dirty="0"/>
              <a:t> 1 byte that marks the beginning of the frame.</a:t>
            </a:r>
          </a:p>
          <a:p>
            <a:r>
              <a:rPr lang="en-US" sz="1400" b="1" dirty="0"/>
              <a:t>Frame Control:</a:t>
            </a:r>
            <a:r>
              <a:rPr lang="en-US" sz="1400" dirty="0"/>
              <a:t> 1 byte that specifies whether this is a data frame or control frame.</a:t>
            </a:r>
          </a:p>
          <a:p>
            <a:r>
              <a:rPr lang="en-US" sz="1400" b="1" dirty="0"/>
              <a:t>Destination Address:</a:t>
            </a:r>
            <a:r>
              <a:rPr lang="en-US" sz="1400" dirty="0"/>
              <a:t> 2-6 bytes that specifies address of destination station.</a:t>
            </a:r>
          </a:p>
          <a:p>
            <a:r>
              <a:rPr lang="en-US" sz="1400" b="1" dirty="0"/>
              <a:t>Source Address:</a:t>
            </a:r>
            <a:r>
              <a:rPr lang="en-US" sz="1400" dirty="0"/>
              <a:t> 2-6 bytes that specifies address of source station.</a:t>
            </a:r>
          </a:p>
          <a:p>
            <a:r>
              <a:rPr lang="en-US" sz="1400" b="1" dirty="0"/>
              <a:t>Payload:</a:t>
            </a:r>
            <a:r>
              <a:rPr lang="en-US" sz="1400" dirty="0"/>
              <a:t> A variable length field that carries the data from the network layer.</a:t>
            </a:r>
          </a:p>
          <a:p>
            <a:r>
              <a:rPr lang="en-US" sz="1400" b="1" dirty="0"/>
              <a:t>Checksum:</a:t>
            </a:r>
            <a:r>
              <a:rPr lang="en-US" sz="1400" dirty="0"/>
              <a:t> 4 bytes frame check sequence for error detection.</a:t>
            </a:r>
          </a:p>
          <a:p>
            <a:r>
              <a:rPr lang="en-US" sz="1400" b="1" dirty="0"/>
              <a:t>End Delimiter:</a:t>
            </a:r>
            <a:r>
              <a:rPr lang="en-US" sz="1400" dirty="0"/>
              <a:t> 1 byte that marks the end of the frame.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638" y="2689326"/>
            <a:ext cx="4437776" cy="2486025"/>
          </a:xfrm>
          <a:prstGeom prst="rect">
            <a:avLst/>
          </a:prstGeom>
        </p:spPr>
      </p:pic>
    </p:spTree>
    <p:extLst>
      <p:ext uri="{BB962C8B-B14F-4D97-AF65-F5344CB8AC3E}">
        <p14:creationId xmlns:p14="http://schemas.microsoft.com/office/powerpoint/2010/main" val="250691879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5952" y="1038525"/>
            <a:ext cx="9065001" cy="3318936"/>
          </a:xfrm>
        </p:spPr>
        <p:txBody>
          <a:bodyPr>
            <a:noAutofit/>
          </a:bodyPr>
          <a:lstStyle/>
          <a:p>
            <a:r>
              <a:rPr lang="en-US" sz="1600" b="1" dirty="0"/>
              <a:t>Advantages of FDDI</a:t>
            </a:r>
          </a:p>
          <a:p>
            <a:r>
              <a:rPr lang="en-US" sz="1600" dirty="0" err="1"/>
              <a:t>Fibre</a:t>
            </a:r>
            <a:r>
              <a:rPr lang="en-US" sz="1600" dirty="0"/>
              <a:t> optic cables that enable the transmission of signals across the noteworthy distance of about nearly 200 km.</a:t>
            </a:r>
          </a:p>
          <a:p>
            <a:r>
              <a:rPr lang="en-US" sz="1600" dirty="0"/>
              <a:t>Request is raised at the work stations linked to the chain for the requirements</a:t>
            </a:r>
          </a:p>
          <a:p>
            <a:r>
              <a:rPr lang="en-US" sz="1600" dirty="0"/>
              <a:t>According to the prerequisite usage, some stations are avoided in order to deliver quick benefit for the rest</a:t>
            </a:r>
          </a:p>
          <a:p>
            <a:r>
              <a:rPr lang="en-US" sz="1600" dirty="0"/>
              <a:t>FDDI employs several tokens to meet the speed requirements</a:t>
            </a:r>
          </a:p>
          <a:p>
            <a:r>
              <a:rPr lang="en-US" sz="1600" dirty="0"/>
              <a:t>Transmission capacity is high at up to 250 </a:t>
            </a:r>
            <a:r>
              <a:rPr lang="en-US" sz="1600" dirty="0" err="1"/>
              <a:t>Gbps</a:t>
            </a:r>
            <a:endParaRPr lang="en-US" sz="1600" dirty="0"/>
          </a:p>
          <a:p>
            <a:r>
              <a:rPr lang="en-US" sz="1600" dirty="0"/>
              <a:t>It can manage data rates of up to 100 Mbps</a:t>
            </a:r>
          </a:p>
          <a:p>
            <a:r>
              <a:rPr lang="en-US" sz="1600" dirty="0"/>
              <a:t>FDDI provides complete security as it becomes more troubling to spy on the </a:t>
            </a:r>
            <a:r>
              <a:rPr lang="en-US" sz="1600" dirty="0" err="1"/>
              <a:t>fibre</a:t>
            </a:r>
            <a:r>
              <a:rPr lang="en-US" sz="1600" dirty="0"/>
              <a:t>-optic link</a:t>
            </a:r>
          </a:p>
          <a:p>
            <a:r>
              <a:rPr lang="en-US" sz="1600" dirty="0"/>
              <a:t>The cable is </a:t>
            </a:r>
            <a:r>
              <a:rPr lang="en-US" sz="1600" dirty="0" err="1"/>
              <a:t>fibre</a:t>
            </a:r>
            <a:r>
              <a:rPr lang="en-US" sz="1600" dirty="0"/>
              <a:t>-optic and will not break as easily as the other </a:t>
            </a:r>
            <a:r>
              <a:rPr lang="en-US" sz="1600" dirty="0" smtClean="0"/>
              <a:t>cables</a:t>
            </a:r>
            <a:endParaRPr lang="en-US" sz="1600" dirty="0"/>
          </a:p>
        </p:txBody>
      </p:sp>
      <p:sp>
        <p:nvSpPr>
          <p:cNvPr id="4" name="Rectangle 3"/>
          <p:cNvSpPr/>
          <p:nvPr/>
        </p:nvSpPr>
        <p:spPr>
          <a:xfrm>
            <a:off x="875953" y="4695305"/>
            <a:ext cx="10122014" cy="1200329"/>
          </a:xfrm>
          <a:prstGeom prst="rect">
            <a:avLst/>
          </a:prstGeom>
        </p:spPr>
        <p:txBody>
          <a:bodyPr wrap="square">
            <a:spAutoFit/>
          </a:bodyPr>
          <a:lstStyle/>
          <a:p>
            <a:r>
              <a:rPr lang="en-US" b="1" dirty="0"/>
              <a:t>Disadvantages of FDDI</a:t>
            </a:r>
          </a:p>
          <a:p>
            <a:pPr marL="285750" indent="-285750">
              <a:buFont typeface="Arial" panose="020B0604020202020204" pitchFamily="34" charset="0"/>
              <a:buChar char="•"/>
            </a:pPr>
            <a:r>
              <a:rPr lang="en-US" dirty="0"/>
              <a:t>Because of its complexity, the setting up and support calls for an extensive bargaining of the skills</a:t>
            </a:r>
          </a:p>
          <a:p>
            <a:pPr marL="285750" indent="-285750">
              <a:buFont typeface="Arial" panose="020B0604020202020204" pitchFamily="34" charset="0"/>
              <a:buChar char="•"/>
            </a:pPr>
            <a:r>
              <a:rPr lang="en-US" dirty="0"/>
              <a:t>Since the </a:t>
            </a:r>
            <a:r>
              <a:rPr lang="en-US" dirty="0" err="1"/>
              <a:t>fibre</a:t>
            </a:r>
            <a:r>
              <a:rPr lang="en-US" dirty="0"/>
              <a:t> optic cable, connectors and the concentrators are very expensive, the FDDI will also cost a lot</a:t>
            </a:r>
          </a:p>
        </p:txBody>
      </p:sp>
    </p:spTree>
    <p:extLst>
      <p:ext uri="{BB962C8B-B14F-4D97-AF65-F5344CB8AC3E}">
        <p14:creationId xmlns:p14="http://schemas.microsoft.com/office/powerpoint/2010/main" val="73462308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Ethernet(IEEE 802.3)</a:t>
            </a:r>
            <a:endParaRPr lang="en-US" dirty="0"/>
          </a:p>
        </p:txBody>
      </p:sp>
      <p:sp>
        <p:nvSpPr>
          <p:cNvPr id="3" name="Content Placeholder 2"/>
          <p:cNvSpPr>
            <a:spLocks noGrp="1"/>
          </p:cNvSpPr>
          <p:nvPr>
            <p:ph idx="1"/>
          </p:nvPr>
        </p:nvSpPr>
        <p:spPr/>
        <p:txBody>
          <a:bodyPr>
            <a:normAutofit fontScale="62500" lnSpcReduction="20000"/>
          </a:bodyPr>
          <a:lstStyle/>
          <a:p>
            <a:r>
              <a:rPr lang="en-US" dirty="0"/>
              <a:t>Ethernet describes a technology for cabled data networks that connect software and/or hardware with each other. This mostly takes place via LAN cables, which is why Ethernet is also sometimes referred to as LAN technology. In this way, Ethernet enables data exchanges between end devices. These could be computers, printers, servers, routers, or others. When combined into a local network, these devices establish connections via the Ethernet protocol and can exchange data packages with one another. The current and most widely distributed protocol is IEEE 802.3.</a:t>
            </a:r>
          </a:p>
          <a:p>
            <a:r>
              <a:rPr lang="en-US" dirty="0"/>
              <a:t>Ethernet was developed back in the early 1970s, but the network system was originally only used internally by the company Xerox. At the start of the 1980s, Ethernet was developed into a standardized product. However, Ethernet still wasn’t widely used until the middle of the decade when several manufacturing companies started to work with Ethernet and related products. The </a:t>
            </a:r>
            <a:r>
              <a:rPr lang="en-US" b="1" dirty="0"/>
              <a:t>technology</a:t>
            </a:r>
            <a:r>
              <a:rPr lang="en-US" dirty="0"/>
              <a:t> </a:t>
            </a:r>
            <a:r>
              <a:rPr lang="en-US" b="1" dirty="0"/>
              <a:t>made a significant contribution to the way that the personal computer revolutionized the working world</a:t>
            </a:r>
            <a:r>
              <a:rPr lang="en-US" dirty="0"/>
              <a:t>. Today, the widely-distributed IEEE standard 802.3 is used in offices, private households, containers, and carriers.</a:t>
            </a:r>
          </a:p>
          <a:p>
            <a:r>
              <a:rPr lang="en-US" dirty="0"/>
              <a:t>While the first version of the technology only had a speed of 3 megabits per second, Ethernet protocol today enables speeds of </a:t>
            </a:r>
            <a:r>
              <a:rPr lang="en-US" b="1" dirty="0"/>
              <a:t>up to 1.000 megabits per second</a:t>
            </a:r>
            <a:r>
              <a:rPr lang="en-US" dirty="0"/>
              <a:t>. Earlier Ethernets were limited to a building, but today Ethernet can cover a range of just over 6 miles with the use of fiber optic cables. Over the course of its development, Ethernet has taken over a dominant role among LAN technology and outperformed various competitors. In addition, today real-time Ethernet is the industry standard for communication applications.</a:t>
            </a:r>
          </a:p>
        </p:txBody>
      </p:sp>
    </p:spTree>
    <p:extLst>
      <p:ext uri="{BB962C8B-B14F-4D97-AF65-F5344CB8AC3E}">
        <p14:creationId xmlns:p14="http://schemas.microsoft.com/office/powerpoint/2010/main" val="324873973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Ethernet work?</a:t>
            </a:r>
          </a:p>
        </p:txBody>
      </p:sp>
      <p:sp>
        <p:nvSpPr>
          <p:cNvPr id="3" name="Content Placeholder 2"/>
          <p:cNvSpPr>
            <a:spLocks noGrp="1"/>
          </p:cNvSpPr>
          <p:nvPr>
            <p:ph idx="1"/>
          </p:nvPr>
        </p:nvSpPr>
        <p:spPr>
          <a:xfrm>
            <a:off x="1169566" y="1961314"/>
            <a:ext cx="6212746" cy="3318936"/>
          </a:xfrm>
        </p:spPr>
        <p:txBody>
          <a:bodyPr>
            <a:noAutofit/>
          </a:bodyPr>
          <a:lstStyle/>
          <a:p>
            <a:pPr algn="just"/>
            <a:r>
              <a:rPr lang="en-US" sz="1400" dirty="0"/>
              <a:t>Every device in an Ethernet network receives its own 48-bit address, called the </a:t>
            </a:r>
            <a:r>
              <a:rPr lang="en-US" sz="1400" u="sng" dirty="0">
                <a:hlinkClick r:id="rId2" tooltip="MAC address"/>
              </a:rPr>
              <a:t>MAC address</a:t>
            </a:r>
            <a:r>
              <a:rPr lang="en-US" sz="1400" dirty="0"/>
              <a:t>. Participants in the same network can exchange high-frequency messages. </a:t>
            </a:r>
            <a:endParaRPr lang="en-US" sz="1400" dirty="0" smtClean="0"/>
          </a:p>
          <a:p>
            <a:pPr algn="just"/>
            <a:r>
              <a:rPr lang="en-US" sz="1400" dirty="0" smtClean="0"/>
              <a:t>For </a:t>
            </a:r>
            <a:r>
              <a:rPr lang="en-US" sz="1400" dirty="0"/>
              <a:t>this, Ethernet uses baseband and multiplexing. The smooth </a:t>
            </a:r>
            <a:r>
              <a:rPr lang="en-US" sz="1400" u="sng" dirty="0">
                <a:hlinkClick r:id="rId3" tooltip="CSMA/CD - Carrier Sense Multiple Access / Collision Detection"/>
              </a:rPr>
              <a:t>CSMA/CD </a:t>
            </a:r>
            <a:r>
              <a:rPr lang="en-US" sz="1400" dirty="0"/>
              <a:t>(carrier sense multiple access/collision detection) algorithm is used for communication with one another. The network topology of Ethernet is logical, so the structure can be implemented as a bus or star, for example</a:t>
            </a:r>
            <a:r>
              <a:rPr lang="en-US" sz="1400" dirty="0" smtClean="0"/>
              <a:t>.</a:t>
            </a:r>
          </a:p>
          <a:p>
            <a:pPr algn="just"/>
            <a:r>
              <a:rPr lang="en-US" sz="1400" dirty="0"/>
              <a:t>Communication with this algorithm is similar to a round table discussion, where each participant lets the other speak out. If two messages collide, then the participants try to send them out again at random intervals. Because a communication has to be sent as well as received to be </a:t>
            </a:r>
            <a:r>
              <a:rPr lang="en-US" sz="1400" b="1" dirty="0"/>
              <a:t>successful</a:t>
            </a:r>
            <a:r>
              <a:rPr lang="en-US" sz="1400" dirty="0"/>
              <a:t>, there can’t be any data jams – for example, if a sent message is too strong for a relatively weak reception performance. Otherwise, data may be lost. Signal speed and transfer rates control the smooth communication by defining rules for the data frames.</a:t>
            </a:r>
          </a:p>
          <a:p>
            <a:pPr algn="just"/>
            <a:r>
              <a:rPr lang="en-US" sz="1400" dirty="0"/>
              <a:t>To prevent a data collision, a corresponding </a:t>
            </a:r>
            <a:r>
              <a:rPr lang="en-US" sz="1400" b="1" dirty="0"/>
              <a:t>signal</a:t>
            </a:r>
            <a:r>
              <a:rPr lang="en-US" sz="1400" dirty="0"/>
              <a:t> has to reach the receiver before the data package. Because most networks these days function in full-duplex mode, though, this is rarely a problem. But it was quite important for the earlier development of the Ethernet technology</a:t>
            </a:r>
            <a:r>
              <a:rPr lang="en-US" sz="1400" dirty="0" smtClean="0"/>
              <a:t>.</a:t>
            </a:r>
            <a:endParaRPr lang="en-US" sz="14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8148" y="2067537"/>
            <a:ext cx="3850777" cy="3418863"/>
          </a:xfrm>
          <a:prstGeom prst="rect">
            <a:avLst/>
          </a:prstGeom>
        </p:spPr>
      </p:pic>
    </p:spTree>
    <p:extLst>
      <p:ext uri="{BB962C8B-B14F-4D97-AF65-F5344CB8AC3E}">
        <p14:creationId xmlns:p14="http://schemas.microsoft.com/office/powerpoint/2010/main" val="128946035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7287" y="820411"/>
            <a:ext cx="5742962" cy="3318936"/>
          </a:xfrm>
        </p:spPr>
        <p:txBody>
          <a:bodyPr>
            <a:noAutofit/>
          </a:bodyPr>
          <a:lstStyle/>
          <a:p>
            <a:pPr algn="just"/>
            <a:r>
              <a:rPr lang="en-US" sz="1100" dirty="0"/>
              <a:t>Originally, each message that was sent within a network went to all connected devices. These then had to filter through all received data and decide whether it was relevant to them. This common bus enabled broadcast messages, but also recorded all data traffic for each member – clearly a </a:t>
            </a:r>
            <a:r>
              <a:rPr lang="en-US" sz="1100" b="1" dirty="0"/>
              <a:t>security gap of early Ethernet</a:t>
            </a:r>
            <a:r>
              <a:rPr lang="en-US" sz="1100" dirty="0"/>
              <a:t>. Data could be encrypted, but data traffic itself couldn’t be individually controlled. Hubs also couldn’t close this security gap. Bridges and switches are a solution in modern networks, as they can be used to segment the Ethernet.</a:t>
            </a:r>
          </a:p>
          <a:p>
            <a:pPr algn="just"/>
            <a:r>
              <a:rPr lang="en-US" sz="1100" dirty="0"/>
              <a:t>This technology doesn’t solve all problems, though. Abuse by MAC flooding or MAC spoofing, for example, still poses a danger for the stability of the network and the security of the communicated data packages. Working securely with Ethernet therefore requires </a:t>
            </a:r>
            <a:r>
              <a:rPr lang="en-US" sz="1100" b="1" dirty="0"/>
              <a:t>serious use of all connected systems </a:t>
            </a:r>
            <a:r>
              <a:rPr lang="en-US" sz="1100" dirty="0"/>
              <a:t>and </a:t>
            </a:r>
            <a:r>
              <a:rPr lang="en-US" sz="1100" b="1" dirty="0"/>
              <a:t>regular data analysis</a:t>
            </a:r>
            <a:r>
              <a:rPr lang="en-US" sz="1100" dirty="0"/>
              <a:t> (e.g. LAN analysis) to uncover potential cases of misuse or disturbances.</a:t>
            </a:r>
          </a:p>
          <a:p>
            <a:pPr algn="just"/>
            <a:r>
              <a:rPr lang="en-US" sz="1100" dirty="0"/>
              <a:t>As long as an Ethernet’s data amount isn’t at capacity, it functions well. Capacity utilization rates of more than 50 percent can cause data jams, though. As personal computers developed technologically and continuously increased their data volume, Ethernet networks also had to develop further to keep pace with the </a:t>
            </a:r>
            <a:r>
              <a:rPr lang="en-US" sz="1100" b="1" dirty="0"/>
              <a:t>progress of technology</a:t>
            </a:r>
            <a:r>
              <a:rPr lang="en-US" sz="1100" dirty="0"/>
              <a:t>. Switches are responsible for efficiently dividing data packages and minimizing the risk of collisions. Modern cable technologies like </a:t>
            </a:r>
            <a:r>
              <a:rPr lang="en-US" sz="1100" b="1" dirty="0"/>
              <a:t>twisted pair </a:t>
            </a:r>
            <a:r>
              <a:rPr lang="en-US" sz="1100" dirty="0"/>
              <a:t>and </a:t>
            </a:r>
            <a:r>
              <a:rPr lang="en-US" sz="1100" b="1" dirty="0"/>
              <a:t>fiber optic</a:t>
            </a:r>
            <a:r>
              <a:rPr lang="en-US" sz="1100" dirty="0"/>
              <a:t> have higher transfer rates meet the modern requirements for a network.</a:t>
            </a:r>
          </a:p>
          <a:p>
            <a:pPr algn="just"/>
            <a:r>
              <a:rPr lang="en-US" sz="1100" dirty="0"/>
              <a:t>Another innovation is ‘</a:t>
            </a:r>
            <a:r>
              <a:rPr lang="en-US" sz="1100" b="1" dirty="0"/>
              <a:t>Ethernet flow control</a:t>
            </a:r>
            <a:r>
              <a:rPr lang="en-US" sz="1100" dirty="0"/>
              <a:t>’. With this mechanism, data transfer can temporarily be stopped to alleviate data flow from another location. This is especially practical in full-duplex mode when a network serves a relatively high number of end devices. The flow control for specific members of the network is temporarily cut off to optimize the overall reliability of the network. This can also cause losses in speed, though, which can then be stemmed by other mechanisms such as the transmission control protocol.</a:t>
            </a:r>
          </a:p>
          <a:p>
            <a:pPr algn="just"/>
            <a:r>
              <a:rPr lang="en-US" sz="1100" dirty="0"/>
              <a:t>In the past, Ethernet primarily used conventional coaxial cables. Today, twisted pair copper cables and fiber optical cables are the industry standard, as they enable much faster transfer rates and a larger range. Another advantage is that copper cables can also supply power to connected devices. This method, called ‘</a:t>
            </a:r>
            <a:r>
              <a:rPr lang="en-US" sz="1100" b="1" dirty="0"/>
              <a:t>power over Ethernet</a:t>
            </a:r>
            <a:r>
              <a:rPr lang="en-US" sz="1100" dirty="0"/>
              <a:t>’ (</a:t>
            </a:r>
            <a:r>
              <a:rPr lang="en-US" sz="1100" dirty="0" err="1"/>
              <a:t>PoE</a:t>
            </a:r>
            <a:r>
              <a:rPr lang="en-US" sz="1100" dirty="0"/>
              <a:t>), is specified in IEEE 802.3af and enables energy-efficient networks.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2980" y="620785"/>
            <a:ext cx="3968473" cy="5377343"/>
          </a:xfrm>
          <a:prstGeom prst="rect">
            <a:avLst/>
          </a:prstGeom>
        </p:spPr>
      </p:pic>
    </p:spTree>
    <p:extLst>
      <p:ext uri="{BB962C8B-B14F-4D97-AF65-F5344CB8AC3E}">
        <p14:creationId xmlns:p14="http://schemas.microsoft.com/office/powerpoint/2010/main" val="124039520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682" y="361347"/>
            <a:ext cx="9601196" cy="1303867"/>
          </a:xfrm>
        </p:spPr>
        <p:txBody>
          <a:bodyPr/>
          <a:lstStyle/>
          <a:p>
            <a:r>
              <a:rPr lang="en-US" b="1" dirty="0"/>
              <a:t>Ethernet Evolution (IEEE 802.3) </a:t>
            </a:r>
            <a:endParaRPr lang="en-US" dirty="0"/>
          </a:p>
        </p:txBody>
      </p:sp>
      <p:sp>
        <p:nvSpPr>
          <p:cNvPr id="3" name="Content Placeholder 2"/>
          <p:cNvSpPr>
            <a:spLocks noGrp="1"/>
          </p:cNvSpPr>
          <p:nvPr>
            <p:ph idx="1"/>
          </p:nvPr>
        </p:nvSpPr>
        <p:spPr>
          <a:xfrm>
            <a:off x="1295401" y="2556932"/>
            <a:ext cx="4056775" cy="3318936"/>
          </a:xfrm>
        </p:spPr>
        <p:txBody>
          <a:bodyPr>
            <a:normAutofit fontScale="70000" lnSpcReduction="20000"/>
          </a:bodyPr>
          <a:lstStyle/>
          <a:p>
            <a:r>
              <a:rPr lang="en-US" dirty="0"/>
              <a:t>Ethernet did </a:t>
            </a:r>
            <a:r>
              <a:rPr lang="en-US" b="1" dirty="0"/>
              <a:t>not</a:t>
            </a:r>
            <a:r>
              <a:rPr lang="en-US" dirty="0"/>
              <a:t> evolve just to increase speed.</a:t>
            </a:r>
            <a:br>
              <a:rPr lang="en-US" dirty="0"/>
            </a:br>
            <a:r>
              <a:rPr lang="en-US" dirty="0"/>
              <a:t>It evolved to solve </a:t>
            </a:r>
            <a:r>
              <a:rPr lang="en-US" b="1" dirty="0"/>
              <a:t>four hard problems</a:t>
            </a:r>
            <a:r>
              <a:rPr lang="en-US" dirty="0"/>
              <a:t>:</a:t>
            </a:r>
          </a:p>
          <a:p>
            <a:pPr lvl="0"/>
            <a:r>
              <a:rPr lang="en-US" dirty="0"/>
              <a:t>Collisions</a:t>
            </a:r>
          </a:p>
          <a:p>
            <a:pPr lvl="0"/>
            <a:r>
              <a:rPr lang="en-US" dirty="0"/>
              <a:t>Scalability</a:t>
            </a:r>
          </a:p>
          <a:p>
            <a:pPr lvl="0"/>
            <a:r>
              <a:rPr lang="en-US" dirty="0"/>
              <a:t>Distance</a:t>
            </a:r>
          </a:p>
          <a:p>
            <a:pPr lvl="0"/>
            <a:r>
              <a:rPr lang="en-US" dirty="0"/>
              <a:t>Bandwidth demand</a:t>
            </a:r>
          </a:p>
          <a:p>
            <a:r>
              <a:rPr lang="en-US" dirty="0"/>
              <a:t>Every generation fixes at least one of these.</a:t>
            </a:r>
          </a:p>
          <a:p>
            <a:r>
              <a:rPr lang="en-US" dirty="0"/>
              <a:t> </a:t>
            </a:r>
          </a:p>
        </p:txBody>
      </p:sp>
      <p:sp>
        <p:nvSpPr>
          <p:cNvPr id="4" name="Rectangle 3"/>
          <p:cNvSpPr/>
          <p:nvPr/>
        </p:nvSpPr>
        <p:spPr>
          <a:xfrm>
            <a:off x="5766033" y="1321958"/>
            <a:ext cx="6096000" cy="4801314"/>
          </a:xfrm>
          <a:prstGeom prst="rect">
            <a:avLst/>
          </a:prstGeom>
        </p:spPr>
        <p:txBody>
          <a:bodyPr>
            <a:spAutoFit/>
          </a:bodyPr>
          <a:lstStyle/>
          <a:p>
            <a:r>
              <a:rPr lang="en-US" b="1" dirty="0"/>
              <a:t>1. Original Ethernet (1970s–1980s)</a:t>
            </a:r>
            <a:endParaRPr lang="en-US" dirty="0"/>
          </a:p>
          <a:p>
            <a:r>
              <a:rPr lang="en-US" b="1" dirty="0"/>
              <a:t>10BASE5 (Thick Ethernet)</a:t>
            </a:r>
            <a:endParaRPr lang="en-US" dirty="0"/>
          </a:p>
          <a:p>
            <a:pPr lvl="0"/>
            <a:r>
              <a:rPr lang="en-US" b="1" dirty="0"/>
              <a:t>Standard:</a:t>
            </a:r>
            <a:r>
              <a:rPr lang="en-US" dirty="0"/>
              <a:t> IEEE 802.3</a:t>
            </a:r>
          </a:p>
          <a:p>
            <a:pPr lvl="0"/>
            <a:r>
              <a:rPr lang="en-US" b="1" dirty="0"/>
              <a:t>Speed:</a:t>
            </a:r>
            <a:r>
              <a:rPr lang="en-US" dirty="0"/>
              <a:t> 10 Mbps</a:t>
            </a:r>
          </a:p>
          <a:p>
            <a:pPr lvl="0"/>
            <a:r>
              <a:rPr lang="en-US" b="1" dirty="0"/>
              <a:t>Medium:</a:t>
            </a:r>
            <a:r>
              <a:rPr lang="en-US" dirty="0"/>
              <a:t> Thick coaxial cable</a:t>
            </a:r>
          </a:p>
          <a:p>
            <a:pPr lvl="0"/>
            <a:r>
              <a:rPr lang="en-US" b="1" dirty="0"/>
              <a:t>Topology:</a:t>
            </a:r>
            <a:r>
              <a:rPr lang="en-US" dirty="0"/>
              <a:t> Bus</a:t>
            </a:r>
          </a:p>
          <a:p>
            <a:pPr lvl="0"/>
            <a:r>
              <a:rPr lang="en-US" b="1" dirty="0"/>
              <a:t>Access method:</a:t>
            </a:r>
            <a:r>
              <a:rPr lang="en-US" dirty="0"/>
              <a:t> CSMA/CD</a:t>
            </a:r>
          </a:p>
          <a:p>
            <a:pPr lvl="0"/>
            <a:r>
              <a:rPr lang="en-US" b="1" dirty="0"/>
              <a:t>Max length:</a:t>
            </a:r>
            <a:r>
              <a:rPr lang="en-US" dirty="0"/>
              <a:t> 500 m</a:t>
            </a:r>
          </a:p>
          <a:p>
            <a:r>
              <a:rPr lang="en-US" b="1" dirty="0"/>
              <a:t>How it worked</a:t>
            </a:r>
            <a:endParaRPr lang="en-US" dirty="0"/>
          </a:p>
          <a:p>
            <a:pPr lvl="0"/>
            <a:r>
              <a:rPr lang="en-US" dirty="0"/>
              <a:t>All devices shared </a:t>
            </a:r>
            <a:r>
              <a:rPr lang="en-US" b="1" dirty="0"/>
              <a:t>one cable</a:t>
            </a:r>
            <a:endParaRPr lang="en-US" dirty="0"/>
          </a:p>
          <a:p>
            <a:pPr lvl="0"/>
            <a:r>
              <a:rPr lang="en-US" dirty="0"/>
              <a:t>If two devices transmitted at once → </a:t>
            </a:r>
            <a:r>
              <a:rPr lang="en-US" b="1" dirty="0"/>
              <a:t>collision</a:t>
            </a:r>
            <a:endParaRPr lang="en-US" dirty="0"/>
          </a:p>
          <a:p>
            <a:pPr lvl="0"/>
            <a:r>
              <a:rPr lang="en-US" dirty="0"/>
              <a:t>Collision detected → devices back off randomly → retry</a:t>
            </a:r>
          </a:p>
          <a:p>
            <a:r>
              <a:rPr lang="en-US" b="1" dirty="0"/>
              <a:t>Reality check</a:t>
            </a:r>
            <a:endParaRPr lang="en-US" dirty="0"/>
          </a:p>
          <a:p>
            <a:pPr lvl="0"/>
            <a:r>
              <a:rPr lang="en-US" dirty="0"/>
              <a:t>Worked fine with </a:t>
            </a:r>
            <a:r>
              <a:rPr lang="en-US" b="1" dirty="0"/>
              <a:t>few devices</a:t>
            </a:r>
            <a:endParaRPr lang="en-US" dirty="0"/>
          </a:p>
          <a:p>
            <a:pPr lvl="0"/>
            <a:r>
              <a:rPr lang="en-US" dirty="0"/>
              <a:t>Performance collapsed as nodes increased</a:t>
            </a:r>
          </a:p>
          <a:p>
            <a:pPr lvl="0"/>
            <a:r>
              <a:rPr lang="en-US" dirty="0"/>
              <a:t>Troubleshooting was a nightmare (one bad tap = network down)</a:t>
            </a:r>
          </a:p>
          <a:p>
            <a:r>
              <a:rPr lang="en-US" dirty="0"/>
              <a:t>👉 This design </a:t>
            </a:r>
            <a:r>
              <a:rPr lang="en-US" b="1" dirty="0"/>
              <a:t>cannot scale</a:t>
            </a:r>
            <a:r>
              <a:rPr lang="en-US" dirty="0"/>
              <a:t>. Period.</a:t>
            </a:r>
          </a:p>
        </p:txBody>
      </p:sp>
    </p:spTree>
    <p:extLst>
      <p:ext uri="{BB962C8B-B14F-4D97-AF65-F5344CB8AC3E}">
        <p14:creationId xmlns:p14="http://schemas.microsoft.com/office/powerpoint/2010/main" val="187954425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2788" y="937857"/>
            <a:ext cx="3301766" cy="3318936"/>
          </a:xfrm>
        </p:spPr>
        <p:txBody>
          <a:bodyPr>
            <a:noAutofit/>
          </a:bodyPr>
          <a:lstStyle/>
          <a:p>
            <a:r>
              <a:rPr lang="en-US" sz="1600" b="1" dirty="0"/>
              <a:t>2. Thin Ethernet (10BASE2)</a:t>
            </a:r>
            <a:endParaRPr lang="en-US" sz="1600" dirty="0"/>
          </a:p>
          <a:p>
            <a:r>
              <a:rPr lang="en-US" sz="1600" b="1" dirty="0"/>
              <a:t>Why it existed</a:t>
            </a:r>
            <a:endParaRPr lang="en-US" sz="1600" dirty="0"/>
          </a:p>
          <a:p>
            <a:r>
              <a:rPr lang="en-US" sz="1600" dirty="0"/>
              <a:t>To make </a:t>
            </a:r>
            <a:r>
              <a:rPr lang="en-US" sz="1600" dirty="0" smtClean="0"/>
              <a:t>Ethernet:: Cheaper, Easier </a:t>
            </a:r>
            <a:r>
              <a:rPr lang="en-US" sz="1600" dirty="0"/>
              <a:t>to install</a:t>
            </a:r>
          </a:p>
          <a:p>
            <a:r>
              <a:rPr lang="en-US" sz="1600" b="1" dirty="0"/>
              <a:t>Characteristics</a:t>
            </a:r>
            <a:endParaRPr lang="en-US" sz="1600" dirty="0"/>
          </a:p>
          <a:p>
            <a:pPr lvl="0"/>
            <a:r>
              <a:rPr lang="en-US" sz="1600" b="1" dirty="0"/>
              <a:t>Speed:</a:t>
            </a:r>
            <a:r>
              <a:rPr lang="en-US" sz="1600" dirty="0"/>
              <a:t> 10 </a:t>
            </a:r>
            <a:r>
              <a:rPr lang="en-US" sz="1600" dirty="0" smtClean="0"/>
              <a:t>Mbps, </a:t>
            </a:r>
            <a:r>
              <a:rPr lang="en-US" sz="1600" b="1" dirty="0" smtClean="0"/>
              <a:t>Medium</a:t>
            </a:r>
            <a:r>
              <a:rPr lang="en-US" sz="1600" b="1" dirty="0"/>
              <a:t>:</a:t>
            </a:r>
            <a:r>
              <a:rPr lang="en-US" sz="1600" dirty="0"/>
              <a:t> Thin coax</a:t>
            </a:r>
          </a:p>
          <a:p>
            <a:pPr lvl="0"/>
            <a:r>
              <a:rPr lang="en-US" sz="1600" b="1" dirty="0"/>
              <a:t>Topology:</a:t>
            </a:r>
            <a:r>
              <a:rPr lang="en-US" sz="1600" dirty="0"/>
              <a:t> </a:t>
            </a:r>
            <a:r>
              <a:rPr lang="en-US" sz="1600" dirty="0" smtClean="0"/>
              <a:t>Bus, </a:t>
            </a:r>
            <a:r>
              <a:rPr lang="en-US" sz="1600" b="1" dirty="0" smtClean="0"/>
              <a:t>Max </a:t>
            </a:r>
            <a:r>
              <a:rPr lang="en-US" sz="1600" b="1" dirty="0"/>
              <a:t>length:</a:t>
            </a:r>
            <a:r>
              <a:rPr lang="en-US" sz="1600" dirty="0"/>
              <a:t> 185 m</a:t>
            </a:r>
          </a:p>
          <a:p>
            <a:r>
              <a:rPr lang="en-US" sz="1600" b="1" dirty="0"/>
              <a:t>Improvement?</a:t>
            </a:r>
            <a:endParaRPr lang="en-US" sz="1600" dirty="0"/>
          </a:p>
          <a:p>
            <a:r>
              <a:rPr lang="en-US" sz="1600" dirty="0"/>
              <a:t>Only in cost and flexibility.</a:t>
            </a:r>
          </a:p>
          <a:p>
            <a:r>
              <a:rPr lang="en-US" sz="1600" b="1" dirty="0"/>
              <a:t>Core problems remained</a:t>
            </a:r>
            <a:endParaRPr lang="en-US" sz="1600" dirty="0"/>
          </a:p>
          <a:p>
            <a:pPr lvl="0"/>
            <a:r>
              <a:rPr lang="en-US" sz="1600" dirty="0"/>
              <a:t>Shared </a:t>
            </a:r>
            <a:r>
              <a:rPr lang="en-US" sz="1600" dirty="0" smtClean="0"/>
              <a:t>medium, Collisions</a:t>
            </a:r>
            <a:endParaRPr lang="en-US" sz="1600" dirty="0"/>
          </a:p>
          <a:p>
            <a:pPr lvl="0"/>
            <a:r>
              <a:rPr lang="en-US" sz="1600" dirty="0"/>
              <a:t>Single collision domain</a:t>
            </a:r>
          </a:p>
          <a:p>
            <a:r>
              <a:rPr lang="en-US" sz="1600" dirty="0"/>
              <a:t>👉 Still fundamentally broken at scale.</a:t>
            </a:r>
          </a:p>
          <a:p>
            <a:endParaRPr lang="en-US" sz="1600" dirty="0"/>
          </a:p>
        </p:txBody>
      </p:sp>
      <p:sp>
        <p:nvSpPr>
          <p:cNvPr id="4" name="Rectangle 3"/>
          <p:cNvSpPr/>
          <p:nvPr/>
        </p:nvSpPr>
        <p:spPr>
          <a:xfrm>
            <a:off x="5120081" y="1460619"/>
            <a:ext cx="6096000" cy="3970318"/>
          </a:xfrm>
          <a:prstGeom prst="rect">
            <a:avLst/>
          </a:prstGeom>
        </p:spPr>
        <p:txBody>
          <a:bodyPr>
            <a:spAutoFit/>
          </a:bodyPr>
          <a:lstStyle/>
          <a:p>
            <a:r>
              <a:rPr lang="en-US" b="1" dirty="0"/>
              <a:t>3. Twisted Pair Ethernet (10BASE-T) — First Major Shift</a:t>
            </a:r>
            <a:endParaRPr lang="en-US" dirty="0"/>
          </a:p>
          <a:p>
            <a:r>
              <a:rPr lang="en-US" b="1" dirty="0"/>
              <a:t>What changed</a:t>
            </a:r>
            <a:endParaRPr lang="en-US" dirty="0"/>
          </a:p>
          <a:p>
            <a:pPr lvl="0"/>
            <a:r>
              <a:rPr lang="en-US" b="1" dirty="0"/>
              <a:t>Medium:</a:t>
            </a:r>
            <a:r>
              <a:rPr lang="en-US" dirty="0"/>
              <a:t> Twisted pair (UTP)</a:t>
            </a:r>
          </a:p>
          <a:p>
            <a:pPr lvl="0"/>
            <a:r>
              <a:rPr lang="en-US" b="1" dirty="0"/>
              <a:t>Topology:</a:t>
            </a:r>
            <a:r>
              <a:rPr lang="en-US" dirty="0"/>
              <a:t> Star</a:t>
            </a:r>
          </a:p>
          <a:p>
            <a:pPr lvl="0"/>
            <a:r>
              <a:rPr lang="en-US" b="1" dirty="0"/>
              <a:t>Device:</a:t>
            </a:r>
            <a:r>
              <a:rPr lang="en-US" dirty="0"/>
              <a:t> Hub (not switch)</a:t>
            </a:r>
          </a:p>
          <a:p>
            <a:r>
              <a:rPr lang="en-US" b="1" dirty="0"/>
              <a:t>Why this mattered</a:t>
            </a:r>
            <a:endParaRPr lang="en-US" dirty="0"/>
          </a:p>
          <a:p>
            <a:pPr lvl="0"/>
            <a:r>
              <a:rPr lang="en-US" dirty="0"/>
              <a:t>Physical layout improved</a:t>
            </a:r>
          </a:p>
          <a:p>
            <a:pPr lvl="0"/>
            <a:r>
              <a:rPr lang="en-US" dirty="0"/>
              <a:t>Easier expansion</a:t>
            </a:r>
          </a:p>
          <a:p>
            <a:pPr lvl="0"/>
            <a:r>
              <a:rPr lang="en-US" dirty="0"/>
              <a:t>Fault isolation improved</a:t>
            </a:r>
          </a:p>
          <a:p>
            <a:r>
              <a:rPr lang="en-US" b="1" dirty="0"/>
              <a:t>What did NOT change</a:t>
            </a:r>
            <a:endParaRPr lang="en-US" dirty="0"/>
          </a:p>
          <a:p>
            <a:pPr lvl="0"/>
            <a:r>
              <a:rPr lang="en-US" dirty="0"/>
              <a:t>Still </a:t>
            </a:r>
            <a:r>
              <a:rPr lang="en-US" b="1" dirty="0"/>
              <a:t>shared bandwidth</a:t>
            </a:r>
            <a:endParaRPr lang="en-US" dirty="0"/>
          </a:p>
          <a:p>
            <a:pPr lvl="0"/>
            <a:r>
              <a:rPr lang="en-US" dirty="0"/>
              <a:t>Still </a:t>
            </a:r>
            <a:r>
              <a:rPr lang="en-US" b="1" dirty="0"/>
              <a:t>CSMA/CD</a:t>
            </a:r>
            <a:endParaRPr lang="en-US" dirty="0"/>
          </a:p>
          <a:p>
            <a:pPr lvl="0"/>
            <a:r>
              <a:rPr lang="en-US" dirty="0"/>
              <a:t>Hub = multi-port repeater</a:t>
            </a:r>
          </a:p>
          <a:p>
            <a:r>
              <a:rPr lang="en-US" dirty="0"/>
              <a:t>👉 Logically, it was </a:t>
            </a:r>
            <a:r>
              <a:rPr lang="en-US" b="1" dirty="0"/>
              <a:t>still a bus network</a:t>
            </a:r>
            <a:r>
              <a:rPr lang="en-US" dirty="0"/>
              <a:t>, just wired as a star.</a:t>
            </a:r>
          </a:p>
        </p:txBody>
      </p:sp>
    </p:spTree>
    <p:extLst>
      <p:ext uri="{BB962C8B-B14F-4D97-AF65-F5344CB8AC3E}">
        <p14:creationId xmlns:p14="http://schemas.microsoft.com/office/powerpoint/2010/main" val="423359388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0510" y="853967"/>
            <a:ext cx="3041707" cy="3318936"/>
          </a:xfrm>
        </p:spPr>
        <p:txBody>
          <a:bodyPr>
            <a:noAutofit/>
          </a:bodyPr>
          <a:lstStyle/>
          <a:p>
            <a:r>
              <a:rPr lang="en-US" sz="1400" b="1" dirty="0"/>
              <a:t>4. Fast Ethernet (100 Mbps) — Bandwidth Pressure</a:t>
            </a:r>
            <a:endParaRPr lang="en-US" sz="1400" dirty="0"/>
          </a:p>
          <a:p>
            <a:r>
              <a:rPr lang="en-US" sz="1400" b="1" dirty="0"/>
              <a:t>Standard</a:t>
            </a:r>
            <a:endParaRPr lang="en-US" sz="1400" dirty="0"/>
          </a:p>
          <a:p>
            <a:pPr lvl="0"/>
            <a:r>
              <a:rPr lang="en-US" sz="1400" b="1" dirty="0"/>
              <a:t>IEEE 802.3u</a:t>
            </a:r>
            <a:endParaRPr lang="en-US" sz="1400" dirty="0"/>
          </a:p>
          <a:p>
            <a:pPr lvl="0"/>
            <a:r>
              <a:rPr lang="en-US" sz="1400" b="1" dirty="0"/>
              <a:t>100BASE-TX</a:t>
            </a:r>
            <a:r>
              <a:rPr lang="en-US" sz="1400" dirty="0"/>
              <a:t> (most common)</a:t>
            </a:r>
          </a:p>
          <a:p>
            <a:r>
              <a:rPr lang="en-US" sz="1400" b="1" dirty="0"/>
              <a:t>Improvements</a:t>
            </a:r>
            <a:endParaRPr lang="en-US" sz="1400" dirty="0"/>
          </a:p>
          <a:p>
            <a:pPr lvl="0"/>
            <a:r>
              <a:rPr lang="en-US" sz="1400" dirty="0"/>
              <a:t>10× speed increase</a:t>
            </a:r>
          </a:p>
          <a:p>
            <a:pPr lvl="0"/>
            <a:r>
              <a:rPr lang="en-US" sz="1400" dirty="0"/>
              <a:t>Better encoding (4B/5B)</a:t>
            </a:r>
          </a:p>
          <a:p>
            <a:pPr lvl="0"/>
            <a:r>
              <a:rPr lang="en-US" sz="1400" dirty="0"/>
              <a:t>Better cable quality (Cat 5)</a:t>
            </a:r>
          </a:p>
          <a:p>
            <a:r>
              <a:rPr lang="en-US" sz="1400" b="1" dirty="0"/>
              <a:t>Key misconception</a:t>
            </a:r>
            <a:endParaRPr lang="en-US" sz="1400" dirty="0"/>
          </a:p>
          <a:p>
            <a:r>
              <a:rPr lang="en-US" sz="1400" dirty="0"/>
              <a:t>People think Fast Ethernet fixed collisions.</a:t>
            </a:r>
          </a:p>
          <a:p>
            <a:r>
              <a:rPr lang="en-US" sz="1400" dirty="0"/>
              <a:t>❌ Wrong.</a:t>
            </a:r>
          </a:p>
          <a:p>
            <a:pPr lvl="0"/>
            <a:r>
              <a:rPr lang="en-US" sz="1400" b="1" dirty="0"/>
              <a:t>With hubs:</a:t>
            </a:r>
            <a:r>
              <a:rPr lang="en-US" sz="1400" dirty="0"/>
              <a:t> CSMA/CD still used</a:t>
            </a:r>
          </a:p>
          <a:p>
            <a:pPr lvl="0"/>
            <a:r>
              <a:rPr lang="en-US" sz="1400" b="1" dirty="0"/>
              <a:t>With switches:</a:t>
            </a:r>
            <a:r>
              <a:rPr lang="en-US" sz="1400" dirty="0"/>
              <a:t> collisions eliminated</a:t>
            </a:r>
          </a:p>
          <a:p>
            <a:r>
              <a:rPr lang="en-US" sz="1400" dirty="0"/>
              <a:t>👉 Speed alone did not solve Ethernet’s core problems.</a:t>
            </a:r>
          </a:p>
          <a:p>
            <a:endParaRPr lang="en-US" sz="1400" dirty="0"/>
          </a:p>
        </p:txBody>
      </p:sp>
      <p:sp>
        <p:nvSpPr>
          <p:cNvPr id="4" name="Rectangle 3"/>
          <p:cNvSpPr/>
          <p:nvPr/>
        </p:nvSpPr>
        <p:spPr>
          <a:xfrm>
            <a:off x="5505975" y="932113"/>
            <a:ext cx="3671581" cy="4801314"/>
          </a:xfrm>
          <a:prstGeom prst="rect">
            <a:avLst/>
          </a:prstGeom>
        </p:spPr>
        <p:txBody>
          <a:bodyPr wrap="square">
            <a:spAutoFit/>
          </a:bodyPr>
          <a:lstStyle/>
          <a:p>
            <a:r>
              <a:rPr lang="en-US" b="1" dirty="0"/>
              <a:t>5. Bridged Ethernet — First Real Intelligence</a:t>
            </a:r>
            <a:endParaRPr lang="en-US" dirty="0"/>
          </a:p>
          <a:p>
            <a:r>
              <a:rPr lang="en-US" b="1" dirty="0"/>
              <a:t>What bridges introduced</a:t>
            </a:r>
            <a:endParaRPr lang="en-US" dirty="0"/>
          </a:p>
          <a:p>
            <a:pPr lvl="0"/>
            <a:r>
              <a:rPr lang="en-US" dirty="0"/>
              <a:t>MAC address learning</a:t>
            </a:r>
          </a:p>
          <a:p>
            <a:pPr lvl="0"/>
            <a:r>
              <a:rPr lang="en-US" dirty="0"/>
              <a:t>Frame filtering</a:t>
            </a:r>
          </a:p>
          <a:p>
            <a:pPr lvl="0"/>
            <a:r>
              <a:rPr lang="en-US" dirty="0"/>
              <a:t>Multiple collision domains</a:t>
            </a:r>
          </a:p>
          <a:p>
            <a:r>
              <a:rPr lang="en-US" b="1" dirty="0"/>
              <a:t>Result</a:t>
            </a:r>
            <a:endParaRPr lang="en-US" dirty="0"/>
          </a:p>
          <a:p>
            <a:pPr lvl="0"/>
            <a:r>
              <a:rPr lang="en-US" dirty="0"/>
              <a:t>Traffic only forwarded where needed</a:t>
            </a:r>
          </a:p>
          <a:p>
            <a:pPr lvl="0"/>
            <a:r>
              <a:rPr lang="en-US" dirty="0"/>
              <a:t>Reduced unnecessary frame propagation</a:t>
            </a:r>
          </a:p>
          <a:p>
            <a:r>
              <a:rPr lang="en-US" b="1" dirty="0"/>
              <a:t>Limitations</a:t>
            </a:r>
            <a:endParaRPr lang="en-US" dirty="0"/>
          </a:p>
          <a:p>
            <a:pPr lvl="0"/>
            <a:r>
              <a:rPr lang="en-US" dirty="0"/>
              <a:t>Still software-based</a:t>
            </a:r>
          </a:p>
          <a:p>
            <a:pPr lvl="0"/>
            <a:r>
              <a:rPr lang="en-US" dirty="0"/>
              <a:t>Few ports</a:t>
            </a:r>
          </a:p>
          <a:p>
            <a:pPr lvl="0"/>
            <a:r>
              <a:rPr lang="en-US" dirty="0"/>
              <a:t>Broadcast traffic still everywhere</a:t>
            </a:r>
          </a:p>
          <a:p>
            <a:r>
              <a:rPr lang="en-US" dirty="0"/>
              <a:t>👉 Bridges proved </a:t>
            </a:r>
            <a:r>
              <a:rPr lang="en-US" b="1" dirty="0"/>
              <a:t>Layer 2 intelligence works</a:t>
            </a:r>
            <a:r>
              <a:rPr lang="en-US" dirty="0"/>
              <a:t>, but performance was limited.</a:t>
            </a:r>
          </a:p>
        </p:txBody>
      </p:sp>
    </p:spTree>
    <p:extLst>
      <p:ext uri="{BB962C8B-B14F-4D97-AF65-F5344CB8AC3E}">
        <p14:creationId xmlns:p14="http://schemas.microsoft.com/office/powerpoint/2010/main" val="268898786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8681" y="1185332"/>
            <a:ext cx="2353810" cy="3318936"/>
          </a:xfrm>
        </p:spPr>
        <p:txBody>
          <a:bodyPr>
            <a:noAutofit/>
          </a:bodyPr>
          <a:lstStyle/>
          <a:p>
            <a:r>
              <a:rPr lang="en-US" sz="1200" b="1" dirty="0" smtClean="0"/>
              <a:t>6. Switched Ethernet — The Real Revolution</a:t>
            </a:r>
            <a:endParaRPr lang="en-US" sz="1200" dirty="0"/>
          </a:p>
          <a:p>
            <a:r>
              <a:rPr lang="en-US" sz="1200" dirty="0" smtClean="0"/>
              <a:t>This </a:t>
            </a:r>
            <a:r>
              <a:rPr lang="en-US" sz="1200" dirty="0"/>
              <a:t>is where </a:t>
            </a:r>
            <a:r>
              <a:rPr lang="en-US" sz="1200" b="1" dirty="0"/>
              <a:t>classic Ethernet effectively died</a:t>
            </a:r>
            <a:r>
              <a:rPr lang="en-US" sz="1200" dirty="0"/>
              <a:t>.</a:t>
            </a:r>
          </a:p>
          <a:p>
            <a:r>
              <a:rPr lang="en-US" sz="1200" b="1" dirty="0"/>
              <a:t>What switches changed fundamentally</a:t>
            </a:r>
            <a:endParaRPr lang="en-US" sz="1200" dirty="0"/>
          </a:p>
          <a:p>
            <a:pPr lvl="0"/>
            <a:r>
              <a:rPr lang="en-US" sz="1200" dirty="0"/>
              <a:t>Each port = </a:t>
            </a:r>
            <a:r>
              <a:rPr lang="en-US" sz="1200" b="1" dirty="0"/>
              <a:t>separate collision domain</a:t>
            </a:r>
            <a:endParaRPr lang="en-US" sz="1200" dirty="0"/>
          </a:p>
          <a:p>
            <a:pPr lvl="0"/>
            <a:r>
              <a:rPr lang="en-US" sz="1200" dirty="0"/>
              <a:t>Full-duplex communication</a:t>
            </a:r>
          </a:p>
          <a:p>
            <a:pPr lvl="0"/>
            <a:r>
              <a:rPr lang="en-US" sz="1200" dirty="0"/>
              <a:t>No collisions</a:t>
            </a:r>
          </a:p>
          <a:p>
            <a:pPr lvl="0"/>
            <a:r>
              <a:rPr lang="en-US" sz="1200" dirty="0"/>
              <a:t>CSMA/CD becomes irrelevant</a:t>
            </a:r>
          </a:p>
          <a:p>
            <a:r>
              <a:rPr lang="en-US" sz="1200" b="1" dirty="0"/>
              <a:t>Technical consequences</a:t>
            </a:r>
            <a:endParaRPr lang="en-US" sz="1200" dirty="0"/>
          </a:p>
          <a:p>
            <a:pPr lvl="0"/>
            <a:r>
              <a:rPr lang="en-US" sz="1200" dirty="0"/>
              <a:t>Ethernet stops being contention-based</a:t>
            </a:r>
          </a:p>
          <a:p>
            <a:pPr lvl="0"/>
            <a:r>
              <a:rPr lang="en-US" sz="1200" dirty="0"/>
              <a:t>Becomes </a:t>
            </a:r>
            <a:r>
              <a:rPr lang="en-US" sz="1200" b="1" dirty="0"/>
              <a:t>point-to-point</a:t>
            </a:r>
            <a:endParaRPr lang="en-US" sz="1200" dirty="0"/>
          </a:p>
          <a:p>
            <a:pPr lvl="0"/>
            <a:r>
              <a:rPr lang="en-US" sz="1200" dirty="0"/>
              <a:t>Deterministic performance</a:t>
            </a:r>
          </a:p>
          <a:p>
            <a:r>
              <a:rPr lang="en-US" sz="1200" dirty="0"/>
              <a:t>💡 </a:t>
            </a:r>
            <a:r>
              <a:rPr lang="en-US" sz="1200" b="1" dirty="0"/>
              <a:t>Modern Ethernet is not CSMA/CD-based.</a:t>
            </a:r>
            <a:r>
              <a:rPr lang="en-US" sz="1200" dirty="0"/>
              <a:t/>
            </a:r>
            <a:br>
              <a:rPr lang="en-US" sz="1200" dirty="0"/>
            </a:br>
            <a:r>
              <a:rPr lang="en-US" sz="1200" dirty="0"/>
              <a:t>That’s legacy theory</a:t>
            </a:r>
            <a:r>
              <a:rPr lang="en-US" sz="1200" dirty="0" smtClean="0"/>
              <a:t>.</a:t>
            </a:r>
            <a:endParaRPr lang="en-US" sz="1200" dirty="0"/>
          </a:p>
        </p:txBody>
      </p:sp>
      <p:sp>
        <p:nvSpPr>
          <p:cNvPr id="4" name="Rectangle 3"/>
          <p:cNvSpPr/>
          <p:nvPr/>
        </p:nvSpPr>
        <p:spPr>
          <a:xfrm>
            <a:off x="3400337" y="908333"/>
            <a:ext cx="2664903" cy="4801314"/>
          </a:xfrm>
          <a:prstGeom prst="rect">
            <a:avLst/>
          </a:prstGeom>
        </p:spPr>
        <p:txBody>
          <a:bodyPr wrap="square">
            <a:spAutoFit/>
          </a:bodyPr>
          <a:lstStyle/>
          <a:p>
            <a:r>
              <a:rPr lang="en-US" dirty="0"/>
              <a:t> </a:t>
            </a:r>
          </a:p>
          <a:p>
            <a:r>
              <a:rPr lang="en-US" b="1" dirty="0"/>
              <a:t>7. Gigabit Ethernet (1 </a:t>
            </a:r>
            <a:r>
              <a:rPr lang="en-US" b="1" dirty="0" err="1"/>
              <a:t>Gbps</a:t>
            </a:r>
            <a:r>
              <a:rPr lang="en-US" b="1" dirty="0"/>
              <a:t>)</a:t>
            </a:r>
            <a:endParaRPr lang="en-US" dirty="0"/>
          </a:p>
          <a:p>
            <a:r>
              <a:rPr lang="en-US" b="1" dirty="0"/>
              <a:t>Standards</a:t>
            </a:r>
            <a:endParaRPr lang="en-US" dirty="0"/>
          </a:p>
          <a:p>
            <a:pPr lvl="0"/>
            <a:r>
              <a:rPr lang="en-US" b="1" dirty="0"/>
              <a:t>802.3z</a:t>
            </a:r>
            <a:r>
              <a:rPr lang="en-US" dirty="0"/>
              <a:t> → Fiber</a:t>
            </a:r>
          </a:p>
          <a:p>
            <a:pPr lvl="0"/>
            <a:r>
              <a:rPr lang="en-US" b="1" dirty="0"/>
              <a:t>802.3ab</a:t>
            </a:r>
            <a:r>
              <a:rPr lang="en-US" dirty="0"/>
              <a:t> → Copper (1000BASE-T)</a:t>
            </a:r>
          </a:p>
          <a:p>
            <a:r>
              <a:rPr lang="en-US" b="1" dirty="0"/>
              <a:t>Key technical changes</a:t>
            </a:r>
            <a:endParaRPr lang="en-US" dirty="0"/>
          </a:p>
          <a:p>
            <a:pPr lvl="0"/>
            <a:r>
              <a:rPr lang="en-US" dirty="0"/>
              <a:t>PAM-5 encoding (copper)</a:t>
            </a:r>
          </a:p>
          <a:p>
            <a:pPr lvl="0"/>
            <a:r>
              <a:rPr lang="en-US" dirty="0"/>
              <a:t>All four wire pairs used</a:t>
            </a:r>
          </a:p>
          <a:p>
            <a:pPr lvl="0"/>
            <a:r>
              <a:rPr lang="en-US" dirty="0"/>
              <a:t>Heavy DSP usage</a:t>
            </a:r>
          </a:p>
          <a:p>
            <a:r>
              <a:rPr lang="en-US" b="1" dirty="0"/>
              <a:t>Important detail</a:t>
            </a:r>
            <a:endParaRPr lang="en-US" dirty="0"/>
          </a:p>
          <a:p>
            <a:pPr lvl="0"/>
            <a:r>
              <a:rPr lang="en-US" dirty="0"/>
              <a:t>Half-duplex technically defined</a:t>
            </a:r>
          </a:p>
          <a:p>
            <a:pPr lvl="0"/>
            <a:r>
              <a:rPr lang="en-US" dirty="0"/>
              <a:t>Practically </a:t>
            </a:r>
            <a:r>
              <a:rPr lang="en-US" b="1" dirty="0"/>
              <a:t>never used</a:t>
            </a:r>
            <a:endParaRPr lang="en-US" dirty="0"/>
          </a:p>
          <a:p>
            <a:r>
              <a:rPr lang="en-US" dirty="0"/>
              <a:t>👉 Gigabit Ethernet </a:t>
            </a:r>
            <a:r>
              <a:rPr lang="en-US" b="1" dirty="0"/>
              <a:t>assumes switching</a:t>
            </a:r>
            <a:r>
              <a:rPr lang="en-US" dirty="0"/>
              <a:t>.</a:t>
            </a:r>
          </a:p>
        </p:txBody>
      </p:sp>
      <p:sp>
        <p:nvSpPr>
          <p:cNvPr id="5" name="Rectangle 4"/>
          <p:cNvSpPr/>
          <p:nvPr/>
        </p:nvSpPr>
        <p:spPr>
          <a:xfrm>
            <a:off x="5771207" y="1185332"/>
            <a:ext cx="2793953" cy="4524315"/>
          </a:xfrm>
          <a:prstGeom prst="rect">
            <a:avLst/>
          </a:prstGeom>
        </p:spPr>
        <p:txBody>
          <a:bodyPr wrap="square">
            <a:spAutoFit/>
          </a:bodyPr>
          <a:lstStyle/>
          <a:p>
            <a:r>
              <a:rPr lang="en-US" b="1" dirty="0"/>
              <a:t>8. 10 Gigabit Ethernet — Death of CSMA/CD</a:t>
            </a:r>
            <a:endParaRPr lang="en-US" dirty="0"/>
          </a:p>
          <a:p>
            <a:r>
              <a:rPr lang="en-US" b="1" dirty="0"/>
              <a:t>Standard</a:t>
            </a:r>
            <a:endParaRPr lang="en-US" dirty="0"/>
          </a:p>
          <a:p>
            <a:pPr lvl="0"/>
            <a:r>
              <a:rPr lang="en-US" b="1" dirty="0"/>
              <a:t>IEEE 802.3ae</a:t>
            </a:r>
            <a:endParaRPr lang="en-US" dirty="0"/>
          </a:p>
          <a:p>
            <a:r>
              <a:rPr lang="en-US" b="1" dirty="0"/>
              <a:t>What disappeared</a:t>
            </a:r>
            <a:endParaRPr lang="en-US" dirty="0"/>
          </a:p>
          <a:p>
            <a:pPr lvl="0"/>
            <a:r>
              <a:rPr lang="en-US" dirty="0"/>
              <a:t>Half-duplex ❌</a:t>
            </a:r>
          </a:p>
          <a:p>
            <a:pPr lvl="0"/>
            <a:r>
              <a:rPr lang="en-US" dirty="0"/>
              <a:t>CSMA/CD ❌</a:t>
            </a:r>
          </a:p>
          <a:p>
            <a:pPr lvl="0"/>
            <a:r>
              <a:rPr lang="en-US" dirty="0"/>
              <a:t>Hubs ❌</a:t>
            </a:r>
          </a:p>
          <a:p>
            <a:r>
              <a:rPr lang="en-US" b="1" dirty="0"/>
              <a:t>Why?</a:t>
            </a:r>
            <a:endParaRPr lang="en-US" dirty="0"/>
          </a:p>
          <a:p>
            <a:pPr lvl="0"/>
            <a:r>
              <a:rPr lang="en-US" dirty="0"/>
              <a:t>Timing constraints make collision detection impossible at 10 </a:t>
            </a:r>
            <a:r>
              <a:rPr lang="en-US" dirty="0" err="1"/>
              <a:t>Gbps</a:t>
            </a:r>
            <a:endParaRPr lang="en-US" dirty="0"/>
          </a:p>
          <a:p>
            <a:pPr lvl="0"/>
            <a:r>
              <a:rPr lang="en-US" dirty="0"/>
              <a:t>Ethernet officially becomes </a:t>
            </a:r>
            <a:r>
              <a:rPr lang="en-US" b="1" dirty="0"/>
              <a:t>full-duplex only</a:t>
            </a:r>
            <a:endParaRPr lang="en-US" dirty="0"/>
          </a:p>
          <a:p>
            <a:r>
              <a:rPr lang="en-US" dirty="0"/>
              <a:t>This is the </a:t>
            </a:r>
            <a:r>
              <a:rPr lang="en-US" b="1" dirty="0"/>
              <a:t>formal end</a:t>
            </a:r>
            <a:r>
              <a:rPr lang="en-US" dirty="0"/>
              <a:t> of classic Ethernet.</a:t>
            </a:r>
          </a:p>
        </p:txBody>
      </p:sp>
      <p:sp>
        <p:nvSpPr>
          <p:cNvPr id="6" name="Rectangle 5"/>
          <p:cNvSpPr/>
          <p:nvPr/>
        </p:nvSpPr>
        <p:spPr>
          <a:xfrm>
            <a:off x="8334462" y="1185332"/>
            <a:ext cx="3319244" cy="4524315"/>
          </a:xfrm>
          <a:prstGeom prst="rect">
            <a:avLst/>
          </a:prstGeom>
        </p:spPr>
        <p:txBody>
          <a:bodyPr wrap="square">
            <a:spAutoFit/>
          </a:bodyPr>
          <a:lstStyle/>
          <a:p>
            <a:r>
              <a:rPr lang="en-US" b="1" dirty="0"/>
              <a:t>9. High-Speed Ethernet (40G, 100G, 400G)</a:t>
            </a:r>
            <a:endParaRPr lang="en-US" dirty="0"/>
          </a:p>
          <a:p>
            <a:r>
              <a:rPr lang="en-US" b="1" dirty="0"/>
              <a:t>Standards</a:t>
            </a:r>
            <a:endParaRPr lang="en-US" dirty="0"/>
          </a:p>
          <a:p>
            <a:pPr lvl="0"/>
            <a:r>
              <a:rPr lang="en-US" dirty="0"/>
              <a:t>802.3ba → 40G / 100G</a:t>
            </a:r>
          </a:p>
          <a:p>
            <a:pPr lvl="0"/>
            <a:r>
              <a:rPr lang="en-US" dirty="0"/>
              <a:t>802.3bs → 200G / 400G</a:t>
            </a:r>
          </a:p>
          <a:p>
            <a:r>
              <a:rPr lang="en-US" b="1" dirty="0"/>
              <a:t>Focus shifts to</a:t>
            </a:r>
            <a:endParaRPr lang="en-US" dirty="0"/>
          </a:p>
          <a:p>
            <a:pPr lvl="0"/>
            <a:r>
              <a:rPr lang="en-US" dirty="0"/>
              <a:t>Parallel lanes</a:t>
            </a:r>
          </a:p>
          <a:p>
            <a:pPr lvl="0"/>
            <a:r>
              <a:rPr lang="en-US" dirty="0"/>
              <a:t>Fiber optics</a:t>
            </a:r>
          </a:p>
          <a:p>
            <a:pPr lvl="0"/>
            <a:r>
              <a:rPr lang="en-US" dirty="0"/>
              <a:t>Data centers</a:t>
            </a:r>
          </a:p>
          <a:p>
            <a:pPr lvl="0"/>
            <a:r>
              <a:rPr lang="en-US" dirty="0"/>
              <a:t>Low latency</a:t>
            </a:r>
          </a:p>
          <a:p>
            <a:r>
              <a:rPr lang="en-US" b="1" dirty="0"/>
              <a:t>Ethernet now competes with</a:t>
            </a:r>
            <a:endParaRPr lang="en-US" dirty="0"/>
          </a:p>
          <a:p>
            <a:pPr lvl="0"/>
            <a:r>
              <a:rPr lang="en-US" dirty="0" err="1"/>
              <a:t>InfiniBand</a:t>
            </a:r>
            <a:endParaRPr lang="en-US" dirty="0"/>
          </a:p>
          <a:p>
            <a:pPr lvl="0"/>
            <a:r>
              <a:rPr lang="en-US" dirty="0" err="1"/>
              <a:t>Fibre</a:t>
            </a:r>
            <a:r>
              <a:rPr lang="en-US" dirty="0"/>
              <a:t> Channel</a:t>
            </a:r>
          </a:p>
          <a:p>
            <a:r>
              <a:rPr lang="en-US" dirty="0"/>
              <a:t>👉 Ethernet is no longer “just LAN tech”. It’s </a:t>
            </a:r>
            <a:r>
              <a:rPr lang="en-US" b="1" dirty="0"/>
              <a:t>data-center infrastructure</a:t>
            </a:r>
            <a:r>
              <a:rPr lang="en-US" dirty="0"/>
              <a:t>.</a:t>
            </a:r>
          </a:p>
        </p:txBody>
      </p:sp>
    </p:spTree>
    <p:extLst>
      <p:ext uri="{BB962C8B-B14F-4D97-AF65-F5344CB8AC3E}">
        <p14:creationId xmlns:p14="http://schemas.microsoft.com/office/powerpoint/2010/main" val="125228139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Bridged Ethernet</a:t>
            </a:r>
          </a:p>
        </p:txBody>
      </p:sp>
      <p:sp>
        <p:nvSpPr>
          <p:cNvPr id="3" name="Content Placeholder 2"/>
          <p:cNvSpPr>
            <a:spLocks noGrp="1"/>
          </p:cNvSpPr>
          <p:nvPr>
            <p:ph idx="1"/>
          </p:nvPr>
        </p:nvSpPr>
        <p:spPr/>
        <p:txBody>
          <a:bodyPr>
            <a:normAutofit fontScale="47500" lnSpcReduction="20000"/>
          </a:bodyPr>
          <a:lstStyle/>
          <a:p>
            <a:r>
              <a:rPr lang="en-US" dirty="0"/>
              <a:t>Bridged Ethernet is a networking technique that connects two or more separate network segments at the </a:t>
            </a:r>
            <a:r>
              <a:rPr lang="en-US" b="1" dirty="0"/>
              <a:t>Data Link Layer (Layer 2)</a:t>
            </a:r>
            <a:r>
              <a:rPr lang="en-US" dirty="0"/>
              <a:t> of the OSI model, making them function as a single, unified logical network. </a:t>
            </a:r>
          </a:p>
          <a:p>
            <a:r>
              <a:rPr lang="en-US" b="1" dirty="0"/>
              <a:t>How It Works</a:t>
            </a:r>
            <a:endParaRPr lang="en-US" dirty="0"/>
          </a:p>
          <a:p>
            <a:r>
              <a:rPr lang="en-US" dirty="0"/>
              <a:t>A bridge maintains a </a:t>
            </a:r>
            <a:r>
              <a:rPr lang="en-US" b="1" dirty="0"/>
              <a:t>MAC address forwarding table</a:t>
            </a:r>
            <a:r>
              <a:rPr lang="en-US" dirty="0"/>
              <a:t> to manage traffic flow: </a:t>
            </a:r>
          </a:p>
          <a:p>
            <a:pPr lvl="0"/>
            <a:r>
              <a:rPr lang="en-US" b="1" dirty="0"/>
              <a:t>Learning:</a:t>
            </a:r>
            <a:r>
              <a:rPr lang="en-US" dirty="0"/>
              <a:t> When a frame arrives, the bridge records the source MAC address and the port it came from.</a:t>
            </a:r>
          </a:p>
          <a:p>
            <a:pPr lvl="0"/>
            <a:r>
              <a:rPr lang="en-US" b="1" dirty="0"/>
              <a:t>Filtering:</a:t>
            </a:r>
            <a:r>
              <a:rPr lang="en-US" dirty="0"/>
              <a:t> If the destination MAC address is on the same segment as the sender, the bridge drops the frame to keep local traffic from clogging other segments.</a:t>
            </a:r>
          </a:p>
          <a:p>
            <a:pPr lvl="0"/>
            <a:r>
              <a:rPr lang="en-US" b="1" dirty="0"/>
              <a:t>Forwarding:</a:t>
            </a:r>
            <a:r>
              <a:rPr lang="en-US" dirty="0"/>
              <a:t> If the destination is on a different segment, the bridge sends the frame only to that specific port.</a:t>
            </a:r>
          </a:p>
          <a:p>
            <a:r>
              <a:rPr lang="en-US" b="1" dirty="0"/>
              <a:t>Flooding:</a:t>
            </a:r>
            <a:r>
              <a:rPr lang="en-US" dirty="0"/>
              <a:t> If the destination address is unknown, the bridge broadcasts the frame to all ports except the incoming one. </a:t>
            </a:r>
            <a:r>
              <a:rPr lang="en-US" b="1" dirty="0"/>
              <a:t> </a:t>
            </a:r>
            <a:endParaRPr lang="en-US" b="1" dirty="0" smtClean="0"/>
          </a:p>
          <a:p>
            <a:r>
              <a:rPr lang="en-US" b="1" dirty="0" smtClean="0"/>
              <a:t>Core </a:t>
            </a:r>
            <a:r>
              <a:rPr lang="en-US" b="1" dirty="0"/>
              <a:t>Benefits</a:t>
            </a:r>
            <a:endParaRPr lang="en-US" dirty="0"/>
          </a:p>
          <a:p>
            <a:pPr lvl="0"/>
            <a:r>
              <a:rPr lang="en-US" b="1" dirty="0"/>
              <a:t>Network Segmentation:</a:t>
            </a:r>
            <a:r>
              <a:rPr lang="en-US" dirty="0"/>
              <a:t> It divides a large network into smaller collision domains, which reduces traffic congestion and increases available bandwidth per segment.</a:t>
            </a:r>
          </a:p>
          <a:p>
            <a:pPr lvl="0"/>
            <a:r>
              <a:rPr lang="en-US" b="1" dirty="0"/>
              <a:t>Extension:</a:t>
            </a:r>
            <a:r>
              <a:rPr lang="en-US" dirty="0"/>
              <a:t> It allows you to connect different physical media, such as bridging a wired Ethernet network with a Wi-Fi network.</a:t>
            </a:r>
          </a:p>
          <a:p>
            <a:pPr lvl="0"/>
            <a:r>
              <a:rPr lang="en-US" b="1" dirty="0"/>
              <a:t>Transparency:</a:t>
            </a:r>
            <a:r>
              <a:rPr lang="en-US" dirty="0"/>
              <a:t> Connected devices are unaware of the bridge; they communicate as if they are on the same local segment. </a:t>
            </a:r>
          </a:p>
          <a:p>
            <a:pPr lvl="0"/>
            <a:endParaRPr lang="en-US" dirty="0"/>
          </a:p>
        </p:txBody>
      </p:sp>
    </p:spTree>
    <p:extLst>
      <p:ext uri="{BB962C8B-B14F-4D97-AF65-F5344CB8AC3E}">
        <p14:creationId xmlns:p14="http://schemas.microsoft.com/office/powerpoint/2010/main" val="109059567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r>
              <a:rPr lang="en-US" b="1" dirty="0"/>
              <a:t>Implementation and Protocols</a:t>
            </a:r>
            <a:endParaRPr lang="en-US" dirty="0"/>
          </a:p>
          <a:p>
            <a:pPr lvl="0"/>
            <a:r>
              <a:rPr lang="en-US" b="1" dirty="0"/>
              <a:t>Spanning Tree Protocol (STP):</a:t>
            </a:r>
            <a:r>
              <a:rPr lang="en-US" dirty="0"/>
              <a:t> Used to prevent "bridge loops" where frames circulate indefinitely, which can cause network crashes known as broadcast storms.</a:t>
            </a:r>
          </a:p>
          <a:p>
            <a:pPr lvl="0"/>
            <a:r>
              <a:rPr lang="en-US" b="1" dirty="0"/>
              <a:t>Software Bridging:</a:t>
            </a:r>
            <a:r>
              <a:rPr lang="en-US" dirty="0"/>
              <a:t> Most modern operating systems support virtual bridging. For example, in </a:t>
            </a:r>
            <a:r>
              <a:rPr lang="en-US" b="1" dirty="0"/>
              <a:t>Windows 10/11</a:t>
            </a:r>
            <a:r>
              <a:rPr lang="en-US" dirty="0"/>
              <a:t>, you can select two network adapters in the Control Panel, right-click, and choose "Bridge Connections".</a:t>
            </a:r>
          </a:p>
          <a:p>
            <a:pPr lvl="0"/>
            <a:r>
              <a:rPr lang="en-US" b="1" dirty="0"/>
              <a:t>Bridge vs. Switch:</a:t>
            </a:r>
            <a:r>
              <a:rPr lang="en-US" dirty="0"/>
              <a:t> A modern network switch is essentially a multiport bridge that provides a dedicated segment for every connected node. </a:t>
            </a:r>
          </a:p>
          <a:p>
            <a:r>
              <a:rPr lang="en-US" b="1" dirty="0"/>
              <a:t>Common Use Cases</a:t>
            </a:r>
            <a:endParaRPr lang="en-US" dirty="0"/>
          </a:p>
          <a:p>
            <a:pPr lvl="0"/>
            <a:r>
              <a:rPr lang="en-US" b="1" dirty="0"/>
              <a:t>Virtualization:</a:t>
            </a:r>
            <a:r>
              <a:rPr lang="en-US" dirty="0"/>
              <a:t> Bridging a physical network card to a virtual machine (VM) so the VM appears as a real device on the local network.</a:t>
            </a:r>
          </a:p>
          <a:p>
            <a:pPr lvl="0"/>
            <a:r>
              <a:rPr lang="en-US" b="1" dirty="0"/>
              <a:t>Extending Connectivity:</a:t>
            </a:r>
            <a:r>
              <a:rPr lang="en-US" dirty="0"/>
              <a:t> Connecting a device that only has an Ethernet port (like an older game console) to a wireless network by using a PC or dedicated wireless bridge.</a:t>
            </a:r>
          </a:p>
          <a:p>
            <a:pPr lvl="0"/>
            <a:r>
              <a:rPr lang="en-US" b="1" dirty="0"/>
              <a:t>WLAN Integration:</a:t>
            </a:r>
            <a:r>
              <a:rPr lang="en-US" dirty="0"/>
              <a:t> Allowing wireless clients and wired workstations to share files and printers seamlessly.</a:t>
            </a:r>
          </a:p>
        </p:txBody>
      </p:sp>
    </p:spTree>
    <p:extLst>
      <p:ext uri="{BB962C8B-B14F-4D97-AF65-F5344CB8AC3E}">
        <p14:creationId xmlns:p14="http://schemas.microsoft.com/office/powerpoint/2010/main" val="336938029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Switched Ethernet</a:t>
            </a:r>
            <a:endParaRPr lang="en-US" dirty="0"/>
          </a:p>
        </p:txBody>
      </p:sp>
      <p:sp>
        <p:nvSpPr>
          <p:cNvPr id="3" name="Content Placeholder 2"/>
          <p:cNvSpPr>
            <a:spLocks noGrp="1"/>
          </p:cNvSpPr>
          <p:nvPr>
            <p:ph idx="1"/>
          </p:nvPr>
        </p:nvSpPr>
        <p:spPr>
          <a:xfrm>
            <a:off x="1295401" y="2556932"/>
            <a:ext cx="7261370" cy="3318936"/>
          </a:xfrm>
        </p:spPr>
        <p:txBody>
          <a:bodyPr>
            <a:normAutofit fontScale="55000" lnSpcReduction="20000"/>
          </a:bodyPr>
          <a:lstStyle/>
          <a:p>
            <a:pPr fontAlgn="base"/>
            <a:r>
              <a:rPr lang="en-US" dirty="0"/>
              <a:t>An Ethernet switch sets up networks and communicates throughout LAN devices using several ports. Ethernet switches differ from routers, which connect networks with only one LAN and WAN port. A fully wired and wireless corporate infrastructure includes wired connectivity as well as wireless communication by Wi-Fi.</a:t>
            </a:r>
          </a:p>
          <a:p>
            <a:pPr fontAlgn="base"/>
            <a:r>
              <a:rPr lang="en-US" dirty="0"/>
              <a:t>Ethernet switching links devices that are connected, including computers, laptops, routers, servers, and printers, to a local area network (LAN). Multiple Ethernet switch ports provide more quickly connectivity and simpler connectivity for multiple devices at once. Hubs, which are like </a:t>
            </a:r>
            <a:endParaRPr lang="en-US" dirty="0" smtClean="0"/>
          </a:p>
          <a:p>
            <a:pPr fontAlgn="base"/>
            <a:r>
              <a:rPr lang="en-US" dirty="0" smtClean="0"/>
              <a:t>Ethernet </a:t>
            </a:r>
            <a:r>
              <a:rPr lang="en-US" dirty="0"/>
              <a:t>switches, have many ports by which connected devices on the LAN can be wired. The primary difference is that hubs distribute bandwidth properly throughout ports, whereas Ethernet switches may provide extra bandwidth to particular ports without decreasing network performance. When there are several devices on a network, Ethernet switching provides better performance.</a:t>
            </a:r>
          </a:p>
          <a:p>
            <a:pPr fontAlgn="base"/>
            <a:r>
              <a:rPr lang="en-US" dirty="0"/>
              <a:t>Routers create connections between networks; they commonly link</a:t>
            </a:r>
            <a:r>
              <a:rPr lang="en-US" u="sng" dirty="0">
                <a:hlinkClick r:id="rId2"/>
              </a:rPr>
              <a:t> local area networks (LANs) to wide area networks (WANs).</a:t>
            </a:r>
            <a:r>
              <a:rPr lang="en-US" dirty="0"/>
              <a:t> Routers are frequently situated at the network's gateway to send data packets along the network.</a:t>
            </a:r>
          </a:p>
          <a:p>
            <a:pPr fontAlgn="base"/>
            <a:r>
              <a:rPr lang="en-US" dirty="0"/>
              <a:t>Combinations of switches, routers, hubs, and wired and wireless technologies are used in the majority of business networks.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8559" y="3095930"/>
            <a:ext cx="2466975" cy="1857375"/>
          </a:xfrm>
          <a:prstGeom prst="rect">
            <a:avLst/>
          </a:prstGeom>
        </p:spPr>
      </p:pic>
    </p:spTree>
    <p:extLst>
      <p:ext uri="{BB962C8B-B14F-4D97-AF65-F5344CB8AC3E}">
        <p14:creationId xmlns:p14="http://schemas.microsoft.com/office/powerpoint/2010/main" val="420126127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How Do Switched Ethernet Work?</a:t>
            </a:r>
          </a:p>
        </p:txBody>
      </p:sp>
      <p:sp>
        <p:nvSpPr>
          <p:cNvPr id="3" name="Content Placeholder 2"/>
          <p:cNvSpPr>
            <a:spLocks noGrp="1"/>
          </p:cNvSpPr>
          <p:nvPr>
            <p:ph idx="1"/>
          </p:nvPr>
        </p:nvSpPr>
        <p:spPr/>
        <p:txBody>
          <a:bodyPr>
            <a:noAutofit/>
          </a:bodyPr>
          <a:lstStyle/>
          <a:p>
            <a:pPr fontAlgn="base"/>
            <a:r>
              <a:rPr lang="en-US" sz="1200" dirty="0" smtClean="0"/>
              <a:t>Ethernet </a:t>
            </a:r>
            <a:r>
              <a:rPr lang="en-US" sz="1200" dirty="0"/>
              <a:t>switches connect many devices by physically connecting them to the same switch or to another switch on the same network. These cables include coaxial, fiber optic, and twisted-pair Ethernet cables.</a:t>
            </a:r>
          </a:p>
          <a:p>
            <a:pPr fontAlgn="base"/>
            <a:r>
              <a:rPr lang="en-US" sz="1200" dirty="0"/>
              <a:t>When a device connects to a port, the Ethernet switch controls the flow of data between it and other devices, applications, data, cloud services, and the internet. The switching mechanism routes incoming and outgoing data to the correct switch port based on the sending device's port as well as the sending and destination MAC addresses. The MAC addresses of the sender and destination are provided, and the data is sent in an Ethernet frame.</a:t>
            </a:r>
          </a:p>
          <a:p>
            <a:pPr fontAlgn="base"/>
            <a:r>
              <a:rPr lang="en-US" sz="1200" dirty="0"/>
              <a:t>Every Ethernet-compatible device has a set up physical identifier known as a MAC address, which the connected switch uses to uniquely identify each device.</a:t>
            </a:r>
          </a:p>
          <a:p>
            <a:pPr fontAlgn="base"/>
            <a:r>
              <a:rPr lang="en-US" sz="1200" dirty="0"/>
              <a:t>When a switch receives an Ethernet packet, it records the sender device's MAC address and the port to which it is attached in a locally stored database known as a MAC address table. The switch process then checks the MAC address table to verify if the destination MAC address is already linked to the same switch. If it is, the switch routes the packet to the known target port. If not, the switch sends out the packet to all ports and waits for a response.</a:t>
            </a:r>
          </a:p>
          <a:p>
            <a:pPr fontAlgn="base"/>
            <a:r>
              <a:rPr lang="en-US" sz="1200" dirty="0"/>
              <a:t>If the switch has a connection to the destination device, the device receives the data packet, responses, and the transmission is complete. If the device is linked to another switch, the following switch will repeat the search and forward operation until the frame arrives at its destination.</a:t>
            </a:r>
          </a:p>
          <a:p>
            <a:pPr fontAlgn="base"/>
            <a:r>
              <a:rPr lang="en-US" sz="1200" dirty="0"/>
              <a:t>Ethernet switches range in size and capability from tiny devices like those in a house, to very fast, terabit-speed core switches. Ethernet switches are classified into three varieties based on their network structure or size: access, distribution, and core. Switching networks frequently feature a tree-root structure, with smaller switches connecting to devices at the access edge, bigger switches functioning as distribution, and finally larger switches working as core switches.</a:t>
            </a:r>
          </a:p>
        </p:txBody>
      </p:sp>
    </p:spTree>
    <p:extLst>
      <p:ext uri="{BB962C8B-B14F-4D97-AF65-F5344CB8AC3E}">
        <p14:creationId xmlns:p14="http://schemas.microsoft.com/office/powerpoint/2010/main" val="205273437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Applications of Switched Ethernet</a:t>
            </a:r>
          </a:p>
        </p:txBody>
      </p:sp>
      <p:sp>
        <p:nvSpPr>
          <p:cNvPr id="3" name="Content Placeholder 2"/>
          <p:cNvSpPr>
            <a:spLocks noGrp="1"/>
          </p:cNvSpPr>
          <p:nvPr>
            <p:ph idx="1"/>
          </p:nvPr>
        </p:nvSpPr>
        <p:spPr>
          <a:xfrm>
            <a:off x="1161177" y="2120705"/>
            <a:ext cx="9601196" cy="3318936"/>
          </a:xfrm>
        </p:spPr>
        <p:txBody>
          <a:bodyPr>
            <a:noAutofit/>
          </a:bodyPr>
          <a:lstStyle/>
          <a:p>
            <a:pPr fontAlgn="base"/>
            <a:r>
              <a:rPr lang="en-US" sz="1600" dirty="0" smtClean="0"/>
              <a:t>Ethernet </a:t>
            </a:r>
            <a:r>
              <a:rPr lang="en-US" sz="1600" dirty="0"/>
              <a:t>switches are used for the following purposes.</a:t>
            </a:r>
          </a:p>
          <a:p>
            <a:pPr fontAlgn="base"/>
            <a:r>
              <a:rPr lang="en-US" sz="1600" dirty="0"/>
              <a:t>These switches play a role in connecting wired devices such as laptops, PCs, servers, printers, and routers to the local area network.</a:t>
            </a:r>
          </a:p>
          <a:p>
            <a:pPr fontAlgn="base"/>
            <a:r>
              <a:rPr lang="en-US" sz="1600" dirty="0"/>
              <a:t>This switch is a type of network equipment that serves as the foundation for both the internet and networking.</a:t>
            </a:r>
          </a:p>
          <a:p>
            <a:pPr fontAlgn="base"/>
            <a:r>
              <a:rPr lang="en-US" sz="1600" dirty="0"/>
              <a:t>There are various Ethernet switch ports which allow easier and faster communication between multiple devices.</a:t>
            </a:r>
          </a:p>
          <a:p>
            <a:pPr fontAlgn="base"/>
            <a:r>
              <a:rPr lang="en-US" sz="1600" dirty="0"/>
              <a:t>This switch connects many ports and forms a network for communication with other devices on the Local Area Network.</a:t>
            </a:r>
          </a:p>
          <a:p>
            <a:pPr fontAlgn="base"/>
            <a:r>
              <a:rPr lang="en-US" sz="1600" dirty="0"/>
              <a:t>This is the most popular form of network switch used in Ethernet for connecting multiple Ethernet devices using packet switching to process, forward, and receive data from one device to another.</a:t>
            </a:r>
          </a:p>
          <a:p>
            <a:pPr fontAlgn="base"/>
            <a:r>
              <a:rPr lang="en-US" sz="1600" dirty="0"/>
              <a:t>This switch simply converts one Ethernet cable into many wired connections.</a:t>
            </a:r>
          </a:p>
          <a:p>
            <a:pPr fontAlgn="base"/>
            <a:r>
              <a:rPr lang="en-US" sz="1600" dirty="0"/>
              <a:t>This is a physical device that is commonly used in workplace networks or buildings.</a:t>
            </a:r>
          </a:p>
        </p:txBody>
      </p:sp>
    </p:spTree>
    <p:extLst>
      <p:ext uri="{BB962C8B-B14F-4D97-AF65-F5344CB8AC3E}">
        <p14:creationId xmlns:p14="http://schemas.microsoft.com/office/powerpoint/2010/main" val="351845534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WLAN(</a:t>
            </a:r>
            <a:r>
              <a:rPr lang="en-US" dirty="0" err="1" smtClean="0"/>
              <a:t>WiFi</a:t>
            </a:r>
            <a:r>
              <a:rPr lang="en-US" dirty="0" smtClean="0"/>
              <a:t>) and IEEE 802.11</a:t>
            </a:r>
            <a:endParaRPr lang="en-US" dirty="0"/>
          </a:p>
        </p:txBody>
      </p:sp>
      <p:sp>
        <p:nvSpPr>
          <p:cNvPr id="3" name="Content Placeholder 2"/>
          <p:cNvSpPr>
            <a:spLocks noGrp="1"/>
          </p:cNvSpPr>
          <p:nvPr>
            <p:ph idx="1"/>
          </p:nvPr>
        </p:nvSpPr>
        <p:spPr>
          <a:xfrm>
            <a:off x="1295402" y="2556932"/>
            <a:ext cx="4568504" cy="3318936"/>
          </a:xfrm>
        </p:spPr>
        <p:txBody>
          <a:bodyPr>
            <a:normAutofit fontScale="70000" lnSpcReduction="20000"/>
          </a:bodyPr>
          <a:lstStyle/>
          <a:p>
            <a:r>
              <a:rPr lang="en-US" b="1" dirty="0"/>
              <a:t>1. What is WLAN (Wi-Fi)?</a:t>
            </a:r>
            <a:endParaRPr lang="en-US" sz="1400" dirty="0"/>
          </a:p>
          <a:p>
            <a:r>
              <a:rPr lang="en-US" b="1" dirty="0"/>
              <a:t>WLAN = Wireless Local Area Network</a:t>
            </a:r>
            <a:endParaRPr lang="en-US" sz="2000" dirty="0"/>
          </a:p>
          <a:p>
            <a:pPr lvl="0"/>
            <a:r>
              <a:rPr lang="en-US" dirty="0"/>
              <a:t>It is a </a:t>
            </a:r>
            <a:r>
              <a:rPr lang="en-US" b="1" dirty="0"/>
              <a:t>local network</a:t>
            </a:r>
            <a:r>
              <a:rPr lang="en-US" dirty="0"/>
              <a:t> that uses </a:t>
            </a:r>
            <a:r>
              <a:rPr lang="en-US" b="1" dirty="0"/>
              <a:t>radio waves instead of cables</a:t>
            </a:r>
            <a:endParaRPr lang="en-US" sz="2000" dirty="0"/>
          </a:p>
          <a:p>
            <a:pPr lvl="0"/>
            <a:r>
              <a:rPr lang="en-US" dirty="0"/>
              <a:t>Covers </a:t>
            </a:r>
            <a:r>
              <a:rPr lang="en-US" b="1" dirty="0"/>
              <a:t>short range</a:t>
            </a:r>
            <a:r>
              <a:rPr lang="en-US" dirty="0"/>
              <a:t> (home, office, campus, café)</a:t>
            </a:r>
            <a:endParaRPr lang="en-US" sz="2000" dirty="0"/>
          </a:p>
          <a:p>
            <a:pPr lvl="0"/>
            <a:r>
              <a:rPr lang="en-US" dirty="0"/>
              <a:t>Wi-Fi is </a:t>
            </a:r>
            <a:r>
              <a:rPr lang="en-US" b="1" dirty="0"/>
              <a:t>NOT the internet</a:t>
            </a:r>
            <a:r>
              <a:rPr lang="en-US" dirty="0"/>
              <a:t/>
            </a:r>
            <a:br>
              <a:rPr lang="en-US" dirty="0"/>
            </a:br>
            <a:r>
              <a:rPr lang="en-US" dirty="0"/>
              <a:t>→ Wi-Fi is just the wireless link to a network</a:t>
            </a:r>
            <a:br>
              <a:rPr lang="en-US" dirty="0"/>
            </a:br>
            <a:r>
              <a:rPr lang="en-US" dirty="0"/>
              <a:t>→ Internet access is optional</a:t>
            </a:r>
            <a:endParaRPr lang="en-US" sz="2000" dirty="0"/>
          </a:p>
          <a:p>
            <a:r>
              <a:rPr lang="en-US" b="1" dirty="0"/>
              <a:t>Reality check:</a:t>
            </a:r>
            <a:r>
              <a:rPr lang="en-US" dirty="0"/>
              <a:t/>
            </a:r>
            <a:br>
              <a:rPr lang="en-US" dirty="0"/>
            </a:br>
            <a:r>
              <a:rPr lang="en-US" dirty="0"/>
              <a:t>People say </a:t>
            </a:r>
            <a:r>
              <a:rPr lang="en-US" i="1" dirty="0"/>
              <a:t>“Wi-Fi is slow”</a:t>
            </a:r>
            <a:r>
              <a:rPr lang="en-US" dirty="0"/>
              <a:t> — wrong.</a:t>
            </a:r>
            <a:br>
              <a:rPr lang="en-US" dirty="0"/>
            </a:br>
            <a:r>
              <a:rPr lang="en-US" dirty="0"/>
              <a:t>Bad routers, interference, distance, or congestion are slow. The technology itself is fast</a:t>
            </a:r>
            <a:r>
              <a:rPr lang="en-US" dirty="0" smtClean="0"/>
              <a:t>.</a:t>
            </a:r>
            <a:endParaRPr lang="en-US" sz="2000" dirty="0"/>
          </a:p>
        </p:txBody>
      </p:sp>
      <p:sp>
        <p:nvSpPr>
          <p:cNvPr id="4" name="Rectangle 3"/>
          <p:cNvSpPr/>
          <p:nvPr/>
        </p:nvSpPr>
        <p:spPr>
          <a:xfrm>
            <a:off x="6160316" y="2556932"/>
            <a:ext cx="4736282" cy="3693319"/>
          </a:xfrm>
          <a:prstGeom prst="rect">
            <a:avLst/>
          </a:prstGeom>
        </p:spPr>
        <p:txBody>
          <a:bodyPr wrap="square">
            <a:spAutoFit/>
          </a:bodyPr>
          <a:lstStyle/>
          <a:p>
            <a:r>
              <a:rPr lang="en-US" b="1" dirty="0"/>
              <a:t>2. What is IEEE 802.11?</a:t>
            </a:r>
            <a:endParaRPr lang="en-US" sz="1400" dirty="0"/>
          </a:p>
          <a:p>
            <a:r>
              <a:rPr lang="en-US" b="1" dirty="0"/>
              <a:t>IEEE 802.11 is the STANDARD behind Wi-Fi</a:t>
            </a:r>
            <a:endParaRPr lang="en-US" sz="2000" dirty="0"/>
          </a:p>
          <a:p>
            <a:pPr lvl="0"/>
            <a:r>
              <a:rPr lang="en-US" dirty="0"/>
              <a:t>IEEE = Institute of Electrical and Electronics Engineers</a:t>
            </a:r>
            <a:endParaRPr lang="en-US" sz="2000" dirty="0"/>
          </a:p>
          <a:p>
            <a:pPr lvl="0"/>
            <a:r>
              <a:rPr lang="en-US" dirty="0"/>
              <a:t>802.11 defines:</a:t>
            </a:r>
            <a:endParaRPr lang="en-US" sz="2000" dirty="0"/>
          </a:p>
          <a:p>
            <a:pPr lvl="1"/>
            <a:r>
              <a:rPr lang="en-US" dirty="0"/>
              <a:t>Frequencies</a:t>
            </a:r>
          </a:p>
          <a:p>
            <a:pPr lvl="1"/>
            <a:r>
              <a:rPr lang="en-US" dirty="0"/>
              <a:t>Data rates</a:t>
            </a:r>
          </a:p>
          <a:p>
            <a:pPr lvl="1"/>
            <a:r>
              <a:rPr lang="en-US" dirty="0"/>
              <a:t>Modulation</a:t>
            </a:r>
          </a:p>
          <a:p>
            <a:pPr lvl="1"/>
            <a:r>
              <a:rPr lang="en-US" dirty="0"/>
              <a:t>Security</a:t>
            </a:r>
          </a:p>
          <a:p>
            <a:pPr lvl="1"/>
            <a:r>
              <a:rPr lang="en-US" dirty="0"/>
              <a:t>MAC layer rules</a:t>
            </a:r>
          </a:p>
          <a:p>
            <a:r>
              <a:rPr lang="en-US" dirty="0"/>
              <a:t>👉 </a:t>
            </a:r>
            <a:r>
              <a:rPr lang="en-US" b="1" dirty="0"/>
              <a:t>All Wi-Fi devices MUST follow 802.11 standards</a:t>
            </a:r>
            <a:endParaRPr lang="en-US" sz="2000" dirty="0"/>
          </a:p>
          <a:p>
            <a:r>
              <a:rPr lang="en-US" dirty="0"/>
              <a:t>No 802.11 → no Wi-Fi.</a:t>
            </a:r>
            <a:endParaRPr lang="en-US" sz="2000" dirty="0"/>
          </a:p>
        </p:txBody>
      </p:sp>
    </p:spTree>
    <p:extLst>
      <p:ext uri="{BB962C8B-B14F-4D97-AF65-F5344CB8AC3E}">
        <p14:creationId xmlns:p14="http://schemas.microsoft.com/office/powerpoint/2010/main" val="275488052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WLAN</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WLAN</a:t>
            </a:r>
            <a:r>
              <a:rPr lang="en-US" dirty="0"/>
              <a:t> stands for </a:t>
            </a:r>
            <a:r>
              <a:rPr lang="en-US" b="1" dirty="0"/>
              <a:t>Wireless Local Area Network.</a:t>
            </a:r>
            <a:r>
              <a:rPr lang="en-US" dirty="0"/>
              <a:t> WLAN is a local area network that uses radio communication to provide mobility to the network users while maintaining the connectivity to the wired network. A WLAN basically, extends a wired local area network. </a:t>
            </a:r>
            <a:endParaRPr lang="en-US" dirty="0" smtClean="0"/>
          </a:p>
          <a:p>
            <a:r>
              <a:rPr lang="en-US" dirty="0" smtClean="0"/>
              <a:t>WLAN's </a:t>
            </a:r>
            <a:r>
              <a:rPr lang="en-US" dirty="0"/>
              <a:t>are built by attaching a device called the access point(AP) to the edge of the wired network. Clients communicate with the AP using a wireless network adapter which is similar in function to an </a:t>
            </a:r>
            <a:r>
              <a:rPr lang="en-US" dirty="0" err="1"/>
              <a:t>ethernet</a:t>
            </a:r>
            <a:r>
              <a:rPr lang="en-US" dirty="0"/>
              <a:t> adapter. It is also called a LAWN is a Local area wireless network. </a:t>
            </a:r>
            <a:br>
              <a:rPr lang="en-US" dirty="0"/>
            </a:br>
            <a:r>
              <a:rPr lang="en-US" dirty="0"/>
              <a:t/>
            </a:r>
            <a:br>
              <a:rPr lang="en-US" dirty="0"/>
            </a:br>
            <a:r>
              <a:rPr lang="en-US" dirty="0"/>
              <a:t>The performance of WLAN is high compared to other wireless networks. The coverage of WLAN is within a campus or building or that tech park. It is used in the mobile propagation of wired networks. The standards of WLAN are </a:t>
            </a:r>
            <a:r>
              <a:rPr lang="en-US" dirty="0" err="1"/>
              <a:t>HiperLAN</a:t>
            </a:r>
            <a:r>
              <a:rPr lang="en-US" dirty="0"/>
              <a:t>, Wi-Fi, and IEEE 802.11. It offers service to the desktop laptop, mobile application, and all the devices that work on the Internet. </a:t>
            </a:r>
            <a:endParaRPr lang="en-US" dirty="0" smtClean="0"/>
          </a:p>
          <a:p>
            <a:r>
              <a:rPr lang="en-US" dirty="0" smtClean="0"/>
              <a:t>WLAN </a:t>
            </a:r>
            <a:r>
              <a:rPr lang="en-US" dirty="0"/>
              <a:t>is an affordable method and can be set up in 24 hours. WLAN gives users the mobility to move around within a local coverage area and still be connected to the network. Most latest brands are based on IEE 802.11 standards, which are the WI-FI brand name. </a:t>
            </a:r>
          </a:p>
        </p:txBody>
      </p:sp>
    </p:spTree>
    <p:extLst>
      <p:ext uri="{BB962C8B-B14F-4D97-AF65-F5344CB8AC3E}">
        <p14:creationId xmlns:p14="http://schemas.microsoft.com/office/powerpoint/2010/main" val="157441093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WLAN Architecture</a:t>
            </a:r>
            <a:br>
              <a:rPr lang="en-US" b="1" dirty="0"/>
            </a:br>
            <a:endParaRPr lang="en-US" dirty="0"/>
          </a:p>
        </p:txBody>
      </p:sp>
      <p:sp>
        <p:nvSpPr>
          <p:cNvPr id="3" name="Content Placeholder 2"/>
          <p:cNvSpPr>
            <a:spLocks noGrp="1"/>
          </p:cNvSpPr>
          <p:nvPr>
            <p:ph idx="1"/>
          </p:nvPr>
        </p:nvSpPr>
        <p:spPr>
          <a:xfrm>
            <a:off x="1295401" y="2556932"/>
            <a:ext cx="5835241" cy="3318936"/>
          </a:xfrm>
        </p:spPr>
        <p:txBody>
          <a:bodyPr>
            <a:normAutofit fontScale="77500" lnSpcReduction="20000"/>
          </a:bodyPr>
          <a:lstStyle/>
          <a:p>
            <a:pPr fontAlgn="base"/>
            <a:r>
              <a:rPr lang="en-US" dirty="0" smtClean="0"/>
              <a:t>Components </a:t>
            </a:r>
            <a:r>
              <a:rPr lang="en-US" dirty="0"/>
              <a:t>in Wireless </a:t>
            </a:r>
            <a:r>
              <a:rPr lang="en-US" u="sng" dirty="0">
                <a:hlinkClick r:id="rId2"/>
              </a:rPr>
              <a:t>LAN</a:t>
            </a:r>
            <a:r>
              <a:rPr lang="en-US" dirty="0"/>
              <a:t> architecture as per IEEE standards are as follows:</a:t>
            </a:r>
          </a:p>
          <a:p>
            <a:pPr fontAlgn="base"/>
            <a:r>
              <a:rPr lang="en-US" b="1" dirty="0"/>
              <a:t>Stations: </a:t>
            </a:r>
            <a:r>
              <a:rPr lang="en-US" dirty="0"/>
              <a:t>Stations consist of all the equipment that is used to connect all wireless LANs. Each station has a wireless network controller.</a:t>
            </a:r>
          </a:p>
          <a:p>
            <a:pPr fontAlgn="base"/>
            <a:r>
              <a:rPr lang="en-US" b="1" dirty="0"/>
              <a:t>Base Service Set(BSS): </a:t>
            </a:r>
            <a:r>
              <a:rPr lang="en-US" dirty="0"/>
              <a:t>It is a group of stations communicating at the physical layer.</a:t>
            </a:r>
          </a:p>
          <a:p>
            <a:pPr fontAlgn="base"/>
            <a:r>
              <a:rPr lang="en-US" b="1" dirty="0"/>
              <a:t>Extended Service Set(ESS): </a:t>
            </a:r>
            <a:r>
              <a:rPr lang="en-US" dirty="0"/>
              <a:t>It is a group of connected Base Service Set(BSS).</a:t>
            </a:r>
          </a:p>
          <a:p>
            <a:pPr fontAlgn="base"/>
            <a:r>
              <a:rPr lang="en-US" b="1" dirty="0"/>
              <a:t>Distribution Service (DS): </a:t>
            </a:r>
            <a:r>
              <a:rPr lang="en-US" dirty="0"/>
              <a:t>It connects all Extended Service Set(ESS).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0642" y="2091261"/>
            <a:ext cx="4157148" cy="2958911"/>
          </a:xfrm>
          <a:prstGeom prst="rect">
            <a:avLst/>
          </a:prstGeom>
        </p:spPr>
      </p:pic>
    </p:spTree>
    <p:extLst>
      <p:ext uri="{BB962C8B-B14F-4D97-AF65-F5344CB8AC3E}">
        <p14:creationId xmlns:p14="http://schemas.microsoft.com/office/powerpoint/2010/main" val="326494224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7896" y="1004969"/>
            <a:ext cx="9601196" cy="3318936"/>
          </a:xfrm>
        </p:spPr>
        <p:txBody>
          <a:bodyPr>
            <a:noAutofit/>
          </a:bodyPr>
          <a:lstStyle/>
          <a:p>
            <a:pPr fontAlgn="base"/>
            <a:r>
              <a:rPr lang="en-US" sz="1400" b="1" dirty="0"/>
              <a:t>Types of WLANs</a:t>
            </a:r>
          </a:p>
          <a:p>
            <a:pPr fontAlgn="base"/>
            <a:r>
              <a:rPr lang="en-US" sz="1400" dirty="0"/>
              <a:t>As per IEEE standard WLAN is categorized into two basic modes, which are as follows:</a:t>
            </a:r>
          </a:p>
          <a:p>
            <a:pPr fontAlgn="base"/>
            <a:r>
              <a:rPr lang="en-US" sz="1400" b="1" dirty="0"/>
              <a:t>Infrastructure: </a:t>
            </a:r>
            <a:r>
              <a:rPr lang="en-US" sz="1400" dirty="0"/>
              <a:t>In Infrastructure mode, all the endpoints are connected to a base station and communicate through that; and this can also enable internet access. A WLAN infrastructure can be set up with: a wireless router (base station) and an endpoint (computer, mobile phone, </a:t>
            </a:r>
            <a:r>
              <a:rPr lang="en-US" sz="1400" dirty="0" err="1"/>
              <a:t>etc</a:t>
            </a:r>
            <a:r>
              <a:rPr lang="en-US" sz="1400" dirty="0"/>
              <a:t>). An office or home </a:t>
            </a:r>
            <a:r>
              <a:rPr lang="en-US" sz="1400" dirty="0" err="1"/>
              <a:t>WiFi</a:t>
            </a:r>
            <a:r>
              <a:rPr lang="en-US" sz="1400" dirty="0"/>
              <a:t> connection is an example of Infrastructure mode.</a:t>
            </a:r>
          </a:p>
          <a:p>
            <a:pPr fontAlgn="base"/>
            <a:r>
              <a:rPr lang="en-US" sz="1400" b="1" dirty="0"/>
              <a:t>Ad Hoc: </a:t>
            </a:r>
            <a:r>
              <a:rPr lang="en-US" sz="1400" dirty="0"/>
              <a:t>In Ad Hoc mode WLAN connects devices without a base station, like a computer workstation. An Ad Hoc WLAN is easy to set up it provides peer-to-peer communication. It requires two or more endpoints with built-in radio transmission.</a:t>
            </a:r>
          </a:p>
          <a:p>
            <a:pPr fontAlgn="base"/>
            <a:r>
              <a:rPr lang="en-US" sz="1400" b="1" dirty="0"/>
              <a:t>Working of WLAN</a:t>
            </a:r>
          </a:p>
          <a:p>
            <a:pPr fontAlgn="base"/>
            <a:r>
              <a:rPr lang="en-US" sz="1400" dirty="0"/>
              <a:t>WLAN transmits data over radio signals and the data is sent in the form of a packet. Each packet consists of layers, labels, and instructions with unique </a:t>
            </a:r>
            <a:r>
              <a:rPr lang="en-US" sz="1400" u="sng" dirty="0">
                <a:hlinkClick r:id="rId2"/>
              </a:rPr>
              <a:t>MAC addresses</a:t>
            </a:r>
            <a:r>
              <a:rPr lang="en-US" sz="1400" dirty="0"/>
              <a:t> assigned to endpoints. This enables routing data packets to correct locations.</a:t>
            </a:r>
          </a:p>
          <a:p>
            <a:pPr fontAlgn="base"/>
            <a:r>
              <a:rPr lang="en-US" sz="1400" b="1" dirty="0"/>
              <a:t>How is a WLAN Created ?</a:t>
            </a:r>
          </a:p>
          <a:p>
            <a:pPr fontAlgn="base"/>
            <a:r>
              <a:rPr lang="en-US" sz="1400" dirty="0"/>
              <a:t>A WLAN is a collection of nodes interconnected with each other for the purpose of data sharing, transmitting messages over the internet, connecting for peer-2-peer </a:t>
            </a:r>
            <a:r>
              <a:rPr lang="en-US" sz="1400" dirty="0" err="1"/>
              <a:t>connectiob</a:t>
            </a:r>
            <a:r>
              <a:rPr lang="en-US" sz="1400" dirty="0"/>
              <a:t> etc. As discussed above in types, it can be created in following 2 ways :</a:t>
            </a:r>
          </a:p>
          <a:p>
            <a:pPr fontAlgn="base"/>
            <a:r>
              <a:rPr lang="en-US" sz="1400" dirty="0"/>
              <a:t>Connecting through one base station and that could be the router that acts as a doorway to the internet, and every other nodes (devices like computer, smartphones) can connect to the internet and to each other through it.</a:t>
            </a:r>
          </a:p>
          <a:p>
            <a:pPr fontAlgn="base"/>
            <a:r>
              <a:rPr lang="en-US" sz="1400" dirty="0"/>
              <a:t>Peer-2-Peer connection using the </a:t>
            </a:r>
            <a:r>
              <a:rPr lang="en-US" sz="1400" dirty="0" err="1"/>
              <a:t>wifi</a:t>
            </a:r>
            <a:r>
              <a:rPr lang="en-US" sz="1400" dirty="0"/>
              <a:t> direct technology. This is more suitable for situations when we require to connect two or more devices without internet and only for purpose of data exchange, connecting over a same local network.</a:t>
            </a:r>
          </a:p>
        </p:txBody>
      </p:sp>
    </p:spTree>
    <p:extLst>
      <p:ext uri="{BB962C8B-B14F-4D97-AF65-F5344CB8AC3E}">
        <p14:creationId xmlns:p14="http://schemas.microsoft.com/office/powerpoint/2010/main" val="364928338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IEEE 802.11</a:t>
            </a: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US" dirty="0"/>
              <a:t>The IEEE 802.11 standard, commonly known as Wi-Fi, outlines the architecture and defines the MAC and physical layer specifications for wireless LANs (WLANs). Wi-Fi uses high-frequency radio waves instead of cables for connecting the devices in LAN. </a:t>
            </a:r>
            <a:endParaRPr lang="en-US" dirty="0" smtClean="0"/>
          </a:p>
          <a:p>
            <a:pPr fontAlgn="base"/>
            <a:r>
              <a:rPr lang="en-US" dirty="0" smtClean="0"/>
              <a:t>Given </a:t>
            </a:r>
            <a:r>
              <a:rPr lang="en-US" dirty="0"/>
              <a:t>the mobility of WLAN nodes, they can move unrestricted within the network coverage zone. The 802.11 structure is designed to accommodate mobile stations that participate actively in network decisions. Furthermore, it can seamlessly integrate with 2G, 3G, and 4G networks.</a:t>
            </a:r>
          </a:p>
          <a:p>
            <a:pPr fontAlgn="base"/>
            <a:r>
              <a:rPr lang="en-US" dirty="0"/>
              <a:t>The Wi-Fi standard represents a set of wireless LAN standards developed by the Working Group of IEEE LAN/MAN standards committee (IEEE 802). </a:t>
            </a:r>
            <a:endParaRPr lang="en-US" dirty="0" smtClean="0"/>
          </a:p>
          <a:p>
            <a:pPr fontAlgn="base"/>
            <a:r>
              <a:rPr lang="en-US" dirty="0" smtClean="0"/>
              <a:t>The </a:t>
            </a:r>
            <a:r>
              <a:rPr lang="en-US" dirty="0"/>
              <a:t>term 802.11x is also used to denote the set of standards. Various specifications and amendments include 802.11a, 802.11b, 802.11e, 802.11g, 802.11n etc.</a:t>
            </a:r>
          </a:p>
        </p:txBody>
      </p:sp>
    </p:spTree>
    <p:extLst>
      <p:ext uri="{BB962C8B-B14F-4D97-AF65-F5344CB8AC3E}">
        <p14:creationId xmlns:p14="http://schemas.microsoft.com/office/powerpoint/2010/main" val="333344747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9233" y="529126"/>
            <a:ext cx="9601196" cy="1303867"/>
          </a:xfrm>
        </p:spPr>
        <p:txBody>
          <a:bodyPr>
            <a:normAutofit fontScale="90000"/>
          </a:bodyPr>
          <a:lstStyle/>
          <a:p>
            <a:pPr fontAlgn="base"/>
            <a:r>
              <a:rPr lang="en-US" b="1" dirty="0"/>
              <a:t>Important Terminologies of IEEE 802.11 Architecture</a:t>
            </a:r>
          </a:p>
        </p:txBody>
      </p:sp>
      <p:sp>
        <p:nvSpPr>
          <p:cNvPr id="3" name="Content Placeholder 2"/>
          <p:cNvSpPr>
            <a:spLocks noGrp="1"/>
          </p:cNvSpPr>
          <p:nvPr>
            <p:ph idx="1"/>
          </p:nvPr>
        </p:nvSpPr>
        <p:spPr>
          <a:xfrm>
            <a:off x="1119233" y="1759978"/>
            <a:ext cx="9601196" cy="3318936"/>
          </a:xfrm>
        </p:spPr>
        <p:txBody>
          <a:bodyPr>
            <a:normAutofit fontScale="25000" lnSpcReduction="20000"/>
          </a:bodyPr>
          <a:lstStyle/>
          <a:p>
            <a:pPr marL="0" indent="0" fontAlgn="base">
              <a:buNone/>
            </a:pPr>
            <a:endParaRPr lang="en-US" dirty="0"/>
          </a:p>
          <a:p>
            <a:pPr fontAlgn="base"/>
            <a:r>
              <a:rPr lang="en-US" sz="4800" b="1" dirty="0"/>
              <a:t>Station: </a:t>
            </a:r>
            <a:r>
              <a:rPr lang="en-US" sz="4800" dirty="0"/>
              <a:t>Stations (STA) comprise all devices and equipment that are connected to the wireless LAN. It can be of two types:</a:t>
            </a:r>
          </a:p>
          <a:p>
            <a:pPr fontAlgn="base"/>
            <a:r>
              <a:rPr lang="en-US" sz="4800" b="1" dirty="0"/>
              <a:t>Wireless Access Point (WAP):</a:t>
            </a:r>
            <a:r>
              <a:rPr lang="en-US" sz="4800" dirty="0"/>
              <a:t> WAPs or simply access points (AP) are wireless routers that bridge connections for base stations.</a:t>
            </a:r>
          </a:p>
          <a:p>
            <a:pPr fontAlgn="base"/>
            <a:r>
              <a:rPr lang="en-US" sz="4800" b="1" dirty="0"/>
              <a:t>Client: </a:t>
            </a:r>
            <a:r>
              <a:rPr lang="en-US" sz="4800" dirty="0"/>
              <a:t>Examples include computers, laptops, printers, and smartphones.</a:t>
            </a:r>
            <a:br>
              <a:rPr lang="en-US" sz="4800" dirty="0"/>
            </a:br>
            <a:endParaRPr lang="en-US" sz="4800" dirty="0"/>
          </a:p>
          <a:p>
            <a:pPr fontAlgn="base"/>
            <a:r>
              <a:rPr lang="en-US" sz="4800" b="1" dirty="0"/>
              <a:t>Access Point</a:t>
            </a:r>
            <a:r>
              <a:rPr lang="en-US" sz="4800" dirty="0"/>
              <a:t>: It is a device that can be classified as a station because of its functionalities and acts as a connection between wireless medium and distributed systems.</a:t>
            </a:r>
            <a:br>
              <a:rPr lang="en-US" sz="4800" dirty="0"/>
            </a:br>
            <a:endParaRPr lang="en-US" sz="4800" dirty="0"/>
          </a:p>
          <a:p>
            <a:pPr fontAlgn="base"/>
            <a:r>
              <a:rPr lang="en-US" sz="4800" b="1" dirty="0"/>
              <a:t>Distribution System:</a:t>
            </a:r>
            <a:r>
              <a:rPr lang="en-US" sz="4800" dirty="0"/>
              <a:t> A system used to interconnect a set of BSSs and integrated LANs to create an ESS.</a:t>
            </a:r>
            <a:br>
              <a:rPr lang="en-US" sz="4800" dirty="0"/>
            </a:br>
            <a:endParaRPr lang="en-US" sz="4800" dirty="0"/>
          </a:p>
          <a:p>
            <a:pPr fontAlgn="base"/>
            <a:r>
              <a:rPr lang="en-US" sz="4800" b="1" dirty="0"/>
              <a:t>Frame:</a:t>
            </a:r>
            <a:r>
              <a:rPr lang="en-US" sz="4800" dirty="0"/>
              <a:t> It is a MAC protocol data unit.</a:t>
            </a:r>
            <a:br>
              <a:rPr lang="en-US" sz="4800" dirty="0"/>
            </a:br>
            <a:endParaRPr lang="en-US" sz="4800" dirty="0"/>
          </a:p>
          <a:p>
            <a:pPr fontAlgn="base"/>
            <a:r>
              <a:rPr lang="en-US" sz="4800" b="1" dirty="0"/>
              <a:t>SSID</a:t>
            </a:r>
            <a:r>
              <a:rPr lang="en-US" sz="4800" dirty="0"/>
              <a:t> </a:t>
            </a:r>
            <a:r>
              <a:rPr lang="en-US" sz="4800" b="1" dirty="0"/>
              <a:t>(Service Set Identifier): </a:t>
            </a:r>
            <a:r>
              <a:rPr lang="en-US" sz="4800" dirty="0"/>
              <a:t>It’s the network name for a particular </a:t>
            </a:r>
            <a:r>
              <a:rPr lang="en-US" sz="4800" u="sng" dirty="0">
                <a:hlinkClick r:id="rId2"/>
              </a:rPr>
              <a:t>WLAN</a:t>
            </a:r>
            <a:r>
              <a:rPr lang="en-US" sz="4800" dirty="0"/>
              <a:t>. All-access points and devices on a specific WLAN must use the same SSID to communicate.</a:t>
            </a:r>
            <a:br>
              <a:rPr lang="en-US" sz="4800" dirty="0"/>
            </a:br>
            <a:endParaRPr lang="en-US" sz="4800" dirty="0"/>
          </a:p>
          <a:p>
            <a:pPr fontAlgn="base"/>
            <a:r>
              <a:rPr lang="en-US" sz="4800" b="1" dirty="0"/>
              <a:t>SDU:</a:t>
            </a:r>
            <a:r>
              <a:rPr lang="en-US" sz="4800" dirty="0"/>
              <a:t> It is a data unit that acts as an input to each layer. These can be fragmented or aggregated to form a PDU.</a:t>
            </a:r>
            <a:br>
              <a:rPr lang="en-US" sz="4800" dirty="0"/>
            </a:br>
            <a:endParaRPr lang="en-US" sz="4800" dirty="0"/>
          </a:p>
          <a:p>
            <a:pPr fontAlgn="base"/>
            <a:r>
              <a:rPr lang="en-US" sz="4800" b="1" dirty="0"/>
              <a:t>PDU:</a:t>
            </a:r>
            <a:r>
              <a:rPr lang="en-US" sz="4800" dirty="0"/>
              <a:t> It is a data unit projected as an output to communicate with the corresponding layer at the other end. They contain a header specific to the layer.</a:t>
            </a:r>
            <a:br>
              <a:rPr lang="en-US" sz="4800" dirty="0"/>
            </a:br>
            <a:endParaRPr lang="en-US" sz="4800" dirty="0"/>
          </a:p>
          <a:p>
            <a:pPr fontAlgn="base"/>
            <a:r>
              <a:rPr lang="en-US" sz="4800" b="1" dirty="0"/>
              <a:t>Network</a:t>
            </a:r>
            <a:r>
              <a:rPr lang="en-US" sz="4800" dirty="0"/>
              <a:t> </a:t>
            </a:r>
            <a:r>
              <a:rPr lang="en-US" sz="4800" b="1" dirty="0"/>
              <a:t>Interface</a:t>
            </a:r>
            <a:r>
              <a:rPr lang="en-US" sz="4800" dirty="0"/>
              <a:t> </a:t>
            </a:r>
            <a:r>
              <a:rPr lang="en-US" sz="4800" b="1" dirty="0"/>
              <a:t>Controller: </a:t>
            </a:r>
            <a:r>
              <a:rPr lang="en-US" sz="4800" dirty="0"/>
              <a:t>It is also known as network interface card. It is a hardware component that connects devices to the network.</a:t>
            </a:r>
            <a:br>
              <a:rPr lang="en-US" sz="4800" dirty="0"/>
            </a:br>
            <a:endParaRPr lang="en-US" sz="4800" dirty="0"/>
          </a:p>
          <a:p>
            <a:pPr fontAlgn="base"/>
            <a:r>
              <a:rPr lang="en-US" sz="4800" b="1" dirty="0"/>
              <a:t>Portal</a:t>
            </a:r>
            <a:r>
              <a:rPr lang="en-US" sz="4800" dirty="0"/>
              <a:t>: Serves as a gateway to other networks</a:t>
            </a:r>
          </a:p>
        </p:txBody>
      </p:sp>
    </p:spTree>
    <p:extLst>
      <p:ext uri="{BB962C8B-B14F-4D97-AF65-F5344CB8AC3E}">
        <p14:creationId xmlns:p14="http://schemas.microsoft.com/office/powerpoint/2010/main" val="225347937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IEEE 802.11 Architecture and Services</a:t>
            </a:r>
          </a:p>
        </p:txBody>
      </p:sp>
      <p:sp>
        <p:nvSpPr>
          <p:cNvPr id="3" name="Content Placeholder 2"/>
          <p:cNvSpPr>
            <a:spLocks noGrp="1"/>
          </p:cNvSpPr>
          <p:nvPr>
            <p:ph idx="1"/>
          </p:nvPr>
        </p:nvSpPr>
        <p:spPr/>
        <p:txBody>
          <a:bodyPr>
            <a:normAutofit fontScale="70000" lnSpcReduction="20000"/>
          </a:bodyPr>
          <a:lstStyle/>
          <a:p>
            <a:pPr fontAlgn="base"/>
            <a:r>
              <a:rPr lang="en-US" dirty="0" smtClean="0"/>
              <a:t>In </a:t>
            </a:r>
            <a:r>
              <a:rPr lang="en-US" dirty="0"/>
              <a:t>the year 1990, IEEE 802.11 Committee formed a new working group, the IEEE 802.11 standard which defines protocols for Wireless Local Area Networks (WLANs). Just like how </a:t>
            </a:r>
            <a:r>
              <a:rPr lang="en-US" u="sng" dirty="0">
                <a:hlinkClick r:id="rId2"/>
              </a:rPr>
              <a:t>Ethernet</a:t>
            </a:r>
            <a:r>
              <a:rPr lang="en-US" dirty="0"/>
              <a:t> provides services for wired media, IEEE 802.11 architecture is designed to provide features for wireless networks.</a:t>
            </a:r>
          </a:p>
          <a:p>
            <a:pPr fontAlgn="base"/>
            <a:r>
              <a:rPr lang="en-US" dirty="0"/>
              <a:t>An AP supports both wired and wireless connections. The 802.11 standard calls the upstream wired network the distribution system (DS). The AP bridges the wireless and wired L2 Ethernet frames, allowing traffic to flow from the wired to the wireless network and vice versa. Each wireless network has a unique SSID.</a:t>
            </a:r>
          </a:p>
          <a:p>
            <a:pPr fontAlgn="base"/>
            <a:r>
              <a:rPr lang="en-US" dirty="0"/>
              <a:t>The 802.11 architecture provides some basic services for WLANs whose implementation is supported by MAC layer:</a:t>
            </a:r>
          </a:p>
          <a:p>
            <a:pPr fontAlgn="base"/>
            <a:r>
              <a:rPr lang="en-US" b="1" dirty="0"/>
              <a:t>Basic Service Set</a:t>
            </a:r>
          </a:p>
          <a:p>
            <a:pPr fontAlgn="base"/>
            <a:r>
              <a:rPr lang="en-US" dirty="0"/>
              <a:t>The </a:t>
            </a:r>
            <a:r>
              <a:rPr lang="en-US" u="sng" dirty="0">
                <a:hlinkClick r:id="rId3"/>
              </a:rPr>
              <a:t>Basic Service Set</a:t>
            </a:r>
            <a:r>
              <a:rPr lang="en-US" dirty="0"/>
              <a:t> configuration consists of a group of stations and relies on an Access Point (AP), which serves as a logical hub. Stations from different BSSs interact through the AP, which functions as a bridge, linking multiple WLAN cells or channels.</a:t>
            </a:r>
          </a:p>
        </p:txBody>
      </p:sp>
    </p:spTree>
    <p:extLst>
      <p:ext uri="{BB962C8B-B14F-4D97-AF65-F5344CB8AC3E}">
        <p14:creationId xmlns:p14="http://schemas.microsoft.com/office/powerpoint/2010/main" val="351614509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6346" y="386514"/>
            <a:ext cx="9601196" cy="1303867"/>
          </a:xfrm>
        </p:spPr>
        <p:txBody>
          <a:bodyPr/>
          <a:lstStyle/>
          <a:p>
            <a:pPr fontAlgn="base"/>
            <a:r>
              <a:rPr lang="en-US" b="1" dirty="0"/>
              <a:t>Operating Modes</a:t>
            </a:r>
          </a:p>
        </p:txBody>
      </p:sp>
      <p:sp>
        <p:nvSpPr>
          <p:cNvPr id="3" name="Content Placeholder 2"/>
          <p:cNvSpPr>
            <a:spLocks noGrp="1"/>
          </p:cNvSpPr>
          <p:nvPr>
            <p:ph idx="1"/>
          </p:nvPr>
        </p:nvSpPr>
        <p:spPr>
          <a:xfrm>
            <a:off x="1119232" y="2639964"/>
            <a:ext cx="6137245" cy="3318936"/>
          </a:xfrm>
        </p:spPr>
        <p:txBody>
          <a:bodyPr>
            <a:normAutofit fontScale="92500" lnSpcReduction="20000"/>
          </a:bodyPr>
          <a:lstStyle/>
          <a:p>
            <a:pPr fontAlgn="base"/>
            <a:r>
              <a:rPr lang="en-US" dirty="0" smtClean="0"/>
              <a:t>Depending </a:t>
            </a:r>
            <a:r>
              <a:rPr lang="en-US" dirty="0"/>
              <a:t>upon the mode of operation, BSS can be categorized into the following types:</a:t>
            </a:r>
          </a:p>
          <a:p>
            <a:pPr lvl="0" fontAlgn="base"/>
            <a:r>
              <a:rPr lang="en-US" b="1" dirty="0"/>
              <a:t>Infrastructure BSS:</a:t>
            </a:r>
            <a:r>
              <a:rPr lang="en-US" dirty="0"/>
              <a:t> Communication between stations takes place through access points. The AP and its associated wireless clients define the coverage area and form the BSS</a:t>
            </a:r>
            <a:r>
              <a:rPr lang="en-US" dirty="0" smtClean="0"/>
              <a:t>.</a:t>
            </a:r>
          </a:p>
          <a:p>
            <a:pPr fontAlgn="base"/>
            <a:r>
              <a:rPr lang="en-US" b="1" dirty="0"/>
              <a:t>Independent BSS</a:t>
            </a:r>
            <a:r>
              <a:rPr lang="en-US" dirty="0"/>
              <a:t> - Supports mutual communication between wireless clients. An </a:t>
            </a:r>
            <a:r>
              <a:rPr lang="en-US" u="sng" dirty="0">
                <a:hlinkClick r:id="rId2"/>
              </a:rPr>
              <a:t>ad-hoc</a:t>
            </a:r>
            <a:r>
              <a:rPr lang="en-US" dirty="0"/>
              <a:t> network is spontaneously created and does not support access to wired networks.</a:t>
            </a:r>
          </a:p>
          <a:p>
            <a:pPr lvl="0" fontAlgn="base"/>
            <a:endParaRPr lang="en-US" dirty="0"/>
          </a:p>
        </p:txBody>
      </p:sp>
      <p:pic>
        <p:nvPicPr>
          <p:cNvPr id="4" name="Picture 3" descr="Infrastructure BSS"/>
          <p:cNvPicPr/>
          <p:nvPr/>
        </p:nvPicPr>
        <p:blipFill>
          <a:blip r:embed="rId3">
            <a:extLst>
              <a:ext uri="{28A0092B-C50C-407E-A947-70E740481C1C}">
                <a14:useLocalDpi xmlns:a14="http://schemas.microsoft.com/office/drawing/2010/main" val="0"/>
              </a:ext>
            </a:extLst>
          </a:blip>
          <a:srcRect/>
          <a:stretch>
            <a:fillRect/>
          </a:stretch>
        </p:blipFill>
        <p:spPr bwMode="auto">
          <a:xfrm>
            <a:off x="7726259" y="1499755"/>
            <a:ext cx="3652031" cy="2280418"/>
          </a:xfrm>
          <a:prstGeom prst="rect">
            <a:avLst/>
          </a:prstGeom>
          <a:noFill/>
          <a:ln>
            <a:noFill/>
          </a:ln>
        </p:spPr>
      </p:pic>
      <p:pic>
        <p:nvPicPr>
          <p:cNvPr id="5" name="Picture 4" descr="Independent BSS"/>
          <p:cNvPicPr/>
          <p:nvPr/>
        </p:nvPicPr>
        <p:blipFill>
          <a:blip r:embed="rId4">
            <a:extLst>
              <a:ext uri="{28A0092B-C50C-407E-A947-70E740481C1C}">
                <a14:useLocalDpi xmlns:a14="http://schemas.microsoft.com/office/drawing/2010/main" val="0"/>
              </a:ext>
            </a:extLst>
          </a:blip>
          <a:srcRect/>
          <a:stretch>
            <a:fillRect/>
          </a:stretch>
        </p:blipFill>
        <p:spPr bwMode="auto">
          <a:xfrm>
            <a:off x="7726259" y="3830065"/>
            <a:ext cx="3586273" cy="2128835"/>
          </a:xfrm>
          <a:prstGeom prst="rect">
            <a:avLst/>
          </a:prstGeom>
          <a:noFill/>
          <a:ln>
            <a:noFill/>
          </a:ln>
        </p:spPr>
      </p:pic>
    </p:spTree>
    <p:extLst>
      <p:ext uri="{BB962C8B-B14F-4D97-AF65-F5344CB8AC3E}">
        <p14:creationId xmlns:p14="http://schemas.microsoft.com/office/powerpoint/2010/main" val="378638521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7229" y="971413"/>
            <a:ext cx="6942588" cy="3318936"/>
          </a:xfrm>
        </p:spPr>
        <p:txBody>
          <a:bodyPr>
            <a:noAutofit/>
          </a:bodyPr>
          <a:lstStyle/>
          <a:p>
            <a:pPr fontAlgn="base"/>
            <a:r>
              <a:rPr lang="en-US" sz="1200" b="1" dirty="0"/>
              <a:t>Independent Basic Service Set</a:t>
            </a:r>
          </a:p>
          <a:p>
            <a:pPr fontAlgn="base"/>
            <a:r>
              <a:rPr lang="en-US" sz="1200" dirty="0"/>
              <a:t>In the </a:t>
            </a:r>
            <a:r>
              <a:rPr lang="en-US" sz="1200" u="sng" dirty="0">
                <a:hlinkClick r:id="rId2"/>
              </a:rPr>
              <a:t>IBSS</a:t>
            </a:r>
            <a:r>
              <a:rPr lang="en-US" sz="1200" dirty="0"/>
              <a:t> configuration, also referred to as independent configuration or ad-hoc network, no single node is required to act as a server. The stations communicate directly with one another in a peer-to-peer basis. Generally, IBSS covers a limited area instead of a large network. Typically covering a specific area, IBSS is used for specific, short-term purposes with a limited number of nodes.</a:t>
            </a:r>
          </a:p>
          <a:p>
            <a:pPr fontAlgn="base"/>
            <a:r>
              <a:rPr lang="en-US" sz="1200" b="1" dirty="0"/>
              <a:t>Extended Service Set</a:t>
            </a:r>
          </a:p>
          <a:p>
            <a:pPr fontAlgn="base"/>
            <a:r>
              <a:rPr lang="en-US" sz="1200" u="sng" dirty="0">
                <a:hlinkClick r:id="rId3"/>
              </a:rPr>
              <a:t>ESS</a:t>
            </a:r>
            <a:r>
              <a:rPr lang="en-US" sz="1200" dirty="0"/>
              <a:t> connects multiple BSSs and consists of several BSS cells, which can be interlinked through wired or wireless backbones known as a distributed system.</a:t>
            </a:r>
            <a:r>
              <a:rPr lang="en-US" sz="1200" b="1" dirty="0"/>
              <a:t> </a:t>
            </a:r>
            <a:r>
              <a:rPr lang="en-US" sz="1200" dirty="0"/>
              <a:t>Multiple cells use the same channel to boost aggregate throughput to network. The equipment outside of the ESS, the ESS and all of its mobile stations comprise a single MAC layer network where all stations are virtually stationary. Thus, all stations within the ESS appear stationary from an outsider's perspective.</a:t>
            </a:r>
          </a:p>
          <a:p>
            <a:pPr fontAlgn="base"/>
            <a:r>
              <a:rPr lang="en-US" sz="1200" b="1" dirty="0"/>
              <a:t>Other components include:</a:t>
            </a:r>
            <a:endParaRPr lang="en-US" sz="1200" dirty="0"/>
          </a:p>
          <a:p>
            <a:pPr lvl="0" fontAlgn="base"/>
            <a:r>
              <a:rPr lang="en-US" sz="1200" b="1" dirty="0"/>
              <a:t>Distribution System (DS):</a:t>
            </a:r>
            <a:r>
              <a:rPr lang="en-US" sz="1200" dirty="0"/>
              <a:t> Links APs within the ESS.</a:t>
            </a:r>
          </a:p>
          <a:p>
            <a:pPr lvl="0" fontAlgn="base"/>
            <a:r>
              <a:rPr lang="en-US" sz="1200" b="1" dirty="0"/>
              <a:t>Portal: </a:t>
            </a:r>
            <a:r>
              <a:rPr lang="en-US" sz="1200" dirty="0"/>
              <a:t>Serves as a gateway to other networks</a:t>
            </a:r>
            <a:r>
              <a:rPr lang="en-US" sz="1200" dirty="0" smtClean="0"/>
              <a:t>.</a:t>
            </a:r>
          </a:p>
          <a:p>
            <a:pPr lvl="0" fontAlgn="base"/>
            <a:r>
              <a:rPr lang="en-US" sz="1200" b="1" dirty="0"/>
              <a:t>Roaming:</a:t>
            </a:r>
            <a:r>
              <a:rPr lang="en-US" sz="1200" dirty="0"/>
              <a:t> In an environment with multiple access points (like a large office building or campus), a device can move from the range of one AP to another and still maintain its connection. This is possible due to the underlying architecture of the IEEE 802.11 standard which allows for roaming between APs.</a:t>
            </a:r>
          </a:p>
          <a:p>
            <a:pPr lvl="0" fontAlgn="base"/>
            <a:r>
              <a:rPr lang="en-US" sz="1200" b="1" dirty="0"/>
              <a:t>Authentication and Association: </a:t>
            </a:r>
            <a:r>
              <a:rPr lang="en-US" sz="1200" dirty="0"/>
              <a:t>Before a station can send or receive data frames on a WLAN, it needs to establish its identity with an AP. This process is called authentication. After authentication, the station then establishes a data link-layer connection with the AP through a process called association.</a:t>
            </a:r>
          </a:p>
          <a:p>
            <a:pPr lvl="0" fontAlgn="base"/>
            <a:endParaRPr lang="en-US" sz="1200" dirty="0"/>
          </a:p>
        </p:txBody>
      </p:sp>
      <p:pic>
        <p:nvPicPr>
          <p:cNvPr id="4" name="Picture 3" descr="Architecture for IEEE 802.11 Configuration"/>
          <p:cNvPicPr/>
          <p:nvPr/>
        </p:nvPicPr>
        <p:blipFill>
          <a:blip r:embed="rId4">
            <a:extLst>
              <a:ext uri="{28A0092B-C50C-407E-A947-70E740481C1C}">
                <a14:useLocalDpi xmlns:a14="http://schemas.microsoft.com/office/drawing/2010/main" val="0"/>
              </a:ext>
            </a:extLst>
          </a:blip>
          <a:srcRect/>
          <a:stretch>
            <a:fillRect/>
          </a:stretch>
        </p:blipFill>
        <p:spPr bwMode="auto">
          <a:xfrm>
            <a:off x="7776595" y="2176721"/>
            <a:ext cx="4137107" cy="3234180"/>
          </a:xfrm>
          <a:prstGeom prst="rect">
            <a:avLst/>
          </a:prstGeom>
          <a:noFill/>
          <a:ln>
            <a:noFill/>
          </a:ln>
        </p:spPr>
      </p:pic>
    </p:spTree>
    <p:extLst>
      <p:ext uri="{BB962C8B-B14F-4D97-AF65-F5344CB8AC3E}">
        <p14:creationId xmlns:p14="http://schemas.microsoft.com/office/powerpoint/2010/main" val="428944936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6404" y="285846"/>
            <a:ext cx="9601196" cy="1303867"/>
          </a:xfrm>
        </p:spPr>
        <p:txBody>
          <a:bodyPr/>
          <a:lstStyle/>
          <a:p>
            <a:pPr fontAlgn="base"/>
            <a:r>
              <a:rPr lang="en-US" b="1" dirty="0"/>
              <a:t>Frame Format of IEEE 802.11</a:t>
            </a:r>
          </a:p>
        </p:txBody>
      </p:sp>
      <p:sp>
        <p:nvSpPr>
          <p:cNvPr id="3" name="Content Placeholder 2"/>
          <p:cNvSpPr>
            <a:spLocks noGrp="1"/>
          </p:cNvSpPr>
          <p:nvPr>
            <p:ph idx="1"/>
          </p:nvPr>
        </p:nvSpPr>
        <p:spPr>
          <a:xfrm>
            <a:off x="993398" y="1214694"/>
            <a:ext cx="5231234" cy="3318936"/>
          </a:xfrm>
        </p:spPr>
        <p:txBody>
          <a:bodyPr>
            <a:noAutofit/>
          </a:bodyPr>
          <a:lstStyle/>
          <a:p>
            <a:pPr fontAlgn="base"/>
            <a:r>
              <a:rPr lang="en-US" sz="1100" b="1" dirty="0"/>
              <a:t>Frame Control</a:t>
            </a:r>
          </a:p>
          <a:p>
            <a:pPr fontAlgn="base"/>
            <a:r>
              <a:rPr lang="en-US" sz="1100" dirty="0"/>
              <a:t>It is 2 bytes long and defines type of frame and control information. The types of fields present in FC are:</a:t>
            </a:r>
          </a:p>
          <a:p>
            <a:pPr fontAlgn="base"/>
            <a:r>
              <a:rPr lang="en-US" sz="1100" b="1" dirty="0"/>
              <a:t>Version: </a:t>
            </a:r>
            <a:r>
              <a:rPr lang="en-US" sz="1100" dirty="0"/>
              <a:t>Indicates the current protocol version.</a:t>
            </a:r>
          </a:p>
          <a:p>
            <a:pPr fontAlgn="base"/>
            <a:r>
              <a:rPr lang="en-US" sz="1100" b="1" dirty="0"/>
              <a:t>Type</a:t>
            </a:r>
            <a:r>
              <a:rPr lang="en-US" sz="1100" dirty="0"/>
              <a:t>: Determines the function of frame i.e. management(00), control(01) or data(10).</a:t>
            </a:r>
          </a:p>
          <a:p>
            <a:pPr fontAlgn="base"/>
            <a:r>
              <a:rPr lang="en-US" sz="1100" b="1" dirty="0"/>
              <a:t>Subtype</a:t>
            </a:r>
            <a:r>
              <a:rPr lang="en-US" sz="1100" dirty="0"/>
              <a:t>: Indicates subtype of frame like 0000 for association request, 1000 for beacon.</a:t>
            </a:r>
          </a:p>
          <a:p>
            <a:pPr fontAlgn="base"/>
            <a:r>
              <a:rPr lang="en-US" sz="1100" b="1" dirty="0"/>
              <a:t>To DS</a:t>
            </a:r>
            <a:r>
              <a:rPr lang="en-US" sz="1100" dirty="0"/>
              <a:t>: When set indicates that the destination frame is for DS(distribution system).</a:t>
            </a:r>
          </a:p>
          <a:p>
            <a:pPr fontAlgn="base"/>
            <a:r>
              <a:rPr lang="en-US" sz="1100" b="1" dirty="0"/>
              <a:t>From DS: </a:t>
            </a:r>
            <a:r>
              <a:rPr lang="en-US" sz="1100" dirty="0"/>
              <a:t>When set indicates frame coming from DS.</a:t>
            </a:r>
          </a:p>
          <a:p>
            <a:pPr fontAlgn="base"/>
            <a:r>
              <a:rPr lang="en-US" sz="1100" b="1" dirty="0"/>
              <a:t>More frag (More fragments)</a:t>
            </a:r>
            <a:r>
              <a:rPr lang="en-US" sz="1100" dirty="0"/>
              <a:t>: When set to 1 means frame is followed by other fragments.</a:t>
            </a:r>
          </a:p>
          <a:p>
            <a:pPr fontAlgn="base"/>
            <a:r>
              <a:rPr lang="en-US" sz="1100" b="1" dirty="0"/>
              <a:t>Retry: I</a:t>
            </a:r>
            <a:r>
              <a:rPr lang="en-US" sz="1100" dirty="0"/>
              <a:t>f the current frame is a re-transmission of an earlier frame, this bit is set to 1.</a:t>
            </a:r>
          </a:p>
          <a:p>
            <a:pPr fontAlgn="base"/>
            <a:r>
              <a:rPr lang="en-US" sz="1100" b="1" dirty="0"/>
              <a:t>Power </a:t>
            </a:r>
            <a:r>
              <a:rPr lang="en-US" sz="1100" b="1" dirty="0" err="1"/>
              <a:t>Mgmt</a:t>
            </a:r>
            <a:r>
              <a:rPr lang="en-US" sz="1100" b="1" dirty="0"/>
              <a:t> (Power Management): </a:t>
            </a:r>
            <a:r>
              <a:rPr lang="en-US" sz="1100" dirty="0"/>
              <a:t>It indicates the mode of a station after successful transmission of a frame. Set to '1' field indicates that the station goes into power-save mode. If the field is set to 0, the station stays active.</a:t>
            </a:r>
          </a:p>
          <a:p>
            <a:pPr fontAlgn="base"/>
            <a:r>
              <a:rPr lang="en-US" sz="1100" b="1" dirty="0"/>
              <a:t>More data: </a:t>
            </a:r>
            <a:r>
              <a:rPr lang="en-US" sz="1100" dirty="0"/>
              <a:t>It is used to indicate to the receiver that a sender has more data to send than the current frame.</a:t>
            </a:r>
          </a:p>
          <a:p>
            <a:pPr fontAlgn="base"/>
            <a:r>
              <a:rPr lang="en-US" sz="1100" b="1" dirty="0"/>
              <a:t>WEP</a:t>
            </a:r>
            <a:r>
              <a:rPr lang="en-US" sz="1100" dirty="0"/>
              <a:t>: It indicates that the standard security mechanism of 802.11 is applied.</a:t>
            </a:r>
          </a:p>
          <a:p>
            <a:pPr fontAlgn="base"/>
            <a:r>
              <a:rPr lang="en-US" sz="1100" b="1" dirty="0"/>
              <a:t>Order: </a:t>
            </a:r>
            <a:r>
              <a:rPr lang="en-US" sz="1100" dirty="0"/>
              <a:t>If this bit is set to 1 the received frames must be processed in strict order</a:t>
            </a:r>
            <a:r>
              <a:rPr lang="en-US" sz="1100" dirty="0" smtClean="0"/>
              <a:t>.</a:t>
            </a:r>
            <a:endParaRPr lang="en-US" sz="1100" dirty="0"/>
          </a:p>
        </p:txBody>
      </p:sp>
      <p:sp>
        <p:nvSpPr>
          <p:cNvPr id="4" name="Rectangle 3"/>
          <p:cNvSpPr/>
          <p:nvPr/>
        </p:nvSpPr>
        <p:spPr>
          <a:xfrm>
            <a:off x="6344873" y="1363740"/>
            <a:ext cx="4702727" cy="4893647"/>
          </a:xfrm>
          <a:prstGeom prst="rect">
            <a:avLst/>
          </a:prstGeom>
        </p:spPr>
        <p:txBody>
          <a:bodyPr wrap="square">
            <a:spAutoFit/>
          </a:bodyPr>
          <a:lstStyle/>
          <a:p>
            <a:pPr fontAlgn="base"/>
            <a:r>
              <a:rPr lang="en-US" sz="1600" b="1" dirty="0"/>
              <a:t>Duration / ID</a:t>
            </a:r>
          </a:p>
          <a:p>
            <a:pPr fontAlgn="base"/>
            <a:r>
              <a:rPr lang="en-US" sz="1600" dirty="0"/>
              <a:t>It contains the value indicating the period of time in which the medium is occupied (in µs).</a:t>
            </a:r>
          </a:p>
          <a:p>
            <a:pPr fontAlgn="base"/>
            <a:r>
              <a:rPr lang="en-US" sz="1600" b="1" dirty="0"/>
              <a:t>Address 1 to 4</a:t>
            </a:r>
          </a:p>
          <a:p>
            <a:pPr fontAlgn="base"/>
            <a:r>
              <a:rPr lang="en-US" sz="1600" dirty="0"/>
              <a:t>These fields contain standard IEEE 802 MAC addresses (48 bit each). The meaning of each address is defined by DS bits in the frame control field.</a:t>
            </a:r>
          </a:p>
          <a:p>
            <a:pPr fontAlgn="base"/>
            <a:r>
              <a:rPr lang="en-US" sz="1600" b="1" dirty="0"/>
              <a:t>SC (Sequence Control)</a:t>
            </a:r>
          </a:p>
          <a:p>
            <a:pPr fontAlgn="base"/>
            <a:r>
              <a:rPr lang="en-US" sz="1600" dirty="0"/>
              <a:t>It consists of 2 sub-fields i.e. sequence number (12 bits) and fragment number (4 bits). Sequence number is used to filter duplicate frames.</a:t>
            </a:r>
          </a:p>
          <a:p>
            <a:pPr fontAlgn="base"/>
            <a:r>
              <a:rPr lang="en-US" sz="1600" b="1" dirty="0"/>
              <a:t>Data</a:t>
            </a:r>
          </a:p>
          <a:p>
            <a:pPr fontAlgn="base"/>
            <a:r>
              <a:rPr lang="en-US" sz="1600" dirty="0"/>
              <a:t>It is a variable length field which contains information specific to individual frames which is transferred transparently from a sender to the receiver.</a:t>
            </a:r>
          </a:p>
          <a:p>
            <a:pPr fontAlgn="base"/>
            <a:r>
              <a:rPr lang="en-US" sz="1600" b="1" dirty="0"/>
              <a:t>CRC (Cyclic Redundancy Check)</a:t>
            </a:r>
          </a:p>
          <a:p>
            <a:pPr fontAlgn="base"/>
            <a:r>
              <a:rPr lang="en-US" sz="1600" dirty="0"/>
              <a:t>It contains 32 bit CRC error detection sequence to ensure error free frame.</a:t>
            </a:r>
          </a:p>
          <a:p>
            <a:endParaRPr lang="en-US" sz="1600" dirty="0"/>
          </a:p>
        </p:txBody>
      </p:sp>
    </p:spTree>
    <p:extLst>
      <p:ext uri="{BB962C8B-B14F-4D97-AF65-F5344CB8AC3E}">
        <p14:creationId xmlns:p14="http://schemas.microsoft.com/office/powerpoint/2010/main" val="185450141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129" y="2557463"/>
            <a:ext cx="7229742" cy="3317875"/>
          </a:xfrm>
        </p:spPr>
      </p:pic>
    </p:spTree>
    <p:extLst>
      <p:ext uri="{BB962C8B-B14F-4D97-AF65-F5344CB8AC3E}">
        <p14:creationId xmlns:p14="http://schemas.microsoft.com/office/powerpoint/2010/main" val="196957424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Advantages and Disadvantages of IEEE 802.11 Architecture</a:t>
            </a:r>
          </a:p>
        </p:txBody>
      </p:sp>
      <p:sp>
        <p:nvSpPr>
          <p:cNvPr id="3" name="Content Placeholder 2"/>
          <p:cNvSpPr>
            <a:spLocks noGrp="1"/>
          </p:cNvSpPr>
          <p:nvPr>
            <p:ph idx="1"/>
          </p:nvPr>
        </p:nvSpPr>
        <p:spPr/>
        <p:txBody>
          <a:bodyPr>
            <a:normAutofit fontScale="62500" lnSpcReduction="20000"/>
          </a:bodyPr>
          <a:lstStyle/>
          <a:p>
            <a:pPr fontAlgn="base"/>
            <a:r>
              <a:rPr lang="en-US" dirty="0" smtClean="0"/>
              <a:t>There </a:t>
            </a:r>
            <a:r>
              <a:rPr lang="en-US" dirty="0"/>
              <a:t>are some list of Advantages and Disadvantages of IEEE 802.11 Architecture are given below :</a:t>
            </a:r>
          </a:p>
          <a:p>
            <a:pPr fontAlgn="base"/>
            <a:r>
              <a:rPr lang="en-US" b="1" dirty="0"/>
              <a:t>Advantages of IEEE 802.11 Architecture</a:t>
            </a:r>
          </a:p>
          <a:p>
            <a:pPr fontAlgn="base"/>
            <a:r>
              <a:rPr lang="en-US" b="1" dirty="0"/>
              <a:t>Fault Tolerance:</a:t>
            </a:r>
            <a:r>
              <a:rPr lang="en-US" dirty="0"/>
              <a:t> The centralized architecture minimizes the bottlenecks and introduces resilience in the WLAN equipment.</a:t>
            </a:r>
          </a:p>
          <a:p>
            <a:pPr fontAlgn="base"/>
            <a:r>
              <a:rPr lang="en-US" b="1" dirty="0"/>
              <a:t>Flexible Architecture</a:t>
            </a:r>
            <a:r>
              <a:rPr lang="en-US" dirty="0"/>
              <a:t>: Supports both temporary smaller networks and larger, more permanent ones.</a:t>
            </a:r>
          </a:p>
          <a:p>
            <a:pPr fontAlgn="base"/>
            <a:r>
              <a:rPr lang="en-US" b="1" dirty="0"/>
              <a:t>Prolonged Battery Life:</a:t>
            </a:r>
            <a:r>
              <a:rPr lang="en-US" dirty="0"/>
              <a:t> Efficient power-saving protocols extend mobile device battery life without compromising network connections.</a:t>
            </a:r>
          </a:p>
          <a:p>
            <a:pPr fontAlgn="base"/>
            <a:r>
              <a:rPr lang="en-US" b="1" dirty="0"/>
              <a:t>Disadvantages of IEEE 802.11 Architecture</a:t>
            </a:r>
          </a:p>
          <a:p>
            <a:pPr fontAlgn="base"/>
            <a:r>
              <a:rPr lang="en-US" b="1" dirty="0"/>
              <a:t>Noisy Channels:</a:t>
            </a:r>
            <a:r>
              <a:rPr lang="en-US" dirty="0"/>
              <a:t> Due to reliance on radio waves, signals may experience interference from nearby devices.</a:t>
            </a:r>
          </a:p>
          <a:p>
            <a:pPr fontAlgn="base"/>
            <a:r>
              <a:rPr lang="en-US" b="1" dirty="0"/>
              <a:t>Greater Bandwidth and Complexity:</a:t>
            </a:r>
            <a:r>
              <a:rPr lang="en-US" dirty="0"/>
              <a:t> Due to necessary data encryption and susceptibility to errors, WLANs need more bandwidth than their wired counterparts.</a:t>
            </a:r>
          </a:p>
          <a:p>
            <a:pPr fontAlgn="base"/>
            <a:r>
              <a:rPr lang="en-US" b="1" dirty="0"/>
              <a:t>Speed: </a:t>
            </a:r>
            <a:r>
              <a:rPr lang="en-US" dirty="0"/>
              <a:t>Generally, WLANs offer slower speeds compared to wired LANs.</a:t>
            </a:r>
          </a:p>
        </p:txBody>
      </p:sp>
    </p:spTree>
    <p:extLst>
      <p:ext uri="{BB962C8B-B14F-4D97-AF65-F5344CB8AC3E}">
        <p14:creationId xmlns:p14="http://schemas.microsoft.com/office/powerpoint/2010/main" val="193212357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Virtual Local Area Network (VLAN)</a:t>
            </a:r>
          </a:p>
        </p:txBody>
      </p:sp>
      <p:sp>
        <p:nvSpPr>
          <p:cNvPr id="3" name="Content Placeholder 2"/>
          <p:cNvSpPr>
            <a:spLocks noGrp="1"/>
          </p:cNvSpPr>
          <p:nvPr>
            <p:ph idx="1"/>
          </p:nvPr>
        </p:nvSpPr>
        <p:spPr>
          <a:xfrm>
            <a:off x="1295401" y="2556932"/>
            <a:ext cx="6053355" cy="3318936"/>
          </a:xfrm>
        </p:spPr>
        <p:txBody>
          <a:bodyPr/>
          <a:lstStyle/>
          <a:p>
            <a:r>
              <a:rPr lang="en-US" dirty="0" smtClean="0"/>
              <a:t>A </a:t>
            </a:r>
            <a:r>
              <a:rPr lang="en-US" dirty="0"/>
              <a:t>virtual local area network abbreviated VLAN is a logical subnetwork of devices situated in a broadcast domain. It is segregated by network management software or network switches to serve as a LAN.</a:t>
            </a:r>
          </a:p>
          <a:p>
            <a:r>
              <a:rPr lang="en-US" dirty="0"/>
              <a:t>Courtesy of VLAN switches, network managers can easily create virtual network segments.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6272" y="2444343"/>
            <a:ext cx="2847975" cy="16002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3896" y="4202887"/>
            <a:ext cx="2752725" cy="1657350"/>
          </a:xfrm>
          <a:prstGeom prst="rect">
            <a:avLst/>
          </a:prstGeom>
        </p:spPr>
      </p:pic>
    </p:spTree>
    <p:extLst>
      <p:ext uri="{BB962C8B-B14F-4D97-AF65-F5344CB8AC3E}">
        <p14:creationId xmlns:p14="http://schemas.microsoft.com/office/powerpoint/2010/main" val="357714137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677" y="420070"/>
            <a:ext cx="9601196" cy="1303867"/>
          </a:xfrm>
        </p:spPr>
        <p:txBody>
          <a:bodyPr/>
          <a:lstStyle/>
          <a:p>
            <a:r>
              <a:rPr lang="en-US" b="1" dirty="0"/>
              <a:t>Types of VLANs</a:t>
            </a:r>
          </a:p>
        </p:txBody>
      </p:sp>
      <p:sp>
        <p:nvSpPr>
          <p:cNvPr id="3" name="Content Placeholder 2"/>
          <p:cNvSpPr>
            <a:spLocks noGrp="1"/>
          </p:cNvSpPr>
          <p:nvPr>
            <p:ph idx="1"/>
          </p:nvPr>
        </p:nvSpPr>
        <p:spPr>
          <a:xfrm>
            <a:off x="968230" y="1650921"/>
            <a:ext cx="9601196" cy="3318936"/>
          </a:xfrm>
        </p:spPr>
        <p:txBody>
          <a:bodyPr>
            <a:noAutofit/>
          </a:bodyPr>
          <a:lstStyle/>
          <a:p>
            <a:r>
              <a:rPr lang="en-US" sz="1400" dirty="0" smtClean="0"/>
              <a:t>Many </a:t>
            </a:r>
            <a:r>
              <a:rPr lang="en-US" sz="1400" dirty="0"/>
              <a:t>organizations with complex network systems have adopted VLANs for solutions to scale networks, increase security measures, and get rid of network latency. In such scenarios, VLAN comes in handy by allowing devices and multiple LANs to communicate via wireless internet.</a:t>
            </a:r>
          </a:p>
          <a:p>
            <a:r>
              <a:rPr lang="en-US" sz="1400" dirty="0"/>
              <a:t>Here are the types of VLANs you may need to know:</a:t>
            </a:r>
          </a:p>
          <a:p>
            <a:r>
              <a:rPr lang="en-US" sz="1400" dirty="0"/>
              <a:t>1. Static (Port-based) VLAN</a:t>
            </a:r>
            <a:endParaRPr lang="en-US" sz="1400" b="1" dirty="0"/>
          </a:p>
          <a:p>
            <a:r>
              <a:rPr lang="en-US" sz="1400" dirty="0"/>
              <a:t>This type of virtual LAN has a switch port that can be assigned to a VLAN member manually. The ports are instructed to communicate to designated VLANS and a specific port is attached to a particular VLAN.</a:t>
            </a:r>
          </a:p>
          <a:p>
            <a:r>
              <a:rPr lang="en-US" sz="1400" dirty="0"/>
              <a:t>Since all the ports are configured using an identical VLAN number, all the devices that connect to this port fall under the same broadcast domain.</a:t>
            </a:r>
          </a:p>
          <a:p>
            <a:r>
              <a:rPr lang="en-US" sz="1400" dirty="0"/>
              <a:t>The only challenge with this network type is determining the ideal ports for each VLAN. To determine a VLAN membership, you have to look at the setup information rather than a simple inspection of the switch’s physical port.</a:t>
            </a:r>
          </a:p>
          <a:p>
            <a:r>
              <a:rPr lang="en-US" sz="1400" dirty="0"/>
              <a:t>2. Dynamic (Use-based) VLAN</a:t>
            </a:r>
            <a:endParaRPr lang="en-US" sz="1400" b="1" dirty="0"/>
          </a:p>
          <a:p>
            <a:r>
              <a:rPr lang="en-US" sz="1400" dirty="0"/>
              <a:t>Network admins or engineers use Dynamic VLANs to disintegrate a network into tiered sectors as per resource </a:t>
            </a:r>
            <a:r>
              <a:rPr lang="en-US" sz="1400" dirty="0" err="1"/>
              <a:t>authorisation</a:t>
            </a:r>
            <a:r>
              <a:rPr lang="en-US" sz="1400" dirty="0"/>
              <a:t>. Then, the users are segmented into these VLANs depending on the resources they have access to.</a:t>
            </a:r>
          </a:p>
          <a:p>
            <a:r>
              <a:rPr lang="en-US" sz="1400" dirty="0"/>
              <a:t>Unlike Static VLANs, dynamic VLANs do not need an administrator to configure each port one by one. It can be done with a central server known as a VLAN Member Policy Server or VMPS. This VMPS is required to deal with port configuration immediately of every switch associated with the VLAN network.</a:t>
            </a:r>
          </a:p>
        </p:txBody>
      </p:sp>
    </p:spTree>
    <p:extLst>
      <p:ext uri="{BB962C8B-B14F-4D97-AF65-F5344CB8AC3E}">
        <p14:creationId xmlns:p14="http://schemas.microsoft.com/office/powerpoint/2010/main" val="341303696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1512" y="311013"/>
            <a:ext cx="9601196" cy="1303867"/>
          </a:xfrm>
        </p:spPr>
        <p:txBody>
          <a:bodyPr/>
          <a:lstStyle/>
          <a:p>
            <a:r>
              <a:rPr lang="en-US" b="1" dirty="0"/>
              <a:t>How Do VLANs Work</a:t>
            </a:r>
          </a:p>
        </p:txBody>
      </p:sp>
      <p:sp>
        <p:nvSpPr>
          <p:cNvPr id="3" name="Content Placeholder 2"/>
          <p:cNvSpPr>
            <a:spLocks noGrp="1"/>
          </p:cNvSpPr>
          <p:nvPr>
            <p:ph idx="1"/>
          </p:nvPr>
        </p:nvSpPr>
        <p:spPr>
          <a:xfrm>
            <a:off x="842397" y="1231472"/>
            <a:ext cx="9601196" cy="3318936"/>
          </a:xfrm>
        </p:spPr>
        <p:txBody>
          <a:bodyPr>
            <a:noAutofit/>
          </a:bodyPr>
          <a:lstStyle/>
          <a:p>
            <a:r>
              <a:rPr lang="en-US" sz="1000" dirty="0" smtClean="0"/>
              <a:t>VLANs </a:t>
            </a:r>
            <a:r>
              <a:rPr lang="en-US" sz="1000" dirty="0"/>
              <a:t>give network managers an easy time to create virtual domains that link devices that communicate frequently with each other. The action reduces congestion and CPU overhead while improving security to the number of devices that can access a particular VLAN.</a:t>
            </a:r>
          </a:p>
          <a:p>
            <a:r>
              <a:rPr lang="en-US" sz="1000" dirty="0"/>
              <a:t>Most networks are made to handle traffic moving from one VLAN to the next by passing the traffic off to routers. Each device in a VLAN setup is assigned a VLAN ID and linked to a VLAN group using management software.</a:t>
            </a:r>
          </a:p>
          <a:p>
            <a:r>
              <a:rPr lang="en-US" sz="1000" dirty="0"/>
              <a:t>It implies that devices can fall into any physical LANs connected to a switch but they are segmented into a VLAN group functioning like it was connected to a LAN. In case, a </a:t>
            </a:r>
            <a:r>
              <a:rPr lang="en-US" sz="1000" dirty="0">
                <a:hlinkClick r:id="rId2"/>
              </a:rPr>
              <a:t>network administrator</a:t>
            </a:r>
            <a:r>
              <a:rPr lang="en-US" sz="1000" dirty="0"/>
              <a:t> wants to move a device from one VLAN to the next, they will move it to a new VLAN or different port on a switch through the network management software.</a:t>
            </a:r>
          </a:p>
          <a:p>
            <a:r>
              <a:rPr lang="en-US" sz="1000" b="1" dirty="0"/>
              <a:t>Benefits of VLANs</a:t>
            </a:r>
          </a:p>
          <a:p>
            <a:r>
              <a:rPr lang="en-US" sz="1000" dirty="0" smtClean="0"/>
              <a:t>1</a:t>
            </a:r>
            <a:r>
              <a:rPr lang="en-US" sz="1000" dirty="0"/>
              <a:t>. Better network performance</a:t>
            </a:r>
            <a:endParaRPr lang="en-US" sz="1000" b="1" dirty="0"/>
          </a:p>
          <a:p>
            <a:r>
              <a:rPr lang="en-US" sz="1000" dirty="0"/>
              <a:t>VLANs can streamline </a:t>
            </a:r>
            <a:r>
              <a:rPr lang="en-US" sz="1000" dirty="0">
                <a:hlinkClick r:id="rId3"/>
              </a:rPr>
              <a:t>network performance</a:t>
            </a:r>
            <a:r>
              <a:rPr lang="en-US" sz="1000" dirty="0"/>
              <a:t> by segmenting network traffic into smaller logical networks. This way, it reduces the broadcast traffic which in turn improves the overall network performance.</a:t>
            </a:r>
          </a:p>
          <a:p>
            <a:r>
              <a:rPr lang="en-US" sz="1000" dirty="0"/>
              <a:t>2. Improved network security</a:t>
            </a:r>
            <a:endParaRPr lang="en-US" sz="1000" b="1" dirty="0"/>
          </a:p>
          <a:p>
            <a:r>
              <a:rPr lang="en-US" sz="1000" dirty="0"/>
              <a:t>By segregating your network traffic, VLANs erect virtual walls, barring unauthorized access to sensitive information or resources.</a:t>
            </a:r>
          </a:p>
          <a:p>
            <a:r>
              <a:rPr lang="en-US" sz="1000" dirty="0"/>
              <a:t>3. Flexibility</a:t>
            </a:r>
            <a:endParaRPr lang="en-US" sz="1000" b="1" dirty="0"/>
          </a:p>
          <a:p>
            <a:r>
              <a:rPr lang="en-US" sz="1000" dirty="0"/>
              <a:t>Network administrators can configure VLANs dynamically to adjust network configurations easily when needed.</a:t>
            </a:r>
          </a:p>
          <a:p>
            <a:r>
              <a:rPr lang="en-US" sz="1000" dirty="0"/>
              <a:t>4. Simplified network management</a:t>
            </a:r>
            <a:endParaRPr lang="en-US" sz="1000" b="1" dirty="0"/>
          </a:p>
          <a:p>
            <a:r>
              <a:rPr lang="en-US" sz="1000" dirty="0"/>
              <a:t>VLANs also streamline network management, allowing administrators to herd their digital flock with ease. Troubleshooting, configuration, and maintenance – all become a breeze, thanks to the power of these virtualized networks.</a:t>
            </a:r>
          </a:p>
          <a:p>
            <a:r>
              <a:rPr lang="en-US" sz="1000" dirty="0"/>
              <a:t>5. Scalability</a:t>
            </a:r>
            <a:endParaRPr lang="en-US" sz="1000" b="1" dirty="0"/>
          </a:p>
          <a:p>
            <a:r>
              <a:rPr lang="en-US" sz="1000" dirty="0"/>
              <a:t>The most impressive feat of VLANs is their ability to scale with your growing digital empire. By segmenting your network into smaller, more manageable clusters, they pave the way for seamless expansion, ensuring your network can rise to the challenge of ever-increasing complexity.</a:t>
            </a:r>
          </a:p>
          <a:p>
            <a:r>
              <a:rPr lang="en-US" sz="1000" dirty="0"/>
              <a:t>6. Cost saving</a:t>
            </a:r>
            <a:endParaRPr lang="en-US" sz="1000" b="1" dirty="0"/>
          </a:p>
          <a:p>
            <a:r>
              <a:rPr lang="en-US" sz="1000" dirty="0"/>
              <a:t>By leveraging a single physical </a:t>
            </a:r>
            <a:r>
              <a:rPr lang="en-US" sz="1000" dirty="0">
                <a:hlinkClick r:id="rId4"/>
              </a:rPr>
              <a:t>network infrastructure</a:t>
            </a:r>
            <a:r>
              <a:rPr lang="en-US" sz="1000" dirty="0"/>
              <a:t> to host multiple virtual networks, VLANs help maximize your investment, making the most of your digital resources</a:t>
            </a:r>
            <a:r>
              <a:rPr lang="en-US" sz="1000" dirty="0" smtClean="0"/>
              <a:t>.</a:t>
            </a:r>
            <a:endParaRPr lang="en-US" sz="1000" dirty="0"/>
          </a:p>
          <a:p>
            <a:endParaRPr lang="en-US" sz="1000" dirty="0"/>
          </a:p>
        </p:txBody>
      </p:sp>
    </p:spTree>
    <p:extLst>
      <p:ext uri="{BB962C8B-B14F-4D97-AF65-F5344CB8AC3E}">
        <p14:creationId xmlns:p14="http://schemas.microsoft.com/office/powerpoint/2010/main" val="159132220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ATM (Asynchronous Transfer Mode)</a:t>
            </a:r>
          </a:p>
        </p:txBody>
      </p:sp>
      <p:sp>
        <p:nvSpPr>
          <p:cNvPr id="3" name="Content Placeholder 2"/>
          <p:cNvSpPr>
            <a:spLocks noGrp="1"/>
          </p:cNvSpPr>
          <p:nvPr>
            <p:ph idx="1"/>
          </p:nvPr>
        </p:nvSpPr>
        <p:spPr>
          <a:xfrm>
            <a:off x="1295401" y="2556932"/>
            <a:ext cx="4526559" cy="3318936"/>
          </a:xfrm>
        </p:spPr>
        <p:txBody>
          <a:bodyPr>
            <a:normAutofit fontScale="62500" lnSpcReduction="20000"/>
          </a:bodyPr>
          <a:lstStyle/>
          <a:p>
            <a:r>
              <a:rPr lang="en-US" b="1" dirty="0" smtClean="0"/>
              <a:t>ATM </a:t>
            </a:r>
            <a:r>
              <a:rPr lang="en-US" b="1" dirty="0"/>
              <a:t>(Asynchronous Transfer Mode)</a:t>
            </a:r>
            <a:r>
              <a:rPr lang="en-US" dirty="0"/>
              <a:t> is a </a:t>
            </a:r>
            <a:r>
              <a:rPr lang="en-US" b="1" dirty="0"/>
              <a:t>high-speed, connection-oriented, virtual-circuit-based switching technology</a:t>
            </a:r>
            <a:r>
              <a:rPr lang="en-US" dirty="0"/>
              <a:t> designed to transmit </a:t>
            </a:r>
            <a:r>
              <a:rPr lang="en-US" b="1" dirty="0"/>
              <a:t>voice, video, and data</a:t>
            </a:r>
            <a:r>
              <a:rPr lang="en-US" dirty="0"/>
              <a:t> over a single network using </a:t>
            </a:r>
            <a:r>
              <a:rPr lang="en-US" b="1" dirty="0"/>
              <a:t>fixed-size cells of 53 bytes</a:t>
            </a:r>
            <a:r>
              <a:rPr lang="en-US" dirty="0"/>
              <a:t>.</a:t>
            </a:r>
          </a:p>
          <a:p>
            <a:r>
              <a:rPr lang="en-US" dirty="0"/>
              <a:t>Before data transmission begins, ATM </a:t>
            </a:r>
            <a:r>
              <a:rPr lang="en-US" b="1" dirty="0"/>
              <a:t>establishes a virtual circuit</a:t>
            </a:r>
            <a:r>
              <a:rPr lang="en-US" dirty="0"/>
              <a:t> between the sender and receiver. Once established, all cells follow the same path, ensuring </a:t>
            </a:r>
            <a:r>
              <a:rPr lang="en-US" b="1" dirty="0"/>
              <a:t>ordered delivery, predictable delay, and guaranteed Quality of Service (</a:t>
            </a:r>
            <a:r>
              <a:rPr lang="en-US" b="1" dirty="0" err="1"/>
              <a:t>QoS</a:t>
            </a:r>
            <a:r>
              <a:rPr lang="en-US" b="1" dirty="0"/>
              <a:t>)</a:t>
            </a:r>
            <a:r>
              <a:rPr lang="en-US" dirty="0"/>
              <a:t>.</a:t>
            </a:r>
          </a:p>
          <a:p>
            <a:r>
              <a:rPr lang="en-US" dirty="0"/>
              <a:t>Two things are non-negotiable in the definition:</a:t>
            </a:r>
          </a:p>
          <a:p>
            <a:r>
              <a:rPr lang="en-US" b="1" dirty="0"/>
              <a:t>Fixed-size cells (53 bytes)</a:t>
            </a:r>
            <a:endParaRPr lang="en-US" dirty="0"/>
          </a:p>
          <a:p>
            <a:r>
              <a:rPr lang="en-US" b="1" dirty="0"/>
              <a:t>Virtual circuits</a:t>
            </a:r>
            <a:endParaRPr lang="en-US" dirty="0"/>
          </a:p>
          <a:p>
            <a:r>
              <a:rPr lang="en-US" dirty="0"/>
              <a:t>Miss either → incomplete or wrong definition</a:t>
            </a:r>
            <a:r>
              <a:rPr lang="en-US" dirty="0" smtClean="0"/>
              <a:t>.</a:t>
            </a:r>
          </a:p>
        </p:txBody>
      </p:sp>
      <p:sp>
        <p:nvSpPr>
          <p:cNvPr id="4" name="Rectangle 3"/>
          <p:cNvSpPr/>
          <p:nvPr/>
        </p:nvSpPr>
        <p:spPr>
          <a:xfrm>
            <a:off x="5821960" y="2412688"/>
            <a:ext cx="5259897" cy="3877985"/>
          </a:xfrm>
          <a:prstGeom prst="rect">
            <a:avLst/>
          </a:prstGeom>
        </p:spPr>
        <p:txBody>
          <a:bodyPr wrap="square">
            <a:spAutoFit/>
          </a:bodyPr>
          <a:lstStyle/>
          <a:p>
            <a:r>
              <a:rPr lang="en-US" sz="1600" b="1" dirty="0" smtClean="0"/>
              <a:t>Why </a:t>
            </a:r>
            <a:r>
              <a:rPr lang="en-US" sz="1600" b="1" dirty="0"/>
              <a:t>ATM Was Created </a:t>
            </a:r>
            <a:endParaRPr lang="en-US" sz="1600" b="1" dirty="0" smtClean="0"/>
          </a:p>
          <a:p>
            <a:r>
              <a:rPr lang="en-US" sz="1600" dirty="0" smtClean="0"/>
              <a:t>In </a:t>
            </a:r>
            <a:r>
              <a:rPr lang="en-US" sz="1600" dirty="0"/>
              <a:t>the late 1980s and 1990s, networks faced a serious limitation:</a:t>
            </a:r>
          </a:p>
          <a:p>
            <a:r>
              <a:rPr lang="en-US" sz="1600" b="1" dirty="0"/>
              <a:t>Circuit switching</a:t>
            </a:r>
            <a:r>
              <a:rPr lang="en-US" sz="1600" dirty="0"/>
              <a:t> (telephone networks) handled voice well but was inefficient for data</a:t>
            </a:r>
          </a:p>
          <a:p>
            <a:r>
              <a:rPr lang="en-US" sz="1600" b="1" dirty="0"/>
              <a:t>Packet switching</a:t>
            </a:r>
            <a:r>
              <a:rPr lang="en-US" sz="1600" dirty="0"/>
              <a:t> (IP networks) handled data well but offered </a:t>
            </a:r>
            <a:r>
              <a:rPr lang="en-US" sz="1600" b="1" dirty="0"/>
              <a:t>no delay or </a:t>
            </a:r>
            <a:r>
              <a:rPr lang="en-US" sz="1600" b="1" dirty="0" err="1"/>
              <a:t>QoS</a:t>
            </a:r>
            <a:r>
              <a:rPr lang="en-US" sz="1600" b="1" dirty="0"/>
              <a:t> guarantees</a:t>
            </a:r>
            <a:endParaRPr lang="en-US" sz="1600" dirty="0"/>
          </a:p>
          <a:p>
            <a:r>
              <a:rPr lang="en-US" sz="1600" dirty="0"/>
              <a:t>ATM was designed to </a:t>
            </a:r>
            <a:r>
              <a:rPr lang="en-US" sz="1600" b="1" dirty="0"/>
              <a:t>combine the strengths of both</a:t>
            </a:r>
            <a:r>
              <a:rPr lang="en-US" sz="1600" dirty="0"/>
              <a:t>.</a:t>
            </a:r>
          </a:p>
          <a:p>
            <a:r>
              <a:rPr lang="en-US" sz="1600" dirty="0"/>
              <a:t>ATM aimed to:</a:t>
            </a:r>
          </a:p>
          <a:p>
            <a:r>
              <a:rPr lang="en-US" sz="1600" dirty="0"/>
              <a:t>Carry </a:t>
            </a:r>
            <a:r>
              <a:rPr lang="en-US" sz="1600" b="1" dirty="0"/>
              <a:t>voice, video, and data</a:t>
            </a:r>
            <a:r>
              <a:rPr lang="en-US" sz="1600" dirty="0"/>
              <a:t> on the </a:t>
            </a:r>
            <a:r>
              <a:rPr lang="en-US" sz="1600" b="1" dirty="0"/>
              <a:t>same infrastructure</a:t>
            </a:r>
            <a:endParaRPr lang="en-US" sz="1600" dirty="0"/>
          </a:p>
          <a:p>
            <a:r>
              <a:rPr lang="en-US" sz="1600" dirty="0"/>
              <a:t>Support </a:t>
            </a:r>
            <a:r>
              <a:rPr lang="en-US" sz="1600" b="1" dirty="0"/>
              <a:t>real-time applications</a:t>
            </a:r>
            <a:r>
              <a:rPr lang="en-US" sz="1600" dirty="0"/>
              <a:t> such as video conferencing and voice calls</a:t>
            </a:r>
          </a:p>
          <a:p>
            <a:r>
              <a:rPr lang="en-US" sz="1600" dirty="0"/>
              <a:t>Provide </a:t>
            </a:r>
            <a:r>
              <a:rPr lang="en-US" sz="1600" b="1" dirty="0"/>
              <a:t>guaranteed bandwidth, low delay, and low jitter</a:t>
            </a:r>
            <a:endParaRPr lang="en-US" sz="1600" dirty="0"/>
          </a:p>
          <a:p>
            <a:r>
              <a:rPr lang="en-US" sz="1600" dirty="0"/>
              <a:t>Allow service providers to engineer traffic precisely</a:t>
            </a:r>
          </a:p>
          <a:p>
            <a:r>
              <a:rPr lang="en-US" sz="1600" dirty="0"/>
              <a:t>At that time, IP networks were </a:t>
            </a:r>
            <a:r>
              <a:rPr lang="en-US" sz="1600" b="1" dirty="0"/>
              <a:t>best-effort only</a:t>
            </a:r>
            <a:r>
              <a:rPr lang="en-US" sz="1600" dirty="0"/>
              <a:t> and unreliable for real-time traffic. ATM filled that gap.</a:t>
            </a:r>
          </a:p>
        </p:txBody>
      </p:sp>
    </p:spTree>
    <p:extLst>
      <p:ext uri="{BB962C8B-B14F-4D97-AF65-F5344CB8AC3E}">
        <p14:creationId xmlns:p14="http://schemas.microsoft.com/office/powerpoint/2010/main" val="337277246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Key </a:t>
            </a:r>
            <a:r>
              <a:rPr lang="en-US" b="1" dirty="0"/>
              <a:t>Characteristics of ATM </a:t>
            </a:r>
          </a:p>
        </p:txBody>
      </p:sp>
      <p:sp>
        <p:nvSpPr>
          <p:cNvPr id="3" name="Content Placeholder 2"/>
          <p:cNvSpPr>
            <a:spLocks noGrp="1"/>
          </p:cNvSpPr>
          <p:nvPr>
            <p:ph idx="1"/>
          </p:nvPr>
        </p:nvSpPr>
        <p:spPr/>
        <p:txBody>
          <a:bodyPr>
            <a:normAutofit fontScale="70000" lnSpcReduction="20000"/>
          </a:bodyPr>
          <a:lstStyle/>
          <a:p>
            <a:r>
              <a:rPr lang="en-US" b="1" dirty="0" smtClean="0"/>
              <a:t>Connection-oriented:  </a:t>
            </a:r>
            <a:r>
              <a:rPr lang="en-US" dirty="0" smtClean="0"/>
              <a:t>ATM </a:t>
            </a:r>
            <a:r>
              <a:rPr lang="en-US" dirty="0"/>
              <a:t>establishes a connection </a:t>
            </a:r>
            <a:r>
              <a:rPr lang="en-US" b="1" dirty="0"/>
              <a:t>before data transfer begins</a:t>
            </a:r>
            <a:r>
              <a:rPr lang="en-US" dirty="0"/>
              <a:t>, unlike IP which sends packets independently.</a:t>
            </a:r>
          </a:p>
          <a:p>
            <a:r>
              <a:rPr lang="en-US" b="1" dirty="0" smtClean="0"/>
              <a:t>Virtual-circuit-based: </a:t>
            </a:r>
            <a:r>
              <a:rPr lang="en-US" dirty="0" smtClean="0"/>
              <a:t>Data </a:t>
            </a:r>
            <a:r>
              <a:rPr lang="en-US" dirty="0"/>
              <a:t>flows through </a:t>
            </a:r>
            <a:r>
              <a:rPr lang="en-US" b="1" dirty="0"/>
              <a:t>logical paths</a:t>
            </a:r>
            <a:r>
              <a:rPr lang="en-US" dirty="0"/>
              <a:t> called virtual circuits, not physical circuits.</a:t>
            </a:r>
          </a:p>
          <a:p>
            <a:r>
              <a:rPr lang="en-US" b="1" dirty="0"/>
              <a:t>Fixed cell size (53 </a:t>
            </a:r>
            <a:r>
              <a:rPr lang="en-US" b="1" dirty="0" smtClean="0"/>
              <a:t>bytes): </a:t>
            </a:r>
            <a:r>
              <a:rPr lang="en-US" dirty="0" smtClean="0"/>
              <a:t>5 </a:t>
            </a:r>
            <a:r>
              <a:rPr lang="en-US" dirty="0"/>
              <a:t>bytes </a:t>
            </a:r>
            <a:r>
              <a:rPr lang="en-US" dirty="0" smtClean="0"/>
              <a:t>header, 48 </a:t>
            </a:r>
            <a:r>
              <a:rPr lang="en-US" dirty="0"/>
              <a:t>bytes </a:t>
            </a:r>
            <a:r>
              <a:rPr lang="en-US" dirty="0" smtClean="0"/>
              <a:t>payload</a:t>
            </a:r>
            <a:endParaRPr lang="en-US" dirty="0"/>
          </a:p>
          <a:p>
            <a:r>
              <a:rPr lang="en-US" b="1" dirty="0"/>
              <a:t>Quality of Service (</a:t>
            </a:r>
            <a:r>
              <a:rPr lang="en-US" b="1" dirty="0" err="1"/>
              <a:t>QoS</a:t>
            </a:r>
            <a:r>
              <a:rPr lang="en-US" b="1" dirty="0"/>
              <a:t>)</a:t>
            </a:r>
          </a:p>
          <a:p>
            <a:r>
              <a:rPr lang="en-US" dirty="0"/>
              <a:t>ATM can </a:t>
            </a:r>
            <a:r>
              <a:rPr lang="en-US" dirty="0" smtClean="0"/>
              <a:t>guarantee: Bandwidth, Delay, Jitter, Cell </a:t>
            </a:r>
            <a:r>
              <a:rPr lang="en-US" dirty="0"/>
              <a:t>loss rate</a:t>
            </a:r>
          </a:p>
          <a:p>
            <a:r>
              <a:rPr lang="en-US" b="1" dirty="0"/>
              <a:t>High speed</a:t>
            </a:r>
          </a:p>
          <a:p>
            <a:r>
              <a:rPr lang="en-US" dirty="0"/>
              <a:t>Common </a:t>
            </a:r>
            <a:r>
              <a:rPr lang="en-US" dirty="0" smtClean="0"/>
              <a:t>speeds: 155 </a:t>
            </a:r>
            <a:r>
              <a:rPr lang="en-US" dirty="0"/>
              <a:t>Mbps (</a:t>
            </a:r>
            <a:r>
              <a:rPr lang="en-US" dirty="0" smtClean="0"/>
              <a:t>OC-3), 622 </a:t>
            </a:r>
            <a:r>
              <a:rPr lang="en-US" dirty="0"/>
              <a:t>Mbps (</a:t>
            </a:r>
            <a:r>
              <a:rPr lang="en-US" dirty="0" smtClean="0"/>
              <a:t>OC-12), Higher </a:t>
            </a:r>
            <a:r>
              <a:rPr lang="en-US" dirty="0"/>
              <a:t>in backbone networks</a:t>
            </a:r>
          </a:p>
          <a:p>
            <a:r>
              <a:rPr lang="en-US" b="1" dirty="0"/>
              <a:t>Layer operation</a:t>
            </a:r>
          </a:p>
          <a:p>
            <a:r>
              <a:rPr lang="en-US" dirty="0"/>
              <a:t>ATM primarily operates at </a:t>
            </a:r>
            <a:r>
              <a:rPr lang="en-US" b="1" dirty="0"/>
              <a:t>Layer 2</a:t>
            </a:r>
            <a:r>
              <a:rPr lang="en-US" dirty="0"/>
              <a:t>, but has </a:t>
            </a:r>
            <a:r>
              <a:rPr lang="en-US" b="1" dirty="0"/>
              <a:t>Layer-1 dependencies</a:t>
            </a:r>
            <a:r>
              <a:rPr lang="en-US" dirty="0"/>
              <a:t> due to physical transmission standards.</a:t>
            </a:r>
          </a:p>
        </p:txBody>
      </p:sp>
    </p:spTree>
    <p:extLst>
      <p:ext uri="{BB962C8B-B14F-4D97-AF65-F5344CB8AC3E}">
        <p14:creationId xmlns:p14="http://schemas.microsoft.com/office/powerpoint/2010/main" val="2683750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568699"/>
            <a:ext cx="9601196" cy="1303867"/>
          </a:xfrm>
        </p:spPr>
        <p:txBody>
          <a:bodyPr/>
          <a:lstStyle/>
          <a:p>
            <a:pPr lvl="0" defTabSz="914400" eaLnBrk="0" fontAlgn="base" hangingPunct="0">
              <a:spcAft>
                <a:spcPct val="0"/>
              </a:spcAft>
            </a:pPr>
            <a:r>
              <a:rPr lang="en-US" altLang="en-US" b="1" dirty="0">
                <a:ln>
                  <a:noFill/>
                </a:ln>
                <a:solidFill>
                  <a:schemeClr val="tx1"/>
                </a:solidFill>
                <a:latin typeface="Arial" panose="020B0604020202020204" pitchFamily="34" charset="0"/>
                <a:ea typeface="Times New Roman" panose="02020603050405020304" pitchFamily="18" charset="0"/>
              </a:rPr>
              <a:t>ATM Cell Structure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03970994"/>
              </p:ext>
            </p:extLst>
          </p:nvPr>
        </p:nvGraphicFramePr>
        <p:xfrm>
          <a:off x="6405785" y="2552148"/>
          <a:ext cx="2259650" cy="643246"/>
        </p:xfrm>
        <a:graphic>
          <a:graphicData uri="http://schemas.openxmlformats.org/drawingml/2006/table">
            <a:tbl>
              <a:tblPr firstRow="1" firstCol="1" bandRow="1">
                <a:tableStyleId>{5C22544A-7EE6-4342-B048-85BDC9FD1C3A}</a:tableStyleId>
              </a:tblPr>
              <a:tblGrid>
                <a:gridCol w="1129825">
                  <a:extLst>
                    <a:ext uri="{9D8B030D-6E8A-4147-A177-3AD203B41FA5}">
                      <a16:colId xmlns:a16="http://schemas.microsoft.com/office/drawing/2014/main" val="2605143882"/>
                    </a:ext>
                  </a:extLst>
                </a:gridCol>
                <a:gridCol w="1129825">
                  <a:extLst>
                    <a:ext uri="{9D8B030D-6E8A-4147-A177-3AD203B41FA5}">
                      <a16:colId xmlns:a16="http://schemas.microsoft.com/office/drawing/2014/main" val="3846412178"/>
                    </a:ext>
                  </a:extLst>
                </a:gridCol>
              </a:tblGrid>
              <a:tr h="246370">
                <a:tc>
                  <a:txBody>
                    <a:bodyPr/>
                    <a:lstStyle/>
                    <a:p>
                      <a:pPr marL="0" marR="0" algn="ctr">
                        <a:lnSpc>
                          <a:spcPct val="107000"/>
                        </a:lnSpc>
                        <a:spcBef>
                          <a:spcPts val="0"/>
                        </a:spcBef>
                        <a:spcAft>
                          <a:spcPts val="800"/>
                        </a:spcAft>
                      </a:pPr>
                      <a:r>
                        <a:rPr lang="en-US" sz="1100">
                          <a:effectLst/>
                        </a:rPr>
                        <a:t>Field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800"/>
                        </a:spcAft>
                      </a:pPr>
                      <a:r>
                        <a:rPr lang="en-US" sz="11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05995226"/>
                  </a:ext>
                </a:extLst>
              </a:tr>
              <a:tr h="194897">
                <a:tc>
                  <a:txBody>
                    <a:bodyPr/>
                    <a:lstStyle/>
                    <a:p>
                      <a:pPr marL="0" marR="0">
                        <a:lnSpc>
                          <a:spcPct val="107000"/>
                        </a:lnSpc>
                        <a:spcBef>
                          <a:spcPts val="0"/>
                        </a:spcBef>
                        <a:spcAft>
                          <a:spcPts val="800"/>
                        </a:spcAft>
                      </a:pPr>
                      <a:r>
                        <a:rPr lang="en-US" sz="1100">
                          <a:effectLst/>
                        </a:rPr>
                        <a:t>Header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100">
                          <a:effectLst/>
                        </a:rPr>
                        <a:t>5 bytes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64359414"/>
                  </a:ext>
                </a:extLst>
              </a:tr>
              <a:tr h="194897">
                <a:tc>
                  <a:txBody>
                    <a:bodyPr/>
                    <a:lstStyle/>
                    <a:p>
                      <a:pPr marL="0" marR="0">
                        <a:lnSpc>
                          <a:spcPct val="107000"/>
                        </a:lnSpc>
                        <a:spcBef>
                          <a:spcPts val="0"/>
                        </a:spcBef>
                        <a:spcAft>
                          <a:spcPts val="800"/>
                        </a:spcAft>
                      </a:pPr>
                      <a:r>
                        <a:rPr lang="en-US" sz="1100">
                          <a:effectLst/>
                        </a:rPr>
                        <a:t>Payload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100" dirty="0">
                          <a:effectLst/>
                        </a:rPr>
                        <a:t>48 bytes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68882086"/>
                  </a:ext>
                </a:extLst>
              </a:tr>
            </a:tbl>
          </a:graphicData>
        </a:graphic>
      </p:graphicFrame>
      <p:sp>
        <p:nvSpPr>
          <p:cNvPr id="6" name="Rectangle 5"/>
          <p:cNvSpPr/>
          <p:nvPr/>
        </p:nvSpPr>
        <p:spPr>
          <a:xfrm>
            <a:off x="898380" y="1811467"/>
            <a:ext cx="5096142" cy="4845044"/>
          </a:xfrm>
          <a:prstGeom prst="rect">
            <a:avLst/>
          </a:prstGeom>
        </p:spPr>
        <p:txBody>
          <a:bodyPr wrap="square">
            <a:spAutoFit/>
          </a:bodyPr>
          <a:lstStyle/>
          <a:p>
            <a:pPr>
              <a:lnSpc>
                <a:spcPct val="107000"/>
              </a:lnSpc>
              <a:spcBef>
                <a:spcPts val="200"/>
              </a:spcBef>
            </a:pPr>
            <a:r>
              <a:rPr lang="en-US" sz="1200" b="1" dirty="0">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Header Fields (UNI – User Network Interface)</a:t>
            </a:r>
          </a:p>
          <a:p>
            <a:pPr marL="342900" marR="0" lvl="0" indent="-342900">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rPr>
              <a:t>VPI (Virtual Path Identifier)</a:t>
            </a:r>
            <a:r>
              <a:rPr lang="en-US" sz="1200" dirty="0">
                <a:latin typeface="Times New Roman" panose="02020603050405020304" pitchFamily="18" charset="0"/>
                <a:ea typeface="Times New Roman" panose="02020603050405020304" pitchFamily="18" charset="0"/>
              </a:rPr>
              <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Identifies a group of virtual channels</a:t>
            </a:r>
          </a:p>
          <a:p>
            <a:pPr marL="342900" marR="0" lvl="0" indent="-342900">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rPr>
              <a:t>VCI (Virtual Channel Identifier)</a:t>
            </a:r>
            <a:r>
              <a:rPr lang="en-US" sz="1200" dirty="0">
                <a:latin typeface="Times New Roman" panose="02020603050405020304" pitchFamily="18" charset="0"/>
                <a:ea typeface="Times New Roman" panose="02020603050405020304" pitchFamily="18" charset="0"/>
              </a:rPr>
              <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Identifies a specific virtual circuit</a:t>
            </a:r>
          </a:p>
          <a:p>
            <a:pPr marL="342900" marR="0" lvl="0" indent="-342900">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rPr>
              <a:t>PTI (Payload Type Indicator)</a:t>
            </a:r>
            <a:r>
              <a:rPr lang="en-US" sz="1200" dirty="0">
                <a:latin typeface="Times New Roman" panose="02020603050405020304" pitchFamily="18" charset="0"/>
                <a:ea typeface="Times New Roman" panose="02020603050405020304" pitchFamily="18" charset="0"/>
              </a:rPr>
              <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Indicates type of payload and congestion info</a:t>
            </a:r>
          </a:p>
          <a:p>
            <a:pPr marL="342900" marR="0" lvl="0" indent="-342900">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rPr>
              <a:t>CLP (Cell Loss Priority)</a:t>
            </a:r>
            <a:r>
              <a:rPr lang="en-US" sz="1200" dirty="0">
                <a:latin typeface="Times New Roman" panose="02020603050405020304" pitchFamily="18" charset="0"/>
                <a:ea typeface="Times New Roman" panose="02020603050405020304" pitchFamily="18" charset="0"/>
              </a:rPr>
              <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Marks cells that can be dropped during congestion</a:t>
            </a:r>
          </a:p>
          <a:p>
            <a:pPr marL="342900" marR="0" lvl="0" indent="-342900">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rPr>
              <a:t>HEC (Header Error Control)</a:t>
            </a:r>
            <a:r>
              <a:rPr lang="en-US" sz="1200" dirty="0">
                <a:latin typeface="Times New Roman" panose="02020603050405020304" pitchFamily="18" charset="0"/>
                <a:ea typeface="Times New Roman" panose="02020603050405020304" pitchFamily="18" charset="0"/>
              </a:rPr>
              <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Detects and corrects header errors</a:t>
            </a:r>
          </a:p>
          <a:p>
            <a:r>
              <a:rPr lang="en-US" sz="1200" dirty="0">
                <a:latin typeface="Segoe UI Symbol" panose="020B0502040204020203" pitchFamily="34" charset="0"/>
                <a:ea typeface="Times New Roman" panose="02020603050405020304" pitchFamily="18" charset="0"/>
                <a:cs typeface="Segoe UI Symbol" panose="020B0502040204020203" pitchFamily="34" charset="0"/>
              </a:rPr>
              <a:t>👉</a:t>
            </a:r>
            <a:r>
              <a:rPr lang="en-US" sz="1200" dirty="0">
                <a:latin typeface="Times New Roman" panose="02020603050405020304" pitchFamily="18" charset="0"/>
                <a:ea typeface="Times New Roman" panose="02020603050405020304" pitchFamily="18" charset="0"/>
              </a:rPr>
              <a:t> </a:t>
            </a:r>
            <a:r>
              <a:rPr lang="en-US" sz="1200" b="1" dirty="0">
                <a:latin typeface="Times New Roman" panose="02020603050405020304" pitchFamily="18" charset="0"/>
                <a:ea typeface="Times New Roman" panose="02020603050405020304" pitchFamily="18" charset="0"/>
              </a:rPr>
              <a:t>VPI + VCI together uniquely identify a virtual circuit</a:t>
            </a:r>
            <a:r>
              <a:rPr lang="en-US" sz="1200" dirty="0">
                <a:latin typeface="Times New Roman" panose="02020603050405020304" pitchFamily="18" charset="0"/>
                <a:ea typeface="Times New Roman" panose="02020603050405020304" pitchFamily="18" charset="0"/>
              </a:rPr>
              <a:t> in the network</a:t>
            </a:r>
            <a:r>
              <a:rPr lang="en-US" sz="1200" dirty="0" smtClean="0">
                <a:latin typeface="Times New Roman" panose="02020603050405020304" pitchFamily="18" charset="0"/>
                <a:ea typeface="Times New Roman" panose="02020603050405020304" pitchFamily="18" charset="0"/>
              </a:rPr>
              <a:t>.</a:t>
            </a:r>
          </a:p>
          <a:p>
            <a:pPr fontAlgn="base"/>
            <a:r>
              <a:rPr lang="en-US" sz="1600" b="1" dirty="0"/>
              <a:t>UNI Header:</a:t>
            </a:r>
            <a:r>
              <a:rPr lang="en-US" sz="1600" dirty="0"/>
              <a:t> This is used within private networks of ATMs for communication between ATM endpoints and ATM switches. It includes the Generic Flow Control (GFC) field. </a:t>
            </a:r>
            <a:br>
              <a:rPr lang="en-US" sz="1600" dirty="0"/>
            </a:br>
            <a:r>
              <a:rPr lang="en-US" sz="1600" dirty="0"/>
              <a:t> </a:t>
            </a:r>
          </a:p>
          <a:p>
            <a:pPr fontAlgn="base"/>
            <a:r>
              <a:rPr lang="en-US" sz="1600" b="1" dirty="0"/>
              <a:t>NNI Header:</a:t>
            </a:r>
            <a:r>
              <a:rPr lang="en-US" sz="1600" dirty="0"/>
              <a:t> is used for communication between ATM switches, and it does not include the Generic Flow Control(GFC) instead it includes a Virtual Path Identifier (VPI) which occupies the first 12 bits. </a:t>
            </a:r>
          </a:p>
          <a:p>
            <a:pPr lvl="0"/>
            <a:r>
              <a:rPr lang="en-US" altLang="en-US" sz="1400" b="1" dirty="0" smtClean="0">
                <a:latin typeface="Arial" panose="020B0604020202020204" pitchFamily="34" charset="0"/>
                <a:ea typeface="Times New Roman" panose="02020603050405020304" pitchFamily="18" charset="0"/>
              </a:rPr>
              <a:t> </a:t>
            </a:r>
            <a:endParaRPr lang="en-US" altLang="en-US" sz="1400" b="1" dirty="0">
              <a:latin typeface="Arial" panose="020B0604020202020204" pitchFamily="34" charset="0"/>
              <a:ea typeface="Times New Roman" panose="02020603050405020304" pitchFamily="18" charset="0"/>
            </a:endParaRPr>
          </a:p>
          <a:p>
            <a:endParaRPr lang="en-US" sz="1400" dirty="0">
              <a:latin typeface="Times New Roman" panose="02020603050405020304" pitchFamily="18" charset="0"/>
              <a:ea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243610"/>
            <a:ext cx="4800598" cy="2809875"/>
          </a:xfrm>
          <a:prstGeom prst="rect">
            <a:avLst/>
          </a:prstGeom>
        </p:spPr>
      </p:pic>
    </p:spTree>
    <p:extLst>
      <p:ext uri="{BB962C8B-B14F-4D97-AF65-F5344CB8AC3E}">
        <p14:creationId xmlns:p14="http://schemas.microsoft.com/office/powerpoint/2010/main" val="410978640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of ATM:</a:t>
            </a:r>
            <a:r>
              <a:rPr lang="en-US" dirty="0"/>
              <a:t> </a:t>
            </a:r>
          </a:p>
        </p:txBody>
      </p:sp>
      <p:sp>
        <p:nvSpPr>
          <p:cNvPr id="3" name="Content Placeholder 2"/>
          <p:cNvSpPr>
            <a:spLocks noGrp="1"/>
          </p:cNvSpPr>
          <p:nvPr>
            <p:ph idx="1"/>
          </p:nvPr>
        </p:nvSpPr>
        <p:spPr/>
        <p:txBody>
          <a:bodyPr>
            <a:normAutofit fontScale="70000" lnSpcReduction="20000"/>
          </a:bodyPr>
          <a:lstStyle/>
          <a:p>
            <a:r>
              <a:rPr lang="en-US" dirty="0"/>
              <a:t>ATM standard uses two types of connections. i.e., Virtual path connections (VPCs) which consist of Virtual channel connections (VCCs) bundled together which is a basic unit carrying a single stream of cells from user to user</a:t>
            </a:r>
            <a:r>
              <a:rPr lang="en-US" dirty="0" smtClean="0"/>
              <a:t>.</a:t>
            </a:r>
          </a:p>
          <a:p>
            <a:r>
              <a:rPr lang="en-US" dirty="0" smtClean="0"/>
              <a:t> </a:t>
            </a:r>
            <a:r>
              <a:rPr lang="en-US" dirty="0"/>
              <a:t>A virtual path can be created end-to-end across an ATM network, as it does not rout the cells to a particular virtual circuit. In case of major failure, all cells belonging to a particular virtual path are routed the same way through the ATM network, thus helping in faster recovery. </a:t>
            </a:r>
            <a:br>
              <a:rPr lang="en-US" dirty="0"/>
            </a:br>
            <a:r>
              <a:rPr lang="en-US" dirty="0"/>
              <a:t/>
            </a:r>
            <a:br>
              <a:rPr lang="en-US" dirty="0"/>
            </a:br>
            <a:r>
              <a:rPr lang="en-US" dirty="0"/>
              <a:t>Switches connected to subscribers use both VPIs and VCIs to switch the cells which are Virtual Path and Virtual Connection switches that can have different virtual channel connections between them, serving the purpose of creating a </a:t>
            </a:r>
            <a:r>
              <a:rPr lang="en-US" i="1" dirty="0"/>
              <a:t>virtual trunk</a:t>
            </a:r>
            <a:r>
              <a:rPr lang="en-US" dirty="0"/>
              <a:t> between the switches which can be handled as a single entity. </a:t>
            </a:r>
            <a:endParaRPr lang="en-US" dirty="0" smtClean="0"/>
          </a:p>
          <a:p>
            <a:r>
              <a:rPr lang="en-US" dirty="0" smtClean="0"/>
              <a:t>Its </a:t>
            </a:r>
            <a:r>
              <a:rPr lang="en-US" dirty="0"/>
              <a:t>basic operation is straightforward by looking up the connection value in the local translation table determining the outgoing port of the connection and the new VPI/VCI value of connection on that link. </a:t>
            </a:r>
          </a:p>
        </p:txBody>
      </p:sp>
    </p:spTree>
    <p:extLst>
      <p:ext uri="{BB962C8B-B14F-4D97-AF65-F5344CB8AC3E}">
        <p14:creationId xmlns:p14="http://schemas.microsoft.com/office/powerpoint/2010/main" val="426901700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ATM Layers</a:t>
            </a:r>
            <a:endParaRPr lang="en-US" dirty="0"/>
          </a:p>
        </p:txBody>
      </p:sp>
      <p:sp>
        <p:nvSpPr>
          <p:cNvPr id="3" name="Content Placeholder 2"/>
          <p:cNvSpPr>
            <a:spLocks noGrp="1"/>
          </p:cNvSpPr>
          <p:nvPr>
            <p:ph idx="1"/>
          </p:nvPr>
        </p:nvSpPr>
        <p:spPr>
          <a:xfrm>
            <a:off x="1026953" y="2020037"/>
            <a:ext cx="6003021" cy="3318936"/>
          </a:xfrm>
        </p:spPr>
        <p:txBody>
          <a:bodyPr>
            <a:noAutofit/>
          </a:bodyPr>
          <a:lstStyle/>
          <a:p>
            <a:pPr fontAlgn="base"/>
            <a:r>
              <a:rPr lang="en-US" sz="1200" b="1" dirty="0"/>
              <a:t>ATM Adaption Layer (AAL) -</a:t>
            </a:r>
            <a:r>
              <a:rPr lang="en-US" sz="1200" dirty="0"/>
              <a:t> </a:t>
            </a:r>
            <a:br>
              <a:rPr lang="en-US" sz="1200" dirty="0"/>
            </a:br>
            <a:r>
              <a:rPr lang="en-US" sz="1200" dirty="0"/>
              <a:t>It is meant for isolating higher-layer protocols from details of ATM processes and prepares for conversion of user data into cells and segments it into 48-byte cell payloads. AAL protocol excepts transmission from upper-layer services and helps them in mapping applications, e.g., voice, data to ATM cells. </a:t>
            </a:r>
          </a:p>
          <a:p>
            <a:pPr fontAlgn="base"/>
            <a:r>
              <a:rPr lang="en-US" sz="1200" b="1" dirty="0"/>
              <a:t>Physical Layer -</a:t>
            </a:r>
            <a:r>
              <a:rPr lang="en-US" sz="1200" dirty="0"/>
              <a:t> </a:t>
            </a:r>
            <a:br>
              <a:rPr lang="en-US" sz="1200" dirty="0"/>
            </a:br>
            <a:r>
              <a:rPr lang="en-US" sz="1200" dirty="0"/>
              <a:t>It manages the medium-dependent transmission and is divided into two parts physical medium-dependent sublayer and transmission convergence sublayer. The main functions are as follows: </a:t>
            </a:r>
          </a:p>
          <a:p>
            <a:pPr lvl="1" fontAlgn="base"/>
            <a:r>
              <a:rPr lang="en-US" sz="1100" dirty="0"/>
              <a:t>It converts cells into a </a:t>
            </a:r>
            <a:r>
              <a:rPr lang="en-US" sz="1100" dirty="0" err="1"/>
              <a:t>bitstream</a:t>
            </a:r>
            <a:r>
              <a:rPr lang="en-US" sz="1100" dirty="0"/>
              <a:t>.</a:t>
            </a:r>
          </a:p>
          <a:p>
            <a:pPr lvl="1" fontAlgn="base"/>
            <a:r>
              <a:rPr lang="en-US" sz="1100" dirty="0"/>
              <a:t>It controls the transmission and receipt of bits in the physical medium.</a:t>
            </a:r>
          </a:p>
          <a:p>
            <a:pPr lvl="1" fontAlgn="base"/>
            <a:r>
              <a:rPr lang="en-US" sz="1100" dirty="0"/>
              <a:t>It can track the ATM cell boundaries.</a:t>
            </a:r>
          </a:p>
          <a:p>
            <a:pPr lvl="1" fontAlgn="base"/>
            <a:r>
              <a:rPr lang="en-US" sz="1100" dirty="0"/>
              <a:t>Look for the packaging of cells into the appropriate type of frames.</a:t>
            </a:r>
          </a:p>
          <a:p>
            <a:pPr fontAlgn="base"/>
            <a:r>
              <a:rPr lang="en-US" sz="1200" b="1" dirty="0"/>
              <a:t>ATM Layer -</a:t>
            </a:r>
            <a:r>
              <a:rPr lang="en-US" sz="1200" dirty="0"/>
              <a:t> </a:t>
            </a:r>
            <a:br>
              <a:rPr lang="en-US" sz="1200" dirty="0"/>
            </a:br>
            <a:r>
              <a:rPr lang="en-US" sz="1200" dirty="0"/>
              <a:t>It handles transmission, switching, congestion control, cell header processing, sequential delivery, etc., and is responsible for simultaneously sharing the virtual circuits over the physical link known as cell multiplexing and passing cells through an ATM network known as cell relay making use of the VPI and VCI information in the cell header. </a:t>
            </a:r>
            <a:br>
              <a:rPr lang="en-US" sz="1200" dirty="0"/>
            </a:br>
            <a:r>
              <a:rPr lang="en-US" sz="1200"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2258" y="2797773"/>
            <a:ext cx="3930109" cy="2126566"/>
          </a:xfrm>
          <a:prstGeom prst="rect">
            <a:avLst/>
          </a:prstGeom>
        </p:spPr>
      </p:pic>
    </p:spTree>
    <p:extLst>
      <p:ext uri="{BB962C8B-B14F-4D97-AF65-F5344CB8AC3E}">
        <p14:creationId xmlns:p14="http://schemas.microsoft.com/office/powerpoint/2010/main" val="312153963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ATM Applications:</a:t>
            </a:r>
            <a:r>
              <a:rPr lang="en-US" dirty="0"/>
              <a:t> </a:t>
            </a:r>
            <a:br>
              <a:rPr lang="en-US" dirty="0"/>
            </a:br>
            <a:r>
              <a:rPr lang="en-US" dirty="0"/>
              <a:t> </a:t>
            </a:r>
          </a:p>
        </p:txBody>
      </p:sp>
      <p:sp>
        <p:nvSpPr>
          <p:cNvPr id="3" name="Content Placeholder 2"/>
          <p:cNvSpPr>
            <a:spLocks noGrp="1"/>
          </p:cNvSpPr>
          <p:nvPr>
            <p:ph idx="1"/>
          </p:nvPr>
        </p:nvSpPr>
        <p:spPr>
          <a:xfrm>
            <a:off x="1094065" y="2355596"/>
            <a:ext cx="9601196" cy="3318936"/>
          </a:xfrm>
        </p:spPr>
        <p:txBody>
          <a:bodyPr>
            <a:noAutofit/>
          </a:bodyPr>
          <a:lstStyle/>
          <a:p>
            <a:pPr fontAlgn="base"/>
            <a:r>
              <a:rPr lang="en-US" sz="1200" b="1" dirty="0" smtClean="0"/>
              <a:t>ATM </a:t>
            </a:r>
            <a:r>
              <a:rPr lang="en-US" sz="1200" b="1" dirty="0"/>
              <a:t>WANs -</a:t>
            </a:r>
            <a:r>
              <a:rPr lang="en-US" sz="1200" dirty="0"/>
              <a:t> </a:t>
            </a:r>
            <a:br>
              <a:rPr lang="en-US" sz="1200" dirty="0"/>
            </a:br>
            <a:r>
              <a:rPr lang="en-US" sz="1200" dirty="0"/>
              <a:t>It can be used as a WAN to send cells over long distances, a router serving as an end-point between ATM network and other networks, which has two stacks of the protocol. </a:t>
            </a:r>
            <a:br>
              <a:rPr lang="en-US" sz="1200" dirty="0"/>
            </a:br>
            <a:r>
              <a:rPr lang="en-US" sz="1200" dirty="0"/>
              <a:t> </a:t>
            </a:r>
          </a:p>
          <a:p>
            <a:pPr fontAlgn="base"/>
            <a:r>
              <a:rPr lang="en-US" sz="1200" b="1" dirty="0"/>
              <a:t>Multimedia virtual private networks and managed services -</a:t>
            </a:r>
            <a:r>
              <a:rPr lang="en-US" sz="1200" dirty="0"/>
              <a:t> </a:t>
            </a:r>
            <a:br>
              <a:rPr lang="en-US" sz="1200" dirty="0"/>
            </a:br>
            <a:r>
              <a:rPr lang="en-US" sz="1200" dirty="0"/>
              <a:t>It helps in managing ATM, LAN, voice, and video services and is capable of full-service virtual private networking, which includes integrated access to multimedia. </a:t>
            </a:r>
            <a:br>
              <a:rPr lang="en-US" sz="1200" dirty="0"/>
            </a:br>
            <a:r>
              <a:rPr lang="en-US" sz="1200" dirty="0"/>
              <a:t> </a:t>
            </a:r>
          </a:p>
          <a:p>
            <a:pPr fontAlgn="base"/>
            <a:r>
              <a:rPr lang="en-US" sz="1200" b="1" dirty="0"/>
              <a:t>Frame relay backbone -</a:t>
            </a:r>
            <a:r>
              <a:rPr lang="en-US" sz="1200" dirty="0"/>
              <a:t> </a:t>
            </a:r>
            <a:br>
              <a:rPr lang="en-US" sz="1200" dirty="0"/>
            </a:br>
            <a:r>
              <a:rPr lang="en-US" sz="1200" dirty="0"/>
              <a:t>Frame relay services are used as a networking infrastructure for a range of data services and enabling frame-relay ATM service to Internetworking services. </a:t>
            </a:r>
            <a:br>
              <a:rPr lang="en-US" sz="1200" dirty="0"/>
            </a:br>
            <a:r>
              <a:rPr lang="en-US" sz="1200" dirty="0"/>
              <a:t> </a:t>
            </a:r>
          </a:p>
          <a:p>
            <a:pPr fontAlgn="base"/>
            <a:r>
              <a:rPr lang="en-US" sz="1200" b="1" dirty="0"/>
              <a:t>Residential broadband networks -</a:t>
            </a:r>
            <a:r>
              <a:rPr lang="en-US" sz="1200" dirty="0"/>
              <a:t> </a:t>
            </a:r>
            <a:br>
              <a:rPr lang="en-US" sz="1200" dirty="0"/>
            </a:br>
            <a:r>
              <a:rPr lang="en-US" sz="1200" dirty="0"/>
              <a:t>ATM is by choice provides the networking infrastructure for the establishment of residential broadband services in the search of highly scalable solutions. </a:t>
            </a:r>
            <a:br>
              <a:rPr lang="en-US" sz="1200" dirty="0"/>
            </a:br>
            <a:r>
              <a:rPr lang="en-US" sz="1200" dirty="0"/>
              <a:t> </a:t>
            </a:r>
          </a:p>
          <a:p>
            <a:pPr fontAlgn="base"/>
            <a:r>
              <a:rPr lang="en-US" sz="1200" b="1" dirty="0"/>
              <a:t>Carrier infrastructure for telephone and private line networks -</a:t>
            </a:r>
            <a:r>
              <a:rPr lang="en-US" sz="1200" dirty="0"/>
              <a:t> </a:t>
            </a:r>
            <a:br>
              <a:rPr lang="en-US" sz="1200" dirty="0"/>
            </a:br>
            <a:r>
              <a:rPr lang="en-US" sz="1200" dirty="0"/>
              <a:t>To make more effective use of SONET/SDH fiber infrastructures by building the ATM infrastructure for carrying the telephonic and private-line traffic. </a:t>
            </a:r>
          </a:p>
        </p:txBody>
      </p:sp>
    </p:spTree>
    <p:extLst>
      <p:ext uri="{BB962C8B-B14F-4D97-AF65-F5344CB8AC3E}">
        <p14:creationId xmlns:p14="http://schemas.microsoft.com/office/powerpoint/2010/main" val="1815281492"/>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MPLS </a:t>
            </a:r>
            <a:r>
              <a:rPr lang="en-US" b="1" dirty="0"/>
              <a:t>(Multiprotocol Label Switching)</a:t>
            </a:r>
          </a:p>
        </p:txBody>
      </p:sp>
      <p:sp>
        <p:nvSpPr>
          <p:cNvPr id="3" name="Content Placeholder 2"/>
          <p:cNvSpPr>
            <a:spLocks noGrp="1"/>
          </p:cNvSpPr>
          <p:nvPr>
            <p:ph idx="1"/>
          </p:nvPr>
        </p:nvSpPr>
        <p:spPr>
          <a:xfrm>
            <a:off x="1295401" y="2556932"/>
            <a:ext cx="6372137" cy="3318936"/>
          </a:xfrm>
        </p:spPr>
        <p:txBody>
          <a:bodyPr>
            <a:normAutofit fontScale="70000" lnSpcReduction="20000"/>
          </a:bodyPr>
          <a:lstStyle/>
          <a:p>
            <a:r>
              <a:rPr lang="en-US" b="1" dirty="0" smtClean="0"/>
              <a:t>MPLS</a:t>
            </a:r>
            <a:r>
              <a:rPr lang="en-US" dirty="0"/>
              <a:t>, or </a:t>
            </a:r>
            <a:r>
              <a:rPr lang="en-US" b="1" dirty="0"/>
              <a:t>Multiprotocol Label Switching</a:t>
            </a:r>
            <a:r>
              <a:rPr lang="en-US" dirty="0"/>
              <a:t>, is a data forwarding technology that speeds up and manages network traffic flow. Unlike other protocols that route data based on network addresses, </a:t>
            </a:r>
            <a:r>
              <a:rPr lang="en-US" b="1" dirty="0"/>
              <a:t>MPLS</a:t>
            </a:r>
            <a:r>
              <a:rPr lang="en-US" dirty="0"/>
              <a:t> routes traffic using labelled paths for forwarding over private WANs. </a:t>
            </a:r>
            <a:endParaRPr lang="en-US" dirty="0" smtClean="0"/>
          </a:p>
          <a:p>
            <a:r>
              <a:rPr lang="en-US" b="1" dirty="0" smtClean="0"/>
              <a:t>MPLS</a:t>
            </a:r>
            <a:r>
              <a:rPr lang="en-US" dirty="0"/>
              <a:t> networks offer security and flexibility, built over a private and resilient network that can be scaled to fit different site requirements. </a:t>
            </a:r>
            <a:endParaRPr lang="en-US" dirty="0" smtClean="0"/>
          </a:p>
          <a:p>
            <a:r>
              <a:rPr lang="en-US" b="1" dirty="0" smtClean="0"/>
              <a:t>MPLS</a:t>
            </a:r>
            <a:r>
              <a:rPr lang="en-US" dirty="0"/>
              <a:t> provides better transmission and higher </a:t>
            </a:r>
            <a:r>
              <a:rPr lang="en-US" dirty="0" err="1"/>
              <a:t>QoS</a:t>
            </a:r>
            <a:r>
              <a:rPr lang="en-US" dirty="0"/>
              <a:t> than standard IP routing, making it ideal for businesses needing a reliable, powerful connection for latency-sensitive apps like VoIP and video conferencing. Its “multiprotocol” capability means that it can transfer various data types, independent of any specific protocol used to organize them, making it a versatile solution.</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2604" y="2431097"/>
            <a:ext cx="4255540" cy="2392573"/>
          </a:xfrm>
          <a:prstGeom prst="rect">
            <a:avLst/>
          </a:prstGeom>
        </p:spPr>
      </p:pic>
    </p:spTree>
    <p:extLst>
      <p:ext uri="{BB962C8B-B14F-4D97-AF65-F5344CB8AC3E}">
        <p14:creationId xmlns:p14="http://schemas.microsoft.com/office/powerpoint/2010/main" val="12416785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1728" y="887523"/>
            <a:ext cx="5684239" cy="3318936"/>
          </a:xfrm>
        </p:spPr>
        <p:txBody>
          <a:bodyPr>
            <a:noAutofit/>
          </a:bodyPr>
          <a:lstStyle/>
          <a:p>
            <a:r>
              <a:rPr lang="en-US" sz="1400" dirty="0"/>
              <a:t>The name </a:t>
            </a:r>
            <a:r>
              <a:rPr lang="en-US" sz="1400" b="1" dirty="0"/>
              <a:t>Multiprotocol Label Switching</a:t>
            </a:r>
            <a:r>
              <a:rPr lang="en-US" sz="1400" dirty="0"/>
              <a:t> implies that it can encapsulate packets of various network protocols, such as IP, ATM, Frame Relay, SONET, and Ethernet. To gain a better understanding of </a:t>
            </a:r>
            <a:r>
              <a:rPr lang="en-US" sz="1400" b="1" dirty="0"/>
              <a:t>MPLS</a:t>
            </a:r>
            <a:r>
              <a:rPr lang="en-US" sz="1400" dirty="0"/>
              <a:t>, let’s take a look at how data moves through the internet. </a:t>
            </a:r>
            <a:endParaRPr lang="en-US" sz="1400" dirty="0" smtClean="0"/>
          </a:p>
          <a:p>
            <a:r>
              <a:rPr lang="en-US" sz="1400" dirty="0" smtClean="0"/>
              <a:t>Data </a:t>
            </a:r>
            <a:r>
              <a:rPr lang="en-US" sz="1400" dirty="0"/>
              <a:t>sent over the internet is transmitted as an IP packet from a router to its intended destination. To reach its destination, each router performs an IP lookup (routing) to determine the next-hop. The next-hop is selected based on the router’s routing table. The router then forwards the packet to the next hop, and this process continues until the packet reaches its destination</a:t>
            </a:r>
            <a:r>
              <a:rPr lang="en-US" sz="1400" dirty="0" smtClean="0"/>
              <a:t>.</a:t>
            </a:r>
          </a:p>
          <a:p>
            <a:r>
              <a:rPr lang="en-US" sz="1400" dirty="0"/>
              <a:t>Using IP addresses and routing tables is effective for most of the Internet, but it can take longer to forward traffic. On the other hand, </a:t>
            </a:r>
            <a:r>
              <a:rPr lang="en-US" sz="1400" b="1" dirty="0"/>
              <a:t>Multiprotocol Label Switching</a:t>
            </a:r>
            <a:r>
              <a:rPr lang="en-US" sz="1400" dirty="0"/>
              <a:t> utilizes a “label switching” approach to handle the data flow. Label switching is when routers within a system create a planned route that controls network traffic, resulting in faster forwarding</a:t>
            </a:r>
            <a:r>
              <a:rPr lang="en-US" sz="1400" dirty="0" smtClean="0"/>
              <a:t>.</a:t>
            </a:r>
          </a:p>
          <a:p>
            <a:r>
              <a:rPr lang="en-US" sz="1400" dirty="0"/>
              <a:t>When the first device performs a routing lookup, it discovers the final destination router and a predetermined path from “here” to “that” router instead of a next-hop. Using this information, the router assigns a “label” to the traffic. Future routers then use the label to route the traffic rather than performing additional IP lookups. The packet will be delivered using standard IP routing, and the label will be removed at the final destination router.</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29862" y="605681"/>
            <a:ext cx="4547944" cy="2556970"/>
          </a:xfrm>
          <a:prstGeom prst="rect">
            <a:avLst/>
          </a:prstGeom>
        </p:spPr>
      </p:pic>
      <p:pic>
        <p:nvPicPr>
          <p:cNvPr id="3074" name="Picture 2" descr="mpls-ip-packet-redu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4591" y="-3505200"/>
            <a:ext cx="5692134" cy="32786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4591" y="3078976"/>
            <a:ext cx="3700034" cy="2080253"/>
          </a:xfrm>
          <a:prstGeom prst="rect">
            <a:avLst/>
          </a:prstGeom>
        </p:spPr>
      </p:pic>
    </p:spTree>
    <p:extLst>
      <p:ext uri="{BB962C8B-B14F-4D97-AF65-F5344CB8AC3E}">
        <p14:creationId xmlns:p14="http://schemas.microsoft.com/office/powerpoint/2010/main" val="180739816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Is MPLS Layer 2 or Layer 3 of the OSI model?</a:t>
            </a:r>
          </a:p>
        </p:txBody>
      </p:sp>
      <p:sp>
        <p:nvSpPr>
          <p:cNvPr id="3" name="Content Placeholder 2"/>
          <p:cNvSpPr>
            <a:spLocks noGrp="1"/>
          </p:cNvSpPr>
          <p:nvPr>
            <p:ph idx="1"/>
          </p:nvPr>
        </p:nvSpPr>
        <p:spPr>
          <a:xfrm>
            <a:off x="1295401" y="2556932"/>
            <a:ext cx="6467474" cy="3318936"/>
          </a:xfrm>
        </p:spPr>
        <p:txBody>
          <a:bodyPr>
            <a:normAutofit fontScale="85000" lnSpcReduction="20000"/>
          </a:bodyPr>
          <a:lstStyle/>
          <a:p>
            <a:r>
              <a:rPr lang="en-US" dirty="0" smtClean="0"/>
              <a:t>MPLS </a:t>
            </a:r>
            <a:r>
              <a:rPr lang="en-US" dirty="0"/>
              <a:t>is referred to as a 2.5-layer protocol because of its location between Layer 2 (Data Link) and Layer 3 (Network) in the OSI model</a:t>
            </a:r>
            <a:r>
              <a:rPr lang="en-US" dirty="0" smtClean="0"/>
              <a:t>.</a:t>
            </a:r>
            <a:endParaRPr lang="en-US" dirty="0"/>
          </a:p>
          <a:p>
            <a:r>
              <a:rPr lang="en-US" dirty="0"/>
              <a:t>Sitting between Layer 2 &amp; Layer 3, MPLS is considered a Layer 2.5 networking protocol.</a:t>
            </a:r>
          </a:p>
          <a:p>
            <a:r>
              <a:rPr lang="en-US" dirty="0"/>
              <a:t>While switching is a Layer 2 operation, routing is a Layer 3 operation. MPLS enables Internet routers to function like local network switches and can create end-to-end paths that behave like circuit-switched connections, but deliver Layer 3 IP packets. MPLS uses labels at Layer 2.5 to reduce the resource-intensive lookups at Layer 3 and helps in creating forwarding tables for any underlying protocol</a:t>
            </a:r>
            <a:r>
              <a:rPr lang="en-US" dirty="0" smtClean="0"/>
              <a:t>.</a:t>
            </a:r>
            <a:endParaRPr lang="en-US" dirty="0"/>
          </a:p>
        </p:txBody>
      </p:sp>
      <p:pic>
        <p:nvPicPr>
          <p:cNvPr id="4" name="Picture 3" descr="mpls-layer"/>
          <p:cNvPicPr/>
          <p:nvPr/>
        </p:nvPicPr>
        <p:blipFill>
          <a:blip r:embed="rId2">
            <a:extLst>
              <a:ext uri="{28A0092B-C50C-407E-A947-70E740481C1C}">
                <a14:useLocalDpi xmlns:a14="http://schemas.microsoft.com/office/drawing/2010/main" val="0"/>
              </a:ext>
            </a:extLst>
          </a:blip>
          <a:srcRect/>
          <a:stretch>
            <a:fillRect/>
          </a:stretch>
        </p:blipFill>
        <p:spPr bwMode="auto">
          <a:xfrm>
            <a:off x="6686549" y="1457324"/>
            <a:ext cx="5724525" cy="4979303"/>
          </a:xfrm>
          <a:prstGeom prst="rect">
            <a:avLst/>
          </a:prstGeom>
          <a:noFill/>
          <a:ln>
            <a:noFill/>
          </a:ln>
        </p:spPr>
      </p:pic>
    </p:spTree>
    <p:extLst>
      <p:ext uri="{BB962C8B-B14F-4D97-AF65-F5344CB8AC3E}">
        <p14:creationId xmlns:p14="http://schemas.microsoft.com/office/powerpoint/2010/main" val="39516744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2" y="305857"/>
            <a:ext cx="9601196" cy="1303867"/>
          </a:xfrm>
        </p:spPr>
        <p:txBody>
          <a:bodyPr/>
          <a:lstStyle/>
          <a:p>
            <a:r>
              <a:rPr lang="en-US" dirty="0"/>
              <a:t>How does MPLS work?</a:t>
            </a:r>
          </a:p>
        </p:txBody>
      </p:sp>
      <p:sp>
        <p:nvSpPr>
          <p:cNvPr id="3" name="Content Placeholder 2"/>
          <p:cNvSpPr>
            <a:spLocks noGrp="1"/>
          </p:cNvSpPr>
          <p:nvPr>
            <p:ph idx="1"/>
          </p:nvPr>
        </p:nvSpPr>
        <p:spPr>
          <a:xfrm>
            <a:off x="1019176" y="1537757"/>
            <a:ext cx="6153149" cy="3318936"/>
          </a:xfrm>
        </p:spPr>
        <p:txBody>
          <a:bodyPr>
            <a:noAutofit/>
          </a:bodyPr>
          <a:lstStyle/>
          <a:p>
            <a:r>
              <a:rPr lang="en-US" sz="1600" dirty="0"/>
              <a:t>MPLS works by adding a label to the data packet &amp; route the packet from one node to the next based on the information written on the label.</a:t>
            </a:r>
          </a:p>
          <a:p>
            <a:r>
              <a:rPr lang="en-US" sz="1600" dirty="0"/>
              <a:t>Each packet in an MPLS network is assigned a class designation known as a forwarding equivalence class (FEC). Label-switched paths (LSPs) refer to the potential network routes that packets can take. The path (LSP) that a packet is assigned to is decided by its class (FEC). All packets with the same FEC always take the same LSP.</a:t>
            </a:r>
          </a:p>
          <a:p>
            <a:r>
              <a:rPr lang="en-US" sz="1600" dirty="0"/>
              <a:t>One or more labels are attached to each packet, and each label is in its own MPLS header, which is placed on top of all other headers. Each packet’s labels provide a list of FECs. Routers can disregard the IP header and other headers of the packet and instead look at the packet’s label to send it to the appropriate LSP.</a:t>
            </a:r>
          </a:p>
          <a:p>
            <a:r>
              <a:rPr lang="en-US" sz="1600" dirty="0"/>
              <a:t>An MPLS router located at the network edge adds an MPLS label whenever an end-user sends traffic into the MPLS network.</a:t>
            </a:r>
          </a:p>
          <a:p>
            <a:r>
              <a:rPr lang="en-US" sz="1600" dirty="0"/>
              <a:t>The MPLS label is consisted of four sections:</a:t>
            </a:r>
          </a:p>
        </p:txBody>
      </p:sp>
      <p:pic>
        <p:nvPicPr>
          <p:cNvPr id="4" name="Picture 3" descr="mpls-network"/>
          <p:cNvPicPr/>
          <p:nvPr/>
        </p:nvPicPr>
        <p:blipFill>
          <a:blip r:embed="rId2">
            <a:extLst>
              <a:ext uri="{28A0092B-C50C-407E-A947-70E740481C1C}">
                <a14:useLocalDpi xmlns:a14="http://schemas.microsoft.com/office/drawing/2010/main" val="0"/>
              </a:ext>
            </a:extLst>
          </a:blip>
          <a:srcRect/>
          <a:stretch>
            <a:fillRect/>
          </a:stretch>
        </p:blipFill>
        <p:spPr bwMode="auto">
          <a:xfrm>
            <a:off x="7172325" y="1800225"/>
            <a:ext cx="4229100" cy="3733800"/>
          </a:xfrm>
          <a:prstGeom prst="rect">
            <a:avLst/>
          </a:prstGeom>
          <a:noFill/>
          <a:ln>
            <a:noFill/>
          </a:ln>
        </p:spPr>
      </p:pic>
    </p:spTree>
    <p:extLst>
      <p:ext uri="{BB962C8B-B14F-4D97-AF65-F5344CB8AC3E}">
        <p14:creationId xmlns:p14="http://schemas.microsoft.com/office/powerpoint/2010/main" val="8127340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pls-heade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00874" y="1800225"/>
            <a:ext cx="4446087" cy="3276599"/>
          </a:xfrm>
          <a:prstGeom prst="rect">
            <a:avLst/>
          </a:prstGeom>
          <a:noFill/>
          <a:ln>
            <a:noFill/>
          </a:ln>
        </p:spPr>
      </p:pic>
      <p:sp>
        <p:nvSpPr>
          <p:cNvPr id="5" name="Rectangle 4"/>
          <p:cNvSpPr/>
          <p:nvPr/>
        </p:nvSpPr>
        <p:spPr>
          <a:xfrm>
            <a:off x="904874" y="689213"/>
            <a:ext cx="6096000" cy="5636736"/>
          </a:xfrm>
          <a:prstGeom prst="rect">
            <a:avLst/>
          </a:prstGeom>
        </p:spPr>
        <p:txBody>
          <a:bodyPr>
            <a:spAutoFit/>
          </a:bodyPr>
          <a:lstStyle/>
          <a:p>
            <a:pPr>
              <a:spcAft>
                <a:spcPts val="2250"/>
              </a:spcAft>
            </a:pPr>
            <a:r>
              <a:rPr lang="en-US" dirty="0">
                <a:solidFill>
                  <a:srgbClr val="2C2C2C"/>
                </a:solidFill>
                <a:latin typeface="Arial" panose="020B0604020202020204" pitchFamily="34" charset="0"/>
                <a:ea typeface="Times New Roman" panose="02020603050405020304" pitchFamily="18" charset="0"/>
              </a:rPr>
              <a:t>A MPLS header contains 32 Bits (4 Bytes) and is made of 4 sub sections: The Label Value, Experimental, Bottom-of-Stack, and Time-To-Live.</a:t>
            </a:r>
            <a:endParaRPr lang="en-US" dirty="0">
              <a:latin typeface="Times New Roman" panose="02020603050405020304" pitchFamily="18" charset="0"/>
              <a:ea typeface="Times New Roman" panose="02020603050405020304" pitchFamily="18" charset="0"/>
            </a:endParaRPr>
          </a:p>
          <a:p>
            <a:r>
              <a:rPr lang="en-US" b="1" dirty="0">
                <a:solidFill>
                  <a:srgbClr val="2C2C2C"/>
                </a:solidFill>
                <a:latin typeface="Arial" panose="020B0604020202020204" pitchFamily="34" charset="0"/>
                <a:ea typeface="Times New Roman" panose="02020603050405020304" pitchFamily="18" charset="0"/>
              </a:rPr>
              <a:t>First 20 bits – The Label Value:</a:t>
            </a:r>
            <a:r>
              <a:rPr lang="en-US" dirty="0">
                <a:solidFill>
                  <a:srgbClr val="2C2C2C"/>
                </a:solidFill>
                <a:latin typeface="Arial" panose="020B0604020202020204" pitchFamily="34" charset="0"/>
                <a:ea typeface="Times New Roman" panose="02020603050405020304" pitchFamily="18" charset="0"/>
              </a:rPr>
              <a:t/>
            </a:r>
            <a:br>
              <a:rPr lang="en-US" dirty="0">
                <a:solidFill>
                  <a:srgbClr val="2C2C2C"/>
                </a:solidFill>
                <a:latin typeface="Arial" panose="020B0604020202020204" pitchFamily="34" charset="0"/>
                <a:ea typeface="Times New Roman" panose="02020603050405020304" pitchFamily="18" charset="0"/>
              </a:rPr>
            </a:br>
            <a:r>
              <a:rPr lang="en-US" dirty="0">
                <a:solidFill>
                  <a:srgbClr val="2C2C2C"/>
                </a:solidFill>
                <a:latin typeface="Arial" panose="020B0604020202020204" pitchFamily="34" charset="0"/>
                <a:ea typeface="Times New Roman" panose="02020603050405020304" pitchFamily="18" charset="0"/>
              </a:rPr>
              <a:t>The label contains all the information MPLS routers need to decide where to forward the packet.</a:t>
            </a:r>
            <a:endParaRPr lang="en-US" dirty="0">
              <a:latin typeface="Times New Roman" panose="02020603050405020304" pitchFamily="18" charset="0"/>
              <a:ea typeface="Times New Roman" panose="02020603050405020304" pitchFamily="18" charset="0"/>
            </a:endParaRPr>
          </a:p>
          <a:p>
            <a:r>
              <a:rPr lang="en-US" b="1" dirty="0">
                <a:solidFill>
                  <a:srgbClr val="2C2C2C"/>
                </a:solidFill>
                <a:latin typeface="Arial" panose="020B0604020202020204" pitchFamily="34" charset="0"/>
                <a:ea typeface="Times New Roman" panose="02020603050405020304" pitchFamily="18" charset="0"/>
              </a:rPr>
              <a:t>Next 3 bits – Experimental:</a:t>
            </a:r>
            <a:r>
              <a:rPr lang="en-US" dirty="0">
                <a:solidFill>
                  <a:srgbClr val="2C2C2C"/>
                </a:solidFill>
                <a:latin typeface="Arial" panose="020B0604020202020204" pitchFamily="34" charset="0"/>
                <a:ea typeface="Times New Roman" panose="02020603050405020304" pitchFamily="18" charset="0"/>
              </a:rPr>
              <a:t/>
            </a:r>
            <a:br>
              <a:rPr lang="en-US" dirty="0">
                <a:solidFill>
                  <a:srgbClr val="2C2C2C"/>
                </a:solidFill>
                <a:latin typeface="Arial" panose="020B0604020202020204" pitchFamily="34" charset="0"/>
                <a:ea typeface="Times New Roman" panose="02020603050405020304" pitchFamily="18" charset="0"/>
              </a:rPr>
            </a:br>
            <a:r>
              <a:rPr lang="en-US" dirty="0">
                <a:solidFill>
                  <a:srgbClr val="2C2C2C"/>
                </a:solidFill>
                <a:latin typeface="Arial" panose="020B0604020202020204" pitchFamily="34" charset="0"/>
                <a:ea typeface="Times New Roman" panose="02020603050405020304" pitchFamily="18" charset="0"/>
              </a:rPr>
              <a:t>Experimental bits are used to determine the labeled packet’s priority and explicit congestion notification (ECN) under Quality of Service (</a:t>
            </a:r>
            <a:r>
              <a:rPr lang="en-US" dirty="0" err="1">
                <a:solidFill>
                  <a:srgbClr val="2C2C2C"/>
                </a:solidFill>
                <a:latin typeface="Arial" panose="020B0604020202020204" pitchFamily="34" charset="0"/>
                <a:ea typeface="Times New Roman" panose="02020603050405020304" pitchFamily="18" charset="0"/>
              </a:rPr>
              <a:t>QoS</a:t>
            </a:r>
            <a:r>
              <a:rPr lang="en-US" dirty="0">
                <a:solidFill>
                  <a:srgbClr val="2C2C2C"/>
                </a:solidFill>
                <a:latin typeface="Arial" panose="020B0604020202020204" pitchFamily="34" charset="0"/>
                <a:ea typeface="Times New Roman" panose="02020603050405020304" pitchFamily="18" charset="0"/>
              </a:rPr>
              <a:t>).</a:t>
            </a:r>
            <a:endParaRPr lang="en-US" dirty="0">
              <a:latin typeface="Times New Roman" panose="02020603050405020304" pitchFamily="18" charset="0"/>
              <a:ea typeface="Times New Roman" panose="02020603050405020304" pitchFamily="18" charset="0"/>
            </a:endParaRPr>
          </a:p>
          <a:p>
            <a:r>
              <a:rPr lang="en-US" b="1" dirty="0">
                <a:solidFill>
                  <a:srgbClr val="2C2C2C"/>
                </a:solidFill>
                <a:latin typeface="Arial" panose="020B0604020202020204" pitchFamily="34" charset="0"/>
                <a:ea typeface="Times New Roman" panose="02020603050405020304" pitchFamily="18" charset="0"/>
              </a:rPr>
              <a:t>Next 1 bit – Bottom-of-Stack:</a:t>
            </a:r>
            <a:r>
              <a:rPr lang="en-US" dirty="0">
                <a:solidFill>
                  <a:srgbClr val="2C2C2C"/>
                </a:solidFill>
                <a:latin typeface="Arial" panose="020B0604020202020204" pitchFamily="34" charset="0"/>
                <a:ea typeface="Times New Roman" panose="02020603050405020304" pitchFamily="18" charset="0"/>
              </a:rPr>
              <a:t/>
            </a:r>
            <a:br>
              <a:rPr lang="en-US" dirty="0">
                <a:solidFill>
                  <a:srgbClr val="2C2C2C"/>
                </a:solidFill>
                <a:latin typeface="Arial" panose="020B0604020202020204" pitchFamily="34" charset="0"/>
                <a:ea typeface="Times New Roman" panose="02020603050405020304" pitchFamily="18" charset="0"/>
              </a:rPr>
            </a:br>
            <a:r>
              <a:rPr lang="en-US" dirty="0">
                <a:solidFill>
                  <a:srgbClr val="2C2C2C"/>
                </a:solidFill>
                <a:latin typeface="Arial" panose="020B0604020202020204" pitchFamily="34" charset="0"/>
                <a:ea typeface="Times New Roman" panose="02020603050405020304" pitchFamily="18" charset="0"/>
              </a:rPr>
              <a:t>Bottom-of-Stack notifies that the packet has reached the end of the MPLS network route, and there are no more labels to worry about. Typically, this </a:t>
            </a:r>
            <a:r>
              <a:rPr lang="en-US" dirty="0" err="1">
                <a:solidFill>
                  <a:srgbClr val="2C2C2C"/>
                </a:solidFill>
                <a:latin typeface="Arial" panose="020B0604020202020204" pitchFamily="34" charset="0"/>
                <a:ea typeface="Times New Roman" panose="02020603050405020304" pitchFamily="18" charset="0"/>
              </a:rPr>
              <a:t>indcates</a:t>
            </a:r>
            <a:r>
              <a:rPr lang="en-US" dirty="0">
                <a:solidFill>
                  <a:srgbClr val="2C2C2C"/>
                </a:solidFill>
                <a:latin typeface="Arial" panose="020B0604020202020204" pitchFamily="34" charset="0"/>
                <a:ea typeface="Times New Roman" panose="02020603050405020304" pitchFamily="18" charset="0"/>
              </a:rPr>
              <a:t> that the router is an egress router.</a:t>
            </a:r>
            <a:endParaRPr lang="en-US" dirty="0">
              <a:latin typeface="Times New Roman" panose="02020603050405020304" pitchFamily="18" charset="0"/>
              <a:ea typeface="Times New Roman" panose="02020603050405020304" pitchFamily="18" charset="0"/>
            </a:endParaRPr>
          </a:p>
          <a:p>
            <a:r>
              <a:rPr lang="en-US" b="1" dirty="0">
                <a:solidFill>
                  <a:srgbClr val="2C2C2C"/>
                </a:solidFill>
                <a:latin typeface="Arial" panose="020B0604020202020204" pitchFamily="34" charset="0"/>
                <a:ea typeface="Times New Roman" panose="02020603050405020304" pitchFamily="18" charset="0"/>
              </a:rPr>
              <a:t>Last 8 bits – Time To Live (TTL):</a:t>
            </a:r>
            <a:r>
              <a:rPr lang="en-US" dirty="0">
                <a:solidFill>
                  <a:srgbClr val="2C2C2C"/>
                </a:solidFill>
                <a:latin typeface="Arial" panose="020B0604020202020204" pitchFamily="34" charset="0"/>
                <a:ea typeface="Times New Roman" panose="02020603050405020304" pitchFamily="18" charset="0"/>
              </a:rPr>
              <a:t/>
            </a:r>
            <a:br>
              <a:rPr lang="en-US" dirty="0">
                <a:solidFill>
                  <a:srgbClr val="2C2C2C"/>
                </a:solidFill>
                <a:latin typeface="Arial" panose="020B0604020202020204" pitchFamily="34" charset="0"/>
                <a:ea typeface="Times New Roman" panose="02020603050405020304" pitchFamily="18" charset="0"/>
              </a:rPr>
            </a:br>
            <a:r>
              <a:rPr lang="en-US" dirty="0">
                <a:solidFill>
                  <a:srgbClr val="2C2C2C"/>
                </a:solidFill>
                <a:latin typeface="Arial" panose="020B0604020202020204" pitchFamily="34" charset="0"/>
                <a:ea typeface="Times New Roman" panose="02020603050405020304" pitchFamily="18" charset="0"/>
              </a:rPr>
              <a:t>This indicates the maximum number of hops a packet can make before being discarded.</a:t>
            </a:r>
            <a:endParaRPr lang="en-US" dirty="0">
              <a:latin typeface="Times New Roman" panose="02020603050405020304" pitchFamily="18" charset="0"/>
              <a:ea typeface="Times New Roman" panose="02020603050405020304" pitchFamily="18" charset="0"/>
            </a:endParaRPr>
          </a:p>
          <a:p>
            <a:pPr>
              <a:lnSpc>
                <a:spcPct val="107000"/>
              </a:lnSpc>
              <a:spcAft>
                <a:spcPts val="800"/>
              </a:spcAft>
            </a:pPr>
            <a:r>
              <a:rPr lang="en-US" sz="1600" dirty="0">
                <a:latin typeface="Calibri" panose="020F0502020204030204" pitchFamily="34"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2762208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1007</TotalTime>
  <Words>11287</Words>
  <Application>Microsoft Office PowerPoint</Application>
  <PresentationFormat>Widescreen</PresentationFormat>
  <Paragraphs>1060</Paragraphs>
  <Slides>121</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121</vt:i4>
      </vt:variant>
    </vt:vector>
  </HeadingPairs>
  <TitlesOfParts>
    <vt:vector size="135" baseType="lpstr">
      <vt:lpstr>Arial</vt:lpstr>
      <vt:lpstr>Barlow Semi Condensed</vt:lpstr>
      <vt:lpstr>Calibri</vt:lpstr>
      <vt:lpstr>Calibri Light</vt:lpstr>
      <vt:lpstr>Courier New</vt:lpstr>
      <vt:lpstr>Garamond</vt:lpstr>
      <vt:lpstr>inherit</vt:lpstr>
      <vt:lpstr>Monaco</vt:lpstr>
      <vt:lpstr>Roboto Slab</vt:lpstr>
      <vt:lpstr>Segoe UI Symbol</vt:lpstr>
      <vt:lpstr>Symbol</vt:lpstr>
      <vt:lpstr>Times New Roman</vt:lpstr>
      <vt:lpstr>Verdana</vt:lpstr>
      <vt:lpstr>Organic</vt:lpstr>
      <vt:lpstr>Data Link Layer</vt:lpstr>
      <vt:lpstr>Data Link Layer</vt:lpstr>
      <vt:lpstr>Functions of Data Link layer</vt:lpstr>
      <vt:lpstr>Framing in DLL</vt:lpstr>
      <vt:lpstr>Types of Framing</vt:lpstr>
      <vt:lpstr>PowerPoint Presentation</vt:lpstr>
      <vt:lpstr>PowerPoint Presentation</vt:lpstr>
      <vt:lpstr>Problems in Framing</vt:lpstr>
      <vt:lpstr>Flow Control</vt:lpstr>
      <vt:lpstr>Stop and wait flow control</vt:lpstr>
      <vt:lpstr>Sliding Windows</vt:lpstr>
      <vt:lpstr>PowerPoint Presentation</vt:lpstr>
      <vt:lpstr>PowerPoint Presentation</vt:lpstr>
      <vt:lpstr>Error Detection and Correction</vt:lpstr>
      <vt:lpstr>PowerPoint Presentation</vt:lpstr>
      <vt:lpstr>Advantages and Disadvantages</vt:lpstr>
      <vt:lpstr>PowerPoint Presentation</vt:lpstr>
      <vt:lpstr>PowerPoint Presentation</vt:lpstr>
      <vt:lpstr>PowerPoint Presentation</vt:lpstr>
      <vt:lpstr>PowerPoint Presentation</vt:lpstr>
      <vt:lpstr>Point to Point Protocol</vt:lpstr>
      <vt:lpstr>How PPP works</vt:lpstr>
      <vt:lpstr>PowerPoint Presentation</vt:lpstr>
      <vt:lpstr>PowerPoint Presentation</vt:lpstr>
      <vt:lpstr>PowerPoint Presentation</vt:lpstr>
      <vt:lpstr>Application of PPP</vt:lpstr>
      <vt:lpstr>High-level Data Link Control (HDLC) Protocol</vt:lpstr>
      <vt:lpstr>PowerPoint Presentation</vt:lpstr>
      <vt:lpstr>HDLC Frame</vt:lpstr>
      <vt:lpstr>PowerPoint Presentation</vt:lpstr>
      <vt:lpstr>HDLC Operation:</vt:lpstr>
      <vt:lpstr>Applications of HDLC:</vt:lpstr>
      <vt:lpstr>LLC and MAC Sublayer</vt:lpstr>
      <vt:lpstr>Logic Link Control Sublayer</vt:lpstr>
      <vt:lpstr>Functions of LLC</vt:lpstr>
      <vt:lpstr>PowerPoint Presentation</vt:lpstr>
      <vt:lpstr>LLC Frame Structure</vt:lpstr>
      <vt:lpstr>Types of LLC Frame</vt:lpstr>
      <vt:lpstr>LLC Protocols</vt:lpstr>
      <vt:lpstr>Media Access Control (MAC) Sublayer</vt:lpstr>
      <vt:lpstr>Key Functions of MAC Sublayer</vt:lpstr>
      <vt:lpstr>PowerPoint Presentation</vt:lpstr>
      <vt:lpstr>MAC Frame Structure</vt:lpstr>
      <vt:lpstr>Random Access Protocol</vt:lpstr>
      <vt:lpstr>PowerPoint Presentation</vt:lpstr>
      <vt:lpstr>Pure ALOHA </vt:lpstr>
      <vt:lpstr>PowerPoint Presentation</vt:lpstr>
      <vt:lpstr>PowerPoint Presentation</vt:lpstr>
      <vt:lpstr>Slotted ALOHA</vt:lpstr>
      <vt:lpstr>PowerPoint Presentation</vt:lpstr>
      <vt:lpstr>Carrier Sense Multiple Access (CSMA).</vt:lpstr>
      <vt:lpstr>PowerPoint Presentation</vt:lpstr>
      <vt:lpstr>Vulnerable Time in CSMA</vt:lpstr>
      <vt:lpstr>Types of CSMA Access Modes</vt:lpstr>
      <vt:lpstr>PowerPoint Presentation</vt:lpstr>
      <vt:lpstr>Non-Persistent</vt:lpstr>
      <vt:lpstr>PowerPoint Presentation</vt:lpstr>
      <vt:lpstr>P-Persistent</vt:lpstr>
      <vt:lpstr>PowerPoint Presentation</vt:lpstr>
      <vt:lpstr>O-Persistent</vt:lpstr>
      <vt:lpstr>CSMA CD</vt:lpstr>
      <vt:lpstr>How it works??</vt:lpstr>
      <vt:lpstr>PowerPoint Presentation</vt:lpstr>
      <vt:lpstr>CSMA/CA</vt:lpstr>
      <vt:lpstr>Working of CSMA/CA (Step-by-Step)</vt:lpstr>
      <vt:lpstr>PowerPoint Presentation</vt:lpstr>
      <vt:lpstr>Token based protocols</vt:lpstr>
      <vt:lpstr>Why token-based protocols exist</vt:lpstr>
      <vt:lpstr>How token-based protocols work (step-by-step elaboration)</vt:lpstr>
      <vt:lpstr>Token Bus (IEEE 802.4)</vt:lpstr>
      <vt:lpstr>Frame Format</vt:lpstr>
      <vt:lpstr>Characteristics </vt:lpstr>
      <vt:lpstr>Advantages and Disadvantages</vt:lpstr>
      <vt:lpstr>Token Ring Network (IEEE Standard 802.5)</vt:lpstr>
      <vt:lpstr>Token Ring Frame</vt:lpstr>
      <vt:lpstr>PowerPoint Presentation</vt:lpstr>
      <vt:lpstr>PowerPoint Presentation</vt:lpstr>
      <vt:lpstr>Fiber Distributed Data Interface</vt:lpstr>
      <vt:lpstr>PowerPoint Presentation</vt:lpstr>
      <vt:lpstr>PowerPoint Presentation</vt:lpstr>
      <vt:lpstr>Features</vt:lpstr>
      <vt:lpstr>Frame Format</vt:lpstr>
      <vt:lpstr>PowerPoint Presentation</vt:lpstr>
      <vt:lpstr>Ethernet(IEEE 802.3)</vt:lpstr>
      <vt:lpstr>How does Ethernet work?</vt:lpstr>
      <vt:lpstr>PowerPoint Presentation</vt:lpstr>
      <vt:lpstr>Ethernet Evolution (IEEE 802.3) </vt:lpstr>
      <vt:lpstr>PowerPoint Presentation</vt:lpstr>
      <vt:lpstr>PowerPoint Presentation</vt:lpstr>
      <vt:lpstr>PowerPoint Presentation</vt:lpstr>
      <vt:lpstr>Bridged Ethernet</vt:lpstr>
      <vt:lpstr>PowerPoint Presentation</vt:lpstr>
      <vt:lpstr>Switched Ethernet</vt:lpstr>
      <vt:lpstr>How Do Switched Ethernet Work?</vt:lpstr>
      <vt:lpstr>Applications of Switched Ethernet</vt:lpstr>
      <vt:lpstr>WLAN(WiFi) and IEEE 802.11</vt:lpstr>
      <vt:lpstr>WLAN</vt:lpstr>
      <vt:lpstr>WLAN Architecture </vt:lpstr>
      <vt:lpstr>PowerPoint Presentation</vt:lpstr>
      <vt:lpstr>IEEE 802.11</vt:lpstr>
      <vt:lpstr>Important Terminologies of IEEE 802.11 Architecture</vt:lpstr>
      <vt:lpstr>IEEE 802.11 Architecture and Services</vt:lpstr>
      <vt:lpstr>Operating Modes</vt:lpstr>
      <vt:lpstr>PowerPoint Presentation</vt:lpstr>
      <vt:lpstr>Frame Format of IEEE 802.11</vt:lpstr>
      <vt:lpstr>PowerPoint Presentation</vt:lpstr>
      <vt:lpstr>Advantages and Disadvantages of IEEE 802.11 Architecture</vt:lpstr>
      <vt:lpstr>Virtual Local Area Network (VLAN)</vt:lpstr>
      <vt:lpstr>Types of VLANs</vt:lpstr>
      <vt:lpstr>How Do VLANs Work</vt:lpstr>
      <vt:lpstr>ATM (Asynchronous Transfer Mode)</vt:lpstr>
      <vt:lpstr>Key Characteristics of ATM </vt:lpstr>
      <vt:lpstr>ATM Cell Structure </vt:lpstr>
      <vt:lpstr>Working of ATM: </vt:lpstr>
      <vt:lpstr>ATM Layers</vt:lpstr>
      <vt:lpstr>ATM Applications:   </vt:lpstr>
      <vt:lpstr>MPLS (Multiprotocol Label Switching)</vt:lpstr>
      <vt:lpstr>PowerPoint Presentation</vt:lpstr>
      <vt:lpstr>Is MPLS Layer 2 or Layer 3 of the OSI model?</vt:lpstr>
      <vt:lpstr>How does MPLS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Link Layer</dc:title>
  <dc:creator>DELL</dc:creator>
  <cp:lastModifiedBy>DELL</cp:lastModifiedBy>
  <cp:revision>53</cp:revision>
  <dcterms:created xsi:type="dcterms:W3CDTF">2025-12-09T06:24:08Z</dcterms:created>
  <dcterms:modified xsi:type="dcterms:W3CDTF">2025-12-24T06:00:45Z</dcterms:modified>
</cp:coreProperties>
</file>
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1" r:id="rId4"/>
    <p:sldId id="264" r:id="rId5"/>
    <p:sldId id="265" r:id="rId6"/>
    <p:sldId id="262" r:id="rId7"/>
    <p:sldId id="258" r:id="rId8"/>
    <p:sldId id="267" r:id="rId9"/>
    <p:sldId id="266" r:id="rId10"/>
    <p:sldId id="268" r:id="rId11"/>
    <p:sldId id="269" r:id="rId12"/>
    <p:sldId id="274" r:id="rId13"/>
    <p:sldId id="270" r:id="rId14"/>
    <p:sldId id="271" r:id="rId15"/>
    <p:sldId id="272" r:id="rId16"/>
    <p:sldId id="273" r:id="rId17"/>
    <p:sldId id="275" r:id="rId18"/>
    <p:sldId id="276" r:id="rId19"/>
    <p:sldId id="277" r:id="rId20"/>
    <p:sldId id="278" r:id="rId21"/>
    <p:sldId id="279" r:id="rId22"/>
    <p:sldId id="280" r:id="rId23"/>
    <p:sldId id="282" r:id="rId24"/>
    <p:sldId id="283" r:id="rId25"/>
    <p:sldId id="281" r:id="rId26"/>
    <p:sldId id="285" r:id="rId27"/>
    <p:sldId id="286" r:id="rId28"/>
    <p:sldId id="287" r:id="rId29"/>
    <p:sldId id="288" r:id="rId30"/>
    <p:sldId id="289" r:id="rId31"/>
    <p:sldId id="284" r:id="rId32"/>
    <p:sldId id="290" r:id="rId33"/>
    <p:sldId id="291" r:id="rId34"/>
    <p:sldId id="292" r:id="rId35"/>
    <p:sldId id="293" r:id="rId36"/>
    <p:sldId id="294" r:id="rId37"/>
    <p:sldId id="295" r:id="rId38"/>
    <p:sldId id="297" r:id="rId39"/>
    <p:sldId id="296" r:id="rId40"/>
    <p:sldId id="298" r:id="rId41"/>
    <p:sldId id="299" r:id="rId42"/>
    <p:sldId id="300" r:id="rId43"/>
    <p:sldId id="30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D1A6765-CA22-4BF9-850B-79DFE5C97644}"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3012972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1A6765-CA22-4BF9-850B-79DFE5C97644}"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2421746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1A6765-CA22-4BF9-850B-79DFE5C97644}"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1131508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1A6765-CA22-4BF9-850B-79DFE5C97644}"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171381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D1A6765-CA22-4BF9-850B-79DFE5C97644}" type="datetimeFigureOut">
              <a:rPr lang="en-US" smtClean="0"/>
              <a:t>7/17/2025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2798818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1A6765-CA22-4BF9-850B-79DFE5C97644}" type="datetimeFigureOut">
              <a:rPr lang="en-US" smtClean="0"/>
              <a:t>7/17/2025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2187864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1A6765-CA22-4BF9-850B-79DFE5C97644}" type="datetimeFigureOut">
              <a:rPr lang="en-US" smtClean="0"/>
              <a:t>7/17/2025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3394871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1A6765-CA22-4BF9-850B-79DFE5C97644}"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100295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1A6765-CA22-4BF9-850B-79DFE5C97644}"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244906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1A6765-CA22-4BF9-850B-79DFE5C97644}"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2559470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1A6765-CA22-4BF9-850B-79DFE5C97644}"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7CBC5C-8FBC-4EFA-BE34-387C243601D1}" type="slidenum">
              <a:rPr lang="en-US" smtClean="0"/>
              <a:t>‹#›</a:t>
            </a:fld>
            <a:endParaRPr lang="en-US"/>
          </a:p>
        </p:txBody>
      </p:sp>
    </p:spTree>
    <p:extLst>
      <p:ext uri="{BB962C8B-B14F-4D97-AF65-F5344CB8AC3E}">
        <p14:creationId xmlns:p14="http://schemas.microsoft.com/office/powerpoint/2010/main" val="2761811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BE2B67E-788A-46C4-981D-9C381A323203}" type="slidenum">
              <a:rPr lang="en-US"/>
              <a:pPr>
                <a:defRPr/>
              </a:pPr>
              <a:t>‹#›</a:t>
            </a:fld>
            <a:endParaRPr lang="en-US"/>
          </a:p>
        </p:txBody>
      </p:sp>
    </p:spTree>
    <p:extLst>
      <p:ext uri="{BB962C8B-B14F-4D97-AF65-F5344CB8AC3E}">
        <p14:creationId xmlns:p14="http://schemas.microsoft.com/office/powerpoint/2010/main" val="1511725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1A6765-CA22-4BF9-850B-79DFE5C97644}" type="datetimeFigureOut">
              <a:rPr lang="en-US" smtClean="0"/>
              <a:t>7/17/2025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7CBC5C-8FBC-4EFA-BE34-387C243601D1}" type="slidenum">
              <a:rPr lang="en-US" smtClean="0"/>
              <a:t>‹#›</a:t>
            </a:fld>
            <a:endParaRPr lang="en-US"/>
          </a:p>
        </p:txBody>
      </p:sp>
    </p:spTree>
    <p:extLst>
      <p:ext uri="{BB962C8B-B14F-4D97-AF65-F5344CB8AC3E}">
        <p14:creationId xmlns:p14="http://schemas.microsoft.com/office/powerpoint/2010/main" val="2026426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investopedia.com/terms/i/investment.as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hyperlink" Target="https://pmstudycircle.com/risk-vs-uncertainty/" TargetMode="External"/><Relationship Id="rId2" Type="http://schemas.openxmlformats.org/officeDocument/2006/relationships/hyperlink" Target="https://www.investopedia.com/terms/r/risk-analysis.asp" TargetMode="Externa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hyperlink" Target="https://www.netsuite.com/portal/resource/articles/financial-management/break-even-analysis.shtml" TargetMode="Externa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noGrp="1"/>
          </p:cNvSpPr>
          <p:nvPr>
            <p:ph type="ctrTitle"/>
          </p:nvPr>
        </p:nvSpPr>
        <p:spPr>
          <a:xfrm>
            <a:off x="1790477" y="-561225"/>
            <a:ext cx="8319247"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3600" b="1" dirty="0">
                <a:solidFill>
                  <a:srgbClr val="FF0000"/>
                </a:solidFill>
                <a:latin typeface="Times New Roman" panose="02020603050405020304" pitchFamily="18" charset="0"/>
                <a:cs typeface="Times New Roman" panose="02020603050405020304" pitchFamily="18" charset="0"/>
              </a:rPr>
              <a:t>COURSE TITLE</a:t>
            </a:r>
            <a:br>
              <a:rPr lang="en-AU" sz="3600" b="1" dirty="0">
                <a:latin typeface="Times New Roman" panose="02020603050405020304" pitchFamily="18" charset="0"/>
                <a:cs typeface="Times New Roman" panose="02020603050405020304" pitchFamily="18" charset="0"/>
              </a:rPr>
            </a:br>
            <a:r>
              <a:rPr lang="en-AU" sz="3600" b="1" dirty="0">
                <a:solidFill>
                  <a:srgbClr val="002060"/>
                </a:solidFill>
                <a:latin typeface="Times New Roman" panose="02020603050405020304" pitchFamily="18" charset="0"/>
                <a:cs typeface="Times New Roman" panose="02020603050405020304" pitchFamily="18" charset="0"/>
              </a:rPr>
              <a:t>ENGINEERING ECONOMIC ANALYSIS</a:t>
            </a:r>
          </a:p>
        </p:txBody>
      </p:sp>
      <p:sp>
        <p:nvSpPr>
          <p:cNvPr id="5" name="Subtitle 2"/>
          <p:cNvSpPr txBox="1">
            <a:spLocks/>
          </p:cNvSpPr>
          <p:nvPr/>
        </p:nvSpPr>
        <p:spPr>
          <a:xfrm>
            <a:off x="1149755" y="1920966"/>
            <a:ext cx="9359153" cy="46437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3300" b="1" dirty="0">
                <a:solidFill>
                  <a:srgbClr val="FF0000"/>
                </a:solidFill>
                <a:latin typeface="Times New Roman" panose="02020603050405020304" pitchFamily="18" charset="0"/>
                <a:cs typeface="Times New Roman" panose="02020603050405020304" pitchFamily="18" charset="0"/>
              </a:rPr>
              <a:t>Chapter 6 - </a:t>
            </a:r>
            <a:r>
              <a:rPr lang="en-AU" sz="3200" b="1" dirty="0">
                <a:solidFill>
                  <a:srgbClr val="002060"/>
                </a:solidFill>
                <a:latin typeface="Times New Roman" panose="02020603050405020304" pitchFamily="18" charset="0"/>
                <a:cs typeface="Times New Roman" panose="02020603050405020304" pitchFamily="18" charset="0"/>
              </a:rPr>
              <a:t>RISK ANALYSIS</a:t>
            </a:r>
          </a:p>
          <a:p>
            <a:endParaRPr lang="en-AU" sz="3200" b="1" dirty="0">
              <a:solidFill>
                <a:srgbClr val="FF0000"/>
              </a:solidFill>
              <a:latin typeface="Times New Roman" panose="02020603050405020304" pitchFamily="18" charset="0"/>
              <a:cs typeface="Times New Roman" panose="02020603050405020304" pitchFamily="18" charset="0"/>
            </a:endParaRPr>
          </a:p>
          <a:p>
            <a:pPr>
              <a:lnSpc>
                <a:spcPct val="120000"/>
              </a:lnSpc>
            </a:pPr>
            <a:r>
              <a:rPr lang="en-AU" sz="2800" b="1" dirty="0">
                <a:solidFill>
                  <a:srgbClr val="FF0000"/>
                </a:solidFill>
                <a:latin typeface="Times New Roman" panose="02020603050405020304" pitchFamily="18" charset="0"/>
                <a:cs typeface="Times New Roman" panose="02020603050405020304" pitchFamily="18" charset="0"/>
              </a:rPr>
              <a:t>Project risk, Methods of describing project risk, Break even analysis</a:t>
            </a:r>
          </a:p>
          <a:p>
            <a:endParaRPr lang="en-AU" dirty="0">
              <a:latin typeface="Times New Roman" panose="02020603050405020304" pitchFamily="18" charset="0"/>
              <a:cs typeface="Times New Roman" panose="02020603050405020304" pitchFamily="18" charset="0"/>
            </a:endParaRPr>
          </a:p>
          <a:p>
            <a:r>
              <a:rPr lang="en-AU" b="1" dirty="0">
                <a:latin typeface="Times New Roman" panose="02020603050405020304" pitchFamily="18" charset="0"/>
                <a:cs typeface="Times New Roman" panose="02020603050405020304" pitchFamily="18" charset="0"/>
              </a:rPr>
              <a:t>[8 hours]</a:t>
            </a:r>
          </a:p>
          <a:p>
            <a:r>
              <a:rPr lang="en-AU" b="1" dirty="0">
                <a:latin typeface="Times New Roman" panose="02020603050405020304" pitchFamily="18" charset="0"/>
                <a:cs typeface="Times New Roman" panose="02020603050405020304" pitchFamily="18" charset="0"/>
              </a:rPr>
              <a:t>   [12 marks]</a:t>
            </a:r>
          </a:p>
        </p:txBody>
      </p:sp>
    </p:spTree>
    <p:extLst>
      <p:ext uri="{BB962C8B-B14F-4D97-AF65-F5344CB8AC3E}">
        <p14:creationId xmlns:p14="http://schemas.microsoft.com/office/powerpoint/2010/main" val="691552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p:txBody>
          <a:bodyPr>
            <a:normAutofit/>
          </a:bodyPr>
          <a:lstStyle/>
          <a:p>
            <a:pPr marL="0" indent="0">
              <a:buNone/>
            </a:pPr>
            <a:r>
              <a:rPr lang="en-AU" b="1" dirty="0">
                <a:latin typeface="Times New Roman" panose="02020603050405020304" pitchFamily="18" charset="0"/>
                <a:cs typeface="Times New Roman" panose="02020603050405020304" pitchFamily="18" charset="0"/>
              </a:rPr>
              <a:t>After studying this lecture students will be able to learn: </a:t>
            </a:r>
          </a:p>
          <a:p>
            <a:pPr marL="0" indent="0">
              <a:buNone/>
            </a:pPr>
            <a:endParaRPr lang="en-AU" b="1"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Concept of Risk, Certainty and Uncertainty </a:t>
            </a:r>
          </a:p>
          <a:p>
            <a:pPr algn="just">
              <a:lnSpc>
                <a:spcPct val="150000"/>
              </a:lnSpc>
              <a:buFont typeface="Wingdings" panose="05000000000000000000" pitchFamily="2" charset="2"/>
              <a:buChar char="Ø"/>
            </a:pPr>
            <a:r>
              <a:rPr lang="en-AU" b="1" dirty="0">
                <a:latin typeface="Times New Roman" panose="02020603050405020304" pitchFamily="18" charset="0"/>
                <a:cs typeface="Times New Roman" panose="02020603050405020304" pitchFamily="18" charset="0"/>
              </a:rPr>
              <a:t>Sources of risk and uncertainty </a:t>
            </a:r>
          </a:p>
          <a:p>
            <a:pPr algn="just">
              <a:lnSpc>
                <a:spcPct val="150000"/>
              </a:lnSpc>
              <a:buFont typeface="Wingdings" panose="05000000000000000000" pitchFamily="2" charset="2"/>
              <a:buChar char="Ø"/>
            </a:pPr>
            <a:r>
              <a:rPr lang="en-AU" b="1" dirty="0">
                <a:latin typeface="Times New Roman" panose="02020603050405020304" pitchFamily="18" charset="0"/>
                <a:cs typeface="Times New Roman" panose="02020603050405020304" pitchFamily="18" charset="0"/>
              </a:rPr>
              <a:t>Methods of describing project risk (Break even analysis) </a:t>
            </a:r>
            <a:endParaRPr lang="en-US" dirty="0"/>
          </a:p>
        </p:txBody>
      </p:sp>
      <p:sp>
        <p:nvSpPr>
          <p:cNvPr id="5" name="Title 1"/>
          <p:cNvSpPr txBox="1">
            <a:spLocks noGrp="1"/>
          </p:cNvSpPr>
          <p:nvPr>
            <p:ph type="title"/>
          </p:nvPr>
        </p:nvSpPr>
        <p:spPr>
          <a:xfrm>
            <a:off x="1433423"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4000" b="1" dirty="0">
                <a:solidFill>
                  <a:srgbClr val="002060"/>
                </a:solidFill>
                <a:latin typeface="Times New Roman" panose="02020603050405020304" pitchFamily="18" charset="0"/>
                <a:cs typeface="Times New Roman" panose="02020603050405020304" pitchFamily="18" charset="0"/>
              </a:rPr>
              <a:t>Learning Objective</a:t>
            </a:r>
          </a:p>
        </p:txBody>
      </p:sp>
    </p:spTree>
    <p:extLst>
      <p:ext uri="{BB962C8B-B14F-4D97-AF65-F5344CB8AC3E}">
        <p14:creationId xmlns:p14="http://schemas.microsoft.com/office/powerpoint/2010/main" val="2542265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3145" y="1359797"/>
            <a:ext cx="9867180" cy="4902980"/>
          </a:xfrm>
        </p:spPr>
        <p:txBody>
          <a:bodyPr/>
          <a:lstStyle/>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previous lectures, economic analysis of an investment project was based on the assumption that a </a:t>
            </a:r>
            <a:r>
              <a:rPr lang="en-US" b="1" dirty="0">
                <a:solidFill>
                  <a:srgbClr val="C00000"/>
                </a:solidFill>
                <a:latin typeface="Times New Roman" panose="02020603050405020304" pitchFamily="18" charset="0"/>
                <a:cs typeface="Times New Roman" panose="02020603050405020304" pitchFamily="18" charset="0"/>
              </a:rPr>
              <a:t>complete information</a:t>
            </a:r>
            <a:r>
              <a:rPr lang="en-US" b="1" dirty="0">
                <a:latin typeface="Times New Roman" panose="02020603050405020304" pitchFamily="18" charset="0"/>
                <a:cs typeface="Times New Roman" panose="02020603050405020304" pitchFamily="18" charset="0"/>
              </a:rPr>
              <a:t> about the cash flow over the </a:t>
            </a:r>
            <a:r>
              <a:rPr lang="en-US" b="1">
                <a:latin typeface="Times New Roman" panose="02020603050405020304" pitchFamily="18" charset="0"/>
                <a:cs typeface="Times New Roman" panose="02020603050405020304" pitchFamily="18" charset="0"/>
              </a:rPr>
              <a:t>life of a </a:t>
            </a:r>
            <a:r>
              <a:rPr lang="en-US" b="1" dirty="0">
                <a:latin typeface="Times New Roman" panose="02020603050405020304" pitchFamily="18" charset="0"/>
                <a:cs typeface="Times New Roman" panose="02020603050405020304" pitchFamily="18" charset="0"/>
              </a:rPr>
              <a:t>project was available.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It means that there was no uncertainty connected with the cash flow and same cash flow will occur over the life of a project. i.e. certainty.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But this type of situation is very rare in the economic analysis of project. The estimate of cash flows are connected with some degree of uncertainty due to uncontrollable factors. </a:t>
            </a:r>
          </a:p>
          <a:p>
            <a:pPr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endParaRPr lang="en-US" dirty="0"/>
          </a:p>
        </p:txBody>
      </p:sp>
      <p:sp>
        <p:nvSpPr>
          <p:cNvPr id="4" name="Title 1"/>
          <p:cNvSpPr>
            <a:spLocks noGrp="1"/>
          </p:cNvSpPr>
          <p:nvPr>
            <p:ph type="title"/>
          </p:nvPr>
        </p:nvSpPr>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Concept of Risk and Uncertainty</a:t>
            </a:r>
          </a:p>
        </p:txBody>
      </p:sp>
    </p:spTree>
    <p:extLst>
      <p:ext uri="{BB962C8B-B14F-4D97-AF65-F5344CB8AC3E}">
        <p14:creationId xmlns:p14="http://schemas.microsoft.com/office/powerpoint/2010/main" val="4124935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9408" y="1290787"/>
            <a:ext cx="10515600" cy="4963364"/>
          </a:xfrm>
        </p:spPr>
        <p:txBody>
          <a:bodyPr/>
          <a:lstStyle/>
          <a:p>
            <a:pPr marL="0" indent="0" algn="just">
              <a:lnSpc>
                <a:spcPct val="100000"/>
              </a:lnSpc>
              <a:buNone/>
            </a:pPr>
            <a:r>
              <a:rPr lang="en-US" b="1" dirty="0">
                <a:latin typeface="Times New Roman" panose="02020603050405020304" pitchFamily="18" charset="0"/>
                <a:cs typeface="Times New Roman" panose="02020603050405020304" pitchFamily="18" charset="0"/>
              </a:rPr>
              <a:t>These uncontrollable factors might be: </a:t>
            </a:r>
          </a:p>
          <a:p>
            <a:pPr marL="0" indent="0" algn="just">
              <a:lnSpc>
                <a:spcPct val="100000"/>
              </a:lnSpc>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 total market for the product (the market share that the firm can attain and the growth in the market)  </a:t>
            </a:r>
          </a:p>
          <a:p>
            <a:pPr marL="0" indent="0" algn="just">
              <a:lnSpc>
                <a:spcPct val="100000"/>
              </a:lnSpc>
              <a:buNone/>
            </a:pPr>
            <a:r>
              <a:rPr lang="en-US" b="1" dirty="0">
                <a:latin typeface="Times New Roman" panose="02020603050405020304" pitchFamily="18" charset="0"/>
                <a:cs typeface="Times New Roman" panose="02020603050405020304" pitchFamily="18" charset="0"/>
              </a:rPr>
              <a:t>     (b) the cost of producing the product, including labor and materials</a:t>
            </a:r>
          </a:p>
          <a:p>
            <a:pPr marL="0" indent="0" algn="just">
              <a:lnSpc>
                <a:spcPct val="100000"/>
              </a:lnSpc>
              <a:buNone/>
            </a:pPr>
            <a:r>
              <a:rPr lang="en-US" b="1" dirty="0">
                <a:latin typeface="Times New Roman" panose="02020603050405020304" pitchFamily="18" charset="0"/>
                <a:cs typeface="Times New Roman" panose="02020603050405020304" pitchFamily="18" charset="0"/>
              </a:rPr>
              <a:t>    (c) the selling price of a product</a:t>
            </a:r>
          </a:p>
          <a:p>
            <a:pPr marL="0" indent="0" algn="just">
              <a:lnSpc>
                <a:spcPct val="100000"/>
              </a:lnSpc>
              <a:buNone/>
            </a:pPr>
            <a:r>
              <a:rPr lang="en-US" b="1" dirty="0">
                <a:latin typeface="Times New Roman" panose="02020603050405020304" pitchFamily="18" charset="0"/>
                <a:cs typeface="Times New Roman" panose="02020603050405020304" pitchFamily="18" charset="0"/>
              </a:rPr>
              <a:t>    (d) the life of the project </a:t>
            </a:r>
          </a:p>
          <a:p>
            <a:pPr marL="0" indent="0" algn="just">
              <a:lnSpc>
                <a:spcPct val="100000"/>
              </a:lnSpc>
              <a:buNone/>
            </a:pPr>
            <a:r>
              <a:rPr lang="en-US" b="1" dirty="0">
                <a:latin typeface="Times New Roman" panose="02020603050405020304" pitchFamily="18" charset="0"/>
                <a:cs typeface="Times New Roman" panose="02020603050405020304" pitchFamily="18" charset="0"/>
              </a:rPr>
              <a:t>    (e) the cost and life of the equipment needed </a:t>
            </a:r>
          </a:p>
          <a:p>
            <a:pPr marL="0" indent="0" algn="just">
              <a:lnSpc>
                <a:spcPct val="100000"/>
              </a:lnSpc>
              <a:buNone/>
            </a:pPr>
            <a:r>
              <a:rPr lang="en-US" b="1" dirty="0">
                <a:latin typeface="Times New Roman" panose="02020603050405020304" pitchFamily="18" charset="0"/>
                <a:cs typeface="Times New Roman" panose="02020603050405020304" pitchFamily="18" charset="0"/>
              </a:rPr>
              <a:t>    (f) and the effective tax rates.</a:t>
            </a: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416170" y="123586"/>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Concept of Risk and uncertainty (Cont’d….)  </a:t>
            </a:r>
          </a:p>
        </p:txBody>
      </p:sp>
    </p:spTree>
    <p:extLst>
      <p:ext uri="{BB962C8B-B14F-4D97-AF65-F5344CB8AC3E}">
        <p14:creationId xmlns:p14="http://schemas.microsoft.com/office/powerpoint/2010/main" val="572319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4131" y="1204792"/>
            <a:ext cx="10100095" cy="5377163"/>
          </a:xfrm>
        </p:spPr>
        <p:txBody>
          <a:bodyPr>
            <a:normAutofit/>
          </a:bodyPr>
          <a:lstStyle/>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 common approach is to make </a:t>
            </a:r>
            <a:r>
              <a:rPr lang="en-US" b="1" dirty="0">
                <a:solidFill>
                  <a:srgbClr val="C00000"/>
                </a:solidFill>
                <a:latin typeface="Times New Roman" panose="02020603050405020304" pitchFamily="18" charset="0"/>
                <a:cs typeface="Times New Roman" panose="02020603050405020304" pitchFamily="18" charset="0"/>
              </a:rPr>
              <a:t>single- number “best estimates” for each of the uncertain factors </a:t>
            </a:r>
            <a:r>
              <a:rPr lang="en-US" b="1" dirty="0">
                <a:latin typeface="Times New Roman" panose="02020603050405020304" pitchFamily="18" charset="0"/>
                <a:cs typeface="Times New Roman" panose="02020603050405020304" pitchFamily="18" charset="0"/>
              </a:rPr>
              <a:t>and then to calculate measures of profitability, such as NPW or rate of return for the project. [1]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This approach has two drawbacks: </a:t>
            </a:r>
          </a:p>
          <a:p>
            <a:pPr marL="0" lvl="0" indent="0" algn="just">
              <a:lnSpc>
                <a:spcPct val="100000"/>
              </a:lnSpc>
              <a:buNone/>
            </a:pPr>
            <a:r>
              <a:rPr lang="en-US" b="1" dirty="0">
                <a:latin typeface="Times New Roman" panose="02020603050405020304" pitchFamily="18" charset="0"/>
                <a:cs typeface="Times New Roman" panose="02020603050405020304" pitchFamily="18" charset="0"/>
              </a:rPr>
              <a:t>    (a) No guarantees can ever ensure that the “best estimates” will ever match actual values. </a:t>
            </a:r>
          </a:p>
          <a:p>
            <a:pPr marL="0" lvl="0" indent="0" algn="just">
              <a:lnSpc>
                <a:spcPct val="100000"/>
              </a:lnSpc>
              <a:buNone/>
            </a:pPr>
            <a:r>
              <a:rPr lang="en-US" b="1" dirty="0">
                <a:latin typeface="Times New Roman" panose="02020603050405020304" pitchFamily="18" charset="0"/>
                <a:cs typeface="Times New Roman" panose="02020603050405020304" pitchFamily="18" charset="0"/>
              </a:rPr>
              <a:t>    (b) Managers have no way of determining either the probability that a project will lose money or the probability that it will generate profit. </a:t>
            </a:r>
          </a:p>
        </p:txBody>
      </p:sp>
      <p:sp>
        <p:nvSpPr>
          <p:cNvPr id="4" name="Title 1"/>
          <p:cNvSpPr>
            <a:spLocks noGrp="1"/>
          </p:cNvSpPr>
          <p:nvPr>
            <p:ph type="title"/>
          </p:nvPr>
        </p:nvSpPr>
        <p:spPr>
          <a:xfrm>
            <a:off x="1433423" y="0"/>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Concept of Risk (Cont’d….)  </a:t>
            </a:r>
          </a:p>
        </p:txBody>
      </p:sp>
    </p:spTree>
    <p:extLst>
      <p:ext uri="{BB962C8B-B14F-4D97-AF65-F5344CB8AC3E}">
        <p14:creationId xmlns:p14="http://schemas.microsoft.com/office/powerpoint/2010/main" val="90756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435860" cy="4463032"/>
          </a:xfrm>
        </p:spPr>
        <p:txBody>
          <a:bodyPr>
            <a:normAutofit lnSpcReduction="10000"/>
          </a:bodyPr>
          <a:lstStyle/>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this type of situation, the best that can be </a:t>
            </a:r>
            <a:r>
              <a:rPr lang="en-US" b="1">
                <a:latin typeface="Times New Roman" panose="02020603050405020304" pitchFamily="18" charset="0"/>
                <a:cs typeface="Times New Roman" panose="02020603050405020304" pitchFamily="18" charset="0"/>
              </a:rPr>
              <a:t>done is the </a:t>
            </a:r>
            <a:r>
              <a:rPr lang="en-US" b="1" dirty="0">
                <a:latin typeface="Times New Roman" panose="02020603050405020304" pitchFamily="18" charset="0"/>
                <a:cs typeface="Times New Roman" panose="02020603050405020304" pitchFamily="18" charset="0"/>
              </a:rPr>
              <a:t>business firm can estimate the </a:t>
            </a:r>
            <a:r>
              <a:rPr lang="en-US" b="1" dirty="0">
                <a:solidFill>
                  <a:srgbClr val="C00000"/>
                </a:solidFill>
                <a:latin typeface="Times New Roman" panose="02020603050405020304" pitchFamily="18" charset="0"/>
                <a:cs typeface="Times New Roman" panose="02020603050405020304" pitchFamily="18" charset="0"/>
              </a:rPr>
              <a:t>range of possible future cost and benefits </a:t>
            </a:r>
            <a:r>
              <a:rPr lang="en-US" b="1" dirty="0">
                <a:latin typeface="Times New Roman" panose="02020603050405020304" pitchFamily="18" charset="0"/>
                <a:cs typeface="Times New Roman" panose="02020603050405020304" pitchFamily="18" charset="0"/>
              </a:rPr>
              <a:t>and the relative chance of achieving a reasonable return on investment. [1]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Hence we use the term risk to describe investment project whose cash flow is not known in advance with the absolute certainty. </a:t>
            </a:r>
          </a:p>
          <a:p>
            <a:pPr algn="just"/>
            <a:endParaRPr lang="en-US" b="1"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502434" y="500062"/>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Concept of Risk (Cont’d….)  </a:t>
            </a:r>
          </a:p>
        </p:txBody>
      </p:sp>
    </p:spTree>
    <p:extLst>
      <p:ext uri="{BB962C8B-B14F-4D97-AF65-F5344CB8AC3E}">
        <p14:creationId xmlns:p14="http://schemas.microsoft.com/office/powerpoint/2010/main" val="308120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659" y="1161390"/>
            <a:ext cx="9737786" cy="5308421"/>
          </a:xfrm>
        </p:spPr>
        <p:txBody>
          <a:bodyPr>
            <a:normAutofit lnSpcReduction="10000"/>
          </a:bodyPr>
          <a:lstStyle/>
          <a:p>
            <a:pPr algn="just">
              <a:lnSpc>
                <a:spcPct val="150000"/>
              </a:lnSpc>
              <a:buFont typeface="Wingdings" panose="05000000000000000000" pitchFamily="2" charset="2"/>
              <a:buChar char="Ø"/>
            </a:pPr>
            <a:r>
              <a:rPr lang="en-US" dirty="0"/>
              <a:t> </a:t>
            </a:r>
            <a:r>
              <a:rPr lang="en-US" b="1" dirty="0">
                <a:latin typeface="Times New Roman" panose="02020603050405020304" pitchFamily="18" charset="0"/>
                <a:cs typeface="Times New Roman" panose="02020603050405020304" pitchFamily="18" charset="0"/>
              </a:rPr>
              <a:t>Risk refers to a </a:t>
            </a:r>
            <a:r>
              <a:rPr lang="en-US" b="1" dirty="0">
                <a:solidFill>
                  <a:srgbClr val="C00000"/>
                </a:solidFill>
                <a:latin typeface="Times New Roman" panose="02020603050405020304" pitchFamily="18" charset="0"/>
                <a:cs typeface="Times New Roman" panose="02020603050405020304" pitchFamily="18" charset="0"/>
              </a:rPr>
              <a:t>lack of predictability </a:t>
            </a:r>
            <a:r>
              <a:rPr lang="en-US" b="1" dirty="0">
                <a:latin typeface="Times New Roman" panose="02020603050405020304" pitchFamily="18" charset="0"/>
                <a:cs typeface="Times New Roman" panose="02020603050405020304" pitchFamily="18" charset="0"/>
              </a:rPr>
              <a:t>about economic environment and about outcomes and choices that are available  in a decision situation. [2]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Project risk is an </a:t>
            </a:r>
            <a:r>
              <a:rPr lang="en-US" b="1" dirty="0">
                <a:solidFill>
                  <a:srgbClr val="C00000"/>
                </a:solidFill>
                <a:latin typeface="Times New Roman" panose="02020603050405020304" pitchFamily="18" charset="0"/>
                <a:cs typeface="Times New Roman" panose="02020603050405020304" pitchFamily="18" charset="0"/>
              </a:rPr>
              <a:t>uncertain event or condition </a:t>
            </a:r>
            <a:r>
              <a:rPr lang="en-US" b="1" dirty="0">
                <a:latin typeface="Times New Roman" panose="02020603050405020304" pitchFamily="18" charset="0"/>
                <a:cs typeface="Times New Roman" panose="02020603050405020304" pitchFamily="18" charset="0"/>
              </a:rPr>
              <a:t>that, if it occurs, has a </a:t>
            </a:r>
            <a:r>
              <a:rPr lang="en-US" b="1" dirty="0">
                <a:solidFill>
                  <a:srgbClr val="C00000"/>
                </a:solidFill>
                <a:latin typeface="Times New Roman" panose="02020603050405020304" pitchFamily="18" charset="0"/>
                <a:cs typeface="Times New Roman" panose="02020603050405020304" pitchFamily="18" charset="0"/>
              </a:rPr>
              <a:t>positive or negative effect </a:t>
            </a:r>
            <a:r>
              <a:rPr lang="en-US" b="1" dirty="0">
                <a:latin typeface="Times New Roman" panose="02020603050405020304" pitchFamily="18" charset="0"/>
                <a:cs typeface="Times New Roman" panose="02020603050405020304" pitchFamily="18" charset="0"/>
              </a:rPr>
              <a:t>on a project objective.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 risk has a cause and if it occurs, a consequences.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Simply </a:t>
            </a:r>
            <a:r>
              <a:rPr lang="en-US" b="1" dirty="0">
                <a:solidFill>
                  <a:srgbClr val="C00000"/>
                </a:solidFill>
                <a:latin typeface="Times New Roman" panose="02020603050405020304" pitchFamily="18" charset="0"/>
                <a:cs typeface="Times New Roman" panose="02020603050405020304" pitchFamily="18" charset="0"/>
              </a:rPr>
              <a:t>risk means uncertainty </a:t>
            </a:r>
            <a:r>
              <a:rPr lang="en-US" b="1" dirty="0">
                <a:latin typeface="Times New Roman" panose="02020603050405020304" pitchFamily="18" charset="0"/>
                <a:cs typeface="Times New Roman" panose="02020603050405020304" pitchFamily="18" charset="0"/>
              </a:rPr>
              <a:t>and the result of uncertainty. </a:t>
            </a:r>
          </a:p>
        </p:txBody>
      </p:sp>
      <p:sp>
        <p:nvSpPr>
          <p:cNvPr id="4" name="Title 1"/>
          <p:cNvSpPr txBox="1">
            <a:spLocks/>
          </p:cNvSpPr>
          <p:nvPr/>
        </p:nvSpPr>
        <p:spPr>
          <a:xfrm>
            <a:off x="1486619" y="10324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Concept of Risk (Cont’d….)  </a:t>
            </a:r>
          </a:p>
        </p:txBody>
      </p:sp>
    </p:spTree>
    <p:extLst>
      <p:ext uri="{BB962C8B-B14F-4D97-AF65-F5344CB8AC3E}">
        <p14:creationId xmlns:p14="http://schemas.microsoft.com/office/powerpoint/2010/main" val="2405604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7649" y="1049246"/>
            <a:ext cx="9815423" cy="5420565"/>
          </a:xfrm>
        </p:spPr>
        <p:txBody>
          <a:bodyPr>
            <a:normAutofit fontScale="92500"/>
          </a:bodyPr>
          <a:lstStyle/>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Risk assessment enables corporations, governments, and investors to assess the probability that an adverse event might negatively impact a business, economy, project, or </a:t>
            </a:r>
            <a:r>
              <a:rPr lang="en-US" b="1" dirty="0">
                <a:latin typeface="Times New Roman" panose="02020603050405020304" pitchFamily="18" charset="0"/>
                <a:cs typeface="Times New Roman" panose="02020603050405020304" pitchFamily="18" charset="0"/>
                <a:hlinkClick r:id="rId2"/>
              </a:rPr>
              <a:t>investment</a:t>
            </a:r>
            <a:r>
              <a:rPr lang="en-US" b="1" dirty="0">
                <a:latin typeface="Times New Roman" panose="02020603050405020304" pitchFamily="18" charset="0"/>
                <a:cs typeface="Times New Roman" panose="02020603050405020304" pitchFamily="18" charset="0"/>
              </a:rPr>
              <a:t>. [3]</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Risk analysis is the process of identifying and analyzing potential issues that could negatively impact key business initiatives or projects.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This process is done in order to help organizations avoid or mitigate those risks.</a:t>
            </a:r>
          </a:p>
        </p:txBody>
      </p:sp>
      <p:sp>
        <p:nvSpPr>
          <p:cNvPr id="4" name="Title 1"/>
          <p:cNvSpPr>
            <a:spLocks noGrp="1"/>
          </p:cNvSpPr>
          <p:nvPr>
            <p:ph type="title"/>
          </p:nvPr>
        </p:nvSpPr>
        <p:spPr>
          <a:xfrm>
            <a:off x="1511060" y="0"/>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Risk Analysis</a:t>
            </a:r>
          </a:p>
        </p:txBody>
      </p:sp>
    </p:spTree>
    <p:extLst>
      <p:ext uri="{BB962C8B-B14F-4D97-AF65-F5344CB8AC3E}">
        <p14:creationId xmlns:p14="http://schemas.microsoft.com/office/powerpoint/2010/main" val="2440872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2049" y="209850"/>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Risk Analysis (Cont’d….) </a:t>
            </a:r>
          </a:p>
        </p:txBody>
      </p:sp>
      <p:sp>
        <p:nvSpPr>
          <p:cNvPr id="3" name="Content Placeholder 2"/>
          <p:cNvSpPr>
            <a:spLocks noGrp="1"/>
          </p:cNvSpPr>
          <p:nvPr>
            <p:ph idx="1"/>
          </p:nvPr>
        </p:nvSpPr>
        <p:spPr>
          <a:xfrm>
            <a:off x="579408" y="1308040"/>
            <a:ext cx="9617015" cy="5549960"/>
          </a:xfrm>
        </p:spPr>
        <p:txBody>
          <a:bodyPr>
            <a:normAutofit/>
          </a:bodyPr>
          <a:lstStyle/>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Quantitative statements about risk are given as numerical probabilities or as values for likelihood of occurrence.</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Probabilities are given as decimal fractions in the interval 0.0 to 1.0.</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An event or outcome that is certain to occur has a probability of 1.0.</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As the probability of an event approaches 0, the event becomes increasingly less likely to occur.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assignment of probabilities of the various outcomes of an investment project is generally called risk analysis. [1]</a:t>
            </a:r>
          </a:p>
        </p:txBody>
      </p:sp>
    </p:spTree>
    <p:extLst>
      <p:ext uri="{BB962C8B-B14F-4D97-AF65-F5344CB8AC3E}">
        <p14:creationId xmlns:p14="http://schemas.microsoft.com/office/powerpoint/2010/main" val="3085116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0676" y="43043"/>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Types of Decision </a:t>
            </a:r>
          </a:p>
        </p:txBody>
      </p:sp>
      <p:sp>
        <p:nvSpPr>
          <p:cNvPr id="3" name="Content Placeholder 2"/>
          <p:cNvSpPr>
            <a:spLocks noGrp="1"/>
          </p:cNvSpPr>
          <p:nvPr>
            <p:ph idx="1"/>
          </p:nvPr>
        </p:nvSpPr>
        <p:spPr>
          <a:xfrm>
            <a:off x="493143" y="1475027"/>
            <a:ext cx="10048336" cy="5702151"/>
          </a:xfrm>
        </p:spPr>
        <p:txBody>
          <a:bodyPr>
            <a:normAutofit/>
          </a:bodyPr>
          <a:lstStyle/>
          <a:p>
            <a:pPr marL="0" indent="0" algn="just">
              <a:lnSpc>
                <a:spcPct val="110000"/>
              </a:lnSpc>
              <a:buNone/>
            </a:pPr>
            <a:r>
              <a:rPr lang="en-US" b="1" u="sng" dirty="0">
                <a:solidFill>
                  <a:srgbClr val="C00000"/>
                </a:solidFill>
                <a:latin typeface="Times New Roman" panose="02020603050405020304" pitchFamily="18" charset="0"/>
                <a:cs typeface="Times New Roman" panose="02020603050405020304" pitchFamily="18" charset="0"/>
              </a:rPr>
              <a:t>Decision making Under Certainty </a:t>
            </a:r>
            <a:endParaRPr lang="en-US" b="1" dirty="0">
              <a:solidFill>
                <a:srgbClr val="C00000"/>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Deterministic estimates are made and entered into measure of worth relations-PW, FW, AW, ROR, B/C –and decision making is based on the results. </a:t>
            </a:r>
          </a:p>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values estimated can be considered the most likely to occur with all chance placed on the single value estimate. </a:t>
            </a:r>
          </a:p>
          <a:p>
            <a:pPr marL="0" indent="0" algn="just">
              <a:lnSpc>
                <a:spcPct val="110000"/>
              </a:lnSpc>
              <a:buNone/>
            </a:pPr>
            <a:r>
              <a:rPr lang="en-US" b="1" u="sng" dirty="0">
                <a:solidFill>
                  <a:srgbClr val="C00000"/>
                </a:solidFill>
                <a:latin typeface="Times New Roman" panose="02020603050405020304" pitchFamily="18" charset="0"/>
                <a:cs typeface="Times New Roman" panose="02020603050405020304" pitchFamily="18" charset="0"/>
              </a:rPr>
              <a:t>Decision making Under Risk </a:t>
            </a:r>
            <a:endParaRPr lang="en-US" b="1" dirty="0">
              <a:solidFill>
                <a:srgbClr val="C00000"/>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Decision situation where several states are possible and probabilities of their occurrence are explicitly stated.</a:t>
            </a: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518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902" y="971610"/>
            <a:ext cx="9841302" cy="5722489"/>
          </a:xfrm>
        </p:spPr>
        <p:txBody>
          <a:bodyPr>
            <a:normAutofit/>
          </a:bodyPr>
          <a:lstStyle/>
          <a:p>
            <a:pPr marL="0" indent="0" algn="just">
              <a:lnSpc>
                <a:spcPct val="110000"/>
              </a:lnSpc>
              <a:buNone/>
            </a:pPr>
            <a:r>
              <a:rPr lang="en-US" b="1" u="sng" dirty="0">
                <a:solidFill>
                  <a:srgbClr val="C00000"/>
                </a:solidFill>
                <a:latin typeface="Times New Roman" panose="02020603050405020304" pitchFamily="18" charset="0"/>
                <a:cs typeface="Times New Roman" panose="02020603050405020304" pitchFamily="18" charset="0"/>
              </a:rPr>
              <a:t>Decision under Uncertainty </a:t>
            </a:r>
            <a:endParaRPr lang="en-US" b="1" dirty="0">
              <a:solidFill>
                <a:srgbClr val="C00000"/>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Decision making under uncertainty means there are two or more values observable, but the chance of their occurring cannot be estimated.</a:t>
            </a:r>
          </a:p>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Risk and uncertainty are different, though complementary concept. Risk refers to a situation where a project has a number of possible alternative outcomes, but the probability of each occurring is known. </a:t>
            </a:r>
          </a:p>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Uncertainty refers to a situation in which these probabilities are not known. </a:t>
            </a:r>
          </a:p>
        </p:txBody>
      </p:sp>
      <p:sp>
        <p:nvSpPr>
          <p:cNvPr id="4" name="Title 1"/>
          <p:cNvSpPr>
            <a:spLocks noGrp="1"/>
          </p:cNvSpPr>
          <p:nvPr>
            <p:ph type="title"/>
          </p:nvPr>
        </p:nvSpPr>
        <p:spPr>
          <a:xfrm>
            <a:off x="1467928" y="-100701"/>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Types of Decision (Cont’d….) </a:t>
            </a:r>
          </a:p>
        </p:txBody>
      </p:sp>
    </p:spTree>
    <p:extLst>
      <p:ext uri="{BB962C8B-B14F-4D97-AF65-F5344CB8AC3E}">
        <p14:creationId xmlns:p14="http://schemas.microsoft.com/office/powerpoint/2010/main" val="628597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Difference between risk and uncertainty</a:t>
            </a:r>
          </a:p>
        </p:txBody>
      </p:sp>
      <p:sp>
        <p:nvSpPr>
          <p:cNvPr id="3" name="Content Placeholder 2"/>
          <p:cNvSpPr>
            <a:spLocks noGrp="1"/>
          </p:cNvSpPr>
          <p:nvPr>
            <p:ph idx="1"/>
          </p:nvPr>
        </p:nvSpPr>
        <p:spPr>
          <a:xfrm>
            <a:off x="734683" y="1385678"/>
            <a:ext cx="10515600" cy="4351338"/>
          </a:xfrm>
        </p:spPr>
        <p:txBody>
          <a:bodyPr/>
          <a:lstStyle/>
          <a:p>
            <a:pPr algn="just">
              <a:lnSpc>
                <a:spcPct val="11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 practice, the terms are often used interchangeably. However there is difference between these two terms.</a:t>
            </a:r>
          </a:p>
        </p:txBody>
      </p:sp>
      <p:pic>
        <p:nvPicPr>
          <p:cNvPr id="1026" name="Picture 2" descr="Risk vs Uncertainty in Project Managemen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853" y="2337758"/>
            <a:ext cx="8410755" cy="35885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248561" y="5806379"/>
            <a:ext cx="3083892" cy="461665"/>
          </a:xfrm>
          <a:prstGeom prst="rect">
            <a:avLst/>
          </a:prstGeom>
        </p:spPr>
        <p:txBody>
          <a:bodyPr wrap="square">
            <a:spAutoFit/>
          </a:bodyPr>
          <a:lstStyle/>
          <a:p>
            <a:r>
              <a:rPr lang="en-US" dirty="0"/>
              <a:t> </a:t>
            </a:r>
            <a:r>
              <a:rPr lang="en-US" sz="2400" b="1" dirty="0">
                <a:latin typeface="Times New Roman" panose="02020603050405020304" pitchFamily="18" charset="0"/>
                <a:cs typeface="Times New Roman" panose="02020603050405020304" pitchFamily="18" charset="0"/>
              </a:rPr>
              <a:t>Source:[4]</a:t>
            </a:r>
          </a:p>
        </p:txBody>
      </p:sp>
    </p:spTree>
    <p:extLst>
      <p:ext uri="{BB962C8B-B14F-4D97-AF65-F5344CB8AC3E}">
        <p14:creationId xmlns:p14="http://schemas.microsoft.com/office/powerpoint/2010/main" val="1462925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181" y="227102"/>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Sources of Risk and Uncertainty </a:t>
            </a:r>
          </a:p>
        </p:txBody>
      </p:sp>
      <p:sp>
        <p:nvSpPr>
          <p:cNvPr id="3" name="Content Placeholder 2"/>
          <p:cNvSpPr>
            <a:spLocks noGrp="1"/>
          </p:cNvSpPr>
          <p:nvPr>
            <p:ph idx="1"/>
          </p:nvPr>
        </p:nvSpPr>
        <p:spPr>
          <a:xfrm>
            <a:off x="553529" y="1207607"/>
            <a:ext cx="9918940" cy="5046543"/>
          </a:xfrm>
        </p:spPr>
        <p:txBody>
          <a:bodyPr>
            <a:normAutofit/>
          </a:bodyPr>
          <a:lstStyle/>
          <a:p>
            <a:pPr marL="514350" indent="-514350" algn="just">
              <a:lnSpc>
                <a:spcPct val="150000"/>
              </a:lnSpc>
              <a:buFont typeface="+mj-lt"/>
              <a:buAutoNum type="arabicPeriod"/>
            </a:pPr>
            <a:r>
              <a:rPr lang="en-US" b="1" dirty="0">
                <a:solidFill>
                  <a:srgbClr val="C00000"/>
                </a:solidFill>
                <a:latin typeface="Times New Roman" panose="02020603050405020304" pitchFamily="18" charset="0"/>
                <a:cs typeface="Times New Roman" panose="02020603050405020304" pitchFamily="18" charset="0"/>
              </a:rPr>
              <a:t>Inaccurate cash flow estimate.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first source is the possible inaccuracy of the cash flow estimate used in the study.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accuracy of cash inflow estimate is difficult to determine.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If they are based on past experience, a fair degree of reliance may be placed on estimates. Otherwise the, the estimate would become more uncertain. </a:t>
            </a: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865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849928" cy="4687318"/>
          </a:xfrm>
        </p:spPr>
        <p:txBody>
          <a:bodyPr/>
          <a:lstStyle/>
          <a:p>
            <a:pPr marL="514350" indent="-514350" algn="just">
              <a:lnSpc>
                <a:spcPct val="100000"/>
              </a:lnSpc>
              <a:buAutoNum type="arabicPeriod" startAt="2"/>
            </a:pPr>
            <a:r>
              <a:rPr lang="en-US" b="1" dirty="0">
                <a:solidFill>
                  <a:srgbClr val="C00000"/>
                </a:solidFill>
                <a:latin typeface="Times New Roman" panose="02020603050405020304" pitchFamily="18" charset="0"/>
                <a:cs typeface="Times New Roman" panose="02020603050405020304" pitchFamily="18" charset="0"/>
              </a:rPr>
              <a:t>Nature of business </a:t>
            </a:r>
          </a:p>
          <a:p>
            <a:pPr algn="just">
              <a:lnSpc>
                <a:spcPct val="100000"/>
              </a:lnSpc>
            </a:pPr>
            <a:r>
              <a:rPr lang="en-US" b="1" dirty="0">
                <a:latin typeface="Times New Roman" panose="02020603050405020304" pitchFamily="18" charset="0"/>
                <a:cs typeface="Times New Roman" panose="02020603050405020304" pitchFamily="18" charset="0"/>
              </a:rPr>
              <a:t>The second source is the nature of business involved in the economy. </a:t>
            </a:r>
          </a:p>
          <a:p>
            <a:pPr algn="just">
              <a:lnSpc>
                <a:spcPct val="100000"/>
              </a:lnSpc>
            </a:pPr>
            <a:r>
              <a:rPr lang="en-US" b="1" dirty="0">
                <a:latin typeface="Times New Roman" panose="02020603050405020304" pitchFamily="18" charset="0"/>
                <a:cs typeface="Times New Roman" panose="02020603050405020304" pitchFamily="18" charset="0"/>
              </a:rPr>
              <a:t>All the business are not same nature because some types of business operations are less stable than the others. </a:t>
            </a:r>
          </a:p>
          <a:p>
            <a:pPr algn="just">
              <a:lnSpc>
                <a:spcPct val="100000"/>
              </a:lnSpc>
            </a:pPr>
            <a:r>
              <a:rPr lang="en-US" b="1" dirty="0">
                <a:latin typeface="Times New Roman" panose="02020603050405020304" pitchFamily="18" charset="0"/>
                <a:cs typeface="Times New Roman" panose="02020603050405020304" pitchFamily="18" charset="0"/>
              </a:rPr>
              <a:t>Whenever capital is to be invested in an engineering project, the nature of the business as well as expectations of future economic conditions (i.e. interest rate) should be considered in deciding what risk is present. </a:t>
            </a:r>
          </a:p>
        </p:txBody>
      </p:sp>
      <p:sp>
        <p:nvSpPr>
          <p:cNvPr id="4" name="Title 1"/>
          <p:cNvSpPr>
            <a:spLocks noGrp="1"/>
          </p:cNvSpPr>
          <p:nvPr>
            <p:ph type="title"/>
          </p:nvPr>
        </p:nvSpPr>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Sources of Risk and Uncertainty (Cont’d…)  </a:t>
            </a:r>
          </a:p>
        </p:txBody>
      </p:sp>
    </p:spTree>
    <p:extLst>
      <p:ext uri="{BB962C8B-B14F-4D97-AF65-F5344CB8AC3E}">
        <p14:creationId xmlns:p14="http://schemas.microsoft.com/office/powerpoint/2010/main" val="1132950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419" y="209850"/>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Sources of Risk and Uncertainty (Cont’d…) </a:t>
            </a:r>
            <a:endParaRPr lang="en-US" sz="3200" dirty="0"/>
          </a:p>
        </p:txBody>
      </p:sp>
      <p:sp>
        <p:nvSpPr>
          <p:cNvPr id="3" name="Content Placeholder 2"/>
          <p:cNvSpPr>
            <a:spLocks noGrp="1"/>
          </p:cNvSpPr>
          <p:nvPr>
            <p:ph idx="1"/>
          </p:nvPr>
        </p:nvSpPr>
        <p:spPr>
          <a:xfrm>
            <a:off x="475890" y="1152764"/>
            <a:ext cx="10160479" cy="5334299"/>
          </a:xfrm>
        </p:spPr>
        <p:txBody>
          <a:bodyPr>
            <a:normAutofit lnSpcReduction="10000"/>
          </a:bodyPr>
          <a:lstStyle/>
          <a:p>
            <a:pPr marL="514350" indent="-514350" algn="just">
              <a:lnSpc>
                <a:spcPct val="150000"/>
              </a:lnSpc>
              <a:buAutoNum type="arabicPeriod" startAt="3"/>
            </a:pPr>
            <a:r>
              <a:rPr lang="en-US" b="1" dirty="0">
                <a:solidFill>
                  <a:srgbClr val="C00000"/>
                </a:solidFill>
                <a:latin typeface="Times New Roman" panose="02020603050405020304" pitchFamily="18" charset="0"/>
                <a:cs typeface="Times New Roman" panose="02020603050405020304" pitchFamily="18" charset="0"/>
              </a:rPr>
              <a:t>Physical plant and equipment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third source of risk and uncertainty is the type of physical plant and equipment involved in the project.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cost (ownership as well as operating) cost for same type of plant and equipment may differ as well as the physical life and economic life of a plant might be different.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value of the plant will depend upon the specific task that it can perform. </a:t>
            </a:r>
          </a:p>
        </p:txBody>
      </p:sp>
    </p:spTree>
    <p:extLst>
      <p:ext uri="{BB962C8B-B14F-4D97-AF65-F5344CB8AC3E}">
        <p14:creationId xmlns:p14="http://schemas.microsoft.com/office/powerpoint/2010/main" val="333514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902" y="1584084"/>
            <a:ext cx="10515600" cy="4859847"/>
          </a:xfrm>
        </p:spPr>
        <p:txBody>
          <a:bodyPr>
            <a:normAutofit/>
          </a:bodyPr>
          <a:lstStyle/>
          <a:p>
            <a:pPr marL="514350" indent="-514350" algn="just">
              <a:lnSpc>
                <a:spcPct val="100000"/>
              </a:lnSpc>
              <a:buAutoNum type="arabicPeriod" startAt="4"/>
            </a:pPr>
            <a:r>
              <a:rPr lang="en-US" b="1" dirty="0">
                <a:solidFill>
                  <a:srgbClr val="C00000"/>
                </a:solidFill>
                <a:latin typeface="Times New Roman" panose="02020603050405020304" pitchFamily="18" charset="0"/>
                <a:cs typeface="Times New Roman" panose="02020603050405020304" pitchFamily="18" charset="0"/>
              </a:rPr>
              <a:t>Study period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fourth important source of risk and uncertainty is the length of the study period.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Study period or planning horizon is always the perspective of investor.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The cash flow is generated over the life of the study period to expect the satisfactory economic return of an investment. </a:t>
            </a:r>
          </a:p>
          <a:p>
            <a:pPr algn="just">
              <a:lnSpc>
                <a:spcPct val="10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If the planning horizon is long, the chances of occurring uncertainty of a capital investment increases and vice versa.  </a:t>
            </a:r>
          </a:p>
        </p:txBody>
      </p:sp>
      <p:sp>
        <p:nvSpPr>
          <p:cNvPr id="4" name="Title 1"/>
          <p:cNvSpPr>
            <a:spLocks noGrp="1"/>
          </p:cNvSpPr>
          <p:nvPr>
            <p:ph type="title"/>
          </p:nvPr>
        </p:nvSpPr>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Sources of Risk and Uncertainty (Cont’d…) </a:t>
            </a:r>
            <a:endParaRPr lang="en-US" sz="3200" dirty="0"/>
          </a:p>
        </p:txBody>
      </p:sp>
    </p:spTree>
    <p:extLst>
      <p:ext uri="{BB962C8B-B14F-4D97-AF65-F5344CB8AC3E}">
        <p14:creationId xmlns:p14="http://schemas.microsoft.com/office/powerpoint/2010/main" val="1493520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7543" y="270234"/>
            <a:ext cx="10515600" cy="132556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Method of describing project risk </a:t>
            </a:r>
          </a:p>
        </p:txBody>
      </p:sp>
      <p:sp>
        <p:nvSpPr>
          <p:cNvPr id="3" name="Content Placeholder 2"/>
          <p:cNvSpPr>
            <a:spLocks noGrp="1"/>
          </p:cNvSpPr>
          <p:nvPr>
            <p:ph idx="1"/>
          </p:nvPr>
        </p:nvSpPr>
        <p:spPr>
          <a:xfrm>
            <a:off x="631166" y="1489193"/>
            <a:ext cx="9798170" cy="4816715"/>
          </a:xfrm>
        </p:spPr>
        <p:txBody>
          <a:bodyPr/>
          <a:lstStyle/>
          <a:p>
            <a:pPr marL="0" indent="0" algn="just">
              <a:lnSpc>
                <a:spcPct val="100000"/>
              </a:lnSpc>
              <a:buNone/>
            </a:pPr>
            <a:r>
              <a:rPr lang="en-US" b="1" dirty="0">
                <a:latin typeface="Times New Roman" panose="02020603050405020304" pitchFamily="18" charset="0"/>
                <a:cs typeface="Times New Roman" panose="02020603050405020304" pitchFamily="18" charset="0"/>
              </a:rPr>
              <a:t>There are several potential sources contributing to project risk. These risks should be analyzed using the different methods: </a:t>
            </a:r>
          </a:p>
          <a:p>
            <a:pPr marL="514350" indent="-514350" algn="just">
              <a:lnSpc>
                <a:spcPct val="100000"/>
              </a:lnSpc>
              <a:buFont typeface="+mj-lt"/>
              <a:buAutoNum type="arabicPeriod"/>
            </a:pPr>
            <a:r>
              <a:rPr lang="en-US" b="1" dirty="0">
                <a:latin typeface="Times New Roman" panose="02020603050405020304" pitchFamily="18" charset="0"/>
                <a:cs typeface="Times New Roman" panose="02020603050405020304" pitchFamily="18" charset="0"/>
              </a:rPr>
              <a:t>Break Even Analysis </a:t>
            </a:r>
          </a:p>
          <a:p>
            <a:pPr marL="514350" indent="-514350" algn="just">
              <a:lnSpc>
                <a:spcPct val="100000"/>
              </a:lnSpc>
              <a:buFont typeface="+mj-lt"/>
              <a:buAutoNum type="arabicPeriod"/>
            </a:pPr>
            <a:r>
              <a:rPr lang="en-US" b="1" dirty="0">
                <a:latin typeface="Times New Roman" panose="02020603050405020304" pitchFamily="18" charset="0"/>
                <a:cs typeface="Times New Roman" panose="02020603050405020304" pitchFamily="18" charset="0"/>
              </a:rPr>
              <a:t>Sensitivity Analysis</a:t>
            </a:r>
          </a:p>
          <a:p>
            <a:pPr marL="514350" indent="-514350" algn="just">
              <a:lnSpc>
                <a:spcPct val="100000"/>
              </a:lnSpc>
              <a:buFont typeface="+mj-lt"/>
              <a:buAutoNum type="arabicPeriod"/>
            </a:pPr>
            <a:r>
              <a:rPr lang="en-US" b="1" dirty="0">
                <a:latin typeface="Times New Roman" panose="02020603050405020304" pitchFamily="18" charset="0"/>
                <a:cs typeface="Times New Roman" panose="02020603050405020304" pitchFamily="18" charset="0"/>
              </a:rPr>
              <a:t>Scenario Analysis (optimistic – pessimistic – most likely estimation) </a:t>
            </a:r>
          </a:p>
          <a:p>
            <a:pPr marL="514350" indent="-514350" algn="just">
              <a:lnSpc>
                <a:spcPct val="100000"/>
              </a:lnSpc>
              <a:buFont typeface="+mj-lt"/>
              <a:buAutoNum type="arabicPeriod"/>
            </a:pPr>
            <a:r>
              <a:rPr lang="en-US" b="1" dirty="0">
                <a:latin typeface="Times New Roman" panose="02020603050405020304" pitchFamily="18" charset="0"/>
                <a:cs typeface="Times New Roman" panose="02020603050405020304" pitchFamily="18" charset="0"/>
              </a:rPr>
              <a:t>Risk adjusted MARR </a:t>
            </a:r>
          </a:p>
          <a:p>
            <a:pPr marL="514350" indent="-514350" algn="just">
              <a:lnSpc>
                <a:spcPct val="100000"/>
              </a:lnSpc>
              <a:buFont typeface="+mj-lt"/>
              <a:buAutoNum type="arabicPeriod"/>
            </a:pPr>
            <a:r>
              <a:rPr lang="en-US" b="1" dirty="0">
                <a:latin typeface="Times New Roman" panose="02020603050405020304" pitchFamily="18" charset="0"/>
                <a:cs typeface="Times New Roman" panose="02020603050405020304" pitchFamily="18" charset="0"/>
              </a:rPr>
              <a:t>Decision Tree </a:t>
            </a:r>
          </a:p>
          <a:p>
            <a:pPr marL="514350" indent="-514350" algn="just">
              <a:lnSpc>
                <a:spcPct val="100000"/>
              </a:lnSpc>
              <a:buFont typeface="+mj-lt"/>
              <a:buAutoNum type="arabicPeriod"/>
            </a:pPr>
            <a:r>
              <a:rPr lang="en-US" b="1" dirty="0">
                <a:latin typeface="Times New Roman" panose="02020603050405020304" pitchFamily="18" charset="0"/>
                <a:cs typeface="Times New Roman" panose="02020603050405020304" pitchFamily="18" charset="0"/>
              </a:rPr>
              <a:t>Reduction in useful life </a:t>
            </a:r>
          </a:p>
          <a:p>
            <a:pPr marL="514350" indent="-514350">
              <a:buFont typeface="+mj-lt"/>
              <a:buAutoNum type="arabicPeriod"/>
            </a:pPr>
            <a:endParaRPr lang="en-US" dirty="0"/>
          </a:p>
        </p:txBody>
      </p:sp>
    </p:spTree>
    <p:extLst>
      <p:ext uri="{BB962C8B-B14F-4D97-AF65-F5344CB8AC3E}">
        <p14:creationId xmlns:p14="http://schemas.microsoft.com/office/powerpoint/2010/main" val="1886024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461" y="0"/>
            <a:ext cx="5519468" cy="1325563"/>
          </a:xfrm>
        </p:spPr>
        <p:txBody>
          <a:bodyPr>
            <a:normAutofit/>
          </a:bodyPr>
          <a:lstStyle/>
          <a:p>
            <a:r>
              <a:rPr lang="en-US" sz="3200" b="1" dirty="0">
                <a:solidFill>
                  <a:srgbClr val="990000"/>
                </a:solidFill>
                <a:latin typeface="Times New Roman" pitchFamily="18" charset="0"/>
                <a:cs typeface="Times New Roman" pitchFamily="18" charset="0"/>
              </a:rPr>
              <a:t>BREAK EVEN ANALYSIS</a:t>
            </a:r>
            <a:endParaRPr lang="en-US" sz="3200" dirty="0"/>
          </a:p>
        </p:txBody>
      </p:sp>
      <p:sp>
        <p:nvSpPr>
          <p:cNvPr id="3" name="Content Placeholder 2"/>
          <p:cNvSpPr>
            <a:spLocks noGrp="1"/>
          </p:cNvSpPr>
          <p:nvPr>
            <p:ph idx="1"/>
          </p:nvPr>
        </p:nvSpPr>
        <p:spPr>
          <a:xfrm>
            <a:off x="475891" y="902598"/>
            <a:ext cx="9789544" cy="5826005"/>
          </a:xfrm>
        </p:spPr>
        <p:txBody>
          <a:bodyPr>
            <a:normAutofit lnSpcReduction="10000"/>
          </a:bodyPr>
          <a:lstStyle/>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One of the most common tools used in evaluating the </a:t>
            </a:r>
            <a:r>
              <a:rPr lang="en-US" b="1" dirty="0">
                <a:solidFill>
                  <a:srgbClr val="000099"/>
                </a:solidFill>
                <a:latin typeface="Times New Roman" pitchFamily="18" charset="0"/>
                <a:cs typeface="Times New Roman" pitchFamily="18" charset="0"/>
              </a:rPr>
              <a:t>economic feasibility</a:t>
            </a:r>
            <a:r>
              <a:rPr lang="en-US" b="1" dirty="0">
                <a:latin typeface="Times New Roman" pitchFamily="18" charset="0"/>
                <a:cs typeface="Times New Roman" pitchFamily="18" charset="0"/>
              </a:rPr>
              <a:t> of a new enterprise or product is the break-even analysis.</a:t>
            </a:r>
          </a:p>
          <a:p>
            <a:pPr>
              <a:lnSpc>
                <a:spcPct val="150000"/>
              </a:lnSpc>
              <a:buFont typeface="Wingdings" panose="05000000000000000000" pitchFamily="2" charset="2"/>
              <a:buChar char="Ø"/>
            </a:pPr>
            <a:r>
              <a:rPr lang="en-US" b="1" dirty="0">
                <a:latin typeface="Times New Roman" pitchFamily="18" charset="0"/>
                <a:cs typeface="Times New Roman" pitchFamily="18" charset="0"/>
              </a:rPr>
              <a:t>The main objective of Break-Even Analysis is to find out the </a:t>
            </a:r>
            <a:r>
              <a:rPr lang="en-US" b="1" dirty="0">
                <a:solidFill>
                  <a:srgbClr val="000099"/>
                </a:solidFill>
                <a:latin typeface="Times New Roman" pitchFamily="18" charset="0"/>
                <a:cs typeface="Times New Roman" pitchFamily="18" charset="0"/>
              </a:rPr>
              <a:t>condition of no loss and no gain</a:t>
            </a:r>
            <a:r>
              <a:rPr lang="en-US" b="1" dirty="0">
                <a:latin typeface="Times New Roman" pitchFamily="18" charset="0"/>
                <a:cs typeface="Times New Roman" pitchFamily="18" charset="0"/>
              </a:rPr>
              <a:t>.</a:t>
            </a:r>
          </a:p>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When one of the engineering economy symbols – P, F, A, </a:t>
            </a:r>
            <a:r>
              <a:rPr lang="en-US" b="1" dirty="0" err="1">
                <a:latin typeface="Times New Roman" pitchFamily="18" charset="0"/>
                <a:cs typeface="Times New Roman" pitchFamily="18" charset="0"/>
              </a:rPr>
              <a:t>i</a:t>
            </a:r>
            <a:r>
              <a:rPr lang="en-US" b="1" dirty="0">
                <a:latin typeface="Times New Roman" pitchFamily="18" charset="0"/>
                <a:cs typeface="Times New Roman" pitchFamily="18" charset="0"/>
              </a:rPr>
              <a:t>, or n – is not known or not estimated, a break even quantity can be determined by </a:t>
            </a:r>
            <a:r>
              <a:rPr lang="en-US" b="1" dirty="0">
                <a:solidFill>
                  <a:srgbClr val="000099"/>
                </a:solidFill>
                <a:latin typeface="Times New Roman" pitchFamily="18" charset="0"/>
                <a:cs typeface="Times New Roman" pitchFamily="18" charset="0"/>
              </a:rPr>
              <a:t>setting an equivalence relation for PW or AW equal to zero. </a:t>
            </a:r>
            <a:r>
              <a:rPr lang="en-US" b="1" dirty="0">
                <a:latin typeface="Times New Roman" pitchFamily="18" charset="0"/>
                <a:cs typeface="Times New Roman" pitchFamily="18" charset="0"/>
              </a:rPr>
              <a:t>[5]</a:t>
            </a:r>
          </a:p>
        </p:txBody>
      </p:sp>
    </p:spTree>
    <p:extLst>
      <p:ext uri="{BB962C8B-B14F-4D97-AF65-F5344CB8AC3E}">
        <p14:creationId xmlns:p14="http://schemas.microsoft.com/office/powerpoint/2010/main" val="1226694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683" y="1480568"/>
            <a:ext cx="9591136" cy="5092760"/>
          </a:xfrm>
        </p:spPr>
        <p:txBody>
          <a:bodyPr>
            <a:normAutofit/>
          </a:bodyPr>
          <a:lstStyle/>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It is also known as the </a:t>
            </a:r>
            <a:r>
              <a:rPr lang="en-US" b="1" dirty="0">
                <a:solidFill>
                  <a:srgbClr val="000099"/>
                </a:solidFill>
                <a:latin typeface="Times New Roman" pitchFamily="18" charset="0"/>
                <a:cs typeface="Times New Roman" pitchFamily="18" charset="0"/>
              </a:rPr>
              <a:t>cost – volume – profit analysis</a:t>
            </a:r>
            <a:r>
              <a:rPr lang="en-US" b="1" dirty="0">
                <a:latin typeface="Times New Roman" pitchFamily="18" charset="0"/>
                <a:cs typeface="Times New Roman" pitchFamily="18" charset="0"/>
              </a:rPr>
              <a:t>, is widely used for financial studies because it is simple and extracts useful insights from modest amount of data. [2] </a:t>
            </a:r>
          </a:p>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A break-even analysis reveals when your investment is returned dollar for dollar, no more and no less, so that you have neither gained nor lost money on the venture. [6]</a:t>
            </a:r>
          </a:p>
        </p:txBody>
      </p:sp>
      <p:sp>
        <p:nvSpPr>
          <p:cNvPr id="4" name="Title 1"/>
          <p:cNvSpPr>
            <a:spLocks noGrp="1"/>
          </p:cNvSpPr>
          <p:nvPr>
            <p:ph type="title"/>
          </p:nvPr>
        </p:nvSpPr>
        <p:spPr>
          <a:xfrm>
            <a:off x="1493808" y="365125"/>
            <a:ext cx="8072887" cy="1325563"/>
          </a:xfrm>
        </p:spPr>
        <p:txBody>
          <a:bodyPr>
            <a:normAutofit/>
          </a:bodyPr>
          <a:lstStyle/>
          <a:p>
            <a:r>
              <a:rPr lang="en-US" sz="3200" b="1" dirty="0">
                <a:solidFill>
                  <a:srgbClr val="990000"/>
                </a:solidFill>
                <a:latin typeface="Times New Roman" pitchFamily="18" charset="0"/>
                <a:cs typeface="Times New Roman" pitchFamily="18" charset="0"/>
              </a:rPr>
              <a:t>BREAK EVEN ANALYSIS (Cont’d…..) </a:t>
            </a:r>
            <a:endParaRPr lang="en-US" sz="3200" dirty="0"/>
          </a:p>
        </p:txBody>
      </p:sp>
    </p:spTree>
    <p:extLst>
      <p:ext uri="{BB962C8B-B14F-4D97-AF65-F5344CB8AC3E}">
        <p14:creationId xmlns:p14="http://schemas.microsoft.com/office/powerpoint/2010/main" val="3532005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6169" y="227102"/>
            <a:ext cx="10515600" cy="1325563"/>
          </a:xfrm>
        </p:spPr>
        <p:txBody>
          <a:bodyPr>
            <a:normAutofit/>
          </a:bodyPr>
          <a:lstStyle/>
          <a:p>
            <a:r>
              <a:rPr lang="en-US" sz="3200" b="1" dirty="0">
                <a:solidFill>
                  <a:srgbClr val="990000"/>
                </a:solidFill>
                <a:latin typeface="Times New Roman" pitchFamily="18" charset="0"/>
                <a:cs typeface="Times New Roman" pitchFamily="18" charset="0"/>
              </a:rPr>
              <a:t>Break – Even Analysis for a Single Project</a:t>
            </a:r>
          </a:p>
        </p:txBody>
      </p:sp>
      <p:sp>
        <p:nvSpPr>
          <p:cNvPr id="3" name="Content Placeholder 2"/>
          <p:cNvSpPr>
            <a:spLocks noGrp="1"/>
          </p:cNvSpPr>
          <p:nvPr>
            <p:ph idx="1"/>
          </p:nvPr>
        </p:nvSpPr>
        <p:spPr>
          <a:xfrm>
            <a:off x="734683" y="1446063"/>
            <a:ext cx="9703279" cy="4799462"/>
          </a:xfrm>
        </p:spPr>
        <p:txBody>
          <a:bodyPr>
            <a:normAutofit lnSpcReduction="10000"/>
          </a:bodyPr>
          <a:lstStyle/>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The break-even point is the point at which </a:t>
            </a:r>
            <a:r>
              <a:rPr lang="en-US" b="1" dirty="0">
                <a:solidFill>
                  <a:srgbClr val="000099"/>
                </a:solidFill>
                <a:latin typeface="Times New Roman" pitchFamily="18" charset="0"/>
                <a:cs typeface="Times New Roman" pitchFamily="18" charset="0"/>
              </a:rPr>
              <a:t>revenue is exactly equal to costs.</a:t>
            </a:r>
          </a:p>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At the breakeven point, no profit is being made, nor any losses will incurred</a:t>
            </a:r>
            <a:r>
              <a:rPr lang="en-US" dirty="0">
                <a:latin typeface="Times New Roman" pitchFamily="18" charset="0"/>
                <a:cs typeface="Times New Roman" pitchFamily="18" charset="0"/>
              </a:rPr>
              <a:t> </a:t>
            </a:r>
            <a:endParaRPr lang="en-US" b="1" dirty="0">
              <a:solidFill>
                <a:srgbClr val="000099"/>
              </a:solidFill>
              <a:latin typeface="Times New Roman" pitchFamily="18" charset="0"/>
              <a:cs typeface="Times New Roman" pitchFamily="18" charset="0"/>
            </a:endParaRPr>
          </a:p>
          <a:p>
            <a:pPr algn="just">
              <a:lnSpc>
                <a:spcPct val="150000"/>
              </a:lnSpc>
              <a:buFont typeface="Wingdings" panose="05000000000000000000" pitchFamily="2" charset="2"/>
              <a:buChar char="Ø"/>
            </a:pPr>
            <a:r>
              <a:rPr lang="en-US" b="1" dirty="0">
                <a:latin typeface="Times New Roman" pitchFamily="18" charset="0"/>
                <a:cs typeface="Times New Roman" pitchFamily="18" charset="0"/>
              </a:rPr>
              <a:t>Break-even analysis is based on two types of costs: </a:t>
            </a:r>
          </a:p>
          <a:p>
            <a:pPr marL="0" indent="0" algn="just">
              <a:lnSpc>
                <a:spcPct val="150000"/>
              </a:lnSpc>
              <a:buNone/>
            </a:pPr>
            <a:r>
              <a:rPr lang="en-US" b="1" dirty="0">
                <a:solidFill>
                  <a:srgbClr val="000099"/>
                </a:solidFill>
                <a:latin typeface="Times New Roman" pitchFamily="18" charset="0"/>
                <a:cs typeface="Times New Roman" pitchFamily="18" charset="0"/>
              </a:rPr>
              <a:t>                             Fixed costs</a:t>
            </a:r>
            <a:r>
              <a:rPr lang="en-US" b="1" dirty="0">
                <a:latin typeface="Times New Roman" pitchFamily="18" charset="0"/>
                <a:cs typeface="Times New Roman" pitchFamily="18" charset="0"/>
              </a:rPr>
              <a:t> and</a:t>
            </a:r>
          </a:p>
          <a:p>
            <a:pPr marL="0" indent="0" algn="just">
              <a:lnSpc>
                <a:spcPct val="150000"/>
              </a:lnSpc>
              <a:buNone/>
            </a:pPr>
            <a:r>
              <a:rPr lang="en-US" b="1" dirty="0">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Variable costs</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4166037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2154" y="945731"/>
            <a:ext cx="9780917" cy="5265288"/>
          </a:xfrm>
        </p:spPr>
        <p:txBody>
          <a:bodyPr>
            <a:normAutofit lnSpcReduction="10000"/>
          </a:bodyPr>
          <a:lstStyle/>
          <a:p>
            <a:pPr marL="0" indent="0" algn="just">
              <a:lnSpc>
                <a:spcPct val="150000"/>
              </a:lnSpc>
              <a:buNone/>
            </a:pPr>
            <a:r>
              <a:rPr lang="en-US" b="1" dirty="0">
                <a:solidFill>
                  <a:srgbClr val="000099"/>
                </a:solidFill>
                <a:latin typeface="Times New Roman" pitchFamily="18" charset="0"/>
                <a:cs typeface="Times New Roman" pitchFamily="18" charset="0"/>
              </a:rPr>
              <a:t>Fixed Cost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Fixed cost are those that </a:t>
            </a:r>
            <a:r>
              <a:rPr lang="en-US" b="1" dirty="0">
                <a:solidFill>
                  <a:srgbClr val="256EFF"/>
                </a:solidFill>
                <a:latin typeface="Times New Roman" panose="02020603050405020304" pitchFamily="18" charset="0"/>
                <a:cs typeface="Times New Roman" panose="02020603050405020304" pitchFamily="18" charset="0"/>
              </a:rPr>
              <a:t>remain the same (constant) </a:t>
            </a:r>
            <a:r>
              <a:rPr lang="en-US" b="1" dirty="0">
                <a:latin typeface="Times New Roman" panose="02020603050405020304" pitchFamily="18" charset="0"/>
                <a:cs typeface="Times New Roman" panose="02020603050405020304" pitchFamily="18" charset="0"/>
              </a:rPr>
              <a:t>for the firm regardless of how many goods are produced.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All start up cost such as land, building, rent, insurance, equipment etc. are considered as fixed cost since you have to make these outlays before you sell your first item. </a:t>
            </a:r>
          </a:p>
          <a:p>
            <a:pPr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Fixed cost are reduced through improved equipment, information systems and workforce utilization. [5]</a:t>
            </a:r>
          </a:p>
        </p:txBody>
      </p:sp>
      <p:sp>
        <p:nvSpPr>
          <p:cNvPr id="4" name="Title 1"/>
          <p:cNvSpPr>
            <a:spLocks noGrp="1"/>
          </p:cNvSpPr>
          <p:nvPr>
            <p:ph type="title"/>
          </p:nvPr>
        </p:nvSpPr>
        <p:spPr>
          <a:xfrm>
            <a:off x="1131498" y="0"/>
            <a:ext cx="10515600" cy="1325563"/>
          </a:xfrm>
        </p:spPr>
        <p:txBody>
          <a:bodyPr>
            <a:normAutofit/>
          </a:bodyPr>
          <a:lstStyle/>
          <a:p>
            <a:r>
              <a:rPr lang="en-US" sz="3200" b="1" dirty="0">
                <a:solidFill>
                  <a:srgbClr val="990000"/>
                </a:solidFill>
                <a:latin typeface="Times New Roman" pitchFamily="18" charset="0"/>
                <a:cs typeface="Times New Roman" pitchFamily="18" charset="0"/>
              </a:rPr>
              <a:t>Break – Even Analysis for a Single Project</a:t>
            </a:r>
          </a:p>
        </p:txBody>
      </p:sp>
    </p:spTree>
    <p:extLst>
      <p:ext uri="{BB962C8B-B14F-4D97-AF65-F5344CB8AC3E}">
        <p14:creationId xmlns:p14="http://schemas.microsoft.com/office/powerpoint/2010/main" val="3275474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3913" y="1264907"/>
            <a:ext cx="10134600" cy="5411938"/>
          </a:xfrm>
        </p:spPr>
        <p:txBody>
          <a:bodyPr>
            <a:normAutofit/>
          </a:bodyPr>
          <a:lstStyle/>
          <a:p>
            <a:pPr marL="0" indent="0" algn="just">
              <a:lnSpc>
                <a:spcPct val="100000"/>
              </a:lnSpc>
              <a:buNone/>
            </a:pPr>
            <a:r>
              <a:rPr lang="en-US" b="1" dirty="0">
                <a:solidFill>
                  <a:srgbClr val="000099"/>
                </a:solidFill>
                <a:latin typeface="Times New Roman" panose="02020603050405020304" pitchFamily="18" charset="0"/>
                <a:cs typeface="Times New Roman" pitchFamily="18" charset="0"/>
              </a:rPr>
              <a:t>Variable costs</a:t>
            </a:r>
            <a:r>
              <a:rPr lang="en-US" b="1" dirty="0">
                <a:latin typeface="Times New Roman" pitchFamily="18" charset="0"/>
                <a:cs typeface="Times New Roman" pitchFamily="18" charset="0"/>
              </a:rPr>
              <a:t>.</a:t>
            </a:r>
          </a:p>
          <a:p>
            <a:pPr algn="just">
              <a:lnSpc>
                <a:spcPct val="100000"/>
              </a:lnSpc>
              <a:buFont typeface="Wingdings" panose="05000000000000000000" pitchFamily="2" charset="2"/>
              <a:buChar char="Ø"/>
            </a:pPr>
            <a:r>
              <a:rPr lang="en-US" b="1" dirty="0">
                <a:latin typeface="Times New Roman" pitchFamily="18" charset="0"/>
                <a:cs typeface="Times New Roman" pitchFamily="18" charset="0"/>
              </a:rPr>
              <a:t>Variable costs are those cost which vary with the number of item produced. </a:t>
            </a:r>
          </a:p>
          <a:p>
            <a:pPr algn="just">
              <a:lnSpc>
                <a:spcPct val="100000"/>
              </a:lnSpc>
              <a:buFont typeface="Wingdings" panose="05000000000000000000" pitchFamily="2" charset="2"/>
              <a:buChar char="Ø"/>
            </a:pPr>
            <a:r>
              <a:rPr lang="en-US" b="1" dirty="0">
                <a:latin typeface="Times New Roman" pitchFamily="18" charset="0"/>
                <a:cs typeface="Times New Roman" pitchFamily="18" charset="0"/>
              </a:rPr>
              <a:t>These are recurring costs that you absorb with each unit produce or sell. </a:t>
            </a:r>
          </a:p>
          <a:p>
            <a:pPr algn="just">
              <a:lnSpc>
                <a:spcPct val="100000"/>
              </a:lnSpc>
              <a:buFont typeface="Wingdings" panose="05000000000000000000" pitchFamily="2" charset="2"/>
              <a:buChar char="Ø"/>
            </a:pPr>
            <a:r>
              <a:rPr lang="en-US" b="1" dirty="0">
                <a:latin typeface="Times New Roman" pitchFamily="18" charset="0"/>
                <a:cs typeface="Times New Roman" pitchFamily="18" charset="0"/>
              </a:rPr>
              <a:t>It includes cost of wages, raw materials, electric, fuel, advertisement etc. </a:t>
            </a:r>
          </a:p>
          <a:p>
            <a:pPr algn="just">
              <a:lnSpc>
                <a:spcPct val="100000"/>
              </a:lnSpc>
              <a:buFont typeface="Wingdings" panose="05000000000000000000" pitchFamily="2" charset="2"/>
              <a:buChar char="Ø"/>
            </a:pPr>
            <a:r>
              <a:rPr lang="en-US" b="1" dirty="0">
                <a:latin typeface="Times New Roman" pitchFamily="18" charset="0"/>
                <a:cs typeface="Times New Roman" pitchFamily="18" charset="0"/>
              </a:rPr>
              <a:t>It is usually possible to decrease variable costs through improvements in design, efficiency, materials, quality, safety and sales volume. [5]</a:t>
            </a:r>
          </a:p>
        </p:txBody>
      </p:sp>
      <p:sp>
        <p:nvSpPr>
          <p:cNvPr id="4" name="Title 1"/>
          <p:cNvSpPr>
            <a:spLocks noGrp="1"/>
          </p:cNvSpPr>
          <p:nvPr>
            <p:ph type="title"/>
          </p:nvPr>
        </p:nvSpPr>
        <p:spPr>
          <a:xfrm>
            <a:off x="838200" y="0"/>
            <a:ext cx="10515600" cy="1325563"/>
          </a:xfrm>
        </p:spPr>
        <p:txBody>
          <a:bodyPr>
            <a:normAutofit/>
          </a:bodyPr>
          <a:lstStyle/>
          <a:p>
            <a:r>
              <a:rPr lang="en-US" sz="3200" b="1" dirty="0">
                <a:solidFill>
                  <a:srgbClr val="990000"/>
                </a:solidFill>
                <a:latin typeface="Times New Roman" pitchFamily="18" charset="0"/>
                <a:cs typeface="Times New Roman" pitchFamily="18" charset="0"/>
              </a:rPr>
              <a:t>Break – Even Analysis for a Single Project</a:t>
            </a:r>
          </a:p>
        </p:txBody>
      </p:sp>
    </p:spTree>
    <p:extLst>
      <p:ext uri="{BB962C8B-B14F-4D97-AF65-F5344CB8AC3E}">
        <p14:creationId xmlns:p14="http://schemas.microsoft.com/office/powerpoint/2010/main" val="3448584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920151" y="1252268"/>
            <a:ext cx="8686800" cy="5257800"/>
          </a:xfrm>
        </p:spPr>
        <p:txBody>
          <a:bodyPr>
            <a:normAutofit/>
          </a:bodyPr>
          <a:lstStyle/>
          <a:p>
            <a:pPr eaLnBrk="1" hangingPunct="1">
              <a:buFontTx/>
              <a:buNone/>
            </a:pP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Let ,</a:t>
            </a:r>
          </a:p>
          <a:p>
            <a:pPr eaLnBrk="1" hangingPunct="1">
              <a:buFontTx/>
              <a:buNone/>
            </a:pPr>
            <a:r>
              <a:rPr lang="en-US" sz="2800" dirty="0">
                <a:latin typeface="Times New Roman" pitchFamily="18" charset="0"/>
                <a:cs typeface="Times New Roman" pitchFamily="18" charset="0"/>
              </a:rPr>
              <a:t>              </a:t>
            </a:r>
            <a:r>
              <a:rPr lang="en-US" sz="2800" b="1" dirty="0">
                <a:solidFill>
                  <a:srgbClr val="000099"/>
                </a:solidFill>
                <a:latin typeface="Times New Roman" pitchFamily="18" charset="0"/>
                <a:cs typeface="Times New Roman" pitchFamily="18" charset="0"/>
              </a:rPr>
              <a:t>s</a:t>
            </a:r>
            <a:r>
              <a:rPr lang="en-US" sz="2800" b="1" dirty="0">
                <a:latin typeface="Times New Roman" pitchFamily="18" charset="0"/>
                <a:cs typeface="Times New Roman" pitchFamily="18" charset="0"/>
              </a:rPr>
              <a:t>    be the selling price per unit.</a:t>
            </a:r>
          </a:p>
          <a:p>
            <a:pPr eaLnBrk="1" hangingPunct="1">
              <a:buFontTx/>
              <a:buNone/>
            </a:pPr>
            <a:r>
              <a:rPr lang="en-US" sz="2800" b="1" dirty="0">
                <a:latin typeface="Times New Roman" pitchFamily="18" charset="0"/>
                <a:cs typeface="Times New Roman" pitchFamily="18" charset="0"/>
              </a:rPr>
              <a:t>              </a:t>
            </a:r>
            <a:r>
              <a:rPr lang="en-US" sz="2800" b="1" dirty="0">
                <a:solidFill>
                  <a:srgbClr val="000099"/>
                </a:solidFill>
                <a:latin typeface="Times New Roman" pitchFamily="18" charset="0"/>
                <a:cs typeface="Times New Roman" pitchFamily="18" charset="0"/>
              </a:rPr>
              <a:t>v</a:t>
            </a:r>
            <a:r>
              <a:rPr lang="en-US" sz="2800" b="1" dirty="0">
                <a:latin typeface="Times New Roman" pitchFamily="18" charset="0"/>
                <a:cs typeface="Times New Roman" pitchFamily="18" charset="0"/>
              </a:rPr>
              <a:t>    be the variable cost per unit.</a:t>
            </a:r>
          </a:p>
          <a:p>
            <a:pPr eaLnBrk="1" hangingPunct="1">
              <a:buFontTx/>
              <a:buNone/>
            </a:pPr>
            <a:r>
              <a:rPr lang="en-US" sz="2800" b="1" dirty="0">
                <a:solidFill>
                  <a:srgbClr val="000099"/>
                </a:solidFill>
                <a:latin typeface="Times New Roman" pitchFamily="18" charset="0"/>
                <a:cs typeface="Times New Roman" pitchFamily="18" charset="0"/>
              </a:rPr>
              <a:t>             FC</a:t>
            </a:r>
            <a:r>
              <a:rPr lang="en-US" sz="2800" b="1" dirty="0">
                <a:latin typeface="Times New Roman" pitchFamily="18" charset="0"/>
                <a:cs typeface="Times New Roman" pitchFamily="18" charset="0"/>
              </a:rPr>
              <a:t>  be the fixed cost per period.</a:t>
            </a:r>
          </a:p>
          <a:p>
            <a:pPr eaLnBrk="1" hangingPunct="1">
              <a:buFontTx/>
              <a:buNone/>
            </a:pPr>
            <a:r>
              <a:rPr lang="en-US" sz="2800" b="1" dirty="0">
                <a:solidFill>
                  <a:srgbClr val="000099"/>
                </a:solidFill>
                <a:latin typeface="Times New Roman" pitchFamily="18" charset="0"/>
                <a:cs typeface="Times New Roman" pitchFamily="18" charset="0"/>
              </a:rPr>
              <a:t>               Q</a:t>
            </a:r>
            <a:r>
              <a:rPr lang="en-US" sz="2800" b="1" dirty="0">
                <a:latin typeface="Times New Roman" pitchFamily="18" charset="0"/>
                <a:cs typeface="Times New Roman" pitchFamily="18" charset="0"/>
              </a:rPr>
              <a:t>  be the quantity of production.</a:t>
            </a:r>
          </a:p>
          <a:p>
            <a:pPr eaLnBrk="1" hangingPunct="1">
              <a:buFontTx/>
              <a:buNone/>
            </a:pPr>
            <a:endParaRPr lang="en-US" sz="2800" b="1" dirty="0">
              <a:latin typeface="Times New Roman" pitchFamily="18" charset="0"/>
              <a:cs typeface="Times New Roman" pitchFamily="18" charset="0"/>
            </a:endParaRPr>
          </a:p>
          <a:p>
            <a:pPr eaLnBrk="1" hangingPunct="1"/>
            <a:r>
              <a:rPr lang="en-US" sz="2800" b="1" dirty="0">
                <a:solidFill>
                  <a:srgbClr val="990000"/>
                </a:solidFill>
                <a:latin typeface="Times New Roman" pitchFamily="18" charset="0"/>
                <a:cs typeface="Times New Roman" pitchFamily="18" charset="0"/>
              </a:rPr>
              <a:t>Total sales (S) = </a:t>
            </a:r>
            <a:r>
              <a:rPr lang="en-US" sz="2800" b="1" dirty="0">
                <a:latin typeface="Times New Roman" pitchFamily="18" charset="0"/>
                <a:cs typeface="Times New Roman" pitchFamily="18" charset="0"/>
              </a:rPr>
              <a:t>s*Q ………………………………..(1)</a:t>
            </a:r>
          </a:p>
          <a:p>
            <a:pPr eaLnBrk="1" hangingPunct="1"/>
            <a:r>
              <a:rPr lang="en-US" sz="2800" b="1" dirty="0">
                <a:solidFill>
                  <a:srgbClr val="990000"/>
                </a:solidFill>
                <a:latin typeface="Times New Roman" pitchFamily="18" charset="0"/>
                <a:cs typeface="Times New Roman" pitchFamily="18" charset="0"/>
              </a:rPr>
              <a:t>Total cost of Firm (TC)</a:t>
            </a:r>
            <a:r>
              <a:rPr lang="en-US" sz="2800" b="1" dirty="0">
                <a:latin typeface="Times New Roman" pitchFamily="18" charset="0"/>
                <a:cs typeface="Times New Roman" pitchFamily="18" charset="0"/>
              </a:rPr>
              <a:t> = Variable cost + Fixed cost</a:t>
            </a:r>
          </a:p>
          <a:p>
            <a:pPr eaLnBrk="1" hangingPunct="1">
              <a:buFontTx/>
              <a:buNone/>
            </a:pPr>
            <a:r>
              <a:rPr lang="en-US" sz="2800" b="1" dirty="0">
                <a:latin typeface="Times New Roman" pitchFamily="18" charset="0"/>
                <a:cs typeface="Times New Roman" pitchFamily="18" charset="0"/>
              </a:rPr>
              <a:t>                                  </a:t>
            </a:r>
            <a:r>
              <a:rPr lang="en-US" sz="2800" b="1" dirty="0">
                <a:solidFill>
                  <a:srgbClr val="990000"/>
                </a:solidFill>
                <a:latin typeface="Times New Roman" pitchFamily="18" charset="0"/>
                <a:cs typeface="Times New Roman" pitchFamily="18" charset="0"/>
              </a:rPr>
              <a:t>(TC) =   </a:t>
            </a:r>
            <a:r>
              <a:rPr lang="en-US" sz="2800" b="1" dirty="0">
                <a:latin typeface="Times New Roman" pitchFamily="18" charset="0"/>
                <a:cs typeface="Times New Roman" pitchFamily="18" charset="0"/>
              </a:rPr>
              <a:t>v*Q + FC…………….. (2)</a:t>
            </a:r>
          </a:p>
        </p:txBody>
      </p:sp>
      <p:sp>
        <p:nvSpPr>
          <p:cNvPr id="5" name="Title 1"/>
          <p:cNvSpPr>
            <a:spLocks noGrp="1"/>
          </p:cNvSpPr>
          <p:nvPr>
            <p:ph type="title"/>
          </p:nvPr>
        </p:nvSpPr>
        <p:spPr>
          <a:xfrm>
            <a:off x="665671" y="112144"/>
            <a:ext cx="10515600" cy="1325563"/>
          </a:xfrm>
        </p:spPr>
        <p:txBody>
          <a:bodyPr>
            <a:normAutofit/>
          </a:bodyPr>
          <a:lstStyle/>
          <a:p>
            <a:r>
              <a:rPr lang="en-US" sz="3200" b="1" dirty="0">
                <a:solidFill>
                  <a:srgbClr val="990000"/>
                </a:solidFill>
                <a:latin typeface="Times New Roman" pitchFamily="18" charset="0"/>
                <a:cs typeface="Times New Roman" pitchFamily="18" charset="0"/>
              </a:rPr>
              <a:t>Break – Even Analysis for a Single Project (Cont’d..) </a:t>
            </a:r>
          </a:p>
        </p:txBody>
      </p:sp>
    </p:spTree>
    <p:extLst>
      <p:ext uri="{BB962C8B-B14F-4D97-AF65-F5344CB8AC3E}">
        <p14:creationId xmlns:p14="http://schemas.microsoft.com/office/powerpoint/2010/main" val="3220084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a:spLocks noChangeArrowheads="1"/>
          </p:cNvSpPr>
          <p:nvPr/>
        </p:nvSpPr>
        <p:spPr bwMode="auto">
          <a:xfrm>
            <a:off x="3541143" y="1323973"/>
            <a:ext cx="579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800" b="1" dirty="0">
                <a:solidFill>
                  <a:srgbClr val="000099"/>
                </a:solidFill>
                <a:latin typeface="Times New Roman" pitchFamily="18" charset="0"/>
                <a:cs typeface="Times New Roman" pitchFamily="18" charset="0"/>
              </a:rPr>
              <a:t>Linear plot of two equations </a:t>
            </a:r>
          </a:p>
        </p:txBody>
      </p:sp>
      <p:sp>
        <p:nvSpPr>
          <p:cNvPr id="8195" name="Line 5"/>
          <p:cNvSpPr>
            <a:spLocks noChangeShapeType="1"/>
          </p:cNvSpPr>
          <p:nvPr/>
        </p:nvSpPr>
        <p:spPr bwMode="auto">
          <a:xfrm flipV="1">
            <a:off x="2286000" y="2189671"/>
            <a:ext cx="0" cy="3124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7" name="Line 7"/>
          <p:cNvSpPr>
            <a:spLocks noChangeShapeType="1"/>
          </p:cNvSpPr>
          <p:nvPr/>
        </p:nvSpPr>
        <p:spPr bwMode="auto">
          <a:xfrm flipV="1">
            <a:off x="2286000" y="2189671"/>
            <a:ext cx="0" cy="3124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8" name="Line 8"/>
          <p:cNvSpPr>
            <a:spLocks noChangeShapeType="1"/>
          </p:cNvSpPr>
          <p:nvPr/>
        </p:nvSpPr>
        <p:spPr bwMode="auto">
          <a:xfrm>
            <a:off x="2268748" y="5339750"/>
            <a:ext cx="6477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199" name="Line 10"/>
          <p:cNvSpPr>
            <a:spLocks noChangeShapeType="1"/>
          </p:cNvSpPr>
          <p:nvPr/>
        </p:nvSpPr>
        <p:spPr bwMode="auto">
          <a:xfrm flipV="1">
            <a:off x="2286000" y="4094671"/>
            <a:ext cx="5410200" cy="1219200"/>
          </a:xfrm>
          <a:prstGeom prst="line">
            <a:avLst/>
          </a:prstGeom>
          <a:noFill/>
          <a:ln w="28575">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 name="Line 11"/>
          <p:cNvSpPr>
            <a:spLocks noChangeShapeType="1"/>
          </p:cNvSpPr>
          <p:nvPr/>
        </p:nvSpPr>
        <p:spPr bwMode="auto">
          <a:xfrm flipV="1">
            <a:off x="2286000" y="3866071"/>
            <a:ext cx="5334000" cy="6096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 name="Line 12"/>
          <p:cNvSpPr>
            <a:spLocks noChangeShapeType="1"/>
          </p:cNvSpPr>
          <p:nvPr/>
        </p:nvSpPr>
        <p:spPr bwMode="auto">
          <a:xfrm flipV="1">
            <a:off x="2286000" y="3180271"/>
            <a:ext cx="5334000" cy="21336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 name="Freeform 14"/>
          <p:cNvSpPr>
            <a:spLocks/>
          </p:cNvSpPr>
          <p:nvPr/>
        </p:nvSpPr>
        <p:spPr bwMode="auto">
          <a:xfrm>
            <a:off x="2286000" y="4170871"/>
            <a:ext cx="2819400" cy="1143000"/>
          </a:xfrm>
          <a:custGeom>
            <a:avLst/>
            <a:gdLst>
              <a:gd name="T0" fmla="*/ 0 w 1776"/>
              <a:gd name="T1" fmla="*/ 2147483647 h 720"/>
              <a:gd name="T2" fmla="*/ 0 w 1776"/>
              <a:gd name="T3" fmla="*/ 2147483647 h 720"/>
              <a:gd name="T4" fmla="*/ 2147483647 w 1776"/>
              <a:gd name="T5" fmla="*/ 0 h 720"/>
              <a:gd name="T6" fmla="*/ 0 w 1776"/>
              <a:gd name="T7" fmla="*/ 2147483647 h 720"/>
              <a:gd name="T8" fmla="*/ 0 60000 65536"/>
              <a:gd name="T9" fmla="*/ 0 60000 65536"/>
              <a:gd name="T10" fmla="*/ 0 60000 65536"/>
              <a:gd name="T11" fmla="*/ 0 60000 65536"/>
              <a:gd name="T12" fmla="*/ 0 w 1776"/>
              <a:gd name="T13" fmla="*/ 0 h 720"/>
              <a:gd name="T14" fmla="*/ 1776 w 1776"/>
              <a:gd name="T15" fmla="*/ 720 h 720"/>
            </a:gdLst>
            <a:ahLst/>
            <a:cxnLst>
              <a:cxn ang="T8">
                <a:pos x="T0" y="T1"/>
              </a:cxn>
              <a:cxn ang="T9">
                <a:pos x="T2" y="T3"/>
              </a:cxn>
              <a:cxn ang="T10">
                <a:pos x="T4" y="T5"/>
              </a:cxn>
              <a:cxn ang="T11">
                <a:pos x="T6" y="T7"/>
              </a:cxn>
            </a:cxnLst>
            <a:rect l="T12" t="T13" r="T14" b="T15"/>
            <a:pathLst>
              <a:path w="1776" h="720">
                <a:moveTo>
                  <a:pt x="0" y="192"/>
                </a:moveTo>
                <a:lnTo>
                  <a:pt x="0" y="720"/>
                </a:lnTo>
                <a:lnTo>
                  <a:pt x="1776" y="0"/>
                </a:lnTo>
                <a:lnTo>
                  <a:pt x="0" y="192"/>
                </a:lnTo>
                <a:close/>
              </a:path>
            </a:pathLst>
          </a:custGeom>
          <a:solidFill>
            <a:srgbClr val="CCFFFF"/>
          </a:solidFill>
          <a:ln w="9525">
            <a:solidFill>
              <a:schemeClr val="tx1"/>
            </a:solidFill>
            <a:round/>
            <a:headEnd/>
            <a:tailEnd/>
          </a:ln>
        </p:spPr>
        <p:txBody>
          <a:bodyPr/>
          <a:lstStyle/>
          <a:p>
            <a:endParaRPr lang="en-US"/>
          </a:p>
        </p:txBody>
      </p:sp>
      <p:sp>
        <p:nvSpPr>
          <p:cNvPr id="8203" name="Freeform 15"/>
          <p:cNvSpPr>
            <a:spLocks/>
          </p:cNvSpPr>
          <p:nvPr/>
        </p:nvSpPr>
        <p:spPr bwMode="auto">
          <a:xfrm>
            <a:off x="5105400" y="3180271"/>
            <a:ext cx="2514600" cy="990600"/>
          </a:xfrm>
          <a:custGeom>
            <a:avLst/>
            <a:gdLst>
              <a:gd name="T0" fmla="*/ 0 w 1296"/>
              <a:gd name="T1" fmla="*/ 2147483647 h 528"/>
              <a:gd name="T2" fmla="*/ 2147483647 w 1296"/>
              <a:gd name="T3" fmla="*/ 0 h 528"/>
              <a:gd name="T4" fmla="*/ 2147483647 w 1296"/>
              <a:gd name="T5" fmla="*/ 2147483647 h 528"/>
              <a:gd name="T6" fmla="*/ 0 w 1296"/>
              <a:gd name="T7" fmla="*/ 2147483647 h 528"/>
              <a:gd name="T8" fmla="*/ 0 60000 65536"/>
              <a:gd name="T9" fmla="*/ 0 60000 65536"/>
              <a:gd name="T10" fmla="*/ 0 60000 65536"/>
              <a:gd name="T11" fmla="*/ 0 60000 65536"/>
              <a:gd name="T12" fmla="*/ 0 w 1296"/>
              <a:gd name="T13" fmla="*/ 0 h 528"/>
              <a:gd name="T14" fmla="*/ 1296 w 1296"/>
              <a:gd name="T15" fmla="*/ 528 h 528"/>
            </a:gdLst>
            <a:ahLst/>
            <a:cxnLst>
              <a:cxn ang="T8">
                <a:pos x="T0" y="T1"/>
              </a:cxn>
              <a:cxn ang="T9">
                <a:pos x="T2" y="T3"/>
              </a:cxn>
              <a:cxn ang="T10">
                <a:pos x="T4" y="T5"/>
              </a:cxn>
              <a:cxn ang="T11">
                <a:pos x="T6" y="T7"/>
              </a:cxn>
            </a:cxnLst>
            <a:rect l="T12" t="T13" r="T14" b="T15"/>
            <a:pathLst>
              <a:path w="1296" h="528">
                <a:moveTo>
                  <a:pt x="0" y="528"/>
                </a:moveTo>
                <a:lnTo>
                  <a:pt x="1296" y="0"/>
                </a:lnTo>
                <a:lnTo>
                  <a:pt x="1296" y="384"/>
                </a:lnTo>
                <a:lnTo>
                  <a:pt x="0" y="528"/>
                </a:lnTo>
                <a:close/>
              </a:path>
            </a:pathLst>
          </a:custGeom>
          <a:solidFill>
            <a:srgbClr val="CC99FF"/>
          </a:solidFill>
          <a:ln w="9525">
            <a:solidFill>
              <a:schemeClr val="tx1"/>
            </a:solidFill>
            <a:round/>
            <a:headEnd/>
            <a:tailEnd/>
          </a:ln>
        </p:spPr>
        <p:txBody>
          <a:bodyPr/>
          <a:lstStyle/>
          <a:p>
            <a:endParaRPr lang="en-US"/>
          </a:p>
        </p:txBody>
      </p:sp>
      <p:sp>
        <p:nvSpPr>
          <p:cNvPr id="8204" name="Line 9"/>
          <p:cNvSpPr>
            <a:spLocks noChangeShapeType="1"/>
          </p:cNvSpPr>
          <p:nvPr/>
        </p:nvSpPr>
        <p:spPr bwMode="auto">
          <a:xfrm>
            <a:off x="2286000" y="4475671"/>
            <a:ext cx="5410200" cy="0"/>
          </a:xfrm>
          <a:prstGeom prst="line">
            <a:avLst/>
          </a:prstGeom>
          <a:noFill/>
          <a:ln w="28575">
            <a:solidFill>
              <a:srgbClr val="CC00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 name="Line 16"/>
          <p:cNvSpPr>
            <a:spLocks noChangeShapeType="1"/>
          </p:cNvSpPr>
          <p:nvPr/>
        </p:nvSpPr>
        <p:spPr bwMode="auto">
          <a:xfrm flipV="1">
            <a:off x="2286000" y="4170871"/>
            <a:ext cx="28194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206" name="Line 17"/>
          <p:cNvSpPr>
            <a:spLocks noChangeShapeType="1"/>
          </p:cNvSpPr>
          <p:nvPr/>
        </p:nvSpPr>
        <p:spPr bwMode="auto">
          <a:xfrm>
            <a:off x="5105400" y="4170871"/>
            <a:ext cx="0" cy="114300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207" name="Text Box 18"/>
          <p:cNvSpPr txBox="1">
            <a:spLocks noChangeArrowheads="1"/>
          </p:cNvSpPr>
          <p:nvPr/>
        </p:nvSpPr>
        <p:spPr bwMode="auto">
          <a:xfrm>
            <a:off x="1447800" y="1843087"/>
            <a:ext cx="2590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latin typeface="Times New Roman" panose="02020603050405020304" pitchFamily="18" charset="0"/>
                <a:cs typeface="Times New Roman" panose="02020603050405020304" pitchFamily="18" charset="0"/>
              </a:rPr>
              <a:t>Cost and Revenues</a:t>
            </a:r>
          </a:p>
        </p:txBody>
      </p:sp>
      <p:sp>
        <p:nvSpPr>
          <p:cNvPr id="8208" name="Text Box 19"/>
          <p:cNvSpPr txBox="1">
            <a:spLocks noChangeArrowheads="1"/>
          </p:cNvSpPr>
          <p:nvPr/>
        </p:nvSpPr>
        <p:spPr bwMode="auto">
          <a:xfrm>
            <a:off x="7467600" y="5390072"/>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Production (Q)</a:t>
            </a:r>
            <a:r>
              <a:rPr lang="en-US"/>
              <a:t> </a:t>
            </a:r>
          </a:p>
        </p:txBody>
      </p:sp>
      <p:sp>
        <p:nvSpPr>
          <p:cNvPr id="8209" name="Text Box 20"/>
          <p:cNvSpPr txBox="1">
            <a:spLocks noChangeArrowheads="1"/>
          </p:cNvSpPr>
          <p:nvPr/>
        </p:nvSpPr>
        <p:spPr bwMode="auto">
          <a:xfrm>
            <a:off x="7620000" y="4323271"/>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b="1" dirty="0">
                <a:latin typeface="Times New Roman" panose="02020603050405020304" pitchFamily="18" charset="0"/>
                <a:cs typeface="Times New Roman" panose="02020603050405020304" pitchFamily="18" charset="0"/>
              </a:rPr>
              <a:t>Fixed cost</a:t>
            </a:r>
          </a:p>
        </p:txBody>
      </p:sp>
      <p:sp>
        <p:nvSpPr>
          <p:cNvPr id="8210" name="Text Box 21"/>
          <p:cNvSpPr txBox="1">
            <a:spLocks noChangeArrowheads="1"/>
          </p:cNvSpPr>
          <p:nvPr/>
        </p:nvSpPr>
        <p:spPr bwMode="auto">
          <a:xfrm>
            <a:off x="7543800" y="3942271"/>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b="1" dirty="0">
                <a:latin typeface="Times New Roman" panose="02020603050405020304" pitchFamily="18" charset="0"/>
                <a:cs typeface="Times New Roman" panose="02020603050405020304" pitchFamily="18" charset="0"/>
              </a:rPr>
              <a:t>Variable cost</a:t>
            </a:r>
          </a:p>
        </p:txBody>
      </p:sp>
      <p:sp>
        <p:nvSpPr>
          <p:cNvPr id="8211" name="Text Box 22"/>
          <p:cNvSpPr txBox="1">
            <a:spLocks noChangeArrowheads="1"/>
          </p:cNvSpPr>
          <p:nvPr/>
        </p:nvSpPr>
        <p:spPr bwMode="auto">
          <a:xfrm>
            <a:off x="7467600" y="3637471"/>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b="1" dirty="0">
                <a:latin typeface="Times New Roman" panose="02020603050405020304" pitchFamily="18" charset="0"/>
                <a:cs typeface="Times New Roman" panose="02020603050405020304" pitchFamily="18" charset="0"/>
              </a:rPr>
              <a:t>Total  cost</a:t>
            </a:r>
          </a:p>
        </p:txBody>
      </p:sp>
      <p:sp>
        <p:nvSpPr>
          <p:cNvPr id="8212" name="Text Box 23"/>
          <p:cNvSpPr txBox="1">
            <a:spLocks noChangeArrowheads="1"/>
          </p:cNvSpPr>
          <p:nvPr/>
        </p:nvSpPr>
        <p:spPr bwMode="auto">
          <a:xfrm>
            <a:off x="7162800" y="2799271"/>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b="1" dirty="0">
                <a:latin typeface="Times New Roman" panose="02020603050405020304" pitchFamily="18" charset="0"/>
                <a:cs typeface="Times New Roman" panose="02020603050405020304" pitchFamily="18" charset="0"/>
              </a:rPr>
              <a:t>Total Sales</a:t>
            </a:r>
          </a:p>
        </p:txBody>
      </p:sp>
      <p:sp>
        <p:nvSpPr>
          <p:cNvPr id="8213" name="Text Box 24"/>
          <p:cNvSpPr txBox="1">
            <a:spLocks noChangeArrowheads="1"/>
          </p:cNvSpPr>
          <p:nvPr/>
        </p:nvSpPr>
        <p:spPr bwMode="auto">
          <a:xfrm>
            <a:off x="4876800" y="5390072"/>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solidFill>
                  <a:srgbClr val="990000"/>
                </a:solidFill>
              </a:rPr>
              <a:t>BEP</a:t>
            </a:r>
            <a:r>
              <a:rPr lang="en-US" b="1" baseline="-25000" dirty="0">
                <a:solidFill>
                  <a:srgbClr val="990000"/>
                </a:solidFill>
              </a:rPr>
              <a:t>Q</a:t>
            </a:r>
          </a:p>
        </p:txBody>
      </p:sp>
      <p:sp>
        <p:nvSpPr>
          <p:cNvPr id="8214" name="Text Box 25"/>
          <p:cNvSpPr txBox="1">
            <a:spLocks noChangeArrowheads="1"/>
          </p:cNvSpPr>
          <p:nvPr/>
        </p:nvSpPr>
        <p:spPr bwMode="auto">
          <a:xfrm>
            <a:off x="1178943" y="3881750"/>
            <a:ext cx="11832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solidFill>
                  <a:srgbClr val="990000"/>
                </a:solidFill>
              </a:rPr>
              <a:t>BEP </a:t>
            </a:r>
            <a:r>
              <a:rPr lang="en-US" b="1" baseline="-25000" dirty="0">
                <a:solidFill>
                  <a:srgbClr val="990000"/>
                </a:solidFill>
              </a:rPr>
              <a:t>sales</a:t>
            </a:r>
          </a:p>
        </p:txBody>
      </p:sp>
      <p:sp>
        <p:nvSpPr>
          <p:cNvPr id="8215" name="Text Box 26"/>
          <p:cNvSpPr txBox="1">
            <a:spLocks noChangeArrowheads="1"/>
          </p:cNvSpPr>
          <p:nvPr/>
        </p:nvSpPr>
        <p:spPr bwMode="auto">
          <a:xfrm>
            <a:off x="6629400" y="3561272"/>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990000"/>
                </a:solidFill>
              </a:rPr>
              <a:t>Profit</a:t>
            </a:r>
          </a:p>
        </p:txBody>
      </p:sp>
      <p:sp>
        <p:nvSpPr>
          <p:cNvPr id="8216" name="Text Box 27"/>
          <p:cNvSpPr txBox="1">
            <a:spLocks noChangeArrowheads="1"/>
          </p:cNvSpPr>
          <p:nvPr/>
        </p:nvSpPr>
        <p:spPr bwMode="auto">
          <a:xfrm>
            <a:off x="2743200" y="4475672"/>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990000"/>
                </a:solidFill>
              </a:rPr>
              <a:t>Loss</a:t>
            </a:r>
          </a:p>
        </p:txBody>
      </p:sp>
      <p:sp>
        <p:nvSpPr>
          <p:cNvPr id="8217" name="Text Box 28"/>
          <p:cNvSpPr txBox="1">
            <a:spLocks noChangeArrowheads="1"/>
          </p:cNvSpPr>
          <p:nvPr/>
        </p:nvSpPr>
        <p:spPr bwMode="auto">
          <a:xfrm>
            <a:off x="2743200" y="5827427"/>
            <a:ext cx="510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b="1" dirty="0">
                <a:solidFill>
                  <a:srgbClr val="000099"/>
                </a:solidFill>
              </a:rPr>
              <a:t> A typical break even analysis figure</a:t>
            </a:r>
          </a:p>
        </p:txBody>
      </p:sp>
      <p:sp>
        <p:nvSpPr>
          <p:cNvPr id="26" name="Title 1"/>
          <p:cNvSpPr>
            <a:spLocks noGrp="1"/>
          </p:cNvSpPr>
          <p:nvPr>
            <p:ph type="title"/>
          </p:nvPr>
        </p:nvSpPr>
        <p:spPr>
          <a:xfrm>
            <a:off x="1178943" y="130713"/>
            <a:ext cx="10515600" cy="1325563"/>
          </a:xfrm>
        </p:spPr>
        <p:txBody>
          <a:bodyPr>
            <a:normAutofit/>
          </a:bodyPr>
          <a:lstStyle/>
          <a:p>
            <a:r>
              <a:rPr lang="en-US" sz="3200" b="1" dirty="0">
                <a:solidFill>
                  <a:srgbClr val="990000"/>
                </a:solidFill>
                <a:latin typeface="Times New Roman" pitchFamily="18" charset="0"/>
                <a:cs typeface="Times New Roman" pitchFamily="18" charset="0"/>
              </a:rPr>
              <a:t>Break – Even Analysis for a Single Project</a:t>
            </a:r>
          </a:p>
        </p:txBody>
      </p:sp>
    </p:spTree>
    <p:extLst>
      <p:ext uri="{BB962C8B-B14F-4D97-AF65-F5344CB8AC3E}">
        <p14:creationId xmlns:p14="http://schemas.microsoft.com/office/powerpoint/2010/main" val="2361044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166" y="1483653"/>
            <a:ext cx="9349596" cy="4977531"/>
          </a:xfrm>
        </p:spPr>
        <p:txBody>
          <a:bodyPr>
            <a:normAutofit/>
          </a:bodyPr>
          <a:lstStyle/>
          <a:p>
            <a:pPr marL="0" indent="0" algn="just">
              <a:lnSpc>
                <a:spcPct val="110000"/>
              </a:lnSpc>
              <a:buNone/>
            </a:pPr>
            <a:r>
              <a:rPr lang="en-US" b="1" dirty="0">
                <a:latin typeface="Times New Roman" pitchFamily="18" charset="0"/>
                <a:cs typeface="Times New Roman" pitchFamily="18" charset="0"/>
              </a:rPr>
              <a:t>The intersection point of the </a:t>
            </a:r>
            <a:r>
              <a:rPr lang="en-US" b="1" dirty="0">
                <a:solidFill>
                  <a:srgbClr val="000099"/>
                </a:solidFill>
                <a:latin typeface="Times New Roman" pitchFamily="18" charset="0"/>
                <a:cs typeface="Times New Roman" pitchFamily="18" charset="0"/>
              </a:rPr>
              <a:t>total sales revenues</a:t>
            </a:r>
            <a:r>
              <a:rPr lang="en-US" b="1" dirty="0">
                <a:latin typeface="Times New Roman" pitchFamily="18" charset="0"/>
                <a:cs typeface="Times New Roman" pitchFamily="18" charset="0"/>
              </a:rPr>
              <a:t> and the </a:t>
            </a:r>
            <a:r>
              <a:rPr lang="en-US" b="1" dirty="0">
                <a:solidFill>
                  <a:srgbClr val="000099"/>
                </a:solidFill>
                <a:latin typeface="Times New Roman" pitchFamily="18" charset="0"/>
                <a:cs typeface="Times New Roman" pitchFamily="18" charset="0"/>
              </a:rPr>
              <a:t>total cost line</a:t>
            </a:r>
            <a:r>
              <a:rPr lang="en-US" b="1" dirty="0">
                <a:latin typeface="Times New Roman" pitchFamily="18" charset="0"/>
                <a:cs typeface="Times New Roman" pitchFamily="18" charset="0"/>
              </a:rPr>
              <a:t> is called the</a:t>
            </a:r>
            <a:r>
              <a:rPr lang="en-US" b="1" i="1" dirty="0">
                <a:latin typeface="Times New Roman" pitchFamily="18" charset="0"/>
                <a:cs typeface="Times New Roman" pitchFamily="18" charset="0"/>
              </a:rPr>
              <a:t> </a:t>
            </a:r>
            <a:r>
              <a:rPr lang="en-US" b="1" i="1" dirty="0">
                <a:solidFill>
                  <a:srgbClr val="000099"/>
                </a:solidFill>
                <a:latin typeface="Times New Roman" pitchFamily="18" charset="0"/>
                <a:cs typeface="Times New Roman" pitchFamily="18" charset="0"/>
              </a:rPr>
              <a:t>break even point</a:t>
            </a:r>
            <a:r>
              <a:rPr lang="en-US" b="1" i="1" dirty="0">
                <a:latin typeface="Times New Roman" pitchFamily="18" charset="0"/>
                <a:cs typeface="Times New Roman" pitchFamily="18" charset="0"/>
              </a:rPr>
              <a:t>. </a:t>
            </a:r>
            <a:r>
              <a:rPr lang="en-US" b="1" dirty="0">
                <a:latin typeface="Times New Roman" pitchFamily="18" charset="0"/>
                <a:cs typeface="Times New Roman" pitchFamily="18" charset="0"/>
              </a:rPr>
              <a:t>At the intersection point the </a:t>
            </a:r>
            <a:r>
              <a:rPr lang="en-US" b="1" dirty="0">
                <a:solidFill>
                  <a:srgbClr val="000099"/>
                </a:solidFill>
                <a:latin typeface="Times New Roman" pitchFamily="18" charset="0"/>
                <a:cs typeface="Times New Roman" pitchFamily="18" charset="0"/>
              </a:rPr>
              <a:t>total cost is equal to total revenue</a:t>
            </a:r>
            <a:r>
              <a:rPr lang="en-US" b="1" dirty="0">
                <a:latin typeface="Times New Roman" pitchFamily="18" charset="0"/>
                <a:cs typeface="Times New Roman" pitchFamily="18" charset="0"/>
              </a:rPr>
              <a:t> and is the condition of no loss or no gain. </a:t>
            </a:r>
          </a:p>
          <a:p>
            <a:pPr algn="just">
              <a:lnSpc>
                <a:spcPct val="110000"/>
              </a:lnSpc>
              <a:buNone/>
            </a:pPr>
            <a:r>
              <a:rPr lang="en-US" b="1" dirty="0">
                <a:latin typeface="Times New Roman" pitchFamily="18" charset="0"/>
                <a:cs typeface="Times New Roman" pitchFamily="18" charset="0"/>
              </a:rPr>
              <a:t>           i.e.    </a:t>
            </a:r>
            <a:r>
              <a:rPr lang="en-US" b="1" dirty="0">
                <a:solidFill>
                  <a:srgbClr val="990000"/>
                </a:solidFill>
                <a:latin typeface="Times New Roman" pitchFamily="18" charset="0"/>
                <a:cs typeface="Times New Roman" pitchFamily="18" charset="0"/>
              </a:rPr>
              <a:t>Total Cost = Total Sales </a:t>
            </a:r>
          </a:p>
          <a:p>
            <a:pPr>
              <a:lnSpc>
                <a:spcPct val="110000"/>
              </a:lnSpc>
              <a:buNone/>
            </a:pPr>
            <a:r>
              <a:rPr lang="en-US" b="1" dirty="0">
                <a:latin typeface="Times New Roman" pitchFamily="18" charset="0"/>
                <a:cs typeface="Times New Roman" pitchFamily="18" charset="0"/>
              </a:rPr>
              <a:t>                   variable cost + fixed cost   = s*Q</a:t>
            </a:r>
          </a:p>
          <a:p>
            <a:pPr>
              <a:lnSpc>
                <a:spcPct val="110000"/>
              </a:lnSpc>
              <a:buNone/>
            </a:pPr>
            <a:r>
              <a:rPr lang="en-US" b="1" dirty="0">
                <a:latin typeface="Times New Roman" pitchFamily="18" charset="0"/>
                <a:cs typeface="Times New Roman" pitchFamily="18" charset="0"/>
              </a:rPr>
              <a:t>                    Or,      v*Q + FC = s*Q </a:t>
            </a:r>
          </a:p>
          <a:p>
            <a:pPr>
              <a:lnSpc>
                <a:spcPct val="110000"/>
              </a:lnSpc>
              <a:buNone/>
            </a:pPr>
            <a:r>
              <a:rPr lang="en-US" b="1" dirty="0">
                <a:latin typeface="Times New Roman" pitchFamily="18" charset="0"/>
                <a:cs typeface="Times New Roman" pitchFamily="18" charset="0"/>
              </a:rPr>
              <a:t>                     Or,       FC = s*Q – v*Q </a:t>
            </a:r>
          </a:p>
          <a:p>
            <a:pPr>
              <a:lnSpc>
                <a:spcPct val="110000"/>
              </a:lnSpc>
              <a:buNone/>
            </a:pPr>
            <a:r>
              <a:rPr lang="en-US" b="1" dirty="0">
                <a:latin typeface="Times New Roman" pitchFamily="18" charset="0"/>
                <a:cs typeface="Times New Roman" pitchFamily="18" charset="0"/>
              </a:rPr>
              <a:t>                      Or,      Q </a:t>
            </a:r>
            <a:r>
              <a:rPr lang="en-US" b="1" baseline="-25000" dirty="0">
                <a:latin typeface="Times New Roman" pitchFamily="18" charset="0"/>
                <a:cs typeface="Times New Roman" pitchFamily="18" charset="0"/>
              </a:rPr>
              <a:t>BEP </a:t>
            </a:r>
            <a:r>
              <a:rPr lang="en-US" b="1" dirty="0">
                <a:latin typeface="Times New Roman" pitchFamily="18" charset="0"/>
                <a:cs typeface="Times New Roman" pitchFamily="18" charset="0"/>
              </a:rPr>
              <a:t>= FC / (s – v)  (units) </a:t>
            </a:r>
          </a:p>
          <a:p>
            <a:pPr algn="just">
              <a:buNone/>
            </a:pPr>
            <a:endParaRPr lang="en-US" b="1" dirty="0">
              <a:solidFill>
                <a:srgbClr val="990000"/>
              </a:solidFill>
              <a:latin typeface="Times New Roman" pitchFamily="18" charset="0"/>
              <a:cs typeface="Times New Roman" pitchFamily="18" charset="0"/>
            </a:endParaRPr>
          </a:p>
          <a:p>
            <a:endParaRPr lang="en-US" dirty="0"/>
          </a:p>
        </p:txBody>
      </p:sp>
      <p:sp>
        <p:nvSpPr>
          <p:cNvPr id="4" name="Title 1"/>
          <p:cNvSpPr>
            <a:spLocks noGrp="1"/>
          </p:cNvSpPr>
          <p:nvPr>
            <p:ph type="title"/>
          </p:nvPr>
        </p:nvSpPr>
        <p:spPr>
          <a:xfrm>
            <a:off x="838200" y="158091"/>
            <a:ext cx="10515600" cy="1325563"/>
          </a:xfrm>
        </p:spPr>
        <p:txBody>
          <a:bodyPr>
            <a:normAutofit/>
          </a:bodyPr>
          <a:lstStyle/>
          <a:p>
            <a:r>
              <a:rPr lang="en-US" sz="3200" b="1" dirty="0">
                <a:solidFill>
                  <a:srgbClr val="990000"/>
                </a:solidFill>
                <a:latin typeface="Times New Roman" pitchFamily="18" charset="0"/>
                <a:cs typeface="Times New Roman" pitchFamily="18" charset="0"/>
              </a:rPr>
              <a:t>Break – Even Analysis for a Single Project</a:t>
            </a:r>
          </a:p>
        </p:txBody>
      </p:sp>
    </p:spTree>
    <p:extLst>
      <p:ext uri="{BB962C8B-B14F-4D97-AF65-F5344CB8AC3E}">
        <p14:creationId xmlns:p14="http://schemas.microsoft.com/office/powerpoint/2010/main" val="2454693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885645" y="1743975"/>
            <a:ext cx="9328030" cy="4525963"/>
          </a:xfrm>
        </p:spPr>
        <p:txBody>
          <a:bodyPr>
            <a:noAutofit/>
          </a:bodyPr>
          <a:lstStyle/>
          <a:p>
            <a:pPr marL="0" indent="0" algn="just" eaLnBrk="1" hangingPunct="1">
              <a:lnSpc>
                <a:spcPct val="100000"/>
              </a:lnSpc>
              <a:buNone/>
            </a:pPr>
            <a:r>
              <a:rPr lang="en-US" sz="2800" b="1" dirty="0">
                <a:latin typeface="Times New Roman" pitchFamily="18" charset="0"/>
                <a:cs typeface="Times New Roman" pitchFamily="18" charset="0"/>
              </a:rPr>
              <a:t>A company produces a product whose fixed cost and the total cost is $ 40,000 and $ 85,000 respectively. The total sales is $ 105,000 and sales volume is 15000. for this situation, </a:t>
            </a:r>
          </a:p>
          <a:p>
            <a:pPr algn="just" eaLnBrk="1" hangingPunct="1">
              <a:lnSpc>
                <a:spcPct val="100000"/>
              </a:lnSpc>
              <a:buFontTx/>
              <a:buNone/>
            </a:pP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(a) Find break even point in terms of number of units.</a:t>
            </a:r>
          </a:p>
          <a:p>
            <a:pPr algn="just" eaLnBrk="1" hangingPunct="1">
              <a:lnSpc>
                <a:spcPct val="100000"/>
              </a:lnSpc>
              <a:buFontTx/>
              <a:buNone/>
            </a:pPr>
            <a:r>
              <a:rPr lang="en-US" sz="2800" b="1" dirty="0">
                <a:latin typeface="Times New Roman" pitchFamily="18" charset="0"/>
                <a:cs typeface="Times New Roman" pitchFamily="18" charset="0"/>
              </a:rPr>
              <a:t>    (b)What should be the output if the profit desired is           $ 50,000?</a:t>
            </a:r>
          </a:p>
        </p:txBody>
      </p:sp>
      <p:sp>
        <p:nvSpPr>
          <p:cNvPr id="4" name="Title 1"/>
          <p:cNvSpPr txBox="1">
            <a:spLocks/>
          </p:cNvSpPr>
          <p:nvPr/>
        </p:nvSpPr>
        <p:spPr>
          <a:xfrm>
            <a:off x="1462489" y="418412"/>
            <a:ext cx="781840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990000"/>
                </a:solidFill>
                <a:latin typeface="Times New Roman" pitchFamily="18" charset="0"/>
                <a:cs typeface="Times New Roman" pitchFamily="18" charset="0"/>
              </a:rPr>
              <a:t>Break – Even Analysis for a Single Project Example</a:t>
            </a:r>
          </a:p>
        </p:txBody>
      </p:sp>
    </p:spTree>
    <p:extLst>
      <p:ext uri="{BB962C8B-B14F-4D97-AF65-F5344CB8AC3E}">
        <p14:creationId xmlns:p14="http://schemas.microsoft.com/office/powerpoint/2010/main" val="3598023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1227826" y="1426568"/>
            <a:ext cx="9775166" cy="3200400"/>
          </a:xfrm>
        </p:spPr>
        <p:txBody>
          <a:bodyPr>
            <a:normAutofit/>
          </a:bodyPr>
          <a:lstStyle/>
          <a:p>
            <a:pPr eaLnBrk="1" hangingPunct="1">
              <a:lnSpc>
                <a:spcPct val="90000"/>
              </a:lnSpc>
              <a:buFontTx/>
              <a:buNone/>
            </a:pPr>
            <a:r>
              <a:rPr lang="en-US" sz="2400" b="1" dirty="0">
                <a:latin typeface="Times New Roman" pitchFamily="18" charset="0"/>
                <a:cs typeface="Times New Roman" pitchFamily="18" charset="0"/>
              </a:rPr>
              <a:t>Given</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Fixed cost (FC) = $ 40,000</a:t>
            </a:r>
          </a:p>
          <a:p>
            <a:pPr eaLnBrk="1" hangingPunct="1">
              <a:lnSpc>
                <a:spcPct val="90000"/>
              </a:lnSpc>
              <a:buFontTx/>
              <a:buNone/>
            </a:pPr>
            <a:r>
              <a:rPr lang="en-US" sz="2400" b="1" dirty="0">
                <a:latin typeface="Times New Roman" pitchFamily="18" charset="0"/>
                <a:cs typeface="Times New Roman" pitchFamily="18" charset="0"/>
              </a:rPr>
              <a:t>            Total cost (TC) = $ 85,000</a:t>
            </a:r>
          </a:p>
          <a:p>
            <a:pPr eaLnBrk="1" hangingPunct="1">
              <a:lnSpc>
                <a:spcPct val="90000"/>
              </a:lnSpc>
              <a:buFontTx/>
              <a:buNone/>
            </a:pPr>
            <a:r>
              <a:rPr lang="en-US" sz="2400" b="1" dirty="0">
                <a:latin typeface="Times New Roman" pitchFamily="18" charset="0"/>
                <a:cs typeface="Times New Roman" pitchFamily="18" charset="0"/>
              </a:rPr>
              <a:t>            Total  sales (S) = $ 105,000</a:t>
            </a:r>
            <a:r>
              <a:rPr lang="en-US" sz="2400" dirty="0">
                <a:latin typeface="Times New Roman" pitchFamily="18" charset="0"/>
                <a:cs typeface="Times New Roman" pitchFamily="18" charset="0"/>
              </a:rPr>
              <a:t> </a:t>
            </a:r>
          </a:p>
          <a:p>
            <a:pPr eaLnBrk="1" hangingPunct="1">
              <a:lnSpc>
                <a:spcPct val="90000"/>
              </a:lnSpc>
              <a:buFontTx/>
              <a:buNone/>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Sales volume  = 15,000</a:t>
            </a:r>
          </a:p>
          <a:p>
            <a:pPr eaLnBrk="1" hangingPunct="1">
              <a:lnSpc>
                <a:spcPct val="90000"/>
              </a:lnSpc>
              <a:buFontTx/>
              <a:buNone/>
            </a:pPr>
            <a:r>
              <a:rPr lang="en-US" sz="2400" b="1" dirty="0">
                <a:latin typeface="Times New Roman" pitchFamily="18" charset="0"/>
                <a:cs typeface="Times New Roman" pitchFamily="18" charset="0"/>
              </a:rPr>
              <a:t>            Break even point (Q </a:t>
            </a:r>
            <a:r>
              <a:rPr lang="en-US" sz="2400" b="1" baseline="-25000" dirty="0">
                <a:latin typeface="Times New Roman" pitchFamily="18" charset="0"/>
                <a:cs typeface="Times New Roman" pitchFamily="18" charset="0"/>
              </a:rPr>
              <a:t>BEP</a:t>
            </a:r>
            <a:r>
              <a:rPr lang="en-US" sz="2400" b="1" dirty="0">
                <a:latin typeface="Times New Roman" pitchFamily="18" charset="0"/>
                <a:cs typeface="Times New Roman" pitchFamily="18" charset="0"/>
              </a:rPr>
              <a:t>) = ?</a:t>
            </a:r>
          </a:p>
          <a:p>
            <a:pPr eaLnBrk="1" hangingPunct="1">
              <a:lnSpc>
                <a:spcPct val="90000"/>
              </a:lnSpc>
              <a:buFontTx/>
              <a:buNone/>
            </a:pPr>
            <a:r>
              <a:rPr lang="en-US" sz="2400" b="1" dirty="0">
                <a:latin typeface="Times New Roman" pitchFamily="18" charset="0"/>
                <a:cs typeface="Times New Roman" pitchFamily="18" charset="0"/>
              </a:rPr>
              <a:t>            Break even point (Q </a:t>
            </a:r>
            <a:r>
              <a:rPr lang="en-US" sz="2400" b="1" baseline="-25000" dirty="0">
                <a:latin typeface="Times New Roman" pitchFamily="18" charset="0"/>
                <a:cs typeface="Times New Roman" pitchFamily="18" charset="0"/>
              </a:rPr>
              <a:t>BEP</a:t>
            </a:r>
            <a:r>
              <a:rPr lang="en-US" sz="2400" b="1" dirty="0">
                <a:latin typeface="Times New Roman" pitchFamily="18" charset="0"/>
                <a:cs typeface="Times New Roman" pitchFamily="18" charset="0"/>
              </a:rPr>
              <a:t>) = ? (if profit = $50,000)</a:t>
            </a:r>
          </a:p>
        </p:txBody>
      </p:sp>
      <p:sp>
        <p:nvSpPr>
          <p:cNvPr id="12291" name="Rectangle 4"/>
          <p:cNvSpPr>
            <a:spLocks noChangeArrowheads="1"/>
          </p:cNvSpPr>
          <p:nvPr/>
        </p:nvSpPr>
        <p:spPr bwMode="auto">
          <a:xfrm>
            <a:off x="1436298" y="4652420"/>
            <a:ext cx="60198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sz="2400" b="1" dirty="0">
                <a:solidFill>
                  <a:srgbClr val="990000"/>
                </a:solidFill>
                <a:latin typeface="Times New Roman" pitchFamily="18" charset="0"/>
                <a:cs typeface="Times New Roman" pitchFamily="18" charset="0"/>
              </a:rPr>
              <a:t>We know,</a:t>
            </a:r>
          </a:p>
          <a:p>
            <a:pPr>
              <a:spcBef>
                <a:spcPct val="20000"/>
              </a:spcBef>
            </a:pPr>
            <a:r>
              <a:rPr lang="en-US" sz="2400" b="1" dirty="0">
                <a:latin typeface="Times New Roman" pitchFamily="18" charset="0"/>
                <a:cs typeface="Times New Roman" pitchFamily="18" charset="0"/>
              </a:rPr>
              <a:t>Q </a:t>
            </a:r>
            <a:r>
              <a:rPr lang="en-US" sz="2400" b="1" baseline="-25000" dirty="0">
                <a:latin typeface="Times New Roman" pitchFamily="18" charset="0"/>
                <a:cs typeface="Times New Roman" pitchFamily="18" charset="0"/>
              </a:rPr>
              <a:t>BEP </a:t>
            </a:r>
            <a:r>
              <a:rPr lang="en-US" sz="2400" b="1" dirty="0">
                <a:latin typeface="Times New Roman" pitchFamily="18" charset="0"/>
                <a:cs typeface="Times New Roman" pitchFamily="18" charset="0"/>
              </a:rPr>
              <a:t> = FC / (s – v)</a:t>
            </a:r>
            <a:r>
              <a:rPr lang="en-US" sz="2400" b="1" dirty="0">
                <a:solidFill>
                  <a:srgbClr val="990000"/>
                </a:solidFill>
                <a:latin typeface="Times New Roman" pitchFamily="18" charset="0"/>
                <a:cs typeface="Times New Roman" pitchFamily="18" charset="0"/>
              </a:rPr>
              <a:t>  </a:t>
            </a:r>
            <a:r>
              <a:rPr lang="en-US" sz="2400" b="1" dirty="0">
                <a:latin typeface="Times New Roman" pitchFamily="18" charset="0"/>
                <a:cs typeface="Times New Roman" pitchFamily="18" charset="0"/>
              </a:rPr>
              <a:t>(units)</a:t>
            </a:r>
          </a:p>
        </p:txBody>
      </p:sp>
      <p:sp>
        <p:nvSpPr>
          <p:cNvPr id="12292" name="Text Box 5"/>
          <p:cNvSpPr txBox="1">
            <a:spLocks noChangeArrowheads="1"/>
          </p:cNvSpPr>
          <p:nvPr/>
        </p:nvSpPr>
        <p:spPr bwMode="auto">
          <a:xfrm>
            <a:off x="1752600" y="4195220"/>
            <a:ext cx="891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CC0099"/>
                </a:solidFill>
              </a:rPr>
              <a:t>(</a:t>
            </a:r>
            <a:r>
              <a:rPr lang="en-US" sz="2400" b="1" dirty="0">
                <a:solidFill>
                  <a:srgbClr val="CC0099"/>
                </a:solidFill>
                <a:latin typeface="Times New Roman" pitchFamily="18" charset="0"/>
                <a:cs typeface="Times New Roman" pitchFamily="18" charset="0"/>
              </a:rPr>
              <a:t>a) Finding the Break even point in terms of number of units</a:t>
            </a:r>
          </a:p>
        </p:txBody>
      </p:sp>
      <p:sp>
        <p:nvSpPr>
          <p:cNvPr id="12293" name="Rectangle 8"/>
          <p:cNvSpPr>
            <a:spLocks noChangeArrowheads="1"/>
          </p:cNvSpPr>
          <p:nvPr/>
        </p:nvSpPr>
        <p:spPr bwMode="auto">
          <a:xfrm>
            <a:off x="1436298" y="5657247"/>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sz="2400" b="1" dirty="0">
                <a:latin typeface="Times New Roman" pitchFamily="18" charset="0"/>
                <a:cs typeface="Times New Roman" pitchFamily="18" charset="0"/>
              </a:rPr>
              <a:t>Q </a:t>
            </a:r>
            <a:r>
              <a:rPr lang="en-US" sz="2400" b="1" baseline="-25000" dirty="0">
                <a:latin typeface="Times New Roman" pitchFamily="18" charset="0"/>
                <a:cs typeface="Times New Roman" pitchFamily="18" charset="0"/>
              </a:rPr>
              <a:t>BEP </a:t>
            </a:r>
            <a:r>
              <a:rPr lang="en-US" sz="2400" b="1" dirty="0">
                <a:latin typeface="Times New Roman" pitchFamily="18" charset="0"/>
                <a:cs typeface="Times New Roman" pitchFamily="18" charset="0"/>
              </a:rPr>
              <a:t> = $40,000 / (s – v)  (units)</a:t>
            </a:r>
          </a:p>
        </p:txBody>
      </p:sp>
      <p:sp>
        <p:nvSpPr>
          <p:cNvPr id="6" name="Title 1"/>
          <p:cNvSpPr txBox="1">
            <a:spLocks/>
          </p:cNvSpPr>
          <p:nvPr/>
        </p:nvSpPr>
        <p:spPr>
          <a:xfrm>
            <a:off x="1322717" y="167689"/>
            <a:ext cx="781840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990000"/>
                </a:solidFill>
                <a:latin typeface="Times New Roman" pitchFamily="18" charset="0"/>
                <a:cs typeface="Times New Roman" pitchFamily="18" charset="0"/>
              </a:rPr>
              <a:t>Break – Even Analysis for a Single Project Example</a:t>
            </a:r>
          </a:p>
        </p:txBody>
      </p:sp>
    </p:spTree>
    <p:extLst>
      <p:ext uri="{BB962C8B-B14F-4D97-AF65-F5344CB8AC3E}">
        <p14:creationId xmlns:p14="http://schemas.microsoft.com/office/powerpoint/2010/main" val="29844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circle(in)">
                                      <p:cBhvr>
                                        <p:cTn id="7" dur="2000"/>
                                        <p:tgtEl>
                                          <p:spTgt spid="12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2290">
                                            <p:txEl>
                                              <p:pRg st="1" end="1"/>
                                            </p:txEl>
                                          </p:spTgt>
                                        </p:tgtEl>
                                        <p:attrNameLst>
                                          <p:attrName>style.visibility</p:attrName>
                                        </p:attrNameLst>
                                      </p:cBhvr>
                                      <p:to>
                                        <p:strVal val="visible"/>
                                      </p:to>
                                    </p:set>
                                    <p:animEffect transition="in" filter="circle(in)">
                                      <p:cBhvr>
                                        <p:cTn id="12" dur="2000"/>
                                        <p:tgtEl>
                                          <p:spTgt spid="122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290">
                                            <p:txEl>
                                              <p:pRg st="2" end="2"/>
                                            </p:txEl>
                                          </p:spTgt>
                                        </p:tgtEl>
                                        <p:attrNameLst>
                                          <p:attrName>style.visibility</p:attrName>
                                        </p:attrNameLst>
                                      </p:cBhvr>
                                      <p:to>
                                        <p:strVal val="visible"/>
                                      </p:to>
                                    </p:set>
                                    <p:animEffect transition="in" filter="circle(in)">
                                      <p:cBhvr>
                                        <p:cTn id="17" dur="2000"/>
                                        <p:tgtEl>
                                          <p:spTgt spid="1229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2290">
                                            <p:txEl>
                                              <p:pRg st="3" end="3"/>
                                            </p:txEl>
                                          </p:spTgt>
                                        </p:tgtEl>
                                        <p:attrNameLst>
                                          <p:attrName>style.visibility</p:attrName>
                                        </p:attrNameLst>
                                      </p:cBhvr>
                                      <p:to>
                                        <p:strVal val="visible"/>
                                      </p:to>
                                    </p:set>
                                    <p:animEffect transition="in" filter="circle(in)">
                                      <p:cBhvr>
                                        <p:cTn id="22" dur="2000"/>
                                        <p:tgtEl>
                                          <p:spTgt spid="1229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2290">
                                            <p:txEl>
                                              <p:pRg st="4" end="4"/>
                                            </p:txEl>
                                          </p:spTgt>
                                        </p:tgtEl>
                                        <p:attrNameLst>
                                          <p:attrName>style.visibility</p:attrName>
                                        </p:attrNameLst>
                                      </p:cBhvr>
                                      <p:to>
                                        <p:strVal val="visible"/>
                                      </p:to>
                                    </p:set>
                                    <p:animEffect transition="in" filter="circle(in)">
                                      <p:cBhvr>
                                        <p:cTn id="27" dur="2000"/>
                                        <p:tgtEl>
                                          <p:spTgt spid="1229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2290">
                                            <p:txEl>
                                              <p:pRg st="5" end="5"/>
                                            </p:txEl>
                                          </p:spTgt>
                                        </p:tgtEl>
                                        <p:attrNameLst>
                                          <p:attrName>style.visibility</p:attrName>
                                        </p:attrNameLst>
                                      </p:cBhvr>
                                      <p:to>
                                        <p:strVal val="visible"/>
                                      </p:to>
                                    </p:set>
                                    <p:animEffect transition="in" filter="circle(in)">
                                      <p:cBhvr>
                                        <p:cTn id="32" dur="2000"/>
                                        <p:tgtEl>
                                          <p:spTgt spid="1229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2292"/>
                                        </p:tgtEl>
                                        <p:attrNameLst>
                                          <p:attrName>style.visibility</p:attrName>
                                        </p:attrNameLst>
                                      </p:cBhvr>
                                      <p:to>
                                        <p:strVal val="visible"/>
                                      </p:to>
                                    </p:set>
                                    <p:animEffect transition="in" filter="circle(in)">
                                      <p:cBhvr>
                                        <p:cTn id="37" dur="2000"/>
                                        <p:tgtEl>
                                          <p:spTgt spid="1229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2291"/>
                                        </p:tgtEl>
                                        <p:attrNameLst>
                                          <p:attrName>style.visibility</p:attrName>
                                        </p:attrNameLst>
                                      </p:cBhvr>
                                      <p:to>
                                        <p:strVal val="visible"/>
                                      </p:to>
                                    </p:set>
                                    <p:animEffect transition="in" filter="circle(in)">
                                      <p:cBhvr>
                                        <p:cTn id="42" dur="2000"/>
                                        <p:tgtEl>
                                          <p:spTgt spid="12291"/>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2293"/>
                                        </p:tgtEl>
                                        <p:attrNameLst>
                                          <p:attrName>style.visibility</p:attrName>
                                        </p:attrNameLst>
                                      </p:cBhvr>
                                      <p:to>
                                        <p:strVal val="visible"/>
                                      </p:to>
                                    </p:set>
                                    <p:animEffect transition="in" filter="circle(in)">
                                      <p:cBhvr>
                                        <p:cTn id="47" dur="20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P spid="12291" grpId="0"/>
      <p:bldP spid="12292" grpId="0"/>
      <p:bldP spid="1229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a:xfrm>
            <a:off x="1240765" y="1493251"/>
            <a:ext cx="9016042" cy="5054198"/>
          </a:xfrm>
        </p:spPr>
        <p:txBody>
          <a:bodyPr>
            <a:normAutofit/>
          </a:bodyPr>
          <a:lstStyle/>
          <a:p>
            <a:pPr eaLnBrk="1" hangingPunct="1">
              <a:lnSpc>
                <a:spcPct val="100000"/>
              </a:lnSpc>
            </a:pPr>
            <a:r>
              <a:rPr lang="en-US" dirty="0"/>
              <a:t> </a:t>
            </a:r>
            <a:r>
              <a:rPr lang="en-US" sz="2400" b="1" dirty="0">
                <a:latin typeface="Times New Roman" pitchFamily="18" charset="0"/>
                <a:cs typeface="Times New Roman" pitchFamily="18" charset="0"/>
              </a:rPr>
              <a:t>Total Cost (TC) = Fixed cost (FC) + Variable Cost (VC)</a:t>
            </a:r>
          </a:p>
          <a:p>
            <a:pPr eaLnBrk="1" hangingPunct="1">
              <a:lnSpc>
                <a:spcPct val="100000"/>
              </a:lnSpc>
              <a:buFontTx/>
              <a:buNone/>
            </a:pPr>
            <a:r>
              <a:rPr lang="en-US" sz="2400" b="1" dirty="0">
                <a:latin typeface="Times New Roman" pitchFamily="18" charset="0"/>
                <a:cs typeface="Times New Roman" pitchFamily="18" charset="0"/>
              </a:rPr>
              <a:t>           VC = $85,000 – $40,000 </a:t>
            </a:r>
          </a:p>
          <a:p>
            <a:pPr eaLnBrk="1" hangingPunct="1">
              <a:lnSpc>
                <a:spcPct val="100000"/>
              </a:lnSpc>
              <a:buFontTx/>
              <a:buNone/>
            </a:pPr>
            <a:r>
              <a:rPr lang="en-US" sz="2400" b="1" dirty="0">
                <a:latin typeface="Times New Roman" pitchFamily="18" charset="0"/>
                <a:cs typeface="Times New Roman" pitchFamily="18" charset="0"/>
              </a:rPr>
              <a:t>           VC = $ 45,000</a:t>
            </a:r>
          </a:p>
          <a:p>
            <a:pPr eaLnBrk="1" hangingPunct="1">
              <a:lnSpc>
                <a:spcPct val="100000"/>
              </a:lnSpc>
            </a:pPr>
            <a:r>
              <a:rPr lang="en-US" sz="2400" b="1" dirty="0">
                <a:latin typeface="Times New Roman" pitchFamily="18" charset="0"/>
                <a:cs typeface="Times New Roman" pitchFamily="18" charset="0"/>
              </a:rPr>
              <a:t>Variable cost per unit (v) = $45,000/15,000</a:t>
            </a:r>
          </a:p>
          <a:p>
            <a:pPr eaLnBrk="1" hangingPunct="1">
              <a:lnSpc>
                <a:spcPct val="100000"/>
              </a:lnSpc>
              <a:buFontTx/>
              <a:buNone/>
            </a:pPr>
            <a:r>
              <a:rPr lang="en-US" sz="2400" b="1" dirty="0">
                <a:latin typeface="Times New Roman" pitchFamily="18" charset="0"/>
                <a:cs typeface="Times New Roman" pitchFamily="18" charset="0"/>
              </a:rPr>
              <a:t>                                               = $3 per unit</a:t>
            </a:r>
          </a:p>
          <a:p>
            <a:pPr eaLnBrk="1" hangingPunct="1">
              <a:lnSpc>
                <a:spcPct val="100000"/>
              </a:lnSpc>
            </a:pPr>
            <a:r>
              <a:rPr lang="en-US" sz="2400" b="1" dirty="0">
                <a:latin typeface="Times New Roman" pitchFamily="18" charset="0"/>
                <a:cs typeface="Times New Roman" pitchFamily="18" charset="0"/>
              </a:rPr>
              <a:t>Selling cost per unit (s) = $ 105,000/15,000</a:t>
            </a:r>
          </a:p>
          <a:p>
            <a:pPr eaLnBrk="1" hangingPunct="1">
              <a:lnSpc>
                <a:spcPct val="100000"/>
              </a:lnSpc>
              <a:buFontTx/>
              <a:buNone/>
            </a:pPr>
            <a:r>
              <a:rPr lang="en-US" sz="2400" b="1" dirty="0">
                <a:latin typeface="Times New Roman" pitchFamily="18" charset="0"/>
                <a:cs typeface="Times New Roman" pitchFamily="18" charset="0"/>
              </a:rPr>
              <a:t>                                            =  $ 7 per unit</a:t>
            </a:r>
          </a:p>
          <a:p>
            <a:pPr eaLnBrk="1" hangingPunct="1">
              <a:buFontTx/>
              <a:buNone/>
            </a:pPr>
            <a:endParaRPr lang="en-US" sz="2400" b="1" dirty="0">
              <a:latin typeface="Times New Roman" pitchFamily="18" charset="0"/>
              <a:cs typeface="Times New Roman" pitchFamily="18" charset="0"/>
            </a:endParaRPr>
          </a:p>
          <a:p>
            <a:pPr eaLnBrk="1" hangingPunct="1">
              <a:buFontTx/>
              <a:buNone/>
            </a:pPr>
            <a:endParaRPr lang="en-US" sz="2400" b="1" dirty="0">
              <a:latin typeface="Times New Roman" pitchFamily="18" charset="0"/>
              <a:cs typeface="Times New Roman" pitchFamily="18" charset="0"/>
            </a:endParaRPr>
          </a:p>
          <a:p>
            <a:pPr eaLnBrk="1" hangingPunct="1">
              <a:buFontTx/>
              <a:buNone/>
            </a:pPr>
            <a:r>
              <a:rPr lang="en-US" sz="2400" b="1" dirty="0">
                <a:latin typeface="Times New Roman" pitchFamily="18" charset="0"/>
                <a:cs typeface="Times New Roman" pitchFamily="18" charset="0"/>
              </a:rPr>
              <a:t> </a:t>
            </a:r>
          </a:p>
        </p:txBody>
      </p:sp>
      <p:sp>
        <p:nvSpPr>
          <p:cNvPr id="13315" name="Rectangle 4"/>
          <p:cNvSpPr>
            <a:spLocks noChangeArrowheads="1"/>
          </p:cNvSpPr>
          <p:nvPr/>
        </p:nvSpPr>
        <p:spPr bwMode="auto">
          <a:xfrm>
            <a:off x="2209800" y="5105400"/>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sz="2400" b="1" dirty="0">
                <a:solidFill>
                  <a:schemeClr val="tx1">
                    <a:lumMod val="75000"/>
                    <a:lumOff val="25000"/>
                  </a:schemeClr>
                </a:solidFill>
                <a:latin typeface="Times New Roman" pitchFamily="18" charset="0"/>
                <a:cs typeface="Times New Roman" pitchFamily="18" charset="0"/>
              </a:rPr>
              <a:t>Q </a:t>
            </a:r>
            <a:r>
              <a:rPr lang="en-US" sz="2400" b="1" baseline="-25000" dirty="0">
                <a:solidFill>
                  <a:schemeClr val="tx1">
                    <a:lumMod val="75000"/>
                    <a:lumOff val="25000"/>
                  </a:schemeClr>
                </a:solidFill>
                <a:latin typeface="Times New Roman" pitchFamily="18" charset="0"/>
                <a:cs typeface="Times New Roman" pitchFamily="18" charset="0"/>
              </a:rPr>
              <a:t>BEP</a:t>
            </a:r>
            <a:r>
              <a:rPr lang="en-US" sz="2400" b="1" dirty="0">
                <a:solidFill>
                  <a:schemeClr val="tx1">
                    <a:lumMod val="75000"/>
                    <a:lumOff val="25000"/>
                  </a:schemeClr>
                </a:solidFill>
                <a:latin typeface="Times New Roman" pitchFamily="18" charset="0"/>
                <a:cs typeface="Times New Roman" pitchFamily="18" charset="0"/>
              </a:rPr>
              <a:t>  = $40,000 / (7 – 3)  (units)</a:t>
            </a:r>
          </a:p>
        </p:txBody>
      </p:sp>
      <p:sp>
        <p:nvSpPr>
          <p:cNvPr id="13316" name="Rectangle 6"/>
          <p:cNvSpPr>
            <a:spLocks noChangeArrowheads="1"/>
          </p:cNvSpPr>
          <p:nvPr/>
        </p:nvSpPr>
        <p:spPr bwMode="auto">
          <a:xfrm>
            <a:off x="2133600" y="5943600"/>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sz="2400" b="1" dirty="0">
                <a:solidFill>
                  <a:srgbClr val="000099"/>
                </a:solidFill>
                <a:latin typeface="Times New Roman" pitchFamily="18" charset="0"/>
                <a:cs typeface="Times New Roman" pitchFamily="18" charset="0"/>
              </a:rPr>
              <a:t>Q </a:t>
            </a:r>
            <a:r>
              <a:rPr lang="en-US" sz="2400" b="1" baseline="-25000" dirty="0">
                <a:solidFill>
                  <a:srgbClr val="000099"/>
                </a:solidFill>
                <a:latin typeface="Times New Roman" pitchFamily="18" charset="0"/>
                <a:cs typeface="Times New Roman" pitchFamily="18" charset="0"/>
              </a:rPr>
              <a:t>BEP </a:t>
            </a:r>
            <a:r>
              <a:rPr lang="en-US" sz="2400" b="1" dirty="0">
                <a:solidFill>
                  <a:srgbClr val="000099"/>
                </a:solidFill>
                <a:latin typeface="Times New Roman" pitchFamily="18" charset="0"/>
                <a:cs typeface="Times New Roman" pitchFamily="18" charset="0"/>
              </a:rPr>
              <a:t> = $10,000 (units)</a:t>
            </a:r>
          </a:p>
        </p:txBody>
      </p:sp>
      <p:sp>
        <p:nvSpPr>
          <p:cNvPr id="5" name="Title 1"/>
          <p:cNvSpPr txBox="1">
            <a:spLocks/>
          </p:cNvSpPr>
          <p:nvPr/>
        </p:nvSpPr>
        <p:spPr>
          <a:xfrm>
            <a:off x="1322717" y="167689"/>
            <a:ext cx="781840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990000"/>
                </a:solidFill>
                <a:latin typeface="Times New Roman" pitchFamily="18" charset="0"/>
                <a:cs typeface="Times New Roman" pitchFamily="18" charset="0"/>
              </a:rPr>
              <a:t>Break – Even Analysis for a Single Project Example</a:t>
            </a:r>
          </a:p>
        </p:txBody>
      </p:sp>
    </p:spTree>
    <p:extLst>
      <p:ext uri="{BB962C8B-B14F-4D97-AF65-F5344CB8AC3E}">
        <p14:creationId xmlns:p14="http://schemas.microsoft.com/office/powerpoint/2010/main" val="4071590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circle(in)">
                                      <p:cBhvr>
                                        <p:cTn id="7" dur="2000"/>
                                        <p:tgtEl>
                                          <p:spTgt spid="13314">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3314">
                                            <p:txEl>
                                              <p:pRg st="1" end="1"/>
                                            </p:txEl>
                                          </p:spTgt>
                                        </p:tgtEl>
                                        <p:attrNameLst>
                                          <p:attrName>style.visibility</p:attrName>
                                        </p:attrNameLst>
                                      </p:cBhvr>
                                      <p:to>
                                        <p:strVal val="visible"/>
                                      </p:to>
                                    </p:set>
                                    <p:animEffect transition="in" filter="circle(in)">
                                      <p:cBhvr>
                                        <p:cTn id="10" dur="2000"/>
                                        <p:tgtEl>
                                          <p:spTgt spid="13314">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13314">
                                            <p:txEl>
                                              <p:pRg st="2" end="2"/>
                                            </p:txEl>
                                          </p:spTgt>
                                        </p:tgtEl>
                                        <p:attrNameLst>
                                          <p:attrName>style.visibility</p:attrName>
                                        </p:attrNameLst>
                                      </p:cBhvr>
                                      <p:to>
                                        <p:strVal val="visible"/>
                                      </p:to>
                                    </p:set>
                                    <p:animEffect transition="in" filter="circle(in)">
                                      <p:cBhvr>
                                        <p:cTn id="13" dur="2000"/>
                                        <p:tgtEl>
                                          <p:spTgt spid="1331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13314">
                                            <p:txEl>
                                              <p:pRg st="3" end="3"/>
                                            </p:txEl>
                                          </p:spTgt>
                                        </p:tgtEl>
                                        <p:attrNameLst>
                                          <p:attrName>style.visibility</p:attrName>
                                        </p:attrNameLst>
                                      </p:cBhvr>
                                      <p:to>
                                        <p:strVal val="visible"/>
                                      </p:to>
                                    </p:set>
                                    <p:animEffect transition="in" filter="circle(in)">
                                      <p:cBhvr>
                                        <p:cTn id="18" dur="2000"/>
                                        <p:tgtEl>
                                          <p:spTgt spid="13314">
                                            <p:txEl>
                                              <p:pRg st="3" end="3"/>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13314">
                                            <p:txEl>
                                              <p:pRg st="4" end="4"/>
                                            </p:txEl>
                                          </p:spTgt>
                                        </p:tgtEl>
                                        <p:attrNameLst>
                                          <p:attrName>style.visibility</p:attrName>
                                        </p:attrNameLst>
                                      </p:cBhvr>
                                      <p:to>
                                        <p:strVal val="visible"/>
                                      </p:to>
                                    </p:set>
                                    <p:animEffect transition="in" filter="circle(in)">
                                      <p:cBhvr>
                                        <p:cTn id="21" dur="2000"/>
                                        <p:tgtEl>
                                          <p:spTgt spid="1331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13314">
                                            <p:txEl>
                                              <p:pRg st="5" end="5"/>
                                            </p:txEl>
                                          </p:spTgt>
                                        </p:tgtEl>
                                        <p:attrNameLst>
                                          <p:attrName>style.visibility</p:attrName>
                                        </p:attrNameLst>
                                      </p:cBhvr>
                                      <p:to>
                                        <p:strVal val="visible"/>
                                      </p:to>
                                    </p:set>
                                    <p:animEffect transition="in" filter="circle(in)">
                                      <p:cBhvr>
                                        <p:cTn id="26" dur="2000"/>
                                        <p:tgtEl>
                                          <p:spTgt spid="13314">
                                            <p:txEl>
                                              <p:pRg st="5" end="5"/>
                                            </p:txEl>
                                          </p:spTgt>
                                        </p:tgtEl>
                                      </p:cBhvr>
                                    </p:animEffect>
                                  </p:childTnLst>
                                </p:cTn>
                              </p:par>
                              <p:par>
                                <p:cTn id="27" presetID="6" presetClass="entr" presetSubtype="16" fill="hold" nodeType="withEffect">
                                  <p:stCondLst>
                                    <p:cond delay="0"/>
                                  </p:stCondLst>
                                  <p:childTnLst>
                                    <p:set>
                                      <p:cBhvr>
                                        <p:cTn id="28" dur="1" fill="hold">
                                          <p:stCondLst>
                                            <p:cond delay="0"/>
                                          </p:stCondLst>
                                        </p:cTn>
                                        <p:tgtEl>
                                          <p:spTgt spid="13314">
                                            <p:txEl>
                                              <p:pRg st="6" end="6"/>
                                            </p:txEl>
                                          </p:spTgt>
                                        </p:tgtEl>
                                        <p:attrNameLst>
                                          <p:attrName>style.visibility</p:attrName>
                                        </p:attrNameLst>
                                      </p:cBhvr>
                                      <p:to>
                                        <p:strVal val="visible"/>
                                      </p:to>
                                    </p:set>
                                    <p:animEffect transition="in" filter="circle(in)">
                                      <p:cBhvr>
                                        <p:cTn id="29" dur="2000"/>
                                        <p:tgtEl>
                                          <p:spTgt spid="1331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13315"/>
                                        </p:tgtEl>
                                        <p:attrNameLst>
                                          <p:attrName>style.visibility</p:attrName>
                                        </p:attrNameLst>
                                      </p:cBhvr>
                                      <p:to>
                                        <p:strVal val="visible"/>
                                      </p:to>
                                    </p:set>
                                    <p:animEffect transition="in" filter="circle(in)">
                                      <p:cBhvr>
                                        <p:cTn id="34" dur="2000"/>
                                        <p:tgtEl>
                                          <p:spTgt spid="13315"/>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13316"/>
                                        </p:tgtEl>
                                        <p:attrNameLst>
                                          <p:attrName>style.visibility</p:attrName>
                                        </p:attrNameLst>
                                      </p:cBhvr>
                                      <p:to>
                                        <p:strVal val="visible"/>
                                      </p:to>
                                    </p:set>
                                    <p:animEffect transition="in" filter="circle(in)">
                                      <p:cBhvr>
                                        <p:cTn id="39" dur="2000"/>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
          <p:cNvSpPr txBox="1">
            <a:spLocks noChangeArrowheads="1"/>
          </p:cNvSpPr>
          <p:nvPr/>
        </p:nvSpPr>
        <p:spPr bwMode="auto">
          <a:xfrm>
            <a:off x="1751162" y="1377792"/>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CC0099"/>
                </a:solidFill>
                <a:latin typeface="Times New Roman" pitchFamily="18" charset="0"/>
                <a:cs typeface="Times New Roman" pitchFamily="18" charset="0"/>
              </a:rPr>
              <a:t>(b)      If the profit desired is $ 50,000</a:t>
            </a:r>
          </a:p>
        </p:txBody>
      </p:sp>
      <p:sp>
        <p:nvSpPr>
          <p:cNvPr id="14339" name="Text Box 5"/>
          <p:cNvSpPr txBox="1">
            <a:spLocks noChangeArrowheads="1"/>
          </p:cNvSpPr>
          <p:nvPr/>
        </p:nvSpPr>
        <p:spPr bwMode="auto">
          <a:xfrm>
            <a:off x="2511725" y="2014431"/>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latin typeface="Times New Roman" pitchFamily="18" charset="0"/>
                <a:cs typeface="Times New Roman" pitchFamily="18" charset="0"/>
              </a:rPr>
              <a:t>Profit = Total Sales – Total Cost</a:t>
            </a:r>
          </a:p>
        </p:txBody>
      </p:sp>
      <p:sp>
        <p:nvSpPr>
          <p:cNvPr id="14340" name="Text Box 6"/>
          <p:cNvSpPr txBox="1">
            <a:spLocks noChangeArrowheads="1"/>
          </p:cNvSpPr>
          <p:nvPr/>
        </p:nvSpPr>
        <p:spPr bwMode="auto">
          <a:xfrm>
            <a:off x="2514600" y="3051339"/>
            <a:ext cx="502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latin typeface="Times New Roman" pitchFamily="18" charset="0"/>
                <a:cs typeface="Times New Roman" pitchFamily="18" charset="0"/>
              </a:rPr>
              <a:t>50,000 = s*Q – (40,000 + v*Q)</a:t>
            </a:r>
          </a:p>
        </p:txBody>
      </p:sp>
      <p:sp>
        <p:nvSpPr>
          <p:cNvPr id="14341" name="Text Box 7"/>
          <p:cNvSpPr txBox="1">
            <a:spLocks noChangeArrowheads="1"/>
          </p:cNvSpPr>
          <p:nvPr/>
        </p:nvSpPr>
        <p:spPr bwMode="auto">
          <a:xfrm>
            <a:off x="2511725" y="2514600"/>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latin typeface="Times New Roman" pitchFamily="18" charset="0"/>
                <a:cs typeface="Times New Roman" pitchFamily="18" charset="0"/>
              </a:rPr>
              <a:t>50,000 = s*Q – (FC +VC)</a:t>
            </a:r>
          </a:p>
        </p:txBody>
      </p:sp>
      <p:sp>
        <p:nvSpPr>
          <p:cNvPr id="14342" name="Text Box 8"/>
          <p:cNvSpPr txBox="1">
            <a:spLocks noChangeArrowheads="1"/>
          </p:cNvSpPr>
          <p:nvPr/>
        </p:nvSpPr>
        <p:spPr bwMode="auto">
          <a:xfrm>
            <a:off x="2511725" y="3505200"/>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latin typeface="Times New Roman" pitchFamily="18" charset="0"/>
                <a:cs typeface="Times New Roman" pitchFamily="18" charset="0"/>
              </a:rPr>
              <a:t>90,000 = Q (s-v)</a:t>
            </a:r>
          </a:p>
        </p:txBody>
      </p:sp>
      <p:sp>
        <p:nvSpPr>
          <p:cNvPr id="14343" name="Text Box 9"/>
          <p:cNvSpPr txBox="1">
            <a:spLocks noChangeArrowheads="1"/>
          </p:cNvSpPr>
          <p:nvPr/>
        </p:nvSpPr>
        <p:spPr bwMode="auto">
          <a:xfrm>
            <a:off x="2511725" y="4046702"/>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latin typeface="Times New Roman" pitchFamily="18" charset="0"/>
                <a:cs typeface="Times New Roman" pitchFamily="18" charset="0"/>
              </a:rPr>
              <a:t>90,000/4 = Q</a:t>
            </a:r>
          </a:p>
        </p:txBody>
      </p:sp>
      <p:sp>
        <p:nvSpPr>
          <p:cNvPr id="14344" name="Text Box 10"/>
          <p:cNvSpPr txBox="1">
            <a:spLocks noChangeArrowheads="1"/>
          </p:cNvSpPr>
          <p:nvPr/>
        </p:nvSpPr>
        <p:spPr bwMode="auto">
          <a:xfrm>
            <a:off x="2511725" y="4578193"/>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latin typeface="Times New Roman" pitchFamily="18" charset="0"/>
                <a:cs typeface="Times New Roman" pitchFamily="18" charset="0"/>
              </a:rPr>
              <a:t>22,500 = Q</a:t>
            </a:r>
          </a:p>
        </p:txBody>
      </p:sp>
      <p:sp>
        <p:nvSpPr>
          <p:cNvPr id="14345" name="Text Box 11"/>
          <p:cNvSpPr txBox="1">
            <a:spLocks noChangeArrowheads="1"/>
          </p:cNvSpPr>
          <p:nvPr/>
        </p:nvSpPr>
        <p:spPr bwMode="auto">
          <a:xfrm>
            <a:off x="1559225" y="5197416"/>
            <a:ext cx="853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000099"/>
                </a:solidFill>
                <a:latin typeface="Times New Roman" pitchFamily="18" charset="0"/>
                <a:cs typeface="Times New Roman" pitchFamily="18" charset="0"/>
              </a:rPr>
              <a:t>Break even units for the profit to be $ 50,000 is 22,500 units</a:t>
            </a:r>
          </a:p>
        </p:txBody>
      </p:sp>
      <p:sp>
        <p:nvSpPr>
          <p:cNvPr id="10" name="Title 1"/>
          <p:cNvSpPr txBox="1">
            <a:spLocks/>
          </p:cNvSpPr>
          <p:nvPr/>
        </p:nvSpPr>
        <p:spPr>
          <a:xfrm>
            <a:off x="1322717" y="167689"/>
            <a:ext cx="781840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990000"/>
                </a:solidFill>
                <a:latin typeface="Times New Roman" pitchFamily="18" charset="0"/>
                <a:cs typeface="Times New Roman" pitchFamily="18" charset="0"/>
              </a:rPr>
              <a:t>Break – Even Analysis for a Single Project Example</a:t>
            </a:r>
          </a:p>
        </p:txBody>
      </p:sp>
    </p:spTree>
    <p:extLst>
      <p:ext uri="{BB962C8B-B14F-4D97-AF65-F5344CB8AC3E}">
        <p14:creationId xmlns:p14="http://schemas.microsoft.com/office/powerpoint/2010/main" val="284107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circle(in)">
                                      <p:cBhvr>
                                        <p:cTn id="7" dur="20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circle(in)">
                                      <p:cBhvr>
                                        <p:cTn id="12" dur="2000"/>
                                        <p:tgtEl>
                                          <p:spTgt spid="1433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4341"/>
                                        </p:tgtEl>
                                        <p:attrNameLst>
                                          <p:attrName>style.visibility</p:attrName>
                                        </p:attrNameLst>
                                      </p:cBhvr>
                                      <p:to>
                                        <p:strVal val="visible"/>
                                      </p:to>
                                    </p:set>
                                    <p:animEffect transition="in" filter="circle(in)">
                                      <p:cBhvr>
                                        <p:cTn id="17" dur="2000"/>
                                        <p:tgtEl>
                                          <p:spTgt spid="14341"/>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4340"/>
                                        </p:tgtEl>
                                        <p:attrNameLst>
                                          <p:attrName>style.visibility</p:attrName>
                                        </p:attrNameLst>
                                      </p:cBhvr>
                                      <p:to>
                                        <p:strVal val="visible"/>
                                      </p:to>
                                    </p:set>
                                    <p:animEffect transition="in" filter="circle(in)">
                                      <p:cBhvr>
                                        <p:cTn id="22" dur="2000"/>
                                        <p:tgtEl>
                                          <p:spTgt spid="14340"/>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4342"/>
                                        </p:tgtEl>
                                        <p:attrNameLst>
                                          <p:attrName>style.visibility</p:attrName>
                                        </p:attrNameLst>
                                      </p:cBhvr>
                                      <p:to>
                                        <p:strVal val="visible"/>
                                      </p:to>
                                    </p:set>
                                    <p:animEffect transition="in" filter="circle(in)">
                                      <p:cBhvr>
                                        <p:cTn id="27" dur="2000"/>
                                        <p:tgtEl>
                                          <p:spTgt spid="14342"/>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4343"/>
                                        </p:tgtEl>
                                        <p:attrNameLst>
                                          <p:attrName>style.visibility</p:attrName>
                                        </p:attrNameLst>
                                      </p:cBhvr>
                                      <p:to>
                                        <p:strVal val="visible"/>
                                      </p:to>
                                    </p:set>
                                    <p:animEffect transition="in" filter="circle(in)">
                                      <p:cBhvr>
                                        <p:cTn id="32" dur="2000"/>
                                        <p:tgtEl>
                                          <p:spTgt spid="1434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4344"/>
                                        </p:tgtEl>
                                        <p:attrNameLst>
                                          <p:attrName>style.visibility</p:attrName>
                                        </p:attrNameLst>
                                      </p:cBhvr>
                                      <p:to>
                                        <p:strVal val="visible"/>
                                      </p:to>
                                    </p:set>
                                    <p:animEffect transition="in" filter="circle(in)">
                                      <p:cBhvr>
                                        <p:cTn id="37" dur="2000"/>
                                        <p:tgtEl>
                                          <p:spTgt spid="14344"/>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14345"/>
                                        </p:tgtEl>
                                        <p:attrNameLst>
                                          <p:attrName>style.visibility</p:attrName>
                                        </p:attrNameLst>
                                      </p:cBhvr>
                                      <p:to>
                                        <p:strVal val="visible"/>
                                      </p:to>
                                    </p:set>
                                    <p:animEffect transition="in" filter="circle(in)">
                                      <p:cBhvr>
                                        <p:cTn id="42" dur="20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p:bldP spid="14340" grpId="0"/>
      <p:bldP spid="14341" grpId="0"/>
      <p:bldP spid="14342" grpId="0"/>
      <p:bldP spid="14343" grpId="0"/>
      <p:bldP spid="14344" grpId="0"/>
      <p:bldP spid="1434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18227" y="159722"/>
            <a:ext cx="8911687" cy="1280890"/>
          </a:xfrm>
        </p:spPr>
        <p:txBody>
          <a:bodyPr>
            <a:normAutofit/>
          </a:bodyPr>
          <a:lstStyle/>
          <a:p>
            <a:pPr algn="ctr" eaLnBrk="1" hangingPunct="1"/>
            <a:r>
              <a:rPr lang="en-US" sz="3200" b="1" dirty="0">
                <a:solidFill>
                  <a:srgbClr val="990000"/>
                </a:solidFill>
                <a:latin typeface="Times New Roman" pitchFamily="18" charset="0"/>
                <a:cs typeface="Times New Roman" pitchFamily="18" charset="0"/>
              </a:rPr>
              <a:t>Break – Even Analysis between Two Alternatives</a:t>
            </a:r>
          </a:p>
        </p:txBody>
      </p:sp>
      <p:sp>
        <p:nvSpPr>
          <p:cNvPr id="22531" name="Rectangle 3"/>
          <p:cNvSpPr>
            <a:spLocks noGrp="1" noChangeArrowheads="1"/>
          </p:cNvSpPr>
          <p:nvPr>
            <p:ph type="body" idx="1"/>
          </p:nvPr>
        </p:nvSpPr>
        <p:spPr>
          <a:xfrm>
            <a:off x="531962" y="1440612"/>
            <a:ext cx="9888746" cy="4779033"/>
          </a:xfrm>
        </p:spPr>
        <p:txBody>
          <a:bodyPr>
            <a:normAutofit lnSpcReduction="10000"/>
          </a:bodyPr>
          <a:lstStyle/>
          <a:p>
            <a:pPr algn="just" eaLnBrk="1" hangingPunct="1">
              <a:lnSpc>
                <a:spcPct val="150000"/>
              </a:lnSpc>
              <a:buFont typeface="Wingdings" panose="05000000000000000000" pitchFamily="2" charset="2"/>
              <a:buChar char="Ø"/>
            </a:pPr>
            <a:r>
              <a:rPr lang="en-US" sz="2800" b="1" dirty="0">
                <a:latin typeface="Times New Roman" pitchFamily="18" charset="0"/>
                <a:cs typeface="Times New Roman" pitchFamily="18" charset="0"/>
              </a:rPr>
              <a:t>When the selection between two engineering project alternatives is heavily </a:t>
            </a:r>
            <a:r>
              <a:rPr lang="en-US" sz="2800" b="1" dirty="0">
                <a:solidFill>
                  <a:srgbClr val="FF0000"/>
                </a:solidFill>
                <a:latin typeface="Times New Roman" pitchFamily="18" charset="0"/>
                <a:cs typeface="Times New Roman" pitchFamily="18" charset="0"/>
              </a:rPr>
              <a:t>dependent upon a single factor</a:t>
            </a:r>
            <a:r>
              <a:rPr lang="en-US" sz="2800" b="1" dirty="0">
                <a:latin typeface="Times New Roman" pitchFamily="18" charset="0"/>
                <a:cs typeface="Times New Roman" pitchFamily="18" charset="0"/>
              </a:rPr>
              <a:t>, we can solve for the value of that factor. </a:t>
            </a:r>
          </a:p>
          <a:p>
            <a:pPr algn="just" eaLnBrk="1" hangingPunct="1">
              <a:lnSpc>
                <a:spcPct val="150000"/>
              </a:lnSpc>
              <a:buFont typeface="Wingdings" panose="05000000000000000000" pitchFamily="2" charset="2"/>
              <a:buChar char="Ø"/>
            </a:pPr>
            <a:r>
              <a:rPr lang="en-US" sz="2800" b="1" dirty="0">
                <a:latin typeface="Times New Roman" pitchFamily="18" charset="0"/>
                <a:cs typeface="Times New Roman" pitchFamily="18" charset="0"/>
              </a:rPr>
              <a:t>That value is known as the breakeven point, i.e. the value at which we are indifferent between the two alternatives.</a:t>
            </a:r>
          </a:p>
          <a:p>
            <a:pPr algn="just" eaLnBrk="1" hangingPunct="1">
              <a:lnSpc>
                <a:spcPct val="150000"/>
              </a:lnSpc>
              <a:buFont typeface="Wingdings" panose="05000000000000000000" pitchFamily="2" charset="2"/>
              <a:buChar char="Ø"/>
            </a:pPr>
            <a:r>
              <a:rPr lang="en-US" sz="2800" b="1" dirty="0">
                <a:latin typeface="Times New Roman" pitchFamily="18" charset="0"/>
                <a:cs typeface="Times New Roman" pitchFamily="18" charset="0"/>
              </a:rPr>
              <a:t>This break even value calculation is similar to that used to calculate incremental rate of return. </a:t>
            </a:r>
          </a:p>
        </p:txBody>
      </p:sp>
    </p:spTree>
    <p:extLst>
      <p:ext uri="{BB962C8B-B14F-4D97-AF65-F5344CB8AC3E}">
        <p14:creationId xmlns:p14="http://schemas.microsoft.com/office/powerpoint/2010/main" val="3070562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751" y="1613051"/>
            <a:ext cx="10515600" cy="5144518"/>
          </a:xfrm>
        </p:spPr>
        <p:txBody>
          <a:bodyPr>
            <a:normAutofit/>
          </a:bodyPr>
          <a:lstStyle/>
          <a:p>
            <a:pPr marL="0" indent="0">
              <a:lnSpc>
                <a:spcPct val="100000"/>
              </a:lnSpc>
              <a:buNone/>
            </a:pPr>
            <a:r>
              <a:rPr lang="en-US" b="1" dirty="0">
                <a:latin typeface="Times New Roman" panose="02020603050405020304" pitchFamily="18" charset="0"/>
                <a:cs typeface="Times New Roman" panose="02020603050405020304" pitchFamily="18" charset="0"/>
              </a:rPr>
              <a:t>In mathematical terms, </a:t>
            </a:r>
          </a:p>
          <a:p>
            <a:pPr marL="0" indent="0">
              <a:lnSpc>
                <a:spcPct val="100000"/>
              </a:lnSpc>
              <a:buNone/>
            </a:pPr>
            <a:r>
              <a:rPr lang="en-US" b="1" dirty="0">
                <a:latin typeface="Times New Roman" panose="02020603050405020304" pitchFamily="18" charset="0"/>
                <a:cs typeface="Times New Roman" panose="02020603050405020304" pitchFamily="18" charset="0"/>
              </a:rPr>
              <a:t>              	</a:t>
            </a:r>
            <a:r>
              <a:rPr lang="en-US" b="1" i="1" dirty="0">
                <a:solidFill>
                  <a:srgbClr val="002060"/>
                </a:solidFill>
                <a:latin typeface="Times New Roman" panose="02020603050405020304" pitchFamily="18" charset="0"/>
                <a:cs typeface="Times New Roman" panose="02020603050405020304" pitchFamily="18" charset="0"/>
              </a:rPr>
              <a:t>EW</a:t>
            </a:r>
            <a:r>
              <a:rPr lang="en-US" b="1" i="1" baseline="-25000" dirty="0">
                <a:solidFill>
                  <a:srgbClr val="002060"/>
                </a:solidFill>
                <a:latin typeface="Times New Roman" panose="02020603050405020304" pitchFamily="18" charset="0"/>
                <a:cs typeface="Times New Roman" panose="02020603050405020304" pitchFamily="18" charset="0"/>
              </a:rPr>
              <a:t>A</a:t>
            </a:r>
            <a:r>
              <a:rPr lang="en-US" b="1" i="1" dirty="0">
                <a:solidFill>
                  <a:srgbClr val="002060"/>
                </a:solidFill>
                <a:latin typeface="Times New Roman" panose="02020603050405020304" pitchFamily="18" charset="0"/>
                <a:cs typeface="Times New Roman" panose="02020603050405020304" pitchFamily="18" charset="0"/>
              </a:rPr>
              <a:t> 	= f</a:t>
            </a:r>
            <a:r>
              <a:rPr lang="en-US" b="1" i="1" baseline="-25000" dirty="0">
                <a:solidFill>
                  <a:srgbClr val="002060"/>
                </a:solidFill>
                <a:latin typeface="Times New Roman" panose="02020603050405020304" pitchFamily="18" charset="0"/>
                <a:cs typeface="Times New Roman" panose="02020603050405020304" pitchFamily="18" charset="0"/>
              </a:rPr>
              <a:t>1</a:t>
            </a:r>
            <a:r>
              <a:rPr lang="en-US" b="1" i="1" dirty="0">
                <a:solidFill>
                  <a:srgbClr val="002060"/>
                </a:solidFill>
                <a:latin typeface="Times New Roman" panose="02020603050405020304" pitchFamily="18" charset="0"/>
                <a:cs typeface="Times New Roman" panose="02020603050405020304" pitchFamily="18" charset="0"/>
              </a:rPr>
              <a:t>(y) and EW</a:t>
            </a:r>
            <a:r>
              <a:rPr lang="en-US" b="1" i="1" baseline="-25000" dirty="0">
                <a:solidFill>
                  <a:srgbClr val="002060"/>
                </a:solidFill>
                <a:latin typeface="Times New Roman" panose="02020603050405020304" pitchFamily="18" charset="0"/>
                <a:cs typeface="Times New Roman" panose="02020603050405020304" pitchFamily="18" charset="0"/>
              </a:rPr>
              <a:t>B</a:t>
            </a:r>
            <a:r>
              <a:rPr lang="en-US" b="1" i="1" dirty="0">
                <a:solidFill>
                  <a:srgbClr val="002060"/>
                </a:solidFill>
                <a:latin typeface="Times New Roman" panose="02020603050405020304" pitchFamily="18" charset="0"/>
                <a:cs typeface="Times New Roman" panose="02020603050405020304" pitchFamily="18" charset="0"/>
              </a:rPr>
              <a:t> = f</a:t>
            </a:r>
            <a:r>
              <a:rPr lang="en-US" b="1" i="1" baseline="-25000" dirty="0">
                <a:solidFill>
                  <a:srgbClr val="002060"/>
                </a:solidFill>
                <a:latin typeface="Times New Roman" panose="02020603050405020304" pitchFamily="18" charset="0"/>
                <a:cs typeface="Times New Roman" panose="02020603050405020304" pitchFamily="18" charset="0"/>
              </a:rPr>
              <a:t>2</a:t>
            </a:r>
            <a:r>
              <a:rPr lang="en-US" b="1" i="1" dirty="0">
                <a:solidFill>
                  <a:srgbClr val="002060"/>
                </a:solidFill>
                <a:latin typeface="Times New Roman" panose="02020603050405020304" pitchFamily="18" charset="0"/>
                <a:cs typeface="Times New Roman" panose="02020603050405020304" pitchFamily="18" charset="0"/>
              </a:rPr>
              <a:t> (y) </a:t>
            </a:r>
            <a:endParaRPr lang="en-US" b="1" dirty="0">
              <a:solidFill>
                <a:srgbClr val="002060"/>
              </a:solidFill>
              <a:latin typeface="Times New Roman" panose="02020603050405020304" pitchFamily="18" charset="0"/>
              <a:cs typeface="Times New Roman" panose="02020603050405020304" pitchFamily="18" charset="0"/>
            </a:endParaRPr>
          </a:p>
          <a:p>
            <a:pPr marL="0" indent="0">
              <a:lnSpc>
                <a:spcPct val="100000"/>
              </a:lnSpc>
              <a:buNone/>
            </a:pPr>
            <a:r>
              <a:rPr lang="en-US" b="1" dirty="0">
                <a:latin typeface="Times New Roman" panose="02020603050405020304" pitchFamily="18" charset="0"/>
                <a:cs typeface="Times New Roman" panose="02020603050405020304" pitchFamily="18" charset="0"/>
              </a:rPr>
              <a:t>Where,    	</a:t>
            </a:r>
          </a:p>
          <a:p>
            <a:pPr marL="0" indent="0">
              <a:lnSpc>
                <a:spcPct val="100000"/>
              </a:lnSpc>
              <a:buNone/>
            </a:pPr>
            <a:r>
              <a:rPr lang="en-US" b="1" dirty="0">
                <a:latin typeface="Times New Roman" panose="02020603050405020304" pitchFamily="18" charset="0"/>
                <a:cs typeface="Times New Roman" panose="02020603050405020304" pitchFamily="18" charset="0"/>
              </a:rPr>
              <a:t>EW</a:t>
            </a:r>
            <a:r>
              <a:rPr lang="en-US" b="1" baseline="-25000" dirty="0">
                <a:latin typeface="Times New Roman" panose="02020603050405020304" pitchFamily="18" charset="0"/>
                <a:cs typeface="Times New Roman" panose="02020603050405020304" pitchFamily="18" charset="0"/>
              </a:rPr>
              <a:t>A</a:t>
            </a:r>
            <a:r>
              <a:rPr lang="en-US" b="1" dirty="0">
                <a:latin typeface="Times New Roman" panose="02020603050405020304" pitchFamily="18" charset="0"/>
                <a:cs typeface="Times New Roman" panose="02020603050405020304" pitchFamily="18" charset="0"/>
              </a:rPr>
              <a:t> 	= Equivalent worth calculation for the net cash flow of Alternative A</a:t>
            </a:r>
          </a:p>
          <a:p>
            <a:pPr marL="0" indent="0">
              <a:lnSpc>
                <a:spcPct val="100000"/>
              </a:lnSpc>
              <a:buNone/>
            </a:pPr>
            <a:r>
              <a:rPr lang="en-US" b="1" dirty="0">
                <a:latin typeface="Times New Roman" panose="02020603050405020304" pitchFamily="18" charset="0"/>
                <a:cs typeface="Times New Roman" panose="02020603050405020304" pitchFamily="18" charset="0"/>
              </a:rPr>
              <a:t> EW</a:t>
            </a:r>
            <a:r>
              <a:rPr lang="en-US" b="1" baseline="-25000" dirty="0">
                <a:latin typeface="Times New Roman" panose="02020603050405020304" pitchFamily="18" charset="0"/>
                <a:cs typeface="Times New Roman" panose="02020603050405020304" pitchFamily="18" charset="0"/>
              </a:rPr>
              <a:t>B</a:t>
            </a:r>
            <a:r>
              <a:rPr lang="en-US" b="1" dirty="0">
                <a:latin typeface="Times New Roman" panose="02020603050405020304" pitchFamily="18" charset="0"/>
                <a:cs typeface="Times New Roman" panose="02020603050405020304" pitchFamily="18" charset="0"/>
              </a:rPr>
              <a:t> = Equivalent worth calculation for the net cash flow of Alternative B</a:t>
            </a:r>
          </a:p>
          <a:p>
            <a:pPr marL="0" indent="0">
              <a:lnSpc>
                <a:spcPct val="100000"/>
              </a:lnSpc>
              <a:buNone/>
            </a:pPr>
            <a:r>
              <a:rPr lang="en-US" b="1" dirty="0">
                <a:latin typeface="Times New Roman" panose="02020603050405020304" pitchFamily="18" charset="0"/>
                <a:cs typeface="Times New Roman" panose="02020603050405020304" pitchFamily="18" charset="0"/>
              </a:rPr>
              <a:t> y = a common factor affecting the equivalent worth values of Alternative A and Alternative B</a:t>
            </a:r>
          </a:p>
          <a:p>
            <a:pPr marL="0" indent="0">
              <a:lnSpc>
                <a:spcPct val="100000"/>
              </a:lnSpc>
              <a:buNone/>
            </a:pPr>
            <a:r>
              <a:rPr lang="en-US" b="1" dirty="0">
                <a:latin typeface="Times New Roman" panose="02020603050405020304" pitchFamily="18" charset="0"/>
                <a:cs typeface="Times New Roman" panose="02020603050405020304" pitchFamily="18" charset="0"/>
              </a:rPr>
              <a:t> </a:t>
            </a:r>
          </a:p>
          <a:p>
            <a:pPr marL="0" indent="0">
              <a:buNone/>
            </a:pPr>
            <a:endParaRPr lang="en-US" dirty="0"/>
          </a:p>
        </p:txBody>
      </p:sp>
      <p:sp>
        <p:nvSpPr>
          <p:cNvPr id="4" name="Rectangle 2"/>
          <p:cNvSpPr>
            <a:spLocks noGrp="1" noChangeArrowheads="1"/>
          </p:cNvSpPr>
          <p:nvPr>
            <p:ph type="title"/>
          </p:nvPr>
        </p:nvSpPr>
        <p:spPr>
          <a:xfrm>
            <a:off x="586596" y="287488"/>
            <a:ext cx="8583284" cy="1325563"/>
          </a:xfrm>
        </p:spPr>
        <p:txBody>
          <a:bodyPr>
            <a:normAutofit/>
          </a:bodyPr>
          <a:lstStyle/>
          <a:p>
            <a:pPr algn="ctr" eaLnBrk="1" hangingPunct="1"/>
            <a:r>
              <a:rPr lang="en-US" sz="3200" b="1" dirty="0">
                <a:solidFill>
                  <a:srgbClr val="990000"/>
                </a:solidFill>
                <a:latin typeface="Times New Roman" pitchFamily="18" charset="0"/>
                <a:cs typeface="Times New Roman" pitchFamily="18" charset="0"/>
              </a:rPr>
              <a:t>Break – Even Analysis between Two Alternatives (Cont’d….) </a:t>
            </a:r>
          </a:p>
        </p:txBody>
      </p:sp>
    </p:spTree>
    <p:extLst>
      <p:ext uri="{BB962C8B-B14F-4D97-AF65-F5344CB8AC3E}">
        <p14:creationId xmlns:p14="http://schemas.microsoft.com/office/powerpoint/2010/main" val="2161743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5"/>
            <a:ext cx="9867181" cy="4351338"/>
          </a:xfrm>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The breakeven point between Alternative A and Alternative B is the value of factor y for which the two equivalents worth values are equal. </a:t>
            </a:r>
          </a:p>
          <a:p>
            <a:pPr marL="0" indent="0" algn="just">
              <a:lnSpc>
                <a:spcPct val="150000"/>
              </a:lnSpc>
              <a:buNone/>
            </a:pPr>
            <a:r>
              <a:rPr lang="en-US" b="1" dirty="0">
                <a:latin typeface="Times New Roman" panose="02020603050405020304" pitchFamily="18" charset="0"/>
                <a:cs typeface="Times New Roman" panose="02020603050405020304" pitchFamily="18" charset="0"/>
              </a:rPr>
              <a:t>That is</a:t>
            </a:r>
          </a:p>
          <a:p>
            <a:pPr marL="0" indent="0" algn="just">
              <a:lnSpc>
                <a:spcPct val="150000"/>
              </a:lnSpc>
              <a:buNone/>
            </a:pPr>
            <a:r>
              <a:rPr lang="en-US" b="1" dirty="0">
                <a:solidFill>
                  <a:srgbClr val="002060"/>
                </a:solidFill>
                <a:latin typeface="Times New Roman" panose="02020603050405020304" pitchFamily="18" charset="0"/>
                <a:cs typeface="Times New Roman" panose="02020603050405020304" pitchFamily="18" charset="0"/>
              </a:rPr>
              <a:t>EW</a:t>
            </a:r>
            <a:r>
              <a:rPr lang="en-US" b="1" baseline="-25000" dirty="0">
                <a:solidFill>
                  <a:srgbClr val="002060"/>
                </a:solidFill>
                <a:latin typeface="Times New Roman" panose="02020603050405020304" pitchFamily="18" charset="0"/>
                <a:cs typeface="Times New Roman" panose="02020603050405020304" pitchFamily="18" charset="0"/>
              </a:rPr>
              <a:t>A</a:t>
            </a:r>
            <a:r>
              <a:rPr lang="en-US" b="1" dirty="0">
                <a:solidFill>
                  <a:srgbClr val="002060"/>
                </a:solidFill>
                <a:latin typeface="Times New Roman" panose="02020603050405020304" pitchFamily="18" charset="0"/>
                <a:cs typeface="Times New Roman" panose="02020603050405020304" pitchFamily="18" charset="0"/>
              </a:rPr>
              <a:t> = EW</a:t>
            </a:r>
            <a:r>
              <a:rPr lang="en-US" b="1" baseline="-25000" dirty="0">
                <a:solidFill>
                  <a:srgbClr val="002060"/>
                </a:solidFill>
                <a:latin typeface="Times New Roman" panose="02020603050405020304" pitchFamily="18" charset="0"/>
                <a:cs typeface="Times New Roman" panose="02020603050405020304" pitchFamily="18" charset="0"/>
              </a:rPr>
              <a:t>B</a:t>
            </a:r>
            <a:r>
              <a:rPr lang="en-US" b="1" dirty="0">
                <a:solidFill>
                  <a:srgbClr val="002060"/>
                </a:solidFill>
                <a:latin typeface="Times New Roman" panose="02020603050405020304" pitchFamily="18" charset="0"/>
                <a:cs typeface="Times New Roman" panose="02020603050405020304" pitchFamily="18" charset="0"/>
              </a:rPr>
              <a:t>, </a:t>
            </a:r>
          </a:p>
          <a:p>
            <a:pPr marL="0" indent="0" algn="just">
              <a:lnSpc>
                <a:spcPct val="150000"/>
              </a:lnSpc>
              <a:buNone/>
            </a:pPr>
            <a:r>
              <a:rPr lang="en-US" b="1" dirty="0">
                <a:latin typeface="Times New Roman" panose="02020603050405020304" pitchFamily="18" charset="0"/>
                <a:cs typeface="Times New Roman" panose="02020603050405020304" pitchFamily="18" charset="0"/>
              </a:rPr>
              <a:t>f</a:t>
            </a:r>
            <a:r>
              <a:rPr lang="en-US" b="1" baseline="-25000"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(y) = f</a:t>
            </a:r>
            <a:r>
              <a:rPr lang="en-US" b="1" baseline="-25000"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(y), which may be solved for y. </a:t>
            </a:r>
          </a:p>
        </p:txBody>
      </p:sp>
      <p:sp>
        <p:nvSpPr>
          <p:cNvPr id="4" name="Rectangle 2"/>
          <p:cNvSpPr>
            <a:spLocks noGrp="1" noChangeArrowheads="1"/>
          </p:cNvSpPr>
          <p:nvPr>
            <p:ph type="title"/>
          </p:nvPr>
        </p:nvSpPr>
        <p:spPr>
          <a:xfrm>
            <a:off x="189780" y="500062"/>
            <a:ext cx="10515600" cy="1325563"/>
          </a:xfrm>
        </p:spPr>
        <p:txBody>
          <a:bodyPr>
            <a:normAutofit/>
          </a:bodyPr>
          <a:lstStyle/>
          <a:p>
            <a:pPr algn="ctr" eaLnBrk="1" hangingPunct="1"/>
            <a:r>
              <a:rPr lang="en-US" sz="3200" b="1" dirty="0">
                <a:solidFill>
                  <a:srgbClr val="990000"/>
                </a:solidFill>
                <a:latin typeface="Times New Roman" pitchFamily="18" charset="0"/>
                <a:cs typeface="Times New Roman" pitchFamily="18" charset="0"/>
              </a:rPr>
              <a:t>Break – Even Analysis between Two Alternatives (Cont’d….) </a:t>
            </a:r>
          </a:p>
        </p:txBody>
      </p:sp>
    </p:spTree>
    <p:extLst>
      <p:ext uri="{BB962C8B-B14F-4D97-AF65-F5344CB8AC3E}">
        <p14:creationId xmlns:p14="http://schemas.microsoft.com/office/powerpoint/2010/main" val="3326528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2541" y="1394303"/>
            <a:ext cx="10515600" cy="5317047"/>
          </a:xfrm>
        </p:spPr>
        <p:txBody>
          <a:bodyPr>
            <a:normAutofit fontScale="92500"/>
          </a:bodyPr>
          <a:lstStyle/>
          <a:p>
            <a:pPr marL="0" indent="0" algn="just">
              <a:lnSpc>
                <a:spcPct val="110000"/>
              </a:lnSpc>
              <a:buNone/>
            </a:pPr>
            <a:r>
              <a:rPr lang="en-US" b="1" u="sng" dirty="0">
                <a:latin typeface="Times New Roman" panose="02020603050405020304" pitchFamily="18" charset="0"/>
                <a:cs typeface="Times New Roman" panose="02020603050405020304" pitchFamily="18" charset="0"/>
              </a:rPr>
              <a:t>Examples of common factors </a:t>
            </a:r>
            <a:r>
              <a:rPr lang="en-US" b="1" dirty="0">
                <a:latin typeface="Times New Roman" panose="02020603050405020304" pitchFamily="18" charset="0"/>
                <a:cs typeface="Times New Roman" panose="02020603050405020304" pitchFamily="18" charset="0"/>
              </a:rPr>
              <a:t>[7]</a:t>
            </a:r>
          </a:p>
          <a:p>
            <a:pPr lvl="0" algn="just">
              <a:lnSpc>
                <a:spcPct val="110000"/>
              </a:lnSpc>
            </a:pPr>
            <a:r>
              <a:rPr lang="en-US" b="1" dirty="0">
                <a:solidFill>
                  <a:srgbClr val="002060"/>
                </a:solidFill>
                <a:latin typeface="Times New Roman" panose="02020603050405020304" pitchFamily="18" charset="0"/>
                <a:cs typeface="Times New Roman" panose="02020603050405020304" pitchFamily="18" charset="0"/>
              </a:rPr>
              <a:t>Annual revenues: </a:t>
            </a:r>
            <a:r>
              <a:rPr lang="en-US" b="1" dirty="0">
                <a:latin typeface="Times New Roman" panose="02020603050405020304" pitchFamily="18" charset="0"/>
                <a:cs typeface="Times New Roman" panose="02020603050405020304" pitchFamily="18" charset="0"/>
              </a:rPr>
              <a:t>solve for the annual revenues to equal (break even) with annual expenses.</a:t>
            </a:r>
          </a:p>
          <a:p>
            <a:pPr lvl="0" algn="just">
              <a:lnSpc>
                <a:spcPct val="110000"/>
              </a:lnSpc>
            </a:pPr>
            <a:r>
              <a:rPr lang="en-US" b="1" dirty="0">
                <a:solidFill>
                  <a:srgbClr val="002060"/>
                </a:solidFill>
                <a:latin typeface="Times New Roman" panose="02020603050405020304" pitchFamily="18" charset="0"/>
                <a:cs typeface="Times New Roman" panose="02020603050405020304" pitchFamily="18" charset="0"/>
              </a:rPr>
              <a:t>Rate of return: </a:t>
            </a:r>
            <a:r>
              <a:rPr lang="en-US" b="1" dirty="0">
                <a:latin typeface="Times New Roman" panose="02020603050405020304" pitchFamily="18" charset="0"/>
                <a:cs typeface="Times New Roman" panose="02020603050405020304" pitchFamily="18" charset="0"/>
              </a:rPr>
              <a:t>solve for the rate of return on the increment of invested capital at which two given alternatives are equally desirable.</a:t>
            </a:r>
          </a:p>
          <a:p>
            <a:pPr lvl="0" algn="just">
              <a:lnSpc>
                <a:spcPct val="110000"/>
              </a:lnSpc>
            </a:pPr>
            <a:r>
              <a:rPr lang="en-US" b="1" dirty="0">
                <a:solidFill>
                  <a:srgbClr val="002060"/>
                </a:solidFill>
                <a:latin typeface="Times New Roman" panose="02020603050405020304" pitchFamily="18" charset="0"/>
                <a:cs typeface="Times New Roman" panose="02020603050405020304" pitchFamily="18" charset="0"/>
              </a:rPr>
              <a:t>Market (salvage) value: </a:t>
            </a:r>
            <a:r>
              <a:rPr lang="en-US" b="1" dirty="0">
                <a:latin typeface="Times New Roman" panose="02020603050405020304" pitchFamily="18" charset="0"/>
                <a:cs typeface="Times New Roman" panose="02020603050405020304" pitchFamily="18" charset="0"/>
              </a:rPr>
              <a:t>solve for the future resale value that would result in indifference as to preference for an alternative.</a:t>
            </a:r>
          </a:p>
          <a:p>
            <a:pPr lvl="0" algn="just">
              <a:lnSpc>
                <a:spcPct val="110000"/>
              </a:lnSpc>
            </a:pPr>
            <a:r>
              <a:rPr lang="en-US" b="1" dirty="0">
                <a:solidFill>
                  <a:srgbClr val="002060"/>
                </a:solidFill>
                <a:latin typeface="Times New Roman" panose="02020603050405020304" pitchFamily="18" charset="0"/>
                <a:cs typeface="Times New Roman" panose="02020603050405020304" pitchFamily="18" charset="0"/>
              </a:rPr>
              <a:t>Equipment life: </a:t>
            </a:r>
            <a:r>
              <a:rPr lang="en-US" b="1" dirty="0">
                <a:latin typeface="Times New Roman" panose="02020603050405020304" pitchFamily="18" charset="0"/>
                <a:cs typeface="Times New Roman" panose="02020603050405020304" pitchFamily="18" charset="0"/>
              </a:rPr>
              <a:t>solve for the useful life required for alternative to be economically justified. </a:t>
            </a:r>
          </a:p>
          <a:p>
            <a:pPr lvl="0" algn="just">
              <a:lnSpc>
                <a:spcPct val="110000"/>
              </a:lnSpc>
            </a:pPr>
            <a:r>
              <a:rPr lang="en-US" b="1" dirty="0">
                <a:solidFill>
                  <a:srgbClr val="002060"/>
                </a:solidFill>
                <a:latin typeface="Times New Roman" panose="02020603050405020304" pitchFamily="18" charset="0"/>
                <a:cs typeface="Times New Roman" panose="02020603050405020304" pitchFamily="18" charset="0"/>
              </a:rPr>
              <a:t>Capacity utilization: </a:t>
            </a:r>
            <a:r>
              <a:rPr lang="en-US" b="1" dirty="0">
                <a:latin typeface="Times New Roman" panose="02020603050405020304" pitchFamily="18" charset="0"/>
                <a:cs typeface="Times New Roman" panose="02020603050405020304" pitchFamily="18" charset="0"/>
              </a:rPr>
              <a:t>solve for the hours of utilization per year.</a:t>
            </a:r>
          </a:p>
          <a:p>
            <a:pPr marL="0" indent="0">
              <a:buNone/>
            </a:pPr>
            <a:endParaRPr lang="en-US" dirty="0"/>
          </a:p>
        </p:txBody>
      </p:sp>
      <p:sp>
        <p:nvSpPr>
          <p:cNvPr id="4" name="Rectangle 2"/>
          <p:cNvSpPr>
            <a:spLocks noGrp="1" noChangeArrowheads="1"/>
          </p:cNvSpPr>
          <p:nvPr>
            <p:ph type="title"/>
          </p:nvPr>
        </p:nvSpPr>
        <p:spPr>
          <a:xfrm>
            <a:off x="103517" y="163632"/>
            <a:ext cx="9963509" cy="1325563"/>
          </a:xfrm>
        </p:spPr>
        <p:txBody>
          <a:bodyPr>
            <a:normAutofit/>
          </a:bodyPr>
          <a:lstStyle/>
          <a:p>
            <a:pPr algn="ctr" eaLnBrk="1" hangingPunct="1"/>
            <a:r>
              <a:rPr lang="en-US" sz="3200" b="1" dirty="0">
                <a:solidFill>
                  <a:srgbClr val="990000"/>
                </a:solidFill>
                <a:latin typeface="Times New Roman" pitchFamily="18" charset="0"/>
                <a:cs typeface="Times New Roman" pitchFamily="18" charset="0"/>
              </a:rPr>
              <a:t>Break – Even Analysis between Two Alternatives (Cont’d….) </a:t>
            </a:r>
          </a:p>
        </p:txBody>
      </p:sp>
    </p:spTree>
    <p:extLst>
      <p:ext uri="{BB962C8B-B14F-4D97-AF65-F5344CB8AC3E}">
        <p14:creationId xmlns:p14="http://schemas.microsoft.com/office/powerpoint/2010/main" val="922387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703279" cy="4592428"/>
          </a:xfrm>
        </p:spPr>
        <p:txBody>
          <a:bodyPr>
            <a:normAutofit/>
          </a:bodyPr>
          <a:lstStyle/>
          <a:p>
            <a:pPr marL="0" indent="0">
              <a:buNone/>
            </a:pPr>
            <a:r>
              <a:rPr lang="en-US" b="1" u="sng" dirty="0">
                <a:solidFill>
                  <a:srgbClr val="002060"/>
                </a:solidFill>
                <a:latin typeface="Times New Roman" panose="02020603050405020304" pitchFamily="18" charset="0"/>
                <a:cs typeface="Times New Roman" panose="02020603050405020304" pitchFamily="18" charset="0"/>
              </a:rPr>
              <a:t>Steps to determine breakeven point of common variable</a:t>
            </a:r>
            <a:endParaRPr lang="en-US" dirty="0">
              <a:solidFill>
                <a:srgbClr val="002060"/>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Define the common variable and its dimensional units.</a:t>
            </a:r>
          </a:p>
          <a:p>
            <a:pPr lvl="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Use PW or AW analysis to express the total cost of each alternative as a function of the common variable.</a:t>
            </a:r>
          </a:p>
          <a:p>
            <a:pPr lvl="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Equate the two relations and solve for the breakeven value of the variable.</a:t>
            </a:r>
          </a:p>
          <a:p>
            <a:pPr lvl="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If the anticipated level is below breakeven value, select alternative with the higher variable cost (larger slope). If the anticipated level is above the break even value select the alternative with lower variable cost (smaller slope). </a:t>
            </a:r>
          </a:p>
          <a:p>
            <a:pPr marL="0" indent="0">
              <a:buNone/>
            </a:pPr>
            <a:endParaRPr lang="en-US" dirty="0"/>
          </a:p>
        </p:txBody>
      </p:sp>
      <p:sp>
        <p:nvSpPr>
          <p:cNvPr id="4" name="Rectangle 2"/>
          <p:cNvSpPr>
            <a:spLocks noGrp="1" noChangeArrowheads="1"/>
          </p:cNvSpPr>
          <p:nvPr>
            <p:ph type="title"/>
          </p:nvPr>
        </p:nvSpPr>
        <p:spPr>
          <a:xfrm>
            <a:off x="217098" y="373751"/>
            <a:ext cx="10515600" cy="1325563"/>
          </a:xfrm>
        </p:spPr>
        <p:txBody>
          <a:bodyPr>
            <a:normAutofit/>
          </a:bodyPr>
          <a:lstStyle/>
          <a:p>
            <a:pPr algn="ctr" eaLnBrk="1" hangingPunct="1"/>
            <a:r>
              <a:rPr lang="en-US" sz="3200" b="1" dirty="0">
                <a:solidFill>
                  <a:srgbClr val="990000"/>
                </a:solidFill>
                <a:latin typeface="Times New Roman" pitchFamily="18" charset="0"/>
                <a:cs typeface="Times New Roman" pitchFamily="18" charset="0"/>
              </a:rPr>
              <a:t>Break – Even Analysis between Two Alternatives (Cont’d….) </a:t>
            </a:r>
          </a:p>
        </p:txBody>
      </p:sp>
    </p:spTree>
    <p:extLst>
      <p:ext uri="{BB962C8B-B14F-4D97-AF65-F5344CB8AC3E}">
        <p14:creationId xmlns:p14="http://schemas.microsoft.com/office/powerpoint/2010/main" val="619999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477024" y="1597803"/>
            <a:ext cx="7089670" cy="4138137"/>
            <a:chOff x="2721873" y="3969966"/>
            <a:chExt cx="4898127" cy="2702841"/>
          </a:xfrm>
        </p:grpSpPr>
        <p:cxnSp>
          <p:nvCxnSpPr>
            <p:cNvPr id="5" name="Line 4"/>
            <p:cNvCxnSpPr/>
            <p:nvPr/>
          </p:nvCxnSpPr>
          <p:spPr bwMode="auto">
            <a:xfrm flipV="1">
              <a:off x="3048000" y="4343400"/>
              <a:ext cx="0" cy="1981200"/>
            </a:xfrm>
            <a:prstGeom prst="line">
              <a:avLst/>
            </a:prstGeom>
            <a:noFill/>
            <a:ln w="9525">
              <a:solidFill>
                <a:schemeClr val="tx1"/>
              </a:solidFill>
              <a:round/>
              <a:headEnd/>
              <a:tailEnd type="triangle" w="med" len="med"/>
            </a:ln>
          </p:spPr>
        </p:cxnSp>
        <p:cxnSp>
          <p:nvCxnSpPr>
            <p:cNvPr id="6" name="Line 5"/>
            <p:cNvCxnSpPr/>
            <p:nvPr/>
          </p:nvCxnSpPr>
          <p:spPr bwMode="auto">
            <a:xfrm>
              <a:off x="3048000" y="6324600"/>
              <a:ext cx="4572000" cy="0"/>
            </a:xfrm>
            <a:prstGeom prst="line">
              <a:avLst/>
            </a:prstGeom>
            <a:noFill/>
            <a:ln w="9525">
              <a:solidFill>
                <a:schemeClr val="tx1"/>
              </a:solidFill>
              <a:round/>
              <a:headEnd/>
              <a:tailEnd type="triangle" w="med" len="med"/>
            </a:ln>
          </p:spPr>
        </p:cxnSp>
        <p:cxnSp>
          <p:nvCxnSpPr>
            <p:cNvPr id="7" name="Line 6"/>
            <p:cNvCxnSpPr/>
            <p:nvPr/>
          </p:nvCxnSpPr>
          <p:spPr bwMode="auto">
            <a:xfrm flipV="1">
              <a:off x="3048000" y="4419600"/>
              <a:ext cx="2971800" cy="1447800"/>
            </a:xfrm>
            <a:prstGeom prst="line">
              <a:avLst/>
            </a:prstGeom>
            <a:noFill/>
            <a:ln w="9525">
              <a:solidFill>
                <a:schemeClr val="tx1"/>
              </a:solidFill>
              <a:round/>
              <a:headEnd/>
              <a:tailEnd/>
            </a:ln>
          </p:spPr>
        </p:cxnSp>
        <p:cxnSp>
          <p:nvCxnSpPr>
            <p:cNvPr id="8" name="Line 7"/>
            <p:cNvCxnSpPr/>
            <p:nvPr/>
          </p:nvCxnSpPr>
          <p:spPr bwMode="auto">
            <a:xfrm flipV="1">
              <a:off x="3048000" y="4648200"/>
              <a:ext cx="3200400" cy="762000"/>
            </a:xfrm>
            <a:prstGeom prst="line">
              <a:avLst/>
            </a:prstGeom>
            <a:noFill/>
            <a:ln w="9525">
              <a:solidFill>
                <a:schemeClr val="tx1"/>
              </a:solidFill>
              <a:round/>
              <a:headEnd/>
              <a:tailEnd/>
            </a:ln>
          </p:spPr>
        </p:cxnSp>
        <p:cxnSp>
          <p:nvCxnSpPr>
            <p:cNvPr id="9" name="Line 8"/>
            <p:cNvCxnSpPr/>
            <p:nvPr/>
          </p:nvCxnSpPr>
          <p:spPr bwMode="auto">
            <a:xfrm flipV="1">
              <a:off x="3048000" y="4343400"/>
              <a:ext cx="0" cy="1981200"/>
            </a:xfrm>
            <a:prstGeom prst="line">
              <a:avLst/>
            </a:prstGeom>
            <a:noFill/>
            <a:ln w="9525">
              <a:solidFill>
                <a:schemeClr val="tx1"/>
              </a:solidFill>
              <a:round/>
              <a:headEnd/>
              <a:tailEnd type="triangle" w="med" len="med"/>
            </a:ln>
          </p:spPr>
        </p:cxnSp>
        <p:cxnSp>
          <p:nvCxnSpPr>
            <p:cNvPr id="10" name="Line 9"/>
            <p:cNvCxnSpPr/>
            <p:nvPr/>
          </p:nvCxnSpPr>
          <p:spPr bwMode="auto">
            <a:xfrm>
              <a:off x="3048000" y="6324600"/>
              <a:ext cx="4572000" cy="0"/>
            </a:xfrm>
            <a:prstGeom prst="line">
              <a:avLst/>
            </a:prstGeom>
            <a:noFill/>
            <a:ln w="9525">
              <a:solidFill>
                <a:schemeClr val="tx1"/>
              </a:solidFill>
              <a:round/>
              <a:headEnd/>
              <a:tailEnd type="triangle" w="med" len="med"/>
            </a:ln>
          </p:spPr>
        </p:cxnSp>
        <p:cxnSp>
          <p:nvCxnSpPr>
            <p:cNvPr id="11" name="Line 10"/>
            <p:cNvCxnSpPr/>
            <p:nvPr/>
          </p:nvCxnSpPr>
          <p:spPr bwMode="auto">
            <a:xfrm flipV="1">
              <a:off x="3048000" y="4419600"/>
              <a:ext cx="2971800" cy="1447800"/>
            </a:xfrm>
            <a:prstGeom prst="line">
              <a:avLst/>
            </a:prstGeom>
            <a:noFill/>
            <a:ln w="9525">
              <a:solidFill>
                <a:schemeClr val="tx1"/>
              </a:solidFill>
              <a:round/>
              <a:headEnd/>
              <a:tailEnd/>
            </a:ln>
          </p:spPr>
        </p:cxnSp>
        <p:cxnSp>
          <p:nvCxnSpPr>
            <p:cNvPr id="12" name="Line 11"/>
            <p:cNvCxnSpPr/>
            <p:nvPr/>
          </p:nvCxnSpPr>
          <p:spPr bwMode="auto">
            <a:xfrm flipV="1">
              <a:off x="3048000" y="4343400"/>
              <a:ext cx="0" cy="1981200"/>
            </a:xfrm>
            <a:prstGeom prst="line">
              <a:avLst/>
            </a:prstGeom>
            <a:noFill/>
            <a:ln w="9525">
              <a:solidFill>
                <a:schemeClr val="tx1"/>
              </a:solidFill>
              <a:round/>
              <a:headEnd/>
              <a:tailEnd type="triangle" w="med" len="med"/>
            </a:ln>
          </p:spPr>
        </p:cxnSp>
        <p:cxnSp>
          <p:nvCxnSpPr>
            <p:cNvPr id="13" name="Line 12"/>
            <p:cNvCxnSpPr/>
            <p:nvPr/>
          </p:nvCxnSpPr>
          <p:spPr bwMode="auto">
            <a:xfrm>
              <a:off x="3048000" y="6324600"/>
              <a:ext cx="4572000" cy="0"/>
            </a:xfrm>
            <a:prstGeom prst="line">
              <a:avLst/>
            </a:prstGeom>
            <a:noFill/>
            <a:ln w="9525">
              <a:solidFill>
                <a:schemeClr val="tx1"/>
              </a:solidFill>
              <a:round/>
              <a:headEnd/>
              <a:tailEnd type="triangle" w="med" len="med"/>
            </a:ln>
          </p:spPr>
        </p:cxnSp>
        <p:cxnSp>
          <p:nvCxnSpPr>
            <p:cNvPr id="14" name="Line 13"/>
            <p:cNvCxnSpPr/>
            <p:nvPr/>
          </p:nvCxnSpPr>
          <p:spPr bwMode="auto">
            <a:xfrm flipV="1">
              <a:off x="3048000" y="4648200"/>
              <a:ext cx="3200400" cy="762000"/>
            </a:xfrm>
            <a:prstGeom prst="line">
              <a:avLst/>
            </a:prstGeom>
            <a:noFill/>
            <a:ln w="19050">
              <a:solidFill>
                <a:schemeClr val="tx1"/>
              </a:solidFill>
              <a:round/>
              <a:headEnd/>
              <a:tailEnd/>
            </a:ln>
          </p:spPr>
        </p:cxnSp>
        <p:cxnSp>
          <p:nvCxnSpPr>
            <p:cNvPr id="15" name="Line 14"/>
            <p:cNvCxnSpPr/>
            <p:nvPr/>
          </p:nvCxnSpPr>
          <p:spPr bwMode="auto">
            <a:xfrm flipV="1">
              <a:off x="3048000" y="4419600"/>
              <a:ext cx="2971800" cy="1447800"/>
            </a:xfrm>
            <a:prstGeom prst="line">
              <a:avLst/>
            </a:prstGeom>
            <a:noFill/>
            <a:ln w="19050">
              <a:solidFill>
                <a:schemeClr val="tx1"/>
              </a:solidFill>
              <a:round/>
              <a:headEnd/>
              <a:tailEnd/>
            </a:ln>
          </p:spPr>
        </p:cxnSp>
        <p:cxnSp>
          <p:nvCxnSpPr>
            <p:cNvPr id="16" name="Line 15"/>
            <p:cNvCxnSpPr/>
            <p:nvPr/>
          </p:nvCxnSpPr>
          <p:spPr bwMode="auto">
            <a:xfrm flipV="1">
              <a:off x="3048000" y="4343400"/>
              <a:ext cx="0" cy="1981200"/>
            </a:xfrm>
            <a:prstGeom prst="line">
              <a:avLst/>
            </a:prstGeom>
            <a:noFill/>
            <a:ln w="19050">
              <a:solidFill>
                <a:schemeClr val="tx1"/>
              </a:solidFill>
              <a:round/>
              <a:headEnd/>
              <a:tailEnd type="triangle" w="med" len="med"/>
            </a:ln>
          </p:spPr>
        </p:cxnSp>
        <p:cxnSp>
          <p:nvCxnSpPr>
            <p:cNvPr id="17" name="Line 16"/>
            <p:cNvCxnSpPr/>
            <p:nvPr/>
          </p:nvCxnSpPr>
          <p:spPr bwMode="auto">
            <a:xfrm>
              <a:off x="3048000" y="6324600"/>
              <a:ext cx="4572000" cy="0"/>
            </a:xfrm>
            <a:prstGeom prst="line">
              <a:avLst/>
            </a:prstGeom>
            <a:noFill/>
            <a:ln w="19050">
              <a:solidFill>
                <a:schemeClr val="tx1"/>
              </a:solidFill>
              <a:round/>
              <a:headEnd/>
              <a:tailEnd type="triangle" w="med" len="med"/>
            </a:ln>
          </p:spPr>
        </p:cxnSp>
        <p:sp>
          <p:nvSpPr>
            <p:cNvPr id="18" name="Text Box 17"/>
            <p:cNvSpPr txBox="1">
              <a:spLocks noChangeArrowheads="1"/>
            </p:cNvSpPr>
            <p:nvPr/>
          </p:nvSpPr>
          <p:spPr bwMode="auto">
            <a:xfrm rot="16200000">
              <a:off x="2195545" y="4496294"/>
              <a:ext cx="1371612" cy="318956"/>
            </a:xfrm>
            <a:prstGeom prst="rect">
              <a:avLst/>
            </a:prstGeom>
            <a:noFill/>
            <a:ln w="9525">
              <a:noFill/>
              <a:miter lim="800000"/>
              <a:headEnd/>
              <a:tailEnd/>
            </a:ln>
          </p:spPr>
          <p:txBody>
            <a:bodyPr>
              <a:spAutoFit/>
            </a:bodyPr>
            <a:lstStyle/>
            <a:p>
              <a:pPr marL="0" marR="0" fontAlgn="base">
                <a:spcBef>
                  <a:spcPts val="1080"/>
                </a:spcBef>
                <a:spcAft>
                  <a:spcPts val="0"/>
                </a:spcAft>
              </a:pPr>
              <a:r>
                <a:rPr lang="en-US" sz="2400" b="1" kern="1200" dirty="0">
                  <a:solidFill>
                    <a:srgbClr val="000000"/>
                  </a:solidFill>
                  <a:effectLst/>
                  <a:latin typeface="Arial" panose="020B0604020202020204" pitchFamily="34" charset="0"/>
                  <a:ea typeface="Times New Roman" panose="02020603050405020304" pitchFamily="18" charset="0"/>
                </a:rPr>
                <a:t>Total cost</a:t>
              </a:r>
              <a:endParaRPr lang="en-US" sz="2400" dirty="0">
                <a:effectLst/>
                <a:latin typeface="Times New Roman" panose="02020603050405020304" pitchFamily="18" charset="0"/>
                <a:ea typeface="Times New Roman" panose="02020603050405020304" pitchFamily="18" charset="0"/>
              </a:endParaRPr>
            </a:p>
          </p:txBody>
        </p:sp>
        <p:sp>
          <p:nvSpPr>
            <p:cNvPr id="19" name="Text Box 19"/>
            <p:cNvSpPr txBox="1">
              <a:spLocks noChangeArrowheads="1"/>
            </p:cNvSpPr>
            <p:nvPr/>
          </p:nvSpPr>
          <p:spPr bwMode="auto">
            <a:xfrm>
              <a:off x="3124140" y="4724348"/>
              <a:ext cx="1219513" cy="881750"/>
            </a:xfrm>
            <a:prstGeom prst="rect">
              <a:avLst/>
            </a:prstGeom>
            <a:noFill/>
            <a:ln w="9525">
              <a:noFill/>
              <a:miter lim="800000"/>
              <a:headEnd/>
              <a:tailEnd/>
            </a:ln>
          </p:spPr>
          <p:txBody>
            <a:bodyPr>
              <a:spAutoFit/>
            </a:bodyPr>
            <a:lstStyle/>
            <a:p>
              <a:pPr marL="0" marR="0" fontAlgn="base">
                <a:spcBef>
                  <a:spcPts val="1080"/>
                </a:spcBef>
                <a:spcAft>
                  <a:spcPts val="0"/>
                </a:spcAft>
              </a:pPr>
              <a:r>
                <a:rPr lang="en-US" sz="1200" b="1" kern="1200">
                  <a:solidFill>
                    <a:srgbClr val="000000"/>
                  </a:solidFill>
                  <a:effectLst/>
                  <a:latin typeface="Arial" panose="020B0604020202020204" pitchFamily="34" charset="0"/>
                  <a:ea typeface="Times New Roman" panose="02020603050405020304" pitchFamily="18" charset="0"/>
                </a:rPr>
                <a:t>Alt 2 FC</a:t>
              </a:r>
              <a:endParaRPr lang="en-US" sz="1200">
                <a:effectLst/>
                <a:latin typeface="Times New Roman" panose="02020603050405020304" pitchFamily="18" charset="0"/>
                <a:ea typeface="Times New Roman" panose="02020603050405020304" pitchFamily="18" charset="0"/>
              </a:endParaRPr>
            </a:p>
          </p:txBody>
        </p:sp>
        <p:sp>
          <p:nvSpPr>
            <p:cNvPr id="20" name="Text Box 20"/>
            <p:cNvSpPr txBox="1">
              <a:spLocks noChangeArrowheads="1"/>
            </p:cNvSpPr>
            <p:nvPr/>
          </p:nvSpPr>
          <p:spPr bwMode="auto">
            <a:xfrm>
              <a:off x="3047944" y="5791057"/>
              <a:ext cx="1219513" cy="881750"/>
            </a:xfrm>
            <a:prstGeom prst="rect">
              <a:avLst/>
            </a:prstGeom>
            <a:noFill/>
            <a:ln w="9525">
              <a:noFill/>
              <a:miter lim="800000"/>
              <a:headEnd/>
              <a:tailEnd/>
            </a:ln>
          </p:spPr>
          <p:txBody>
            <a:bodyPr>
              <a:spAutoFit/>
            </a:bodyPr>
            <a:lstStyle/>
            <a:p>
              <a:pPr marL="0" marR="0" fontAlgn="base">
                <a:spcBef>
                  <a:spcPts val="1080"/>
                </a:spcBef>
                <a:spcAft>
                  <a:spcPts val="0"/>
                </a:spcAft>
              </a:pPr>
              <a:r>
                <a:rPr lang="en-US" sz="1200" b="1" kern="1200">
                  <a:solidFill>
                    <a:srgbClr val="000000"/>
                  </a:solidFill>
                  <a:effectLst/>
                  <a:latin typeface="Arial" panose="020B0604020202020204" pitchFamily="34" charset="0"/>
                  <a:ea typeface="Times New Roman" panose="02020603050405020304" pitchFamily="18" charset="0"/>
                </a:rPr>
                <a:t>Alt 1 FC</a:t>
              </a:r>
              <a:endParaRPr lang="en-US" sz="1200">
                <a:effectLst/>
                <a:latin typeface="Times New Roman" panose="02020603050405020304" pitchFamily="18" charset="0"/>
                <a:ea typeface="Times New Roman" panose="02020603050405020304" pitchFamily="18" charset="0"/>
              </a:endParaRPr>
            </a:p>
          </p:txBody>
        </p:sp>
        <p:cxnSp>
          <p:nvCxnSpPr>
            <p:cNvPr id="21" name="Line 21"/>
            <p:cNvCxnSpPr/>
            <p:nvPr/>
          </p:nvCxnSpPr>
          <p:spPr bwMode="auto">
            <a:xfrm flipH="1" flipV="1">
              <a:off x="3048000" y="5867400"/>
              <a:ext cx="76200" cy="152400"/>
            </a:xfrm>
            <a:prstGeom prst="line">
              <a:avLst/>
            </a:prstGeom>
            <a:noFill/>
            <a:ln w="9525">
              <a:solidFill>
                <a:schemeClr val="tx1"/>
              </a:solidFill>
              <a:round/>
              <a:headEnd/>
              <a:tailEnd type="triangle" w="med" len="med"/>
            </a:ln>
          </p:spPr>
        </p:cxnSp>
        <p:cxnSp>
          <p:nvCxnSpPr>
            <p:cNvPr id="22" name="Line 22"/>
            <p:cNvCxnSpPr/>
            <p:nvPr/>
          </p:nvCxnSpPr>
          <p:spPr bwMode="auto">
            <a:xfrm flipH="1">
              <a:off x="3048000" y="5029200"/>
              <a:ext cx="228600" cy="381000"/>
            </a:xfrm>
            <a:prstGeom prst="line">
              <a:avLst/>
            </a:prstGeom>
            <a:noFill/>
            <a:ln w="9525">
              <a:solidFill>
                <a:schemeClr val="tx1"/>
              </a:solidFill>
              <a:round/>
              <a:headEnd/>
              <a:tailEnd type="triangle" w="med" len="med"/>
            </a:ln>
          </p:spPr>
        </p:cxnSp>
        <p:sp>
          <p:nvSpPr>
            <p:cNvPr id="23" name="Text Box 23"/>
            <p:cNvSpPr txBox="1">
              <a:spLocks noChangeArrowheads="1"/>
            </p:cNvSpPr>
            <p:nvPr/>
          </p:nvSpPr>
          <p:spPr bwMode="auto">
            <a:xfrm>
              <a:off x="5562388" y="4114800"/>
              <a:ext cx="1219513" cy="881750"/>
            </a:xfrm>
            <a:prstGeom prst="rect">
              <a:avLst/>
            </a:prstGeom>
            <a:noFill/>
            <a:ln w="9525">
              <a:noFill/>
              <a:miter lim="800000"/>
              <a:headEnd/>
              <a:tailEnd/>
            </a:ln>
          </p:spPr>
          <p:txBody>
            <a:bodyPr>
              <a:spAutoFit/>
            </a:bodyPr>
            <a:lstStyle/>
            <a:p>
              <a:pPr marL="0" marR="0" fontAlgn="base">
                <a:spcBef>
                  <a:spcPts val="1080"/>
                </a:spcBef>
                <a:spcAft>
                  <a:spcPts val="0"/>
                </a:spcAft>
              </a:pPr>
              <a:r>
                <a:rPr lang="en-US" sz="1200" b="1" kern="1200">
                  <a:solidFill>
                    <a:srgbClr val="000000"/>
                  </a:solidFill>
                  <a:effectLst/>
                  <a:latin typeface="Arial" panose="020B0604020202020204" pitchFamily="34" charset="0"/>
                  <a:ea typeface="Times New Roman" panose="02020603050405020304" pitchFamily="18" charset="0"/>
                </a:rPr>
                <a:t>Alt 1 TC</a:t>
              </a:r>
              <a:endParaRPr lang="en-US" sz="1200">
                <a:effectLst/>
                <a:latin typeface="Times New Roman" panose="02020603050405020304" pitchFamily="18" charset="0"/>
                <a:ea typeface="Times New Roman" panose="02020603050405020304" pitchFamily="18" charset="0"/>
              </a:endParaRPr>
            </a:p>
          </p:txBody>
        </p:sp>
        <p:sp>
          <p:nvSpPr>
            <p:cNvPr id="24" name="Text Box 24"/>
            <p:cNvSpPr txBox="1">
              <a:spLocks noChangeArrowheads="1"/>
            </p:cNvSpPr>
            <p:nvPr/>
          </p:nvSpPr>
          <p:spPr bwMode="auto">
            <a:xfrm>
              <a:off x="6095755" y="4648145"/>
              <a:ext cx="1219513" cy="881750"/>
            </a:xfrm>
            <a:prstGeom prst="rect">
              <a:avLst/>
            </a:prstGeom>
            <a:noFill/>
            <a:ln w="9525">
              <a:noFill/>
              <a:miter lim="800000"/>
              <a:headEnd/>
              <a:tailEnd/>
            </a:ln>
          </p:spPr>
          <p:txBody>
            <a:bodyPr>
              <a:spAutoFit/>
            </a:bodyPr>
            <a:lstStyle/>
            <a:p>
              <a:pPr marL="0" marR="0" fontAlgn="base">
                <a:spcBef>
                  <a:spcPts val="1080"/>
                </a:spcBef>
                <a:spcAft>
                  <a:spcPts val="0"/>
                </a:spcAft>
              </a:pPr>
              <a:r>
                <a:rPr lang="en-US" sz="1200" b="1" kern="1200">
                  <a:solidFill>
                    <a:srgbClr val="000000"/>
                  </a:solidFill>
                  <a:effectLst/>
                  <a:latin typeface="Arial" panose="020B0604020202020204" pitchFamily="34" charset="0"/>
                  <a:ea typeface="Times New Roman" panose="02020603050405020304" pitchFamily="18" charset="0"/>
                </a:rPr>
                <a:t>Alt 2 TC</a:t>
              </a:r>
              <a:endParaRPr lang="en-US" sz="1200">
                <a:effectLst/>
                <a:latin typeface="Times New Roman" panose="02020603050405020304" pitchFamily="18" charset="0"/>
                <a:ea typeface="Times New Roman" panose="02020603050405020304" pitchFamily="18" charset="0"/>
              </a:endParaRPr>
            </a:p>
          </p:txBody>
        </p:sp>
        <p:cxnSp>
          <p:nvCxnSpPr>
            <p:cNvPr id="25" name="Line 25"/>
            <p:cNvCxnSpPr/>
            <p:nvPr/>
          </p:nvCxnSpPr>
          <p:spPr bwMode="auto">
            <a:xfrm>
              <a:off x="4876800" y="4953000"/>
              <a:ext cx="0" cy="1371600"/>
            </a:xfrm>
            <a:prstGeom prst="line">
              <a:avLst/>
            </a:prstGeom>
            <a:noFill/>
            <a:ln w="28575">
              <a:solidFill>
                <a:schemeClr val="tx1"/>
              </a:solidFill>
              <a:prstDash val="dash"/>
              <a:round/>
              <a:headEnd/>
              <a:tailEnd/>
            </a:ln>
          </p:spPr>
        </p:cxnSp>
        <p:sp>
          <p:nvSpPr>
            <p:cNvPr id="26" name="Text Box 26"/>
            <p:cNvSpPr txBox="1">
              <a:spLocks noChangeArrowheads="1"/>
            </p:cNvSpPr>
            <p:nvPr/>
          </p:nvSpPr>
          <p:spPr bwMode="auto">
            <a:xfrm>
              <a:off x="5181412" y="5638644"/>
              <a:ext cx="2133639" cy="881750"/>
            </a:xfrm>
            <a:prstGeom prst="rect">
              <a:avLst/>
            </a:prstGeom>
            <a:noFill/>
            <a:ln w="9525">
              <a:noFill/>
              <a:miter lim="800000"/>
              <a:headEnd/>
              <a:tailEnd/>
            </a:ln>
          </p:spPr>
          <p:txBody>
            <a:bodyPr>
              <a:spAutoFit/>
            </a:bodyPr>
            <a:lstStyle/>
            <a:p>
              <a:pPr marL="0" marR="0" fontAlgn="base">
                <a:spcBef>
                  <a:spcPts val="1080"/>
                </a:spcBef>
                <a:spcAft>
                  <a:spcPts val="0"/>
                </a:spcAft>
              </a:pPr>
              <a:r>
                <a:rPr lang="en-US" sz="1200" b="1" kern="1200">
                  <a:solidFill>
                    <a:srgbClr val="000000"/>
                  </a:solidFill>
                  <a:effectLst/>
                  <a:latin typeface="Arial" panose="020B0604020202020204" pitchFamily="34" charset="0"/>
                  <a:ea typeface="Times New Roman" panose="02020603050405020304" pitchFamily="18" charset="0"/>
                </a:rPr>
                <a:t>Break even point</a:t>
              </a:r>
              <a:endParaRPr lang="en-US" sz="1200">
                <a:effectLst/>
                <a:latin typeface="Times New Roman" panose="02020603050405020304" pitchFamily="18" charset="0"/>
                <a:ea typeface="Times New Roman" panose="02020603050405020304" pitchFamily="18" charset="0"/>
              </a:endParaRPr>
            </a:p>
          </p:txBody>
        </p:sp>
        <p:cxnSp>
          <p:nvCxnSpPr>
            <p:cNvPr id="27" name="Line 27"/>
            <p:cNvCxnSpPr/>
            <p:nvPr/>
          </p:nvCxnSpPr>
          <p:spPr bwMode="auto">
            <a:xfrm flipH="1">
              <a:off x="4876800" y="5943600"/>
              <a:ext cx="381000" cy="381000"/>
            </a:xfrm>
            <a:prstGeom prst="line">
              <a:avLst/>
            </a:prstGeom>
            <a:noFill/>
            <a:ln w="9525">
              <a:solidFill>
                <a:schemeClr val="tx1"/>
              </a:solidFill>
              <a:round/>
              <a:headEnd/>
              <a:tailEnd type="triangle" w="med" len="med"/>
            </a:ln>
          </p:spPr>
        </p:cxnSp>
      </p:grpSp>
      <p:sp>
        <p:nvSpPr>
          <p:cNvPr id="29" name="Rectangle 8"/>
          <p:cNvSpPr>
            <a:spLocks noChangeArrowheads="1"/>
          </p:cNvSpPr>
          <p:nvPr/>
        </p:nvSpPr>
        <p:spPr bwMode="auto">
          <a:xfrm>
            <a:off x="4138661" y="5722644"/>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sz="2400" b="1" dirty="0">
                <a:latin typeface="Times New Roman" pitchFamily="18" charset="0"/>
                <a:cs typeface="Times New Roman" pitchFamily="18" charset="0"/>
              </a:rPr>
              <a:t>Source : [5]</a:t>
            </a:r>
          </a:p>
        </p:txBody>
      </p:sp>
      <p:sp>
        <p:nvSpPr>
          <p:cNvPr id="30" name="Rectangle 2"/>
          <p:cNvSpPr>
            <a:spLocks noGrp="1" noChangeArrowheads="1"/>
          </p:cNvSpPr>
          <p:nvPr>
            <p:ph type="title"/>
          </p:nvPr>
        </p:nvSpPr>
        <p:spPr>
          <a:xfrm>
            <a:off x="83536" y="398390"/>
            <a:ext cx="10515600" cy="1325563"/>
          </a:xfrm>
        </p:spPr>
        <p:txBody>
          <a:bodyPr>
            <a:normAutofit/>
          </a:bodyPr>
          <a:lstStyle/>
          <a:p>
            <a:pPr algn="ctr" eaLnBrk="1" hangingPunct="1"/>
            <a:r>
              <a:rPr lang="en-US" sz="3200" b="1" dirty="0">
                <a:solidFill>
                  <a:srgbClr val="990000"/>
                </a:solidFill>
                <a:latin typeface="Times New Roman" pitchFamily="18" charset="0"/>
                <a:cs typeface="Times New Roman" pitchFamily="18" charset="0"/>
              </a:rPr>
              <a:t>Break – Even Analysis between Two Alternatives (Cont’d….) </a:t>
            </a:r>
          </a:p>
        </p:txBody>
      </p:sp>
      <p:sp>
        <p:nvSpPr>
          <p:cNvPr id="31" name="Text Box 17"/>
          <p:cNvSpPr txBox="1">
            <a:spLocks noChangeArrowheads="1"/>
          </p:cNvSpPr>
          <p:nvPr/>
        </p:nvSpPr>
        <p:spPr bwMode="auto">
          <a:xfrm>
            <a:off x="6110665" y="5180089"/>
            <a:ext cx="4337519" cy="461665"/>
          </a:xfrm>
          <a:prstGeom prst="rect">
            <a:avLst/>
          </a:prstGeom>
          <a:noFill/>
          <a:ln w="9525">
            <a:noFill/>
            <a:miter lim="800000"/>
            <a:headEnd/>
            <a:tailEnd/>
          </a:ln>
        </p:spPr>
        <p:txBody>
          <a:bodyPr wrap="square">
            <a:spAutoFit/>
          </a:bodyPr>
          <a:lstStyle/>
          <a:p>
            <a:pPr marL="0" marR="0" fontAlgn="base">
              <a:spcBef>
                <a:spcPts val="1080"/>
              </a:spcBef>
              <a:spcAft>
                <a:spcPts val="0"/>
              </a:spcAft>
            </a:pPr>
            <a:r>
              <a:rPr lang="en-US" sz="2400" b="1" kern="1200" dirty="0">
                <a:solidFill>
                  <a:srgbClr val="000000"/>
                </a:solidFill>
                <a:effectLst/>
                <a:latin typeface="Arial" panose="020B0604020202020204" pitchFamily="34" charset="0"/>
                <a:ea typeface="Times New Roman" panose="02020603050405020304" pitchFamily="18" charset="0"/>
              </a:rPr>
              <a:t>Common variable, units</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92077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sz="half" idx="1"/>
          </p:nvPr>
        </p:nvSpPr>
        <p:spPr>
          <a:xfrm>
            <a:off x="428445" y="1450675"/>
            <a:ext cx="10304253" cy="914400"/>
          </a:xfrm>
        </p:spPr>
        <p:txBody>
          <a:bodyPr/>
          <a:lstStyle/>
          <a:p>
            <a:pPr eaLnBrk="1" hangingPunct="1">
              <a:buFontTx/>
              <a:buNone/>
            </a:pPr>
            <a:r>
              <a:rPr lang="en-US" sz="2000" dirty="0"/>
              <a:t>    </a:t>
            </a:r>
            <a:r>
              <a:rPr lang="en-US" sz="2600" b="1" dirty="0">
                <a:latin typeface="Times New Roman" panose="02020603050405020304" pitchFamily="18" charset="0"/>
                <a:cs typeface="Times New Roman" panose="02020603050405020304" pitchFamily="18" charset="0"/>
              </a:rPr>
              <a:t>Suppose that there are two alternative electric motors that provide 100-hp output</a:t>
            </a:r>
          </a:p>
        </p:txBody>
      </p:sp>
      <p:graphicFrame>
        <p:nvGraphicFramePr>
          <p:cNvPr id="27721" name="Group 73"/>
          <p:cNvGraphicFramePr>
            <a:graphicFrameLocks noGrp="1"/>
          </p:cNvGraphicFramePr>
          <p:nvPr>
            <p:ph sz="half" idx="2"/>
            <p:extLst>
              <p:ext uri="{D42A27DB-BD31-4B8C-83A1-F6EECF244321}">
                <p14:modId xmlns:p14="http://schemas.microsoft.com/office/powerpoint/2010/main" val="3746662505"/>
              </p:ext>
            </p:extLst>
          </p:nvPr>
        </p:nvGraphicFramePr>
        <p:xfrm>
          <a:off x="2093344" y="2206878"/>
          <a:ext cx="7162800" cy="2881315"/>
        </p:xfrm>
        <a:graphic>
          <a:graphicData uri="http://schemas.openxmlformats.org/drawingml/2006/table">
            <a:tbl>
              <a:tblPr/>
              <a:tblGrid>
                <a:gridCol w="2411413">
                  <a:extLst>
                    <a:ext uri="{9D8B030D-6E8A-4147-A177-3AD203B41FA5}">
                      <a16:colId xmlns:a16="http://schemas.microsoft.com/office/drawing/2014/main" val="20000"/>
                    </a:ext>
                  </a:extLst>
                </a:gridCol>
                <a:gridCol w="2414587">
                  <a:extLst>
                    <a:ext uri="{9D8B030D-6E8A-4147-A177-3AD203B41FA5}">
                      <a16:colId xmlns:a16="http://schemas.microsoft.com/office/drawing/2014/main" val="20001"/>
                    </a:ext>
                  </a:extLst>
                </a:gridCol>
                <a:gridCol w="2336800">
                  <a:extLst>
                    <a:ext uri="{9D8B030D-6E8A-4147-A177-3AD203B41FA5}">
                      <a16:colId xmlns:a16="http://schemas.microsoft.com/office/drawing/2014/main" val="20002"/>
                    </a:ext>
                  </a:extLst>
                </a:gridCol>
              </a:tblGrid>
              <a:tr h="36584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Item </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990000"/>
                          </a:solidFill>
                          <a:effectLst/>
                          <a:latin typeface="Arial" charset="0"/>
                          <a:cs typeface="Arial" charset="0"/>
                        </a:rPr>
                        <a:t>Alpha motor</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rgbClr val="990000"/>
                          </a:solidFill>
                          <a:effectLst/>
                          <a:latin typeface="Arial" charset="0"/>
                          <a:cs typeface="Arial" charset="0"/>
                        </a:rPr>
                        <a:t>Beta motor</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Purchase cost </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$ 12,500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$ 16,000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3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Efficiency </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74%</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92%</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Maintenance Cost </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$500 per year</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$250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4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Life </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10 years</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10 years</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02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Annual tax&amp; insurance</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Arial" charset="0"/>
                          <a:cs typeface="Arial" charset="0"/>
                        </a:rPr>
                        <a:t>1.5% of the investment</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5"/>
                  </a:ext>
                </a:extLst>
              </a:tr>
              <a:tr h="374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MARR</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cs typeface="Arial" charset="0"/>
                        </a:rPr>
                        <a:t>15%</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26660" name="Text Box 74"/>
          <p:cNvSpPr txBox="1">
            <a:spLocks noChangeArrowheads="1"/>
          </p:cNvSpPr>
          <p:nvPr/>
        </p:nvSpPr>
        <p:spPr bwMode="auto">
          <a:xfrm>
            <a:off x="715992" y="5154284"/>
            <a:ext cx="1104181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buFontTx/>
              <a:buAutoNum type="alphaLcParenBoth"/>
            </a:pPr>
            <a:r>
              <a:rPr lang="en-US" sz="2000" b="1" dirty="0">
                <a:latin typeface="Times New Roman" panose="02020603050405020304" pitchFamily="18" charset="0"/>
                <a:cs typeface="Times New Roman" panose="02020603050405020304" pitchFamily="18" charset="0"/>
              </a:rPr>
              <a:t>How many hours per year would the motors have to be operated at full load for the annual cost to be equal? </a:t>
            </a:r>
            <a:r>
              <a:rPr lang="en-US" sz="2000" b="1" i="1" dirty="0">
                <a:latin typeface="Times New Roman" panose="02020603050405020304" pitchFamily="18" charset="0"/>
                <a:cs typeface="Times New Roman" panose="02020603050405020304" pitchFamily="18" charset="0"/>
              </a:rPr>
              <a:t>Electricity cost = $0.05 per KW hour.</a:t>
            </a:r>
          </a:p>
          <a:p>
            <a:pPr eaLnBrk="1" hangingPunct="1">
              <a:spcBef>
                <a:spcPct val="50000"/>
              </a:spcBef>
              <a:buFontTx/>
              <a:buAutoNum type="alphaLcParenBoth"/>
            </a:pPr>
            <a:r>
              <a:rPr lang="en-US" sz="2000" b="1" dirty="0">
                <a:latin typeface="Times New Roman" panose="02020603050405020304" pitchFamily="18" charset="0"/>
                <a:cs typeface="Times New Roman" panose="02020603050405020304" pitchFamily="18" charset="0"/>
              </a:rPr>
              <a:t> If annual operation hour is 600 hrs. which motor should be selected?</a:t>
            </a:r>
          </a:p>
          <a:p>
            <a:pPr eaLnBrk="1" hangingPunct="1">
              <a:spcBef>
                <a:spcPct val="50000"/>
              </a:spcBef>
              <a:buFontTx/>
              <a:buAutoNum type="alphaLcParenBoth"/>
            </a:pPr>
            <a:endParaRPr lang="en-US" sz="2000" b="1" dirty="0"/>
          </a:p>
        </p:txBody>
      </p:sp>
      <p:sp>
        <p:nvSpPr>
          <p:cNvPr id="6" name="Rectangle 2"/>
          <p:cNvSpPr txBox="1">
            <a:spLocks noChangeArrowheads="1"/>
          </p:cNvSpPr>
          <p:nvPr/>
        </p:nvSpPr>
        <p:spPr>
          <a:xfrm>
            <a:off x="838200" y="391004"/>
            <a:ext cx="914256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990000"/>
                </a:solidFill>
                <a:latin typeface="Times New Roman" pitchFamily="18" charset="0"/>
                <a:cs typeface="Times New Roman" pitchFamily="18" charset="0"/>
              </a:rPr>
              <a:t>Break – Even Analysis between Two Alternatives Example [7]</a:t>
            </a:r>
          </a:p>
        </p:txBody>
      </p:sp>
    </p:spTree>
    <p:extLst>
      <p:ext uri="{BB962C8B-B14F-4D97-AF65-F5344CB8AC3E}">
        <p14:creationId xmlns:p14="http://schemas.microsoft.com/office/powerpoint/2010/main" val="3983867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5374" y="84856"/>
            <a:ext cx="6748732" cy="1143000"/>
          </a:xfrm>
        </p:spPr>
        <p:txBody>
          <a:bodyPr>
            <a:normAutofit/>
          </a:bodyPr>
          <a:lstStyle/>
          <a:p>
            <a:r>
              <a:rPr lang="en-US" sz="3200" b="1" dirty="0">
                <a:solidFill>
                  <a:srgbClr val="990000"/>
                </a:solidFill>
                <a:latin typeface="Times New Roman" pitchFamily="18" charset="0"/>
                <a:cs typeface="Times New Roman" pitchFamily="18" charset="0"/>
              </a:rPr>
              <a:t>Example (Cont’d….)</a:t>
            </a:r>
            <a:endParaRPr lang="en-US" sz="3200" dirty="0"/>
          </a:p>
        </p:txBody>
      </p:sp>
      <p:sp>
        <p:nvSpPr>
          <p:cNvPr id="3" name="Text Placeholder 2"/>
          <p:cNvSpPr>
            <a:spLocks noGrp="1"/>
          </p:cNvSpPr>
          <p:nvPr>
            <p:ph type="body" sz="half" idx="1"/>
          </p:nvPr>
        </p:nvSpPr>
        <p:spPr>
          <a:xfrm>
            <a:off x="368060" y="757702"/>
            <a:ext cx="5394385" cy="5732252"/>
          </a:xfrm>
        </p:spPr>
        <p:txBody>
          <a:bodyPr>
            <a:normAutofit fontScale="92500"/>
          </a:bodyPr>
          <a:lstStyle/>
          <a:p>
            <a:pPr marL="609600" indent="-609600">
              <a:buNone/>
            </a:pPr>
            <a:r>
              <a:rPr lang="en-US" b="1" dirty="0"/>
              <a:t>(a) </a:t>
            </a:r>
          </a:p>
          <a:p>
            <a:pPr marL="609600" indent="-609600">
              <a:buNone/>
            </a:pPr>
            <a:r>
              <a:rPr lang="en-US" sz="2600" b="1" dirty="0">
                <a:solidFill>
                  <a:srgbClr val="000099"/>
                </a:solidFill>
                <a:latin typeface="Times New Roman" panose="02020603050405020304" pitchFamily="18" charset="0"/>
                <a:cs typeface="Times New Roman" panose="02020603050405020304" pitchFamily="18" charset="0"/>
              </a:rPr>
              <a:t>Alpha Motor</a:t>
            </a:r>
          </a:p>
          <a:p>
            <a:pPr marL="0" indent="0">
              <a:buNone/>
            </a:pPr>
            <a:r>
              <a:rPr lang="en-US" sz="2600" b="1" dirty="0">
                <a:latin typeface="Times New Roman" panose="02020603050405020304" pitchFamily="18" charset="0"/>
                <a:cs typeface="Times New Roman" panose="02020603050405020304" pitchFamily="18" charset="0"/>
              </a:rPr>
              <a:t>Calculating the Annual equivalent cost.</a:t>
            </a:r>
          </a:p>
          <a:p>
            <a:pPr marL="609600" indent="-609600">
              <a:buFontTx/>
              <a:buAutoNum type="arabicPeriod"/>
            </a:pPr>
            <a:r>
              <a:rPr lang="en-US" sz="2600" b="1" dirty="0">
                <a:latin typeface="Times New Roman" panose="02020603050405020304" pitchFamily="18" charset="0"/>
                <a:cs typeface="Times New Roman" panose="02020603050405020304" pitchFamily="18" charset="0"/>
              </a:rPr>
              <a:t>Capital Recovery (CR)</a:t>
            </a:r>
          </a:p>
          <a:p>
            <a:pPr marL="609600" indent="-609600">
              <a:buNone/>
            </a:pPr>
            <a:r>
              <a:rPr lang="en-US" sz="2600" b="1" dirty="0">
                <a:latin typeface="Times New Roman" panose="02020603050405020304" pitchFamily="18" charset="0"/>
                <a:cs typeface="Times New Roman" panose="02020603050405020304" pitchFamily="18" charset="0"/>
              </a:rPr>
              <a:t>                    = $12,500  (A/P,15%,10) – 0 </a:t>
            </a:r>
          </a:p>
          <a:p>
            <a:pPr marL="609600" indent="-609600">
              <a:buNone/>
            </a:pPr>
            <a:r>
              <a:rPr lang="en-US" sz="2600" b="1" dirty="0">
                <a:latin typeface="Times New Roman" panose="02020603050405020304" pitchFamily="18" charset="0"/>
                <a:cs typeface="Times New Roman" panose="02020603050405020304" pitchFamily="18" charset="0"/>
              </a:rPr>
              <a:t>                    = $ 2,490 per year</a:t>
            </a:r>
          </a:p>
          <a:p>
            <a:pPr marL="609600" indent="-609600">
              <a:buNone/>
            </a:pPr>
            <a:r>
              <a:rPr lang="en-US" sz="2600" b="1" dirty="0">
                <a:latin typeface="Times New Roman" panose="02020603050405020304" pitchFamily="18" charset="0"/>
                <a:cs typeface="Times New Roman" panose="02020603050405020304" pitchFamily="18" charset="0"/>
              </a:rPr>
              <a:t>2.    Maintenance Cost </a:t>
            </a:r>
          </a:p>
          <a:p>
            <a:pPr marL="609600" indent="-609600">
              <a:buNone/>
            </a:pPr>
            <a:r>
              <a:rPr lang="en-US" sz="2600" b="1" dirty="0">
                <a:latin typeface="Times New Roman" panose="02020603050405020304" pitchFamily="18" charset="0"/>
                <a:cs typeface="Times New Roman" panose="02020603050405020304" pitchFamily="18" charset="0"/>
              </a:rPr>
              <a:t>                    =  $ 500 per year</a:t>
            </a:r>
          </a:p>
          <a:p>
            <a:pPr marL="609600" indent="-609600">
              <a:buNone/>
            </a:pPr>
            <a:r>
              <a:rPr lang="en-US" sz="2600" b="1" dirty="0">
                <a:latin typeface="Times New Roman" panose="02020603050405020304" pitchFamily="18" charset="0"/>
                <a:cs typeface="Times New Roman" panose="02020603050405020304" pitchFamily="18" charset="0"/>
              </a:rPr>
              <a:t>3.   Tax and insurance </a:t>
            </a:r>
          </a:p>
          <a:p>
            <a:pPr marL="609600" indent="-609600">
              <a:buNone/>
            </a:pPr>
            <a:r>
              <a:rPr lang="en-US" sz="2600" b="1" dirty="0">
                <a:latin typeface="Times New Roman" panose="02020603050405020304" pitchFamily="18" charset="0"/>
                <a:cs typeface="Times New Roman" panose="02020603050405020304" pitchFamily="18" charset="0"/>
              </a:rPr>
              <a:t>          = 1.5% of initial investment </a:t>
            </a:r>
          </a:p>
          <a:p>
            <a:pPr marL="609600" indent="-609600">
              <a:buNone/>
            </a:pPr>
            <a:r>
              <a:rPr lang="en-US" sz="2600" b="1" dirty="0">
                <a:latin typeface="Times New Roman" panose="02020603050405020304" pitchFamily="18" charset="0"/>
                <a:cs typeface="Times New Roman" panose="02020603050405020304" pitchFamily="18" charset="0"/>
              </a:rPr>
              <a:t>          = 1.5% of $12,500 = $187 per year</a:t>
            </a:r>
          </a:p>
          <a:p>
            <a:pPr marL="0" indent="0">
              <a:buNone/>
            </a:pPr>
            <a:endParaRPr lang="en-US" sz="2600" dirty="0"/>
          </a:p>
        </p:txBody>
      </p:sp>
      <p:sp>
        <p:nvSpPr>
          <p:cNvPr id="5" name="Rectangle 3"/>
          <p:cNvSpPr txBox="1">
            <a:spLocks noChangeArrowheads="1"/>
          </p:cNvSpPr>
          <p:nvPr/>
        </p:nvSpPr>
        <p:spPr>
          <a:xfrm>
            <a:off x="5762445" y="1710921"/>
            <a:ext cx="6133158" cy="5257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sz="2400" b="1" dirty="0">
                <a:latin typeface="Times New Roman" panose="02020603050405020304" pitchFamily="18" charset="0"/>
                <a:cs typeface="Times New Roman" panose="02020603050405020304" pitchFamily="18" charset="0"/>
              </a:rPr>
              <a:t>4.</a:t>
            </a:r>
            <a:r>
              <a:rPr lang="en-US" sz="2400" b="1" dirty="0"/>
              <a:t>   </a:t>
            </a:r>
            <a:r>
              <a:rPr lang="en-US" sz="2400" b="1" u="sng" dirty="0">
                <a:latin typeface="Times New Roman" panose="02020603050405020304" pitchFamily="18" charset="0"/>
                <a:cs typeface="Times New Roman" panose="02020603050405020304" pitchFamily="18" charset="0"/>
              </a:rPr>
              <a:t>Operating expenses for power (electricity cost)</a:t>
            </a:r>
          </a:p>
          <a:p>
            <a:pPr algn="just">
              <a:buFontTx/>
              <a:buNone/>
            </a:pPr>
            <a:r>
              <a:rPr lang="en-US" sz="2400" b="1" dirty="0">
                <a:latin typeface="Times New Roman" panose="02020603050405020304" pitchFamily="18" charset="0"/>
                <a:cs typeface="Times New Roman" panose="02020603050405020304" pitchFamily="18" charset="0"/>
              </a:rPr>
              <a:t>      Let ‘X’ be the number of hours of operation per year</a:t>
            </a:r>
          </a:p>
          <a:p>
            <a:pPr>
              <a:buFontTx/>
              <a:buNone/>
            </a:pPr>
            <a:r>
              <a:rPr lang="en-US" sz="2400" b="1" dirty="0">
                <a:latin typeface="Times New Roman" panose="02020603050405020304" pitchFamily="18" charset="0"/>
                <a:cs typeface="Times New Roman" panose="02020603050405020304" pitchFamily="18" charset="0"/>
              </a:rPr>
              <a:t>         = (0.05) * (100)*0.746) * X  </a:t>
            </a:r>
          </a:p>
          <a:p>
            <a:pPr>
              <a:buFontTx/>
              <a:buNone/>
            </a:pPr>
            <a:r>
              <a:rPr lang="en-US" sz="2400" b="1" dirty="0">
                <a:latin typeface="Times New Roman" panose="02020603050405020304" pitchFamily="18" charset="0"/>
                <a:cs typeface="Times New Roman" panose="02020603050405020304" pitchFamily="18" charset="0"/>
              </a:rPr>
              <a:t>                            0.74</a:t>
            </a:r>
          </a:p>
          <a:p>
            <a:pPr>
              <a:buFontTx/>
              <a:buNone/>
            </a:pPr>
            <a:r>
              <a:rPr lang="en-US" sz="2400" b="1" dirty="0">
                <a:latin typeface="Times New Roman" panose="02020603050405020304" pitchFamily="18" charset="0"/>
                <a:cs typeface="Times New Roman" panose="02020603050405020304" pitchFamily="18" charset="0"/>
              </a:rPr>
              <a:t>        = $ 5.04 X per year</a:t>
            </a:r>
          </a:p>
          <a:p>
            <a:r>
              <a:rPr lang="en-US" sz="2400" b="1" dirty="0">
                <a:solidFill>
                  <a:srgbClr val="000099"/>
                </a:solidFill>
                <a:latin typeface="Times New Roman" panose="02020603050405020304" pitchFamily="18" charset="0"/>
                <a:cs typeface="Times New Roman" panose="02020603050405020304" pitchFamily="18" charset="0"/>
              </a:rPr>
              <a:t>Total annual equivalent cost of Alpha motor</a:t>
            </a:r>
            <a:r>
              <a:rPr lang="en-US" sz="2400" b="1" dirty="0">
                <a:latin typeface="Times New Roman" panose="02020603050405020304" pitchFamily="18" charset="0"/>
                <a:cs typeface="Times New Roman" panose="02020603050405020304" pitchFamily="18" charset="0"/>
              </a:rPr>
              <a:t> </a:t>
            </a:r>
          </a:p>
          <a:p>
            <a:pPr>
              <a:buFontTx/>
              <a:buNone/>
            </a:pPr>
            <a:r>
              <a:rPr lang="en-US" sz="2400" b="1" dirty="0">
                <a:latin typeface="Times New Roman" panose="02020603050405020304" pitchFamily="18" charset="0"/>
                <a:cs typeface="Times New Roman" panose="02020603050405020304" pitchFamily="18" charset="0"/>
              </a:rPr>
              <a:t>   = $ 2,490 + $ 500 + $187 + $ 5.04 X</a:t>
            </a:r>
          </a:p>
          <a:p>
            <a:pPr>
              <a:buFontTx/>
              <a:buNone/>
            </a:pPr>
            <a:r>
              <a:rPr lang="en-US" sz="2400" b="1" dirty="0">
                <a:latin typeface="Times New Roman" panose="02020603050405020304" pitchFamily="18" charset="0"/>
                <a:cs typeface="Times New Roman" panose="02020603050405020304" pitchFamily="18" charset="0"/>
              </a:rPr>
              <a:t>   = $3177 + 5.04 X …………………..(1)</a:t>
            </a:r>
          </a:p>
        </p:txBody>
      </p:sp>
      <p:sp>
        <p:nvSpPr>
          <p:cNvPr id="6" name="Line 4"/>
          <p:cNvSpPr>
            <a:spLocks noChangeShapeType="1"/>
          </p:cNvSpPr>
          <p:nvPr/>
        </p:nvSpPr>
        <p:spPr bwMode="auto">
          <a:xfrm flipV="1">
            <a:off x="6726664" y="3712859"/>
            <a:ext cx="3621157" cy="99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53715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circle(in)">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circle(in)">
                                      <p:cBhvr>
                                        <p:cTn id="17" dur="2000"/>
                                        <p:tgtEl>
                                          <p:spTgt spid="5">
                                            <p:txEl>
                                              <p:pRg st="2" end="2"/>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circle(in)">
                                      <p:cBhvr>
                                        <p:cTn id="20" dur="2000"/>
                                        <p:tgtEl>
                                          <p:spTgt spid="5">
                                            <p:txEl>
                                              <p:pRg st="3" end="3"/>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circle(in)">
                                      <p:cBhvr>
                                        <p:cTn id="23" dur="20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circle(in)">
                                      <p:cBhvr>
                                        <p:cTn id="28" dur="2000"/>
                                        <p:tgtEl>
                                          <p:spTgt spid="5">
                                            <p:txEl>
                                              <p:pRg st="5" end="5"/>
                                            </p:txEl>
                                          </p:spTgt>
                                        </p:tgtEl>
                                      </p:cBhvr>
                                    </p:animEffect>
                                  </p:childTnLst>
                                </p:cTn>
                              </p:par>
                              <p:par>
                                <p:cTn id="29" presetID="6" presetClass="entr" presetSubtype="16"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circle(in)">
                                      <p:cBhvr>
                                        <p:cTn id="31" dur="2000"/>
                                        <p:tgtEl>
                                          <p:spTgt spid="5">
                                            <p:txEl>
                                              <p:pRg st="6" end="6"/>
                                            </p:txEl>
                                          </p:spTgt>
                                        </p:tgtEl>
                                      </p:cBhvr>
                                    </p:animEffect>
                                  </p:childTnLst>
                                </p:cTn>
                              </p:par>
                              <p:par>
                                <p:cTn id="32" presetID="6" presetClass="entr" presetSubtype="16" fill="hold"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circle(in)">
                                      <p:cBhvr>
                                        <p:cTn id="34" dur="20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a:xfrm>
            <a:off x="500333" y="1337095"/>
            <a:ext cx="5348378" cy="5943600"/>
          </a:xfrm>
        </p:spPr>
        <p:txBody>
          <a:bodyPr>
            <a:normAutofit/>
          </a:bodyPr>
          <a:lstStyle/>
          <a:p>
            <a:pPr marL="609600" indent="-609600">
              <a:buNone/>
            </a:pPr>
            <a:r>
              <a:rPr lang="en-US" sz="2400" b="1" dirty="0">
                <a:solidFill>
                  <a:srgbClr val="000099"/>
                </a:solidFill>
                <a:latin typeface="Times New Roman" panose="02020603050405020304" pitchFamily="18" charset="0"/>
                <a:cs typeface="Times New Roman" panose="02020603050405020304" pitchFamily="18" charset="0"/>
              </a:rPr>
              <a:t>Beta Motor</a:t>
            </a:r>
          </a:p>
          <a:p>
            <a:pPr marL="0" indent="0">
              <a:buNone/>
            </a:pPr>
            <a:r>
              <a:rPr lang="en-US" sz="2400" b="1" dirty="0">
                <a:latin typeface="Times New Roman" panose="02020603050405020304" pitchFamily="18" charset="0"/>
                <a:cs typeface="Times New Roman" panose="02020603050405020304" pitchFamily="18" charset="0"/>
              </a:rPr>
              <a:t>Calculating the Annual equivalent cost.</a:t>
            </a:r>
          </a:p>
          <a:p>
            <a:pPr marL="609600" indent="-609600">
              <a:buFontTx/>
              <a:buAutoNum type="arabicPeriod"/>
            </a:pPr>
            <a:r>
              <a:rPr lang="en-US" sz="2400" b="1" dirty="0">
                <a:latin typeface="Times New Roman" panose="02020603050405020304" pitchFamily="18" charset="0"/>
                <a:cs typeface="Times New Roman" panose="02020603050405020304" pitchFamily="18" charset="0"/>
              </a:rPr>
              <a:t>Capital Recovery (CR)</a:t>
            </a:r>
          </a:p>
          <a:p>
            <a:pPr marL="609600" indent="-609600">
              <a:buNone/>
            </a:pPr>
            <a:r>
              <a:rPr lang="en-US" sz="2400" b="1" dirty="0">
                <a:latin typeface="Times New Roman" panose="02020603050405020304" pitchFamily="18" charset="0"/>
                <a:cs typeface="Times New Roman" panose="02020603050405020304" pitchFamily="18" charset="0"/>
              </a:rPr>
              <a:t>                    = $16,000  (A/P,15%,10) – 0 </a:t>
            </a:r>
          </a:p>
          <a:p>
            <a:pPr marL="609600" indent="-609600">
              <a:buNone/>
            </a:pPr>
            <a:r>
              <a:rPr lang="en-US" sz="2400" b="1" dirty="0">
                <a:latin typeface="Times New Roman" panose="02020603050405020304" pitchFamily="18" charset="0"/>
                <a:cs typeface="Times New Roman" panose="02020603050405020304" pitchFamily="18" charset="0"/>
              </a:rPr>
              <a:t>                    = $ 3,190 per year</a:t>
            </a:r>
          </a:p>
          <a:p>
            <a:pPr marL="609600" indent="-609600">
              <a:buFontTx/>
              <a:buAutoNum type="arabicPeriod" startAt="2"/>
            </a:pPr>
            <a:r>
              <a:rPr lang="en-US" sz="2400" b="1" dirty="0">
                <a:latin typeface="Times New Roman" panose="02020603050405020304" pitchFamily="18" charset="0"/>
                <a:cs typeface="Times New Roman" panose="02020603050405020304" pitchFamily="18" charset="0"/>
              </a:rPr>
              <a:t>Maintenance Cost</a:t>
            </a:r>
          </a:p>
          <a:p>
            <a:pPr marL="609600" indent="-609600">
              <a:buNone/>
            </a:pPr>
            <a:r>
              <a:rPr lang="en-US" sz="2400" b="1" dirty="0">
                <a:latin typeface="Times New Roman" panose="02020603050405020304" pitchFamily="18" charset="0"/>
                <a:cs typeface="Times New Roman" panose="02020603050405020304" pitchFamily="18" charset="0"/>
              </a:rPr>
              <a:t>                   = $250 per year </a:t>
            </a:r>
          </a:p>
          <a:p>
            <a:pPr marL="609600" indent="-609600">
              <a:buNone/>
            </a:pPr>
            <a:r>
              <a:rPr lang="en-US" sz="2400" b="1" dirty="0">
                <a:latin typeface="Times New Roman" panose="02020603050405020304" pitchFamily="18" charset="0"/>
                <a:cs typeface="Times New Roman" panose="02020603050405020304" pitchFamily="18" charset="0"/>
              </a:rPr>
              <a:t>3. Tax and insurance </a:t>
            </a:r>
          </a:p>
          <a:p>
            <a:pPr marL="609600" indent="-609600">
              <a:buNone/>
            </a:pPr>
            <a:r>
              <a:rPr lang="en-US" sz="2400" b="1" dirty="0">
                <a:latin typeface="Times New Roman" panose="02020603050405020304" pitchFamily="18" charset="0"/>
                <a:cs typeface="Times New Roman" panose="02020603050405020304" pitchFamily="18" charset="0"/>
              </a:rPr>
              <a:t>       = 1.5% of initial investment </a:t>
            </a:r>
          </a:p>
          <a:p>
            <a:pPr marL="609600" indent="-609600">
              <a:buNone/>
            </a:pPr>
            <a:r>
              <a:rPr lang="en-US" sz="2400" b="1" dirty="0">
                <a:latin typeface="Times New Roman" panose="02020603050405020304" pitchFamily="18" charset="0"/>
                <a:cs typeface="Times New Roman" panose="02020603050405020304" pitchFamily="18" charset="0"/>
              </a:rPr>
              <a:t>       = 1.5% of $16,000 = $240 per year</a:t>
            </a:r>
          </a:p>
          <a:p>
            <a:pPr marL="609600" indent="-609600">
              <a:buFontTx/>
              <a:buAutoNum type="arabicPeriod"/>
            </a:pPr>
            <a:endParaRPr lang="en-US" sz="2400" b="1" dirty="0"/>
          </a:p>
          <a:p>
            <a:pPr marL="609600" indent="-609600">
              <a:buNone/>
            </a:pPr>
            <a:endParaRPr lang="en-US" sz="2400" b="1" dirty="0"/>
          </a:p>
        </p:txBody>
      </p:sp>
      <p:sp>
        <p:nvSpPr>
          <p:cNvPr id="2" name="Rectangle 1"/>
          <p:cNvSpPr/>
          <p:nvPr/>
        </p:nvSpPr>
        <p:spPr>
          <a:xfrm>
            <a:off x="6072997" y="1687287"/>
            <a:ext cx="5883214" cy="4524315"/>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4.  </a:t>
            </a:r>
            <a:r>
              <a:rPr lang="en-US" sz="2400" b="1" u="sng" dirty="0">
                <a:latin typeface="Times New Roman" panose="02020603050405020304" pitchFamily="18" charset="0"/>
                <a:cs typeface="Times New Roman" panose="02020603050405020304" pitchFamily="18" charset="0"/>
              </a:rPr>
              <a:t>Operating expenses for power (electricity cost)</a:t>
            </a:r>
          </a:p>
          <a:p>
            <a:r>
              <a:rPr lang="en-US" sz="2400" b="1" dirty="0">
                <a:latin typeface="Times New Roman" panose="02020603050405020304" pitchFamily="18" charset="0"/>
                <a:cs typeface="Times New Roman" panose="02020603050405020304" pitchFamily="18" charset="0"/>
              </a:rPr>
              <a:t>      Let ‘X’ be the number of hours of operation per year</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 (0.05) * (100)*0.746) * X  </a:t>
            </a:r>
          </a:p>
          <a:p>
            <a:r>
              <a:rPr lang="en-US" sz="2400" b="1" dirty="0">
                <a:latin typeface="Times New Roman" panose="02020603050405020304" pitchFamily="18" charset="0"/>
                <a:cs typeface="Times New Roman" panose="02020603050405020304" pitchFamily="18" charset="0"/>
              </a:rPr>
              <a:t>                            0.92</a:t>
            </a:r>
          </a:p>
          <a:p>
            <a:r>
              <a:rPr lang="en-US" sz="2400" b="1" dirty="0">
                <a:latin typeface="Times New Roman" panose="02020603050405020304" pitchFamily="18" charset="0"/>
                <a:cs typeface="Times New Roman" panose="02020603050405020304" pitchFamily="18" charset="0"/>
              </a:rPr>
              <a:t>        = $ 4.05 X per year</a:t>
            </a:r>
          </a:p>
          <a:p>
            <a:endParaRPr lang="en-US" sz="2400" b="1" dirty="0">
              <a:latin typeface="Times New Roman" panose="02020603050405020304" pitchFamily="18" charset="0"/>
              <a:cs typeface="Times New Roman" panose="02020603050405020304" pitchFamily="18" charset="0"/>
            </a:endParaRPr>
          </a:p>
          <a:p>
            <a:r>
              <a:rPr lang="en-US" sz="2400" b="1" dirty="0">
                <a:solidFill>
                  <a:srgbClr val="000099"/>
                </a:solidFill>
                <a:latin typeface="Times New Roman" panose="02020603050405020304" pitchFamily="18" charset="0"/>
                <a:cs typeface="Times New Roman" panose="02020603050405020304" pitchFamily="18" charset="0"/>
              </a:rPr>
              <a:t>Total annual equivalent cost of Beta motor</a:t>
            </a:r>
            <a:r>
              <a:rPr lang="en-US" sz="2400" b="1"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   = $ 3,190 + $ 250 + $240 + $ 4.05 X</a:t>
            </a:r>
          </a:p>
          <a:p>
            <a:r>
              <a:rPr lang="en-US" sz="2400" b="1" dirty="0">
                <a:latin typeface="Times New Roman" panose="02020603050405020304" pitchFamily="18" charset="0"/>
                <a:cs typeface="Times New Roman" panose="02020603050405020304" pitchFamily="18" charset="0"/>
              </a:rPr>
              <a:t>   = $3680 + 4.05 X ……………..(2) </a:t>
            </a:r>
          </a:p>
        </p:txBody>
      </p:sp>
      <p:sp>
        <p:nvSpPr>
          <p:cNvPr id="4" name="Line 4">
            <a:extLst>
              <a:ext uri="{FF2B5EF4-FFF2-40B4-BE49-F238E27FC236}">
                <a16:creationId xmlns:a16="http://schemas.microsoft.com/office/drawing/2014/main" id="{5793D0F5-EA52-4B7B-AD3F-DD43E6239357}"/>
              </a:ext>
            </a:extLst>
          </p:cNvPr>
          <p:cNvSpPr>
            <a:spLocks noChangeShapeType="1"/>
          </p:cNvSpPr>
          <p:nvPr/>
        </p:nvSpPr>
        <p:spPr bwMode="auto">
          <a:xfrm flipV="1">
            <a:off x="6849809" y="3949444"/>
            <a:ext cx="3621157" cy="99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 name="Title 1"/>
          <p:cNvSpPr>
            <a:spLocks noGrp="1"/>
          </p:cNvSpPr>
          <p:nvPr>
            <p:ph type="title"/>
          </p:nvPr>
        </p:nvSpPr>
        <p:spPr>
          <a:xfrm>
            <a:off x="1515374" y="194095"/>
            <a:ext cx="6748732" cy="1143000"/>
          </a:xfrm>
        </p:spPr>
        <p:txBody>
          <a:bodyPr>
            <a:normAutofit/>
          </a:bodyPr>
          <a:lstStyle/>
          <a:p>
            <a:r>
              <a:rPr lang="en-US" sz="3200" b="1" dirty="0">
                <a:solidFill>
                  <a:srgbClr val="990000"/>
                </a:solidFill>
                <a:latin typeface="Times New Roman" pitchFamily="18" charset="0"/>
                <a:cs typeface="Times New Roman" pitchFamily="18" charset="0"/>
              </a:rPr>
              <a:t>Example (Cont’d….)</a:t>
            </a:r>
            <a:endParaRPr lang="en-US" sz="3200" dirty="0"/>
          </a:p>
        </p:txBody>
      </p:sp>
    </p:spTree>
    <p:extLst>
      <p:ext uri="{BB962C8B-B14F-4D97-AF65-F5344CB8AC3E}">
        <p14:creationId xmlns:p14="http://schemas.microsoft.com/office/powerpoint/2010/main" val="33832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circle(in)">
                                      <p:cBhvr>
                                        <p:cTn id="7" dur="2000"/>
                                        <p:tgtEl>
                                          <p:spTgt spid="29698">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29698">
                                            <p:txEl>
                                              <p:pRg st="1" end="1"/>
                                            </p:txEl>
                                          </p:spTgt>
                                        </p:tgtEl>
                                        <p:attrNameLst>
                                          <p:attrName>style.visibility</p:attrName>
                                        </p:attrNameLst>
                                      </p:cBhvr>
                                      <p:to>
                                        <p:strVal val="visible"/>
                                      </p:to>
                                    </p:set>
                                    <p:animEffect transition="in" filter="circle(in)">
                                      <p:cBhvr>
                                        <p:cTn id="10" dur="2000"/>
                                        <p:tgtEl>
                                          <p:spTgt spid="2969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29698">
                                            <p:txEl>
                                              <p:pRg st="2" end="2"/>
                                            </p:txEl>
                                          </p:spTgt>
                                        </p:tgtEl>
                                        <p:attrNameLst>
                                          <p:attrName>style.visibility</p:attrName>
                                        </p:attrNameLst>
                                      </p:cBhvr>
                                      <p:to>
                                        <p:strVal val="visible"/>
                                      </p:to>
                                    </p:set>
                                    <p:animEffect transition="in" filter="circle(in)">
                                      <p:cBhvr>
                                        <p:cTn id="15" dur="2000"/>
                                        <p:tgtEl>
                                          <p:spTgt spid="29698">
                                            <p:txEl>
                                              <p:pRg st="2" end="2"/>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29698">
                                            <p:txEl>
                                              <p:pRg st="3" end="3"/>
                                            </p:txEl>
                                          </p:spTgt>
                                        </p:tgtEl>
                                        <p:attrNameLst>
                                          <p:attrName>style.visibility</p:attrName>
                                        </p:attrNameLst>
                                      </p:cBhvr>
                                      <p:to>
                                        <p:strVal val="visible"/>
                                      </p:to>
                                    </p:set>
                                    <p:animEffect transition="in" filter="circle(in)">
                                      <p:cBhvr>
                                        <p:cTn id="18" dur="2000"/>
                                        <p:tgtEl>
                                          <p:spTgt spid="29698">
                                            <p:txEl>
                                              <p:pRg st="3" end="3"/>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29698">
                                            <p:txEl>
                                              <p:pRg st="4" end="4"/>
                                            </p:txEl>
                                          </p:spTgt>
                                        </p:tgtEl>
                                        <p:attrNameLst>
                                          <p:attrName>style.visibility</p:attrName>
                                        </p:attrNameLst>
                                      </p:cBhvr>
                                      <p:to>
                                        <p:strVal val="visible"/>
                                      </p:to>
                                    </p:set>
                                    <p:animEffect transition="in" filter="circle(in)">
                                      <p:cBhvr>
                                        <p:cTn id="21" dur="2000"/>
                                        <p:tgtEl>
                                          <p:spTgt spid="2969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29698">
                                            <p:txEl>
                                              <p:pRg st="5" end="5"/>
                                            </p:txEl>
                                          </p:spTgt>
                                        </p:tgtEl>
                                        <p:attrNameLst>
                                          <p:attrName>style.visibility</p:attrName>
                                        </p:attrNameLst>
                                      </p:cBhvr>
                                      <p:to>
                                        <p:strVal val="visible"/>
                                      </p:to>
                                    </p:set>
                                    <p:animEffect transition="in" filter="circle(in)">
                                      <p:cBhvr>
                                        <p:cTn id="26" dur="2000"/>
                                        <p:tgtEl>
                                          <p:spTgt spid="29698">
                                            <p:txEl>
                                              <p:pRg st="5" end="5"/>
                                            </p:txEl>
                                          </p:spTgt>
                                        </p:tgtEl>
                                      </p:cBhvr>
                                    </p:animEffect>
                                  </p:childTnLst>
                                </p:cTn>
                              </p:par>
                              <p:par>
                                <p:cTn id="27" presetID="6" presetClass="entr" presetSubtype="16" fill="hold" nodeType="withEffect">
                                  <p:stCondLst>
                                    <p:cond delay="0"/>
                                  </p:stCondLst>
                                  <p:childTnLst>
                                    <p:set>
                                      <p:cBhvr>
                                        <p:cTn id="28" dur="1" fill="hold">
                                          <p:stCondLst>
                                            <p:cond delay="0"/>
                                          </p:stCondLst>
                                        </p:cTn>
                                        <p:tgtEl>
                                          <p:spTgt spid="29698">
                                            <p:txEl>
                                              <p:pRg st="6" end="6"/>
                                            </p:txEl>
                                          </p:spTgt>
                                        </p:tgtEl>
                                        <p:attrNameLst>
                                          <p:attrName>style.visibility</p:attrName>
                                        </p:attrNameLst>
                                      </p:cBhvr>
                                      <p:to>
                                        <p:strVal val="visible"/>
                                      </p:to>
                                    </p:set>
                                    <p:animEffect transition="in" filter="circle(in)">
                                      <p:cBhvr>
                                        <p:cTn id="29" dur="2000"/>
                                        <p:tgtEl>
                                          <p:spTgt spid="29698">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29698">
                                            <p:txEl>
                                              <p:pRg st="7" end="7"/>
                                            </p:txEl>
                                          </p:spTgt>
                                        </p:tgtEl>
                                        <p:attrNameLst>
                                          <p:attrName>style.visibility</p:attrName>
                                        </p:attrNameLst>
                                      </p:cBhvr>
                                      <p:to>
                                        <p:strVal val="visible"/>
                                      </p:to>
                                    </p:set>
                                    <p:animEffect transition="in" filter="circle(in)">
                                      <p:cBhvr>
                                        <p:cTn id="34" dur="2000"/>
                                        <p:tgtEl>
                                          <p:spTgt spid="29698">
                                            <p:txEl>
                                              <p:pRg st="7" end="7"/>
                                            </p:txEl>
                                          </p:spTgt>
                                        </p:tgtEl>
                                      </p:cBhvr>
                                    </p:animEffect>
                                  </p:childTnLst>
                                </p:cTn>
                              </p:par>
                              <p:par>
                                <p:cTn id="35" presetID="6" presetClass="entr" presetSubtype="16" fill="hold" nodeType="withEffect">
                                  <p:stCondLst>
                                    <p:cond delay="0"/>
                                  </p:stCondLst>
                                  <p:childTnLst>
                                    <p:set>
                                      <p:cBhvr>
                                        <p:cTn id="36" dur="1" fill="hold">
                                          <p:stCondLst>
                                            <p:cond delay="0"/>
                                          </p:stCondLst>
                                        </p:cTn>
                                        <p:tgtEl>
                                          <p:spTgt spid="29698">
                                            <p:txEl>
                                              <p:pRg st="8" end="8"/>
                                            </p:txEl>
                                          </p:spTgt>
                                        </p:tgtEl>
                                        <p:attrNameLst>
                                          <p:attrName>style.visibility</p:attrName>
                                        </p:attrNameLst>
                                      </p:cBhvr>
                                      <p:to>
                                        <p:strVal val="visible"/>
                                      </p:to>
                                    </p:set>
                                    <p:animEffect transition="in" filter="circle(in)">
                                      <p:cBhvr>
                                        <p:cTn id="37" dur="2000"/>
                                        <p:tgtEl>
                                          <p:spTgt spid="29698">
                                            <p:txEl>
                                              <p:pRg st="8" end="8"/>
                                            </p:txEl>
                                          </p:spTgt>
                                        </p:tgtEl>
                                      </p:cBhvr>
                                    </p:animEffect>
                                  </p:childTnLst>
                                </p:cTn>
                              </p:par>
                              <p:par>
                                <p:cTn id="38" presetID="6" presetClass="entr" presetSubtype="16" fill="hold" nodeType="withEffect">
                                  <p:stCondLst>
                                    <p:cond delay="0"/>
                                  </p:stCondLst>
                                  <p:childTnLst>
                                    <p:set>
                                      <p:cBhvr>
                                        <p:cTn id="39" dur="1" fill="hold">
                                          <p:stCondLst>
                                            <p:cond delay="0"/>
                                          </p:stCondLst>
                                        </p:cTn>
                                        <p:tgtEl>
                                          <p:spTgt spid="29698">
                                            <p:txEl>
                                              <p:pRg st="9" end="9"/>
                                            </p:txEl>
                                          </p:spTgt>
                                        </p:tgtEl>
                                        <p:attrNameLst>
                                          <p:attrName>style.visibility</p:attrName>
                                        </p:attrNameLst>
                                      </p:cBhvr>
                                      <p:to>
                                        <p:strVal val="visible"/>
                                      </p:to>
                                    </p:set>
                                    <p:animEffect transition="in" filter="circle(in)">
                                      <p:cBhvr>
                                        <p:cTn id="40" dur="2000"/>
                                        <p:tgtEl>
                                          <p:spTgt spid="2969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1886309" y="1276710"/>
            <a:ext cx="7420154" cy="563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sz="2400" b="1" dirty="0">
                <a:latin typeface="Times New Roman" panose="02020603050405020304" pitchFamily="18" charset="0"/>
                <a:cs typeface="Times New Roman" panose="02020603050405020304" pitchFamily="18" charset="0"/>
              </a:rPr>
              <a:t>At the Breakeven point,</a:t>
            </a:r>
          </a:p>
          <a:p>
            <a:pPr>
              <a:buFontTx/>
              <a:buNone/>
            </a:pPr>
            <a:endParaRPr lang="en-US" sz="2400" b="1" dirty="0">
              <a:latin typeface="Times New Roman" panose="02020603050405020304" pitchFamily="18" charset="0"/>
              <a:cs typeface="Times New Roman" panose="02020603050405020304" pitchFamily="18" charset="0"/>
            </a:endParaRPr>
          </a:p>
          <a:p>
            <a:pPr>
              <a:buFontTx/>
              <a:buNone/>
            </a:pPr>
            <a:r>
              <a:rPr lang="en-US" sz="2400" b="1" dirty="0">
                <a:latin typeface="Times New Roman" panose="02020603050405020304" pitchFamily="18" charset="0"/>
                <a:cs typeface="Times New Roman" panose="02020603050405020304" pitchFamily="18" charset="0"/>
              </a:rPr>
              <a:t>                  AW </a:t>
            </a:r>
            <a:r>
              <a:rPr lang="en-US" sz="2400" b="1" baseline="-25000" dirty="0">
                <a:latin typeface="Times New Roman" panose="02020603050405020304" pitchFamily="18" charset="0"/>
                <a:cs typeface="Times New Roman" panose="02020603050405020304" pitchFamily="18" charset="0"/>
              </a:rPr>
              <a:t>alpha                           </a:t>
            </a:r>
            <a:r>
              <a:rPr lang="en-US" sz="2400" b="1" dirty="0">
                <a:latin typeface="Times New Roman" panose="02020603050405020304" pitchFamily="18" charset="0"/>
                <a:cs typeface="Times New Roman" panose="02020603050405020304" pitchFamily="18" charset="0"/>
              </a:rPr>
              <a:t>=               AW </a:t>
            </a:r>
            <a:r>
              <a:rPr lang="en-US" sz="2400" b="1" baseline="-25000" dirty="0">
                <a:latin typeface="Times New Roman" panose="02020603050405020304" pitchFamily="18" charset="0"/>
                <a:cs typeface="Times New Roman" panose="02020603050405020304" pitchFamily="18" charset="0"/>
              </a:rPr>
              <a:t>beta</a:t>
            </a:r>
          </a:p>
          <a:p>
            <a:pPr>
              <a:buFontTx/>
              <a:buNone/>
            </a:pPr>
            <a:r>
              <a:rPr lang="en-US" sz="2400" b="1" dirty="0">
                <a:latin typeface="Times New Roman" panose="02020603050405020304" pitchFamily="18" charset="0"/>
                <a:cs typeface="Times New Roman" panose="02020603050405020304" pitchFamily="18" charset="0"/>
              </a:rPr>
              <a:t>Or,</a:t>
            </a:r>
            <a:r>
              <a:rPr lang="en-US" sz="2400" b="1" baseline="-25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$3177 +$ 5.04 X    =     $3680 + $4.05X </a:t>
            </a:r>
          </a:p>
          <a:p>
            <a:pPr>
              <a:buFontTx/>
              <a:buNone/>
            </a:pPr>
            <a:r>
              <a:rPr lang="en-US" sz="2400" b="1" dirty="0">
                <a:latin typeface="Times New Roman" panose="02020603050405020304" pitchFamily="18" charset="0"/>
                <a:cs typeface="Times New Roman" panose="02020603050405020304" pitchFamily="18" charset="0"/>
              </a:rPr>
              <a:t>Or,               $5.04 X – 4.05 X =      $3680 - $3177 </a:t>
            </a:r>
          </a:p>
          <a:p>
            <a:pPr>
              <a:buFontTx/>
              <a:buNone/>
            </a:pPr>
            <a:r>
              <a:rPr lang="en-US" sz="2400" b="1" dirty="0">
                <a:latin typeface="Times New Roman" panose="02020603050405020304" pitchFamily="18" charset="0"/>
                <a:cs typeface="Times New Roman" panose="02020603050405020304" pitchFamily="18" charset="0"/>
              </a:rPr>
              <a:t>Or,                 X = $503/0.99   = 508   hours/year </a:t>
            </a:r>
          </a:p>
          <a:p>
            <a:pPr>
              <a:buFontTx/>
              <a:buNone/>
            </a:pPr>
            <a:r>
              <a:rPr lang="en-US" sz="2400" b="1" dirty="0">
                <a:latin typeface="Times New Roman" panose="02020603050405020304" pitchFamily="18" charset="0"/>
                <a:cs typeface="Times New Roman" panose="02020603050405020304" pitchFamily="18" charset="0"/>
              </a:rPr>
              <a:t> </a:t>
            </a:r>
          </a:p>
          <a:p>
            <a:pPr>
              <a:buFontTx/>
              <a:buNone/>
            </a:pPr>
            <a:r>
              <a:rPr lang="en-US" sz="2400" b="1" dirty="0">
                <a:latin typeface="Times New Roman" panose="02020603050405020304" pitchFamily="18" charset="0"/>
                <a:cs typeface="Times New Roman" panose="02020603050405020304" pitchFamily="18" charset="0"/>
              </a:rPr>
              <a:t>(b) If the operation hours is 600 hrs. per year, </a:t>
            </a:r>
          </a:p>
          <a:p>
            <a:pPr>
              <a:buFontTx/>
              <a:buNone/>
            </a:pPr>
            <a:endParaRPr lang="en-US" sz="2400" b="1" dirty="0">
              <a:latin typeface="Times New Roman" panose="02020603050405020304" pitchFamily="18" charset="0"/>
              <a:cs typeface="Times New Roman" panose="02020603050405020304" pitchFamily="18" charset="0"/>
            </a:endParaRPr>
          </a:p>
          <a:p>
            <a:pPr>
              <a:buFontTx/>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AW</a:t>
            </a:r>
            <a:r>
              <a:rPr lang="en-US" sz="2400" b="1" baseline="-25000" dirty="0" err="1">
                <a:latin typeface="Times New Roman" panose="02020603050405020304" pitchFamily="18" charset="0"/>
                <a:cs typeface="Times New Roman" panose="02020603050405020304" pitchFamily="18" charset="0"/>
              </a:rPr>
              <a:t>alpha</a:t>
            </a:r>
            <a:r>
              <a:rPr lang="en-US" sz="2400" b="1" dirty="0">
                <a:latin typeface="Times New Roman" panose="02020603050405020304" pitchFamily="18" charset="0"/>
                <a:cs typeface="Times New Roman" panose="02020603050405020304" pitchFamily="18" charset="0"/>
              </a:rPr>
              <a:t> = $ 3177 + $ 5.04 *600 = $6201</a:t>
            </a:r>
          </a:p>
          <a:p>
            <a:pPr>
              <a:buFontTx/>
              <a:buNone/>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AW</a:t>
            </a:r>
            <a:r>
              <a:rPr lang="en-US" sz="2400" b="1" baseline="-25000" dirty="0" err="1">
                <a:latin typeface="Times New Roman" panose="02020603050405020304" pitchFamily="18" charset="0"/>
                <a:cs typeface="Times New Roman" panose="02020603050405020304" pitchFamily="18" charset="0"/>
              </a:rPr>
              <a:t>beta</a:t>
            </a:r>
            <a:r>
              <a:rPr lang="en-US" sz="2400" b="1" dirty="0">
                <a:latin typeface="Times New Roman" panose="02020603050405020304" pitchFamily="18" charset="0"/>
                <a:cs typeface="Times New Roman" panose="02020603050405020304" pitchFamily="18" charset="0"/>
              </a:rPr>
              <a:t>   = $3680 + $4.05 * 600  = $6110</a:t>
            </a:r>
          </a:p>
        </p:txBody>
      </p:sp>
      <p:sp>
        <p:nvSpPr>
          <p:cNvPr id="6" name="Title 1"/>
          <p:cNvSpPr>
            <a:spLocks noGrp="1"/>
          </p:cNvSpPr>
          <p:nvPr>
            <p:ph type="title"/>
          </p:nvPr>
        </p:nvSpPr>
        <p:spPr>
          <a:xfrm>
            <a:off x="1886309" y="133710"/>
            <a:ext cx="6748732" cy="1143000"/>
          </a:xfrm>
        </p:spPr>
        <p:txBody>
          <a:bodyPr>
            <a:normAutofit/>
          </a:bodyPr>
          <a:lstStyle/>
          <a:p>
            <a:r>
              <a:rPr lang="en-US" sz="3200" b="1" dirty="0">
                <a:solidFill>
                  <a:srgbClr val="990000"/>
                </a:solidFill>
                <a:latin typeface="Times New Roman" pitchFamily="18" charset="0"/>
                <a:cs typeface="Times New Roman" pitchFamily="18" charset="0"/>
              </a:rPr>
              <a:t>Example (Cont’d….)</a:t>
            </a:r>
            <a:endParaRPr lang="en-US" sz="3200" dirty="0"/>
          </a:p>
        </p:txBody>
      </p:sp>
    </p:spTree>
    <p:extLst>
      <p:ext uri="{BB962C8B-B14F-4D97-AF65-F5344CB8AC3E}">
        <p14:creationId xmlns:p14="http://schemas.microsoft.com/office/powerpoint/2010/main" val="281330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circle(in)">
                                      <p:cBhvr>
                                        <p:cTn id="12" dur="2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circle(in)">
                                      <p:cBhvr>
                                        <p:cTn id="17" dur="2000"/>
                                        <p:tgtEl>
                                          <p:spTgt spid="5">
                                            <p:txEl>
                                              <p:pRg st="3" end="3"/>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circle(in)">
                                      <p:cBhvr>
                                        <p:cTn id="20" dur="2000"/>
                                        <p:tgtEl>
                                          <p:spTgt spid="5">
                                            <p:txEl>
                                              <p:pRg st="4" end="4"/>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circle(in)">
                                      <p:cBhvr>
                                        <p:cTn id="23" dur="2000"/>
                                        <p:tgtEl>
                                          <p:spTgt spid="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circle(in)">
                                      <p:cBhvr>
                                        <p:cTn id="28" dur="2000"/>
                                        <p:tgtEl>
                                          <p:spTgt spid="5">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circle(in)">
                                      <p:cBhvr>
                                        <p:cTn id="33" dur="2000"/>
                                        <p:tgtEl>
                                          <p:spTgt spid="5">
                                            <p:txEl>
                                              <p:pRg st="9" end="9"/>
                                            </p:txEl>
                                          </p:spTgt>
                                        </p:tgtEl>
                                      </p:cBhvr>
                                    </p:animEffect>
                                  </p:childTnLst>
                                </p:cTn>
                              </p:par>
                              <p:par>
                                <p:cTn id="34" presetID="6" presetClass="entr" presetSubtype="16" fill="hold" nodeType="withEffect">
                                  <p:stCondLst>
                                    <p:cond delay="0"/>
                                  </p:st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circle(in)">
                                      <p:cBhvr>
                                        <p:cTn id="36" dur="20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4"/>
          <p:cNvSpPr>
            <a:spLocks noChangeShapeType="1"/>
          </p:cNvSpPr>
          <p:nvPr/>
        </p:nvSpPr>
        <p:spPr bwMode="auto">
          <a:xfrm flipV="1">
            <a:off x="3161581" y="1081177"/>
            <a:ext cx="0" cy="434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a:off x="3161581" y="5424577"/>
            <a:ext cx="6248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 name="Text Box 6"/>
          <p:cNvSpPr txBox="1">
            <a:spLocks noChangeArrowheads="1"/>
          </p:cNvSpPr>
          <p:nvPr/>
        </p:nvSpPr>
        <p:spPr bwMode="auto">
          <a:xfrm rot="16200000">
            <a:off x="159619" y="3397340"/>
            <a:ext cx="381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000" b="1">
                <a:solidFill>
                  <a:srgbClr val="000099"/>
                </a:solidFill>
              </a:rPr>
              <a:t>Total annual worth (AW) in Rs</a:t>
            </a:r>
          </a:p>
        </p:txBody>
      </p:sp>
      <p:sp>
        <p:nvSpPr>
          <p:cNvPr id="8" name="Text Box 7"/>
          <p:cNvSpPr txBox="1">
            <a:spLocks noChangeArrowheads="1"/>
          </p:cNvSpPr>
          <p:nvPr/>
        </p:nvSpPr>
        <p:spPr bwMode="auto">
          <a:xfrm>
            <a:off x="5142781" y="5957978"/>
            <a:ext cx="472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000" b="1" dirty="0">
                <a:solidFill>
                  <a:srgbClr val="000099"/>
                </a:solidFill>
              </a:rPr>
              <a:t>Hours of operation per year, X</a:t>
            </a:r>
          </a:p>
        </p:txBody>
      </p:sp>
      <p:sp>
        <p:nvSpPr>
          <p:cNvPr id="9" name="Text Box 8"/>
          <p:cNvSpPr txBox="1">
            <a:spLocks noChangeArrowheads="1"/>
          </p:cNvSpPr>
          <p:nvPr/>
        </p:nvSpPr>
        <p:spPr bwMode="auto">
          <a:xfrm>
            <a:off x="34663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t>100</a:t>
            </a:r>
          </a:p>
        </p:txBody>
      </p:sp>
      <p:sp>
        <p:nvSpPr>
          <p:cNvPr id="10" name="Text Box 9"/>
          <p:cNvSpPr txBox="1">
            <a:spLocks noChangeArrowheads="1"/>
          </p:cNvSpPr>
          <p:nvPr/>
        </p:nvSpPr>
        <p:spPr bwMode="auto">
          <a:xfrm>
            <a:off x="43045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t>200</a:t>
            </a:r>
          </a:p>
        </p:txBody>
      </p:sp>
      <p:sp>
        <p:nvSpPr>
          <p:cNvPr id="11" name="Text Box 10"/>
          <p:cNvSpPr txBox="1">
            <a:spLocks noChangeArrowheads="1"/>
          </p:cNvSpPr>
          <p:nvPr/>
        </p:nvSpPr>
        <p:spPr bwMode="auto">
          <a:xfrm>
            <a:off x="49903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300</a:t>
            </a:r>
          </a:p>
        </p:txBody>
      </p:sp>
      <p:sp>
        <p:nvSpPr>
          <p:cNvPr id="12" name="Text Box 11"/>
          <p:cNvSpPr txBox="1">
            <a:spLocks noChangeArrowheads="1"/>
          </p:cNvSpPr>
          <p:nvPr/>
        </p:nvSpPr>
        <p:spPr bwMode="auto">
          <a:xfrm>
            <a:off x="55999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400</a:t>
            </a:r>
          </a:p>
        </p:txBody>
      </p:sp>
      <p:sp>
        <p:nvSpPr>
          <p:cNvPr id="13" name="Text Box 12"/>
          <p:cNvSpPr txBox="1">
            <a:spLocks noChangeArrowheads="1"/>
          </p:cNvSpPr>
          <p:nvPr/>
        </p:nvSpPr>
        <p:spPr bwMode="auto">
          <a:xfrm>
            <a:off x="62095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500</a:t>
            </a:r>
          </a:p>
        </p:txBody>
      </p:sp>
      <p:sp>
        <p:nvSpPr>
          <p:cNvPr id="14" name="Text Box 13"/>
          <p:cNvSpPr txBox="1">
            <a:spLocks noChangeArrowheads="1"/>
          </p:cNvSpPr>
          <p:nvPr/>
        </p:nvSpPr>
        <p:spPr bwMode="auto">
          <a:xfrm>
            <a:off x="68953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600</a:t>
            </a:r>
          </a:p>
        </p:txBody>
      </p:sp>
      <p:sp>
        <p:nvSpPr>
          <p:cNvPr id="15" name="Text Box 14"/>
          <p:cNvSpPr txBox="1">
            <a:spLocks noChangeArrowheads="1"/>
          </p:cNvSpPr>
          <p:nvPr/>
        </p:nvSpPr>
        <p:spPr bwMode="auto">
          <a:xfrm>
            <a:off x="75049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700</a:t>
            </a:r>
          </a:p>
        </p:txBody>
      </p:sp>
      <p:sp>
        <p:nvSpPr>
          <p:cNvPr id="16" name="Text Box 15"/>
          <p:cNvSpPr txBox="1">
            <a:spLocks noChangeArrowheads="1"/>
          </p:cNvSpPr>
          <p:nvPr/>
        </p:nvSpPr>
        <p:spPr bwMode="auto">
          <a:xfrm>
            <a:off x="81145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800</a:t>
            </a:r>
          </a:p>
        </p:txBody>
      </p:sp>
      <p:sp>
        <p:nvSpPr>
          <p:cNvPr id="17" name="Text Box 16"/>
          <p:cNvSpPr txBox="1">
            <a:spLocks noChangeArrowheads="1"/>
          </p:cNvSpPr>
          <p:nvPr/>
        </p:nvSpPr>
        <p:spPr bwMode="auto">
          <a:xfrm>
            <a:off x="88003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900</a:t>
            </a:r>
          </a:p>
        </p:txBody>
      </p:sp>
      <p:sp>
        <p:nvSpPr>
          <p:cNvPr id="18" name="Text Box 17"/>
          <p:cNvSpPr txBox="1">
            <a:spLocks noChangeArrowheads="1"/>
          </p:cNvSpPr>
          <p:nvPr/>
        </p:nvSpPr>
        <p:spPr bwMode="auto">
          <a:xfrm>
            <a:off x="3009181" y="5424578"/>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t>0</a:t>
            </a:r>
          </a:p>
        </p:txBody>
      </p:sp>
      <p:sp>
        <p:nvSpPr>
          <p:cNvPr id="19" name="Line 18"/>
          <p:cNvSpPr>
            <a:spLocks noChangeShapeType="1"/>
          </p:cNvSpPr>
          <p:nvPr/>
        </p:nvSpPr>
        <p:spPr bwMode="auto">
          <a:xfrm flipV="1">
            <a:off x="6514381" y="1690777"/>
            <a:ext cx="0" cy="373380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9"/>
          <p:cNvSpPr>
            <a:spLocks noChangeShapeType="1"/>
          </p:cNvSpPr>
          <p:nvPr/>
        </p:nvSpPr>
        <p:spPr bwMode="auto">
          <a:xfrm flipV="1">
            <a:off x="37711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20"/>
          <p:cNvSpPr>
            <a:spLocks noChangeShapeType="1"/>
          </p:cNvSpPr>
          <p:nvPr/>
        </p:nvSpPr>
        <p:spPr bwMode="auto">
          <a:xfrm flipV="1">
            <a:off x="46093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21"/>
          <p:cNvSpPr>
            <a:spLocks noChangeShapeType="1"/>
          </p:cNvSpPr>
          <p:nvPr/>
        </p:nvSpPr>
        <p:spPr bwMode="auto">
          <a:xfrm flipV="1">
            <a:off x="52951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22"/>
          <p:cNvSpPr>
            <a:spLocks noChangeShapeType="1"/>
          </p:cNvSpPr>
          <p:nvPr/>
        </p:nvSpPr>
        <p:spPr bwMode="auto">
          <a:xfrm flipV="1">
            <a:off x="58285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23"/>
          <p:cNvSpPr>
            <a:spLocks noChangeShapeType="1"/>
          </p:cNvSpPr>
          <p:nvPr/>
        </p:nvSpPr>
        <p:spPr bwMode="auto">
          <a:xfrm flipV="1">
            <a:off x="72001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24"/>
          <p:cNvSpPr>
            <a:spLocks noChangeShapeType="1"/>
          </p:cNvSpPr>
          <p:nvPr/>
        </p:nvSpPr>
        <p:spPr bwMode="auto">
          <a:xfrm flipV="1">
            <a:off x="78097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25"/>
          <p:cNvSpPr>
            <a:spLocks noChangeShapeType="1"/>
          </p:cNvSpPr>
          <p:nvPr/>
        </p:nvSpPr>
        <p:spPr bwMode="auto">
          <a:xfrm flipV="1">
            <a:off x="84193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26"/>
          <p:cNvSpPr>
            <a:spLocks noChangeShapeType="1"/>
          </p:cNvSpPr>
          <p:nvPr/>
        </p:nvSpPr>
        <p:spPr bwMode="auto">
          <a:xfrm flipV="1">
            <a:off x="91051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Text Box 30"/>
          <p:cNvSpPr txBox="1">
            <a:spLocks noChangeArrowheads="1"/>
          </p:cNvSpPr>
          <p:nvPr/>
        </p:nvSpPr>
        <p:spPr bwMode="auto">
          <a:xfrm>
            <a:off x="2551981" y="4433978"/>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t>3177</a:t>
            </a:r>
          </a:p>
        </p:txBody>
      </p:sp>
      <p:sp>
        <p:nvSpPr>
          <p:cNvPr id="29" name="Line 35"/>
          <p:cNvSpPr>
            <a:spLocks noChangeShapeType="1"/>
          </p:cNvSpPr>
          <p:nvPr/>
        </p:nvSpPr>
        <p:spPr bwMode="auto">
          <a:xfrm flipV="1">
            <a:off x="3161581" y="2452777"/>
            <a:ext cx="40386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36"/>
          <p:cNvSpPr>
            <a:spLocks noChangeShapeType="1"/>
          </p:cNvSpPr>
          <p:nvPr/>
        </p:nvSpPr>
        <p:spPr bwMode="auto">
          <a:xfrm flipV="1">
            <a:off x="7200181" y="1690777"/>
            <a:ext cx="0" cy="3581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38"/>
          <p:cNvSpPr>
            <a:spLocks noChangeShapeType="1"/>
          </p:cNvSpPr>
          <p:nvPr/>
        </p:nvSpPr>
        <p:spPr bwMode="auto">
          <a:xfrm flipV="1">
            <a:off x="3161581" y="2605177"/>
            <a:ext cx="4038600"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Text Box 39"/>
          <p:cNvSpPr txBox="1">
            <a:spLocks noChangeArrowheads="1"/>
          </p:cNvSpPr>
          <p:nvPr/>
        </p:nvSpPr>
        <p:spPr bwMode="auto">
          <a:xfrm>
            <a:off x="7123981" y="2528978"/>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solidFill>
                  <a:srgbClr val="990000"/>
                </a:solidFill>
              </a:rPr>
              <a:t>Rs6110</a:t>
            </a:r>
          </a:p>
        </p:txBody>
      </p:sp>
      <p:sp>
        <p:nvSpPr>
          <p:cNvPr id="33" name="Text Box 40"/>
          <p:cNvSpPr txBox="1">
            <a:spLocks noChangeArrowheads="1"/>
          </p:cNvSpPr>
          <p:nvPr/>
        </p:nvSpPr>
        <p:spPr bwMode="auto">
          <a:xfrm>
            <a:off x="7123981" y="2071778"/>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solidFill>
                  <a:srgbClr val="990000"/>
                </a:solidFill>
              </a:rPr>
              <a:t>Rs6201</a:t>
            </a:r>
          </a:p>
        </p:txBody>
      </p:sp>
      <p:sp>
        <p:nvSpPr>
          <p:cNvPr id="34" name="Text Box 43"/>
          <p:cNvSpPr txBox="1">
            <a:spLocks noChangeArrowheads="1"/>
          </p:cNvSpPr>
          <p:nvPr/>
        </p:nvSpPr>
        <p:spPr bwMode="auto">
          <a:xfrm>
            <a:off x="3923581" y="4052978"/>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solidFill>
                  <a:srgbClr val="CC0099"/>
                </a:solidFill>
              </a:rPr>
              <a:t>Select Alpha </a:t>
            </a:r>
          </a:p>
        </p:txBody>
      </p:sp>
      <p:sp>
        <p:nvSpPr>
          <p:cNvPr id="35" name="Text Box 44"/>
          <p:cNvSpPr txBox="1">
            <a:spLocks noChangeArrowheads="1"/>
          </p:cNvSpPr>
          <p:nvPr/>
        </p:nvSpPr>
        <p:spPr bwMode="auto">
          <a:xfrm>
            <a:off x="6895381" y="3976778"/>
            <a:ext cx="1981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solidFill>
                  <a:srgbClr val="CC0099"/>
                </a:solidFill>
              </a:rPr>
              <a:t>Select Beta</a:t>
            </a:r>
            <a:r>
              <a:rPr lang="en-US" dirty="0"/>
              <a:t> </a:t>
            </a:r>
          </a:p>
        </p:txBody>
      </p:sp>
      <p:sp>
        <p:nvSpPr>
          <p:cNvPr id="36" name="Text Box 46"/>
          <p:cNvSpPr txBox="1">
            <a:spLocks noChangeArrowheads="1"/>
          </p:cNvSpPr>
          <p:nvPr/>
        </p:nvSpPr>
        <p:spPr bwMode="auto">
          <a:xfrm>
            <a:off x="2551981" y="3671978"/>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dirty="0"/>
              <a:t>3680</a:t>
            </a:r>
          </a:p>
        </p:txBody>
      </p:sp>
      <p:sp>
        <p:nvSpPr>
          <p:cNvPr id="37" name="Line 47"/>
          <p:cNvSpPr>
            <a:spLocks noChangeShapeType="1"/>
          </p:cNvSpPr>
          <p:nvPr/>
        </p:nvSpPr>
        <p:spPr bwMode="auto">
          <a:xfrm flipV="1">
            <a:off x="6438181" y="5272177"/>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TextBox 34"/>
          <p:cNvSpPr txBox="1">
            <a:spLocks noChangeArrowheads="1"/>
          </p:cNvSpPr>
          <p:nvPr/>
        </p:nvSpPr>
        <p:spPr bwMode="auto">
          <a:xfrm>
            <a:off x="7428781" y="4738778"/>
            <a:ext cx="2590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400"/>
              <a:t>Break even hour</a:t>
            </a:r>
          </a:p>
        </p:txBody>
      </p:sp>
      <p:cxnSp>
        <p:nvCxnSpPr>
          <p:cNvPr id="39" name="Straight Arrow Connector 38"/>
          <p:cNvCxnSpPr>
            <a:endCxn id="19" idx="0"/>
          </p:cNvCxnSpPr>
          <p:nvPr/>
        </p:nvCxnSpPr>
        <p:spPr>
          <a:xfrm rot="10800000" flipV="1">
            <a:off x="6514381" y="4967377"/>
            <a:ext cx="1066800" cy="457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Title 1"/>
          <p:cNvSpPr>
            <a:spLocks noGrp="1"/>
          </p:cNvSpPr>
          <p:nvPr>
            <p:ph type="title"/>
          </p:nvPr>
        </p:nvSpPr>
        <p:spPr>
          <a:xfrm>
            <a:off x="1616015" y="54065"/>
            <a:ext cx="6748732" cy="1143000"/>
          </a:xfrm>
        </p:spPr>
        <p:txBody>
          <a:bodyPr>
            <a:normAutofit/>
          </a:bodyPr>
          <a:lstStyle/>
          <a:p>
            <a:r>
              <a:rPr lang="en-US" sz="3200" b="1" dirty="0">
                <a:solidFill>
                  <a:srgbClr val="990000"/>
                </a:solidFill>
                <a:latin typeface="Times New Roman" pitchFamily="18" charset="0"/>
                <a:cs typeface="Times New Roman" pitchFamily="18" charset="0"/>
              </a:rPr>
              <a:t>Example (Cont’d….)</a:t>
            </a:r>
            <a:endParaRPr lang="en-US" sz="3200" dirty="0"/>
          </a:p>
        </p:txBody>
      </p:sp>
    </p:spTree>
    <p:extLst>
      <p:ext uri="{BB962C8B-B14F-4D97-AF65-F5344CB8AC3E}">
        <p14:creationId xmlns:p14="http://schemas.microsoft.com/office/powerpoint/2010/main" val="159501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000"/>
                                        <p:tgtEl>
                                          <p:spTgt spid="7"/>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circle(in)">
                                      <p:cBhvr>
                                        <p:cTn id="19" dur="2000"/>
                                        <p:tgtEl>
                                          <p:spTgt spid="9"/>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ircle(in)">
                                      <p:cBhvr>
                                        <p:cTn id="22" dur="2000"/>
                                        <p:tgtEl>
                                          <p:spTgt spid="10"/>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ircle(in)">
                                      <p:cBhvr>
                                        <p:cTn id="25" dur="2000"/>
                                        <p:tgtEl>
                                          <p:spTgt spid="11"/>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circle(in)">
                                      <p:cBhvr>
                                        <p:cTn id="28" dur="2000"/>
                                        <p:tgtEl>
                                          <p:spTgt spid="12"/>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circle(in)">
                                      <p:cBhvr>
                                        <p:cTn id="31" dur="2000"/>
                                        <p:tgtEl>
                                          <p:spTgt spid="13"/>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circle(in)">
                                      <p:cBhvr>
                                        <p:cTn id="34" dur="2000"/>
                                        <p:tgtEl>
                                          <p:spTgt spid="14"/>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circle(in)">
                                      <p:cBhvr>
                                        <p:cTn id="37" dur="2000"/>
                                        <p:tgtEl>
                                          <p:spTgt spid="15"/>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circle(in)">
                                      <p:cBhvr>
                                        <p:cTn id="40" dur="2000"/>
                                        <p:tgtEl>
                                          <p:spTgt spid="16"/>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circle(in)">
                                      <p:cBhvr>
                                        <p:cTn id="43" dur="2000"/>
                                        <p:tgtEl>
                                          <p:spTgt spid="17"/>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circle(in)">
                                      <p:cBhvr>
                                        <p:cTn id="46" dur="2000"/>
                                        <p:tgtEl>
                                          <p:spTgt spid="18"/>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circle(in)">
                                      <p:cBhvr>
                                        <p:cTn id="49" dur="2000"/>
                                        <p:tgtEl>
                                          <p:spTgt spid="19"/>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circle(in)">
                                      <p:cBhvr>
                                        <p:cTn id="52" dur="2000"/>
                                        <p:tgtEl>
                                          <p:spTgt spid="20"/>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circle(in)">
                                      <p:cBhvr>
                                        <p:cTn id="55" dur="2000"/>
                                        <p:tgtEl>
                                          <p:spTgt spid="21"/>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circle(in)">
                                      <p:cBhvr>
                                        <p:cTn id="58" dur="2000"/>
                                        <p:tgtEl>
                                          <p:spTgt spid="22"/>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circle(in)">
                                      <p:cBhvr>
                                        <p:cTn id="61" dur="2000"/>
                                        <p:tgtEl>
                                          <p:spTgt spid="23"/>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circle(in)">
                                      <p:cBhvr>
                                        <p:cTn id="64" dur="2000"/>
                                        <p:tgtEl>
                                          <p:spTgt spid="24"/>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circle(in)">
                                      <p:cBhvr>
                                        <p:cTn id="67" dur="2000"/>
                                        <p:tgtEl>
                                          <p:spTgt spid="25"/>
                                        </p:tgtEl>
                                      </p:cBhvr>
                                    </p:animEffect>
                                  </p:childTnLst>
                                </p:cTn>
                              </p:par>
                              <p:par>
                                <p:cTn id="68" presetID="6" presetClass="entr" presetSubtype="16"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circle(in)">
                                      <p:cBhvr>
                                        <p:cTn id="70" dur="2000"/>
                                        <p:tgtEl>
                                          <p:spTgt spid="26"/>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circle(in)">
                                      <p:cBhvr>
                                        <p:cTn id="73" dur="2000"/>
                                        <p:tgtEl>
                                          <p:spTgt spid="27"/>
                                        </p:tgtEl>
                                      </p:cBhvr>
                                    </p:animEffect>
                                  </p:childTnLst>
                                </p:cTn>
                              </p:par>
                              <p:par>
                                <p:cTn id="74" presetID="6" presetClass="entr" presetSubtype="16"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circle(in)">
                                      <p:cBhvr>
                                        <p:cTn id="76" dur="2000"/>
                                        <p:tgtEl>
                                          <p:spTgt spid="28"/>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circle(in)">
                                      <p:cBhvr>
                                        <p:cTn id="79" dur="2000"/>
                                        <p:tgtEl>
                                          <p:spTgt spid="29"/>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circle(in)">
                                      <p:cBhvr>
                                        <p:cTn id="82" dur="2000"/>
                                        <p:tgtEl>
                                          <p:spTgt spid="30"/>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circle(in)">
                                      <p:cBhvr>
                                        <p:cTn id="85" dur="2000"/>
                                        <p:tgtEl>
                                          <p:spTgt spid="31"/>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circle(in)">
                                      <p:cBhvr>
                                        <p:cTn id="88" dur="2000"/>
                                        <p:tgtEl>
                                          <p:spTgt spid="32"/>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circle(in)">
                                      <p:cBhvr>
                                        <p:cTn id="91" dur="2000"/>
                                        <p:tgtEl>
                                          <p:spTgt spid="33"/>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circle(in)">
                                      <p:cBhvr>
                                        <p:cTn id="94" dur="2000"/>
                                        <p:tgtEl>
                                          <p:spTgt spid="34"/>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circle(in)">
                                      <p:cBhvr>
                                        <p:cTn id="97" dur="2000"/>
                                        <p:tgtEl>
                                          <p:spTgt spid="35"/>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circle(in)">
                                      <p:cBhvr>
                                        <p:cTn id="100" dur="2000"/>
                                        <p:tgtEl>
                                          <p:spTgt spid="36"/>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circle(in)">
                                      <p:cBhvr>
                                        <p:cTn id="103" dur="2000"/>
                                        <p:tgtEl>
                                          <p:spTgt spid="37"/>
                                        </p:tgtEl>
                                      </p:cBhvr>
                                    </p:animEffect>
                                  </p:childTnLst>
                                </p:cTn>
                              </p:par>
                              <p:par>
                                <p:cTn id="104" presetID="6" presetClass="entr" presetSubtype="16"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circle(in)">
                                      <p:cBhvr>
                                        <p:cTn id="106" dur="2000"/>
                                        <p:tgtEl>
                                          <p:spTgt spid="38"/>
                                        </p:tgtEl>
                                      </p:cBhvr>
                                    </p:animEffect>
                                  </p:childTnLst>
                                </p:cTn>
                              </p:par>
                              <p:par>
                                <p:cTn id="107" presetID="6" presetClass="entr" presetSubtype="16" fill="hold"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circle(in)">
                                      <p:cBhvr>
                                        <p:cTn id="109"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p:bldP spid="10" grpId="0"/>
      <p:bldP spid="11" grpId="0"/>
      <p:bldP spid="12" grpId="0"/>
      <p:bldP spid="13" grpId="0"/>
      <p:bldP spid="14" grpId="0"/>
      <p:bldP spid="15" grpId="0"/>
      <p:bldP spid="16" grpId="0"/>
      <p:bldP spid="17" grpId="0"/>
      <p:bldP spid="18" grpId="0"/>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animBg="1"/>
      <p:bldP spid="30" grpId="0" animBg="1"/>
      <p:bldP spid="31" grpId="0" animBg="1"/>
      <p:bldP spid="32" grpId="0"/>
      <p:bldP spid="33" grpId="0"/>
      <p:bldP spid="34" grpId="0"/>
      <p:bldP spid="35" grpId="0"/>
      <p:bldP spid="36" grpId="0"/>
      <p:bldP spid="37" grpId="0" animBg="1"/>
      <p:bldP spid="3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223849" cy="1143000"/>
          </a:xfrm>
        </p:spPr>
        <p:txBody>
          <a:bodyPr>
            <a:normAutofit/>
          </a:bodyPr>
          <a:lstStyle/>
          <a:p>
            <a:r>
              <a:rPr lang="en-AU" sz="3200" b="1" dirty="0">
                <a:solidFill>
                  <a:srgbClr val="002060"/>
                </a:solidFill>
                <a:latin typeface="Times New Roman" panose="02020603050405020304" pitchFamily="18" charset="0"/>
                <a:cs typeface="Times New Roman" panose="02020603050405020304" pitchFamily="18" charset="0"/>
              </a:rPr>
              <a:t>References: </a:t>
            </a:r>
            <a:endParaRPr lang="en-US" sz="3200" dirty="0"/>
          </a:p>
        </p:txBody>
      </p:sp>
      <p:sp>
        <p:nvSpPr>
          <p:cNvPr id="3" name="Text Placeholder 2"/>
          <p:cNvSpPr>
            <a:spLocks noGrp="1"/>
          </p:cNvSpPr>
          <p:nvPr>
            <p:ph type="body" sz="half" idx="1"/>
          </p:nvPr>
        </p:nvSpPr>
        <p:spPr>
          <a:xfrm>
            <a:off x="609600" y="1332782"/>
            <a:ext cx="9569570" cy="5162909"/>
          </a:xfrm>
        </p:spPr>
        <p:txBody>
          <a:bodyPr/>
          <a:lstStyle/>
          <a:p>
            <a:pPr marL="0" lvl="0" indent="0" algn="just">
              <a:lnSpc>
                <a:spcPct val="100000"/>
              </a:lnSpc>
              <a:buNone/>
            </a:pPr>
            <a:r>
              <a:rPr lang="en-AU" b="1" dirty="0">
                <a:latin typeface="Times New Roman" panose="02020603050405020304" pitchFamily="18" charset="0"/>
                <a:cs typeface="Times New Roman" panose="02020603050405020304" pitchFamily="18" charset="0"/>
              </a:rPr>
              <a:t>[1]</a:t>
            </a:r>
            <a:r>
              <a:rPr lang="en-AU"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Contemporary Engineering Economics, </a:t>
            </a:r>
            <a:r>
              <a:rPr lang="en-US" b="1" dirty="0">
                <a:latin typeface="Times New Roman" panose="02020603050405020304" pitchFamily="18" charset="0"/>
                <a:cs typeface="Times New Roman" panose="02020603050405020304" pitchFamily="18" charset="0"/>
              </a:rPr>
              <a:t>Chan S. Park Second Edition, Addison-Wesley Publishing Company, 1997. </a:t>
            </a:r>
          </a:p>
          <a:p>
            <a:pPr marL="0" indent="0" algn="just">
              <a:lnSpc>
                <a:spcPct val="100000"/>
              </a:lnSpc>
              <a:buNone/>
            </a:pPr>
            <a:r>
              <a:rPr lang="en-AU" b="1" dirty="0">
                <a:latin typeface="Times New Roman" panose="02020603050405020304" pitchFamily="18" charset="0"/>
                <a:cs typeface="Times New Roman" panose="02020603050405020304" pitchFamily="18" charset="0"/>
              </a:rPr>
              <a:t>[2] </a:t>
            </a:r>
            <a:r>
              <a:rPr lang="en-AU" b="1" i="1" dirty="0">
                <a:latin typeface="Times New Roman" panose="02020603050405020304" pitchFamily="18" charset="0"/>
                <a:cs typeface="Times New Roman" panose="02020603050405020304" pitchFamily="18" charset="0"/>
              </a:rPr>
              <a:t>Engineering Economics: </a:t>
            </a:r>
            <a:r>
              <a:rPr lang="en-AU" b="1" dirty="0">
                <a:latin typeface="Times New Roman" panose="02020603050405020304" pitchFamily="18" charset="0"/>
                <a:cs typeface="Times New Roman" panose="02020603050405020304" pitchFamily="18" charset="0"/>
              </a:rPr>
              <a:t>James L. Riggs, David D. Bedworth and Sabah U. Randhawa, Fourth Edition, Tata McGraw Hill Education Private Limited, New Delhi, India, 2004. </a:t>
            </a:r>
          </a:p>
          <a:p>
            <a:pPr marL="0" indent="0" algn="just">
              <a:lnSpc>
                <a:spcPct val="100000"/>
              </a:lnSpc>
              <a:buNone/>
            </a:pPr>
            <a:r>
              <a:rPr lang="en-AU" b="1"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hlinkClick r:id="rId2"/>
              </a:rPr>
              <a:t>https://www.investopedia.com/terms/r/risk-analysis.asp</a:t>
            </a:r>
            <a:endParaRPr lang="en-US" b="1" dirty="0">
              <a:latin typeface="Times New Roman" panose="02020603050405020304" pitchFamily="18" charset="0"/>
              <a:cs typeface="Times New Roman" panose="02020603050405020304" pitchFamily="18" charset="0"/>
            </a:endParaRPr>
          </a:p>
          <a:p>
            <a:pPr marL="0" indent="0" algn="just">
              <a:lnSpc>
                <a:spcPct val="100000"/>
              </a:lnSpc>
              <a:buNone/>
            </a:pPr>
            <a:r>
              <a:rPr lang="en-AU" b="1" dirty="0">
                <a:latin typeface="Times New Roman" panose="02020603050405020304" pitchFamily="18" charset="0"/>
                <a:cs typeface="Times New Roman" panose="02020603050405020304" pitchFamily="18" charset="0"/>
              </a:rPr>
              <a:t>(Viewed October 2022) </a:t>
            </a:r>
          </a:p>
          <a:p>
            <a:pPr marL="0" indent="0" algn="just">
              <a:lnSpc>
                <a:spcPct val="100000"/>
              </a:lnSpc>
              <a:buNone/>
            </a:pPr>
            <a:r>
              <a:rPr lang="en-AU" b="1"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hlinkClick r:id="rId3"/>
              </a:rPr>
              <a:t>https://pmstudycircle.com/risk-vs-uncertainty/</a:t>
            </a:r>
            <a:r>
              <a:rPr lang="en-US" b="1" dirty="0">
                <a:latin typeface="Times New Roman" panose="02020603050405020304" pitchFamily="18" charset="0"/>
                <a:cs typeface="Times New Roman" panose="02020603050405020304" pitchFamily="18" charset="0"/>
              </a:rPr>
              <a:t> (Viewed October 2022) </a:t>
            </a:r>
          </a:p>
          <a:p>
            <a:pPr marL="0" indent="0" algn="just">
              <a:lnSpc>
                <a:spcPct val="100000"/>
              </a:lnSpc>
              <a:buNone/>
            </a:pPr>
            <a:endParaRPr lang="en-AU" b="1" dirty="0">
              <a:latin typeface="Times New Roman" panose="02020603050405020304" pitchFamily="18" charset="0"/>
              <a:cs typeface="Times New Roman" panose="02020603050405020304" pitchFamily="18" charset="0"/>
            </a:endParaRPr>
          </a:p>
          <a:p>
            <a:pPr marL="0" indent="0" algn="just">
              <a:lnSpc>
                <a:spcPct val="100000"/>
              </a:lnSpc>
              <a:buNone/>
            </a:pPr>
            <a:endParaRPr lang="en-AU" b="1" dirty="0">
              <a:latin typeface="Times New Roman" panose="02020603050405020304" pitchFamily="18" charset="0"/>
              <a:cs typeface="Times New Roman" panose="02020603050405020304" pitchFamily="18" charset="0"/>
            </a:endParaRPr>
          </a:p>
          <a:p>
            <a:pPr marL="0" indent="0" algn="just">
              <a:lnSpc>
                <a:spcPct val="100000"/>
              </a:lnSpc>
              <a:buNone/>
            </a:pPr>
            <a:endParaRPr lang="en-AU" b="1" dirty="0">
              <a:latin typeface="Times New Roman" panose="02020603050405020304" pitchFamily="18" charset="0"/>
              <a:cs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1098428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609600" y="1600201"/>
            <a:ext cx="10147540" cy="4525963"/>
          </a:xfrm>
        </p:spPr>
        <p:txBody>
          <a:bodyPr/>
          <a:lstStyle/>
          <a:p>
            <a:pPr marL="0" indent="0" algn="just">
              <a:lnSpc>
                <a:spcPct val="100000"/>
              </a:lnSpc>
              <a:buNone/>
            </a:pPr>
            <a:r>
              <a:rPr lang="en-AU" b="1" dirty="0">
                <a:latin typeface="Times New Roman" panose="02020603050405020304" pitchFamily="18" charset="0"/>
                <a:cs typeface="Times New Roman" panose="02020603050405020304" pitchFamily="18" charset="0"/>
              </a:rPr>
              <a:t>[5] </a:t>
            </a:r>
            <a:r>
              <a:rPr lang="en-AU" b="1" i="1" dirty="0">
                <a:latin typeface="Times New Roman" panose="02020603050405020304" pitchFamily="18" charset="0"/>
                <a:cs typeface="Times New Roman" panose="02020603050405020304" pitchFamily="18" charset="0"/>
              </a:rPr>
              <a:t>Basics of Engineering Economy: </a:t>
            </a:r>
            <a:r>
              <a:rPr lang="en-AU" b="1" dirty="0">
                <a:latin typeface="Times New Roman" panose="02020603050405020304" pitchFamily="18" charset="0"/>
                <a:cs typeface="Times New Roman" panose="02020603050405020304" pitchFamily="18" charset="0"/>
              </a:rPr>
              <a:t>Leland Blank and Anthony </a:t>
            </a:r>
            <a:r>
              <a:rPr lang="en-AU" b="1" dirty="0" err="1">
                <a:latin typeface="Times New Roman" panose="02020603050405020304" pitchFamily="18" charset="0"/>
                <a:cs typeface="Times New Roman" panose="02020603050405020304" pitchFamily="18" charset="0"/>
              </a:rPr>
              <a:t>Tarquin</a:t>
            </a:r>
            <a:r>
              <a:rPr lang="en-AU" b="1" dirty="0">
                <a:latin typeface="Times New Roman" panose="02020603050405020304" pitchFamily="18" charset="0"/>
                <a:cs typeface="Times New Roman" panose="02020603050405020304" pitchFamily="18" charset="0"/>
              </a:rPr>
              <a:t>, Indian Edition, Tata McGraw Hill Education Private Limited, New Delhi, India, 2013. </a:t>
            </a:r>
          </a:p>
          <a:p>
            <a:pPr marL="0" indent="0" algn="just">
              <a:lnSpc>
                <a:spcPct val="100000"/>
              </a:lnSpc>
              <a:buNone/>
            </a:pPr>
            <a:r>
              <a:rPr lang="en-AU" b="1" dirty="0">
                <a:latin typeface="Times New Roman" panose="02020603050405020304" pitchFamily="18" charset="0"/>
                <a:cs typeface="Times New Roman" panose="02020603050405020304" pitchFamily="18" charset="0"/>
              </a:rPr>
              <a:t>[6] </a:t>
            </a:r>
            <a:r>
              <a:rPr lang="en-US" b="1" dirty="0">
                <a:latin typeface="Times New Roman" pitchFamily="18" charset="0"/>
                <a:cs typeface="Times New Roman" pitchFamily="18" charset="0"/>
                <a:hlinkClick r:id="rId2"/>
              </a:rPr>
              <a:t>https://www.netsuite.com/portal/resource/articles/financial-management/break-even-analysis.shtml</a:t>
            </a:r>
            <a:r>
              <a:rPr lang="en-US" b="1" dirty="0">
                <a:latin typeface="Times New Roman" pitchFamily="18" charset="0"/>
                <a:cs typeface="Times New Roman" pitchFamily="18" charset="0"/>
              </a:rPr>
              <a:t> (Viewed October 2022) </a:t>
            </a:r>
          </a:p>
          <a:p>
            <a:pPr marL="0" indent="0" algn="just">
              <a:lnSpc>
                <a:spcPct val="100000"/>
              </a:lnSpc>
              <a:buNone/>
            </a:pPr>
            <a:r>
              <a:rPr lang="en-US" b="1" dirty="0">
                <a:latin typeface="Times New Roman" pitchFamily="18" charset="0"/>
                <a:cs typeface="Times New Roman" pitchFamily="18" charset="0"/>
              </a:rPr>
              <a:t>[7] </a:t>
            </a:r>
            <a:r>
              <a:rPr lang="en-AU" b="1" i="1" dirty="0">
                <a:latin typeface="Times New Roman" panose="02020603050405020304" pitchFamily="18" charset="0"/>
                <a:cs typeface="Times New Roman" panose="02020603050405020304" pitchFamily="18" charset="0"/>
              </a:rPr>
              <a:t>Engineering Economy:</a:t>
            </a:r>
            <a:r>
              <a:rPr lang="en-AU" b="1" dirty="0">
                <a:latin typeface="Times New Roman" panose="02020603050405020304" pitchFamily="18" charset="0"/>
                <a:cs typeface="Times New Roman" panose="02020603050405020304" pitchFamily="18" charset="0"/>
              </a:rPr>
              <a:t> William G. Sullivan, James A. </a:t>
            </a:r>
            <a:r>
              <a:rPr lang="en-AU" b="1" dirty="0" err="1">
                <a:latin typeface="Times New Roman" panose="02020603050405020304" pitchFamily="18" charset="0"/>
                <a:cs typeface="Times New Roman" panose="02020603050405020304" pitchFamily="18" charset="0"/>
              </a:rPr>
              <a:t>Bontadelli</a:t>
            </a:r>
            <a:r>
              <a:rPr lang="en-AU" b="1" dirty="0">
                <a:latin typeface="Times New Roman" panose="02020603050405020304" pitchFamily="18" charset="0"/>
                <a:cs typeface="Times New Roman" panose="02020603050405020304" pitchFamily="18" charset="0"/>
              </a:rPr>
              <a:t> &amp; Elin M. Wicks, Eleventh Edition, Pearson Educations, Inc. 2000</a:t>
            </a:r>
          </a:p>
          <a:p>
            <a:pPr marL="0" indent="0" algn="just">
              <a:lnSpc>
                <a:spcPct val="100000"/>
              </a:lnSpc>
              <a:buNone/>
            </a:pPr>
            <a:r>
              <a:rPr lang="en-US" b="1" dirty="0">
                <a:latin typeface="Times New Roman" pitchFamily="18" charset="0"/>
                <a:cs typeface="Times New Roman" pitchFamily="18" charset="0"/>
              </a:rPr>
              <a:t> </a:t>
            </a:r>
          </a:p>
          <a:p>
            <a:pPr marL="0" indent="0">
              <a:buNone/>
            </a:pPr>
            <a:endParaRPr lang="en-AU" b="1" dirty="0">
              <a:latin typeface="Times New Roman" panose="02020603050405020304" pitchFamily="18" charset="0"/>
              <a:cs typeface="Times New Roman" panose="02020603050405020304" pitchFamily="18" charset="0"/>
            </a:endParaRPr>
          </a:p>
          <a:p>
            <a:pPr marL="0" indent="0">
              <a:buNone/>
            </a:pPr>
            <a:endParaRPr lang="en-AU" b="1"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Title 1"/>
          <p:cNvSpPr>
            <a:spLocks noGrp="1"/>
          </p:cNvSpPr>
          <p:nvPr>
            <p:ph type="title"/>
          </p:nvPr>
        </p:nvSpPr>
        <p:spPr/>
        <p:txBody>
          <a:bodyPr>
            <a:normAutofit/>
          </a:bodyPr>
          <a:lstStyle/>
          <a:p>
            <a:r>
              <a:rPr lang="en-AU" sz="3200" b="1" dirty="0">
                <a:solidFill>
                  <a:srgbClr val="002060"/>
                </a:solidFill>
                <a:latin typeface="Times New Roman" panose="02020603050405020304" pitchFamily="18" charset="0"/>
                <a:cs typeface="Times New Roman" panose="02020603050405020304" pitchFamily="18" charset="0"/>
              </a:rPr>
              <a:t>References (Cont’d…..)  </a:t>
            </a:r>
            <a:endParaRPr lang="en-US" sz="3200" dirty="0"/>
          </a:p>
        </p:txBody>
      </p:sp>
    </p:spTree>
    <p:extLst>
      <p:ext uri="{BB962C8B-B14F-4D97-AF65-F5344CB8AC3E}">
        <p14:creationId xmlns:p14="http://schemas.microsoft.com/office/powerpoint/2010/main" val="27142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852468" y="2419710"/>
            <a:ext cx="5384800" cy="1246517"/>
          </a:xfrm>
        </p:spPr>
        <p:txBody>
          <a:bodyPr>
            <a:normAutofit/>
          </a:bodyPr>
          <a:lstStyle/>
          <a:p>
            <a:pPr marL="0" indent="0" algn="ctr">
              <a:buNone/>
            </a:pPr>
            <a:r>
              <a:rPr lang="en-US" sz="7200" b="1" dirty="0"/>
              <a:t>THANK YOU</a:t>
            </a:r>
          </a:p>
        </p:txBody>
      </p:sp>
    </p:spTree>
    <p:extLst>
      <p:ext uri="{BB962C8B-B14F-4D97-AF65-F5344CB8AC3E}">
        <p14:creationId xmlns:p14="http://schemas.microsoft.com/office/powerpoint/2010/main" val="1185890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1462</TotalTime>
  <Words>3428</Words>
  <Application>Microsoft Office PowerPoint</Application>
  <PresentationFormat>Widescreen</PresentationFormat>
  <Paragraphs>332</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Times New Roman</vt:lpstr>
      <vt:lpstr>Wingdings</vt:lpstr>
      <vt:lpstr>Office Theme</vt:lpstr>
      <vt:lpstr>COURSE TITLE ENGINEERING ECONOMIC ANALYSIS</vt:lpstr>
      <vt:lpstr>Learning Objective</vt:lpstr>
      <vt:lpstr>Concept of Risk and Uncertainty</vt:lpstr>
      <vt:lpstr>Concept of Risk and uncertainty (Cont’d….)  </vt:lpstr>
      <vt:lpstr>Concept of Risk (Cont’d….)  </vt:lpstr>
      <vt:lpstr>Concept of Risk (Cont’d….)  </vt:lpstr>
      <vt:lpstr>PowerPoint Presentation</vt:lpstr>
      <vt:lpstr>Risk Analysis</vt:lpstr>
      <vt:lpstr>Risk Analysis (Cont’d….) </vt:lpstr>
      <vt:lpstr>Types of Decision </vt:lpstr>
      <vt:lpstr>Types of Decision (Cont’d….) </vt:lpstr>
      <vt:lpstr>Difference between risk and uncertainty</vt:lpstr>
      <vt:lpstr>Sources of Risk and Uncertainty </vt:lpstr>
      <vt:lpstr>Sources of Risk and Uncertainty (Cont’d…)  </vt:lpstr>
      <vt:lpstr>Sources of Risk and Uncertainty (Cont’d…) </vt:lpstr>
      <vt:lpstr>Sources of Risk and Uncertainty (Cont’d…) </vt:lpstr>
      <vt:lpstr>Method of describing project risk </vt:lpstr>
      <vt:lpstr>BREAK EVEN ANALYSIS</vt:lpstr>
      <vt:lpstr>BREAK EVEN ANALYSIS (Cont’d…..) </vt:lpstr>
      <vt:lpstr>Break – Even Analysis for a Single Project</vt:lpstr>
      <vt:lpstr>Break – Even Analysis for a Single Project</vt:lpstr>
      <vt:lpstr>Break – Even Analysis for a Single Project</vt:lpstr>
      <vt:lpstr>Break – Even Analysis for a Single Project (Cont’d..) </vt:lpstr>
      <vt:lpstr>Break – Even Analysis for a Single Project</vt:lpstr>
      <vt:lpstr>Break – Even Analysis for a Single Project</vt:lpstr>
      <vt:lpstr>PowerPoint Presentation</vt:lpstr>
      <vt:lpstr>PowerPoint Presentation</vt:lpstr>
      <vt:lpstr>PowerPoint Presentation</vt:lpstr>
      <vt:lpstr>PowerPoint Presentation</vt:lpstr>
      <vt:lpstr>Break – Even Analysis between Two Alternatives</vt:lpstr>
      <vt:lpstr>Break – Even Analysis between Two Alternatives (Cont’d….) </vt:lpstr>
      <vt:lpstr>Break – Even Analysis between Two Alternatives (Cont’d….) </vt:lpstr>
      <vt:lpstr>Break – Even Analysis between Two Alternatives (Cont’d….) </vt:lpstr>
      <vt:lpstr>Break – Even Analysis between Two Alternatives (Cont’d….) </vt:lpstr>
      <vt:lpstr>Break – Even Analysis between Two Alternatives (Cont’d….) </vt:lpstr>
      <vt:lpstr>PowerPoint Presentation</vt:lpstr>
      <vt:lpstr>Example (Cont’d….)</vt:lpstr>
      <vt:lpstr>Example (Cont’d….)</vt:lpstr>
      <vt:lpstr>Example (Cont’d….)</vt:lpstr>
      <vt:lpstr>Example (Cont’d….)</vt:lpstr>
      <vt:lpstr>References: </vt:lpstr>
      <vt:lpstr>References (Cont’d…..)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 ENGINEERING ECONOMIC ANALYSIS</dc:title>
  <dc:creator>Dell</dc:creator>
  <cp:lastModifiedBy>Subham Shekhar Jha</cp:lastModifiedBy>
  <cp:revision>55</cp:revision>
  <dcterms:created xsi:type="dcterms:W3CDTF">2022-10-13T03:57:03Z</dcterms:created>
  <dcterms:modified xsi:type="dcterms:W3CDTF">2025-07-17T02:05:22Z</dcterms:modified>
</cp:coreProperties>
</file>
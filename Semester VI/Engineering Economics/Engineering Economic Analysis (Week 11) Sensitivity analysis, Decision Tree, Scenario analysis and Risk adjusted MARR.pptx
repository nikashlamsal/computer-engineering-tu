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z4zXC32pz+fsY2KPZTlfVjvH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D4C6C2-46F8-4678-8B2D-3238E3541514}">
  <a:tblStyle styleId="{F3D4C6C2-46F8-4678-8B2D-3238E35415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996F3B-83F4-441C-ACF9-A860C96E52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34FA8E7-2B4A-4944-939B-5019E39971E5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14" name="Google Shape;2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efinanceinstitute.com/resources/careers/how-to-job-guides/financial-analyst-guide-trifecta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sana.com/resources/what-is-a-flowchar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i/investment.asp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vestopedia.com/terms/r/return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90477" y="-561225"/>
            <a:ext cx="831924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TITLE</a:t>
            </a:r>
            <a:b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ECONOMIC ANALYSIS</a:t>
            </a:r>
            <a:endParaRPr sz="36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149755" y="1920966"/>
            <a:ext cx="9359153" cy="464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 </a:t>
            </a:r>
            <a:r>
              <a:rPr lang="en-US" sz="33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</a:t>
            </a:r>
            <a:endParaRPr dirty="0"/>
          </a:p>
          <a:p>
            <a:pPr marL="0" marR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Analysis, Decision Tree Analysis, Scenario Analysis, Risk Adjusted MARR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After studying this lecture students will be able to learn: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Concept of Sensitivity Analysis with example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Concept of Decision Tree Analysis with example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Concept of Scenario Analysis and Risk adjusted MARR 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1433423" y="500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</a:t>
            </a:r>
            <a:endParaRPr sz="40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3279476" y="425510"/>
            <a:ext cx="773645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</a:t>
            </a:r>
            <a:endParaRPr sz="3200"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2252933" y="1868757"/>
            <a:ext cx="757255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lang="en-US" sz="4500" b="1">
                <a:latin typeface="Times New Roman"/>
                <a:ea typeface="Times New Roman"/>
                <a:cs typeface="Times New Roman"/>
                <a:sym typeface="Times New Roman"/>
              </a:rPr>
              <a:t>What are the Parameters (variables) Used in Engineering Economic Analysis????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: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Initial Cost (I)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Annual Operating Cost (AOC)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Salvage Value (S)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Useful life (N)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Interest rate (i)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Inflation rate (f)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Annual Revenues (A)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(Cont’d….) 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562155" y="1558206"/>
            <a:ext cx="9746411" cy="500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economic analysis, all the estimate made of these parameters are </a:t>
            </a:r>
            <a:r>
              <a:rPr lang="en-US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‘best estimates’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made by experienced personnel i.e. the same value will occur during the implementation phase of the project.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But in the real practice, the budgeting or estimate of these variables are </a:t>
            </a:r>
            <a:r>
              <a:rPr lang="en-US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uncertain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i.e. there are variables which may not occur as expected.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Sensitivity analysis tries to seek the solution what the outcome of the project will be if one of these </a:t>
            </a:r>
            <a:r>
              <a:rPr lang="en-US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changes from the best estimates.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0470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(Cont’d….) </a:t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536276" y="1480568"/>
            <a:ext cx="10169105" cy="504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Sensitivity analysis tries to answer the question of 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‘ If the economic variables changes from expectation, what will the effect be on business, model system, or whatever being analyzed, and which variable are causing the largest deviations?’[1]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Sensitivity analysis determines the effect on the NPW of variations in the input variables (such as revenues, expenses, investment, salvage value etc.) used to estimate after tax cash flow. [2]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(Cont’d….) 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510396" y="1239028"/>
            <a:ext cx="10515600" cy="524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“In Engineering economic studies, sensitivity analysis is a 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non probabilistic methodology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, to provide information about the potential impact of uncertainty in selected factor estimates”. [3] 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 Financial Sensitivity Analysis, also known as a 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What-If analysis or a What-If simulation exercise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, is most commonly used by </a:t>
            </a:r>
            <a:r>
              <a:rPr lang="en-US" b="1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financial analysts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 to predict the outcome of a specific action when performed under certain conditions. [4] 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1450676" y="1408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(Cont’d….) 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body" idx="1"/>
          </p:nvPr>
        </p:nvSpPr>
        <p:spPr>
          <a:xfrm>
            <a:off x="708803" y="1765240"/>
            <a:ext cx="9979325" cy="50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example: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What if the investment increases by 20% of the initial investment, what will be the PW/IRR?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What if the net annual revenue decreases by 10%, what will be the changes in the PW/IRR?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What if the useful life increases by 15%, what will be the changes in PW/IRR ?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Sensitivity analysis tries to answer these questions and is considered as what if analysis.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1485182" y="29611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(Cont’d….) 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1390290" y="97707"/>
            <a:ext cx="85473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FOR SENSITIVITY ANALYSIS</a:t>
            </a:r>
            <a:endParaRPr sz="3200"/>
          </a:p>
        </p:txBody>
      </p:sp>
      <p:sp>
        <p:nvSpPr>
          <p:cNvPr id="137" name="Google Shape;137;p9"/>
          <p:cNvSpPr txBox="1">
            <a:spLocks noGrp="1"/>
          </p:cNvSpPr>
          <p:nvPr>
            <p:ph type="body" idx="1"/>
          </p:nvPr>
        </p:nvSpPr>
        <p:spPr>
          <a:xfrm>
            <a:off x="639792" y="1256281"/>
            <a:ext cx="10255370" cy="53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begins with the </a:t>
            </a:r>
            <a:r>
              <a:rPr lang="en-US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case situation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, which is developed using the most likely values for each input. Develop the prime equation.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Justify the project economically.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Change the specific variable of interest by several specified percentages above and below the most – likely value, while holding other variables constant.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Calculate a new PW/FW/AW/IRR/BCR for each of these values.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2547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Present the results of a sensitivity analysis in the sensitivity graph.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slope of the line shows how sensitive the NPW is to changes in each of the inputs.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steeper the slope, the more the sensitive the NPW is to change in a particular variable</a:t>
            </a:r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FOR SENSITIVITY ANALYSIS (Cont’d….)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body" idx="1"/>
          </p:nvPr>
        </p:nvSpPr>
        <p:spPr>
          <a:xfrm>
            <a:off x="622539" y="1345631"/>
            <a:ext cx="9763665" cy="545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 of Sensitivity Graph </a:t>
            </a:r>
            <a:endParaRPr b="1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On a plot, there are two directions to measure uncertainty: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On X-axis, the uncertainty in the input variable is measured.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On Y-axis, the impact of that uncertainty on PW is measured.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slope of the line shows how sensitive the PW is to change in each of the inputs. The steeper the slope, the more sensitive the PW is to a change in a particular variable.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graph allows us to identify the crucial variables that most affect the final outcome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title"/>
          </p:nvPr>
        </p:nvSpPr>
        <p:spPr>
          <a:xfrm>
            <a:off x="726057" y="1667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(Cont’d….)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75503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 properly drawn spider plot shows the following: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Limits of uncertainty for each cash flow element.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Impact of each cash flow element on the PW or IRR (each can be used as Y-axis)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Identification of each cash flow element that might change the recommendation. </a:t>
            </a:r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55663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ANALYSIS (Cont’d….)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>
            <a:spLocks noGrp="1"/>
          </p:cNvSpPr>
          <p:nvPr>
            <p:ph type="title"/>
          </p:nvPr>
        </p:nvSpPr>
        <p:spPr>
          <a:xfrm>
            <a:off x="1502434" y="1580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[3]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3"/>
          <p:cNvSpPr txBox="1">
            <a:spLocks noGrp="1"/>
          </p:cNvSpPr>
          <p:nvPr>
            <p:ph type="body" idx="1"/>
          </p:nvPr>
        </p:nvSpPr>
        <p:spPr>
          <a:xfrm>
            <a:off x="682924" y="135979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Perform the Sensitivity Analysis using the PW formulation  over a range of ±40% changes in the estimates for – 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Capital Investment (I)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Annual net Cash flow (A)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Market value (MV)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Useful life  (N)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Based on these best estimates, plot a diagram that summarizes the sensitivity of present worth to percent deviation changes in each separate factor estimate when MARR =10% per year 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14"/>
          <p:cNvGraphicFramePr/>
          <p:nvPr/>
        </p:nvGraphicFramePr>
        <p:xfrm>
          <a:off x="2803960" y="2534041"/>
          <a:ext cx="6096000" cy="2590850"/>
        </p:xfrm>
        <a:graphic>
          <a:graphicData uri="http://schemas.openxmlformats.org/drawingml/2006/table">
            <a:tbl>
              <a:tblPr firstRow="1" bandRow="1">
                <a:noFill/>
                <a:tableStyleId>{F3D4C6C2-46F8-4678-8B2D-3238E3541514}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Capital Investment (I)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5DB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$ 11,500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5DB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Revenues / yr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$ 5,000</a:t>
                      </a:r>
                      <a:endParaRPr sz="2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Expenses / yr</a:t>
                      </a:r>
                      <a:endParaRPr sz="2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 $ 2,000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Value (MV)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$ 1,000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Useful Life  (N)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6 years</a:t>
                      </a:r>
                      <a:endParaRPr sz="2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>
            <a:spLocks noGrp="1"/>
          </p:cNvSpPr>
          <p:nvPr>
            <p:ph type="body" idx="1"/>
          </p:nvPr>
        </p:nvSpPr>
        <p:spPr>
          <a:xfrm>
            <a:off x="337868" y="1009289"/>
            <a:ext cx="10997241" cy="566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</a:t>
            </a:r>
            <a:r>
              <a:rPr lang="en-US" b="1" u="sng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Developing base case situation i.e. The PW of the project on the best estimate of the given factors is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21F1"/>
              </a:buClr>
              <a:buSzPts val="2800"/>
              <a:buNone/>
            </a:pPr>
            <a:r>
              <a:rPr lang="en-US" b="1">
                <a:solidFill>
                  <a:srgbClr val="3F2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 Equation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PW (10%) =  - $ 11,500 + $ 3,000 (P/A , 10% , 6) + $ 1,000 (P/F,10%,6)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= $ 2,130 &gt; 0 (economically accepted)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21F1"/>
              </a:buClr>
              <a:buSzPts val="2800"/>
              <a:buNone/>
            </a:pPr>
            <a:r>
              <a:rPr lang="en-US" b="1">
                <a:solidFill>
                  <a:srgbClr val="3F2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capital Investment (I) varies with the increment of 10% up to ±40%)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PW (10%) =  - $ 11,500 (1 ±p% ) +$ 3,000 (P/A , 10% , 6) + $ 1,000 (P/F,10%,6)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1364412" y="235729"/>
            <a:ext cx="10515600" cy="84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>
            <a:spLocks noGrp="1"/>
          </p:cNvSpPr>
          <p:nvPr>
            <p:ph type="body" idx="1"/>
          </p:nvPr>
        </p:nvSpPr>
        <p:spPr>
          <a:xfrm>
            <a:off x="536277" y="1621677"/>
            <a:ext cx="5507246" cy="196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+ 10%,    PW  (10%) = +$980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+ 20%,    PW  (10%) = - $170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+ 30%,    PW  (10%) = -$1320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+ 40%,    PW  (10%) = -$2470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1079739" y="29611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043522" y="1540954"/>
            <a:ext cx="5762446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- 10%,    PW  (10%) = +$3280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- 20%,    PW  (10%) = +$4430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- 30%,    PW  (10%) = +$5580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- 40%,    PW  (10%) = +$6730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15350" y="3872632"/>
            <a:ext cx="10253933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3F2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Annual Cash Flow (A) varies with the increment of 10% up to ±40%)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(10%) =  - $ 11,500 + $ 3,000 (1 ±p%) (P/A , 10% , 6) + $ 1,000 (P/F,10%,6)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>
            <a:off x="493143" y="1864368"/>
            <a:ext cx="60960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+ 10%,    PW  (10%) = +$3,436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+ 20%,    PW  (10%) = +$4743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+ 30%,    PW  (10%) = +$6049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+ 40%,    PW  (10%) = +$7356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002546" y="1867435"/>
            <a:ext cx="60960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- 10%,    PW  (10%) = +$823.42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- 20%,    PW  (10%) = -$483.16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- 30%,    PW  (10%) = -$1789.74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- 40%,    PW  (10%) = -$3096.32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7"/>
          <p:cNvSpPr txBox="1">
            <a:spLocks noGrp="1"/>
          </p:cNvSpPr>
          <p:nvPr>
            <p:ph type="title"/>
          </p:nvPr>
        </p:nvSpPr>
        <p:spPr>
          <a:xfrm>
            <a:off x="1476555" y="8649"/>
            <a:ext cx="64511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596658" y="3696397"/>
            <a:ext cx="10246745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3F2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Salvage Value (SV) varies with the increment of 10% up to ±40%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(10%) =  - $ 11,500 + $ 3,000 (P/A , 10% , 6) + $ 1,000 (1 ±p%)  (P/F,10%,6)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1357222" y="1699315"/>
            <a:ext cx="60960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+ 10%,    PW  (10%) = +$2,186.44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+ 20%,    PW  (10%) = +$2243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+ 30%,    PW  (10%) = +$2299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+ 40%,    PW  (10%) = +$2356.04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1357222" y="3828654"/>
            <a:ext cx="60960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- 10%,    PW  (10%) = +$2073.56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- 20%,    PW  (10%) = +$2017.12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- 30%,    PW  (10%) = +$1960.68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- 40%,    PW  (10%) = +$1904.24</a:t>
            </a:r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146792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/>
          <p:nvPr/>
        </p:nvSpPr>
        <p:spPr>
          <a:xfrm>
            <a:off x="425568" y="2718221"/>
            <a:ext cx="6613585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+ 10%,   N=6.6  PW  (10%) = +$3040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+ 20%,   N=7.2  PW  (10%) = +$3900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+ 30%,   N=7.8  PW  (10%) = +$4710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+ 40%,   N=8.4  PW  (10%) = +$5477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37712" y="4628940"/>
            <a:ext cx="6717102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- 10%,   N=5.4 PW  (10%) = +$1167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- 20%,   N=4.8 PW  (10%) = +$147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- 30%,   N=4.2 PW  (10%) = -$933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 - 40%,   N=3.6 PW  (10%) = -$2077</a:t>
            </a:r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4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37712" y="902339"/>
            <a:ext cx="11306355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3F2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useful life (N) varies with the increment of 10% up to ±40%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(10%) =  - $ 11,500 + $ 3,000 {P/A , 10% , 6 (1 ±p%)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+ $ 1,000 {P/F,10%, 6(1 ±p%) }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20"/>
          <p:cNvGraphicFramePr/>
          <p:nvPr/>
        </p:nvGraphicFramePr>
        <p:xfrm>
          <a:off x="629007" y="1790644"/>
          <a:ext cx="10334450" cy="4029475"/>
        </p:xfrm>
        <a:graphic>
          <a:graphicData uri="http://schemas.openxmlformats.org/drawingml/2006/table">
            <a:tbl>
              <a:tblPr>
                <a:noFill/>
                <a:tableStyleId>{FA996F3B-83F4-441C-ACF9-A860C96E5272}</a:tableStyleId>
              </a:tblPr>
              <a:tblGrid>
                <a:gridCol w="9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3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0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5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29300">
                <a:tc gridSpan="10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Present Worth (PW)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/>
                    </a:p>
                  </a:txBody>
                  <a:tcPr marL="65775" marR="657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- 40%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+10%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+30%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3F21F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+ 40%</a:t>
                      </a:r>
                      <a:endParaRPr sz="2000" u="none" strike="noStrike" cap="none">
                        <a:solidFill>
                          <a:srgbClr val="3F21F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($)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6730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5,580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4430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3,280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2,130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- 170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-1320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- 2,470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($)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-3,096.32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-1,789.74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- 483.16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823.42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2,130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3,436.58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4,743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6,049.74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7356.32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SV($)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1,904.24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1,960.68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2,017.12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2,073.56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2,130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2,186.44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2,243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2,299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2,356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 ($)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5775" marR="657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- 2,786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-933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147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1167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2,130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3040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3,900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4,710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5,477</a:t>
                      </a:r>
                      <a:endParaRPr/>
                    </a:p>
                  </a:txBody>
                  <a:tcPr marL="65775" marR="657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0" name="Google Shape;210;p20"/>
          <p:cNvSpPr txBox="1">
            <a:spLocks noGrp="1"/>
          </p:cNvSpPr>
          <p:nvPr>
            <p:ph type="title"/>
          </p:nvPr>
        </p:nvSpPr>
        <p:spPr>
          <a:xfrm>
            <a:off x="1416170" y="10633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024332" y="5786888"/>
            <a:ext cx="7543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Plotting these values in the sensitivity graph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779912" y="-137689"/>
            <a:ext cx="8287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Sensitivity Graph (Spider plot) Of Four Factors</a:t>
            </a:r>
            <a:endParaRPr/>
          </a:p>
        </p:txBody>
      </p:sp>
      <p:cxnSp>
        <p:nvCxnSpPr>
          <p:cNvPr id="218" name="Google Shape;218;p21"/>
          <p:cNvCxnSpPr/>
          <p:nvPr/>
        </p:nvCxnSpPr>
        <p:spPr>
          <a:xfrm>
            <a:off x="5943600" y="989188"/>
            <a:ext cx="0" cy="5334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3048000" y="4494388"/>
            <a:ext cx="6096000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35052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1"/>
          <p:cNvCxnSpPr/>
          <p:nvPr/>
        </p:nvCxnSpPr>
        <p:spPr>
          <a:xfrm>
            <a:off x="41148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1"/>
          <p:cNvCxnSpPr/>
          <p:nvPr/>
        </p:nvCxnSpPr>
        <p:spPr>
          <a:xfrm>
            <a:off x="46482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1"/>
          <p:cNvCxnSpPr/>
          <p:nvPr/>
        </p:nvCxnSpPr>
        <p:spPr>
          <a:xfrm>
            <a:off x="52578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1"/>
          <p:cNvCxnSpPr/>
          <p:nvPr/>
        </p:nvCxnSpPr>
        <p:spPr>
          <a:xfrm>
            <a:off x="67056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1"/>
          <p:cNvCxnSpPr/>
          <p:nvPr/>
        </p:nvCxnSpPr>
        <p:spPr>
          <a:xfrm>
            <a:off x="73914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21"/>
          <p:cNvCxnSpPr/>
          <p:nvPr/>
        </p:nvCxnSpPr>
        <p:spPr>
          <a:xfrm>
            <a:off x="80010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21"/>
          <p:cNvCxnSpPr/>
          <p:nvPr/>
        </p:nvCxnSpPr>
        <p:spPr>
          <a:xfrm>
            <a:off x="8610600" y="4341988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1"/>
          <p:cNvCxnSpPr/>
          <p:nvPr/>
        </p:nvCxnSpPr>
        <p:spPr>
          <a:xfrm>
            <a:off x="5715000" y="49515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21"/>
          <p:cNvCxnSpPr/>
          <p:nvPr/>
        </p:nvCxnSpPr>
        <p:spPr>
          <a:xfrm>
            <a:off x="5715000" y="53325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1"/>
          <p:cNvCxnSpPr/>
          <p:nvPr/>
        </p:nvCxnSpPr>
        <p:spPr>
          <a:xfrm>
            <a:off x="5715000" y="57135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21"/>
          <p:cNvCxnSpPr/>
          <p:nvPr/>
        </p:nvCxnSpPr>
        <p:spPr>
          <a:xfrm>
            <a:off x="5715000" y="60945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1"/>
          <p:cNvCxnSpPr/>
          <p:nvPr/>
        </p:nvCxnSpPr>
        <p:spPr>
          <a:xfrm>
            <a:off x="5715000" y="40371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1"/>
          <p:cNvCxnSpPr/>
          <p:nvPr/>
        </p:nvCxnSpPr>
        <p:spPr>
          <a:xfrm>
            <a:off x="5715000" y="35799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1"/>
          <p:cNvCxnSpPr/>
          <p:nvPr/>
        </p:nvCxnSpPr>
        <p:spPr>
          <a:xfrm>
            <a:off x="5715000" y="31227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1"/>
          <p:cNvCxnSpPr/>
          <p:nvPr/>
        </p:nvCxnSpPr>
        <p:spPr>
          <a:xfrm>
            <a:off x="5715000" y="26655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1"/>
          <p:cNvCxnSpPr/>
          <p:nvPr/>
        </p:nvCxnSpPr>
        <p:spPr>
          <a:xfrm>
            <a:off x="5715000" y="21321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5715000" y="16749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5715000" y="12177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21"/>
          <p:cNvSpPr txBox="1"/>
          <p:nvPr/>
        </p:nvSpPr>
        <p:spPr>
          <a:xfrm>
            <a:off x="1524000" y="3808589"/>
            <a:ext cx="157607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alibri"/>
              <a:buChar char="-"/>
            </a:pPr>
            <a:r>
              <a:rPr lang="en-US" sz="1800" b="1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% Deviation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Changes 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Factor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Estimate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9067800" y="3656189"/>
            <a:ext cx="160020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Calibri"/>
              <a:buChar char="+"/>
            </a:pPr>
            <a:r>
              <a:rPr lang="en-US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%Deviation Changes in Factor Estimate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181600" y="605014"/>
            <a:ext cx="12255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PW (10%)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3276600" y="4494388"/>
            <a:ext cx="2287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- 40    -30   -20    -10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465806" y="4462122"/>
            <a:ext cx="26019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+10    +20    +30     +40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638800" y="4418188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105401" y="4799188"/>
            <a:ext cx="70326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-1000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105401" y="5180188"/>
            <a:ext cx="70326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-2000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105401" y="5561188"/>
            <a:ext cx="70326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-3000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5105401" y="5986638"/>
            <a:ext cx="703263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-4000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089525" y="3868913"/>
            <a:ext cx="63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5105400" y="2970388"/>
            <a:ext cx="63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3000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105400" y="2436988"/>
            <a:ext cx="63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4000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5105400" y="1979788"/>
            <a:ext cx="63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5000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5105400" y="1522588"/>
            <a:ext cx="63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6000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105400" y="1065388"/>
            <a:ext cx="63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7000</a:t>
            </a:r>
            <a:endParaRPr/>
          </a:p>
        </p:txBody>
      </p:sp>
      <p:cxnSp>
        <p:nvCxnSpPr>
          <p:cNvPr id="255" name="Google Shape;255;p21"/>
          <p:cNvCxnSpPr/>
          <p:nvPr/>
        </p:nvCxnSpPr>
        <p:spPr>
          <a:xfrm>
            <a:off x="3505200" y="1446388"/>
            <a:ext cx="5105400" cy="4419600"/>
          </a:xfrm>
          <a:prstGeom prst="straightConnector1">
            <a:avLst/>
          </a:prstGeom>
          <a:noFill/>
          <a:ln w="28575" cap="flat" cmpd="sng">
            <a:solidFill>
              <a:srgbClr val="3F21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1"/>
          <p:cNvCxnSpPr/>
          <p:nvPr/>
        </p:nvCxnSpPr>
        <p:spPr>
          <a:xfrm rot="10800000" flipH="1">
            <a:off x="3429000" y="1141588"/>
            <a:ext cx="5181600" cy="46482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21"/>
          <p:cNvCxnSpPr/>
          <p:nvPr/>
        </p:nvCxnSpPr>
        <p:spPr>
          <a:xfrm rot="10800000" flipH="1">
            <a:off x="3429000" y="3275188"/>
            <a:ext cx="5181600" cy="609600"/>
          </a:xfrm>
          <a:prstGeom prst="straightConnector1">
            <a:avLst/>
          </a:prstGeom>
          <a:noFill/>
          <a:ln w="38100" cap="flat" cmpd="sng">
            <a:solidFill>
              <a:srgbClr val="7F6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1"/>
          <p:cNvCxnSpPr/>
          <p:nvPr/>
        </p:nvCxnSpPr>
        <p:spPr>
          <a:xfrm flipH="1">
            <a:off x="5943600" y="2360788"/>
            <a:ext cx="457200" cy="12192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9" name="Google Shape;259;p21"/>
          <p:cNvSpPr txBox="1"/>
          <p:nvPr/>
        </p:nvSpPr>
        <p:spPr>
          <a:xfrm>
            <a:off x="5486400" y="3122788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$2130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 rot="-2595916">
            <a:off x="5772123" y="1978479"/>
            <a:ext cx="2927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Annual Net Cash Flow, A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 rot="-2015512">
            <a:off x="7123294" y="2054679"/>
            <a:ext cx="1571264" cy="36933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Useful Life, N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 rot="-396836">
            <a:off x="7024265" y="2969079"/>
            <a:ext cx="21884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Market Value, MV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 rot="2592057">
            <a:off x="3125650" y="1488243"/>
            <a:ext cx="22854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F21F1"/>
                </a:solidFill>
                <a:latin typeface="Calibri"/>
                <a:ea typeface="Calibri"/>
                <a:cs typeface="Calibri"/>
                <a:sym typeface="Calibri"/>
              </a:rPr>
              <a:t>Capital Investment ,I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5105400" y="3351388"/>
            <a:ext cx="6350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/>
          </a:p>
        </p:txBody>
      </p:sp>
      <p:cxnSp>
        <p:nvCxnSpPr>
          <p:cNvPr id="265" name="Google Shape;265;p21"/>
          <p:cNvCxnSpPr/>
          <p:nvPr/>
        </p:nvCxnSpPr>
        <p:spPr>
          <a:xfrm rot="-5400000">
            <a:off x="25908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6" name="Google Shape;266;p21"/>
          <p:cNvCxnSpPr/>
          <p:nvPr/>
        </p:nvCxnSpPr>
        <p:spPr>
          <a:xfrm rot="-5400000">
            <a:off x="19812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7" name="Google Shape;267;p21"/>
          <p:cNvCxnSpPr/>
          <p:nvPr/>
        </p:nvCxnSpPr>
        <p:spPr>
          <a:xfrm rot="-5400000">
            <a:off x="14478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8" name="Google Shape;268;p21"/>
          <p:cNvCxnSpPr/>
          <p:nvPr/>
        </p:nvCxnSpPr>
        <p:spPr>
          <a:xfrm rot="-5400000">
            <a:off x="8382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9" name="Google Shape;269;p21"/>
          <p:cNvCxnSpPr/>
          <p:nvPr/>
        </p:nvCxnSpPr>
        <p:spPr>
          <a:xfrm rot="-5400000">
            <a:off x="40386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0" name="Google Shape;270;p21"/>
          <p:cNvCxnSpPr/>
          <p:nvPr/>
        </p:nvCxnSpPr>
        <p:spPr>
          <a:xfrm rot="-5400000">
            <a:off x="47244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1" name="Google Shape;271;p21"/>
          <p:cNvCxnSpPr/>
          <p:nvPr/>
        </p:nvCxnSpPr>
        <p:spPr>
          <a:xfrm rot="-5400000">
            <a:off x="53340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2" name="Google Shape;272;p21"/>
          <p:cNvCxnSpPr/>
          <p:nvPr/>
        </p:nvCxnSpPr>
        <p:spPr>
          <a:xfrm rot="-5400000">
            <a:off x="5943600" y="3656188"/>
            <a:ext cx="533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3" name="Google Shape;273;p21"/>
          <p:cNvSpPr/>
          <p:nvPr/>
        </p:nvSpPr>
        <p:spPr>
          <a:xfrm>
            <a:off x="3505201" y="1979788"/>
            <a:ext cx="5095875" cy="2997200"/>
          </a:xfrm>
          <a:custGeom>
            <a:avLst/>
            <a:gdLst/>
            <a:ahLst/>
            <a:cxnLst/>
            <a:rect l="l" t="t" r="r" b="b"/>
            <a:pathLst>
              <a:path w="8025" h="4720" extrusionOk="0">
                <a:moveTo>
                  <a:pt x="0" y="4720"/>
                </a:moveTo>
                <a:cubicBezTo>
                  <a:pt x="430" y="4583"/>
                  <a:pt x="861" y="4446"/>
                  <a:pt x="1671" y="3960"/>
                </a:cubicBezTo>
                <a:cubicBezTo>
                  <a:pt x="2481" y="3474"/>
                  <a:pt x="3800" y="2465"/>
                  <a:pt x="4859" y="1805"/>
                </a:cubicBezTo>
                <a:cubicBezTo>
                  <a:pt x="5918" y="1145"/>
                  <a:pt x="7497" y="301"/>
                  <a:pt x="8025" y="0"/>
                </a:cubicBezTo>
              </a:path>
            </a:pathLst>
          </a:custGeom>
          <a:noFill/>
          <a:ln w="2857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/>
          <p:nvPr/>
        </p:nvSpPr>
        <p:spPr>
          <a:xfrm>
            <a:off x="708804" y="997063"/>
            <a:ext cx="52773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7</a:t>
            </a:r>
            <a:r>
              <a:rPr lang="en-US" sz="2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Revelations Of Spider plot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70781" y="1574321"/>
            <a:ext cx="10333008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the sensitivity of the present worth to percent deviation changes in each factor’s best estimate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factors are assumed to remain at their best estimate values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relative degree of sensitivity of the present worth to each factor is indicated by the slope of the curves (the  “steeper” the slope of a curve the more sensitive the present worth is to the factor)</a:t>
            </a:r>
            <a:endParaRPr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example: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worth is insensitive to MV and N</a:t>
            </a:r>
            <a:endParaRPr/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worth is sensitive to I, A, 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2"/>
          <p:cNvSpPr txBox="1">
            <a:spLocks noGrp="1"/>
          </p:cNvSpPr>
          <p:nvPr>
            <p:ph type="title"/>
          </p:nvPr>
        </p:nvSpPr>
        <p:spPr>
          <a:xfrm>
            <a:off x="838200" y="-1438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(Cont’d…..)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>
            <a:spLocks noGrp="1"/>
          </p:cNvSpPr>
          <p:nvPr>
            <p:ph type="body" idx="1"/>
          </p:nvPr>
        </p:nvSpPr>
        <p:spPr>
          <a:xfrm>
            <a:off x="501769" y="1756613"/>
            <a:ext cx="10169106" cy="510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Alternative evaluation may require a series of decisions where the outcome from one stage is important to the next stage of decision making. </a:t>
            </a:r>
            <a:endParaRPr/>
          </a:p>
          <a:p>
            <a:pPr marL="457200" lvl="0" indent="-4572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When each alternative is clearly defined and probability estimates can be made to account for risk, it is helpful to perform the evaluation using decision tree. [5]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 decision tree is a </a:t>
            </a:r>
            <a:r>
              <a:rPr lang="en-US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flowchart that starts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 with one main idea and then branches out based on the consequences of your decisions.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Analysis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>
            <a:spLocks noGrp="1"/>
          </p:cNvSpPr>
          <p:nvPr>
            <p:ph type="body" idx="1"/>
          </p:nvPr>
        </p:nvSpPr>
        <p:spPr>
          <a:xfrm>
            <a:off x="622540" y="1325563"/>
            <a:ext cx="10039709" cy="5368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Decision tree is a powerful means of facilitating the analysis of important problems, especially those that involve sequential decisions and variable outcomes over time. [3]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It’s called a “decision tree” because the model typically looks like a tree with branches. [6]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short,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decision tree is the graphic representation of various alternative solutions that are available to solve a given problem, in order to determine the most effective courses of action. [7]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Analysis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160479" cy="4782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 decision tree includes: [5]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More than one stage of alternative selection.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Selection of an alternative at one stage that leads to another stage.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Expected results from a decision at each stage.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Probability estimates for each outcome.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Estimate of economic value (cost or revenue) for each outcome.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Measure of worth as the selection criterion such as E(PW). </a:t>
            </a:r>
            <a:endParaRPr/>
          </a:p>
          <a:p>
            <a:pPr marL="228600" lvl="0" indent="-508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Analysis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>
            <a:spLocks noGrp="1"/>
          </p:cNvSpPr>
          <p:nvPr>
            <p:ph type="body" idx="1"/>
          </p:nvPr>
        </p:nvSpPr>
        <p:spPr>
          <a:xfrm>
            <a:off x="562155" y="1437436"/>
            <a:ext cx="9884434" cy="492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Decision Tree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decision tree is constructed left to right and includes each possible decision and outcome.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node: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 square represents a decision node for making decision by a decision maker.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Branch: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It is a line connecting nodes from the left to the right of the diagram.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node (chance node) :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 circle represents probability node with the possible outcomes and estimated probabilities on the branches.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Analysis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7" descr="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5450" y="1843955"/>
            <a:ext cx="7936302" cy="3823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/>
          <p:nvPr/>
        </p:nvSpPr>
        <p:spPr>
          <a:xfrm>
            <a:off x="5046893" y="5820821"/>
            <a:ext cx="13218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[5] 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7"/>
          <p:cNvSpPr txBox="1">
            <a:spLocks noGrp="1"/>
          </p:cNvSpPr>
          <p:nvPr>
            <p:ph type="title"/>
          </p:nvPr>
        </p:nvSpPr>
        <p:spPr>
          <a:xfrm>
            <a:off x="1373038" y="2616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Analysis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>
            <a:spLocks noGrp="1"/>
          </p:cNvSpPr>
          <p:nvPr>
            <p:ph type="body" idx="1"/>
          </p:nvPr>
        </p:nvSpPr>
        <p:spPr>
          <a:xfrm>
            <a:off x="622540" y="1454689"/>
            <a:ext cx="9979324" cy="4851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Evaluation and Selection of the alternative, the following information is necessary.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probability that is estimated must sum to 1.0 for each set of outcomes (branches) that results from decision.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Economic information for each decision alternative and possible outcome, such as initial investment and estimated cash flows.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Analysis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>
            <a:spLocks noGrp="1"/>
          </p:cNvSpPr>
          <p:nvPr>
            <p:ph type="body" idx="1"/>
          </p:nvPr>
        </p:nvSpPr>
        <p:spPr>
          <a:xfrm>
            <a:off x="665672" y="1204523"/>
            <a:ext cx="10515600" cy="5351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 for Solving Decision Tree Using PW analysis </a:t>
            </a:r>
            <a:endParaRPr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Start at the top right of the tree. Determine the PW value for each outcome branch.  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Calculate the Expected value for each decision alternative 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E (decision) = Σ (outcome estimate) P (outcome) 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At each decision node, select the best E (decision) value – minimum cost or maximum value (if both cost and revenues are estimated). 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Continue moving to the left of the tree to the root decision in order to select the best alternative.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23" name="Google Shape;323;p29"/>
          <p:cNvSpPr txBox="1">
            <a:spLocks noGrp="1"/>
          </p:cNvSpPr>
          <p:nvPr>
            <p:ph type="title"/>
          </p:nvPr>
        </p:nvSpPr>
        <p:spPr>
          <a:xfrm>
            <a:off x="941717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Analysis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>
            <a:spLocks noGrp="1"/>
          </p:cNvSpPr>
          <p:nvPr>
            <p:ph type="title"/>
          </p:nvPr>
        </p:nvSpPr>
        <p:spPr>
          <a:xfrm>
            <a:off x="720306" y="3076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Example</a:t>
            </a:r>
            <a:endParaRPr/>
          </a:p>
        </p:txBody>
      </p:sp>
      <p:sp>
        <p:nvSpPr>
          <p:cNvPr id="329" name="Google Shape;329;p30"/>
          <p:cNvSpPr txBox="1">
            <a:spLocks noGrp="1"/>
          </p:cNvSpPr>
          <p:nvPr>
            <p:ph type="body" idx="1"/>
          </p:nvPr>
        </p:nvSpPr>
        <p:spPr>
          <a:xfrm>
            <a:off x="612476" y="1166003"/>
            <a:ext cx="9790982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 company is planning for its plants by investing $ 3,60,000. Estimates for efficiency of design goals, their probabilities and corresponding annual expenses saving are as follows: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Company has another option to invest this money that earns 20% per year elsewhere. Based on the Expected PW as the decision criterion, determine whether the mechanizing is preferable or not? MARR = 12% and analysis period is 5 years.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</p:txBody>
      </p:sp>
      <p:graphicFrame>
        <p:nvGraphicFramePr>
          <p:cNvPr id="330" name="Google Shape;330;p30"/>
          <p:cNvGraphicFramePr/>
          <p:nvPr/>
        </p:nvGraphicFramePr>
        <p:xfrm>
          <a:off x="2362200" y="2743200"/>
          <a:ext cx="6858000" cy="1535500"/>
        </p:xfrm>
        <a:graphic>
          <a:graphicData uri="http://schemas.openxmlformats.org/drawingml/2006/table">
            <a:tbl>
              <a:tblPr firstRow="1" bandRow="1">
                <a:noFill/>
                <a:tableStyleId>{034FA8E7-2B4A-4944-939B-5019E39971E5}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goal met (%)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Probability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Annual expenses saving ($)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 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40,000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33,000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0.15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26,000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>
            <a:spLocks noGrp="1"/>
          </p:cNvSpPr>
          <p:nvPr>
            <p:ph type="body" idx="1"/>
          </p:nvPr>
        </p:nvSpPr>
        <p:spPr>
          <a:xfrm>
            <a:off x="743309" y="1566833"/>
            <a:ext cx="10177732" cy="485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PW corresponding to each efficiency goals are :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(12%) </a:t>
            </a:r>
            <a:r>
              <a:rPr lang="en-US" b="1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= - 3,60,000 + 40,000 (P/A, 12%, 5 ) = - $ 2,15,808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(12%) </a:t>
            </a:r>
            <a:r>
              <a:rPr lang="en-US" b="1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= - 3,60,000 + 33,000 (P/A, 12%, 5 ) = - $ 2,41,042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(12%) </a:t>
            </a:r>
            <a:r>
              <a:rPr lang="en-US" b="1" baseline="-25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= - 3,60,000 + 26,000 (P/A, 12%, 5 ) = - $ 2,66,275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Option 2 (Invest elsewhere that earns 20% per year)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 earning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= (0.2 * 3,60,000) = $ 72,000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(12%)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= - 3,60,000 + 72,000 (P/A, 12%, 5 ) = - $ 1,00,454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Example (Cont’d…..)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/>
          <p:nvPr/>
        </p:nvSpPr>
        <p:spPr>
          <a:xfrm>
            <a:off x="1488056" y="3480759"/>
            <a:ext cx="609600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2" name="Google Shape;342;p32"/>
          <p:cNvCxnSpPr>
            <a:stCxn id="341" idx="3"/>
          </p:cNvCxnSpPr>
          <p:nvPr/>
        </p:nvCxnSpPr>
        <p:spPr>
          <a:xfrm rot="10800000" flipH="1">
            <a:off x="2097656" y="2490159"/>
            <a:ext cx="1219200" cy="12192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3" name="Google Shape;343;p32"/>
          <p:cNvCxnSpPr>
            <a:stCxn id="341" idx="3"/>
          </p:cNvCxnSpPr>
          <p:nvPr/>
        </p:nvCxnSpPr>
        <p:spPr>
          <a:xfrm>
            <a:off x="2097656" y="3709359"/>
            <a:ext cx="1219200" cy="10668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4" name="Google Shape;344;p32"/>
          <p:cNvCxnSpPr/>
          <p:nvPr/>
        </p:nvCxnSpPr>
        <p:spPr>
          <a:xfrm>
            <a:off x="3316856" y="2490159"/>
            <a:ext cx="1524000" cy="158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5" name="Google Shape;345;p32"/>
          <p:cNvCxnSpPr/>
          <p:nvPr/>
        </p:nvCxnSpPr>
        <p:spPr>
          <a:xfrm>
            <a:off x="3316856" y="4776159"/>
            <a:ext cx="1524000" cy="158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6" name="Google Shape;346;p32"/>
          <p:cNvSpPr/>
          <p:nvPr/>
        </p:nvSpPr>
        <p:spPr>
          <a:xfrm>
            <a:off x="4840856" y="2261559"/>
            <a:ext cx="381000" cy="4572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4840856" y="4471359"/>
            <a:ext cx="381000" cy="4572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32"/>
          <p:cNvCxnSpPr>
            <a:stCxn id="346" idx="6"/>
          </p:cNvCxnSpPr>
          <p:nvPr/>
        </p:nvCxnSpPr>
        <p:spPr>
          <a:xfrm rot="10800000" flipH="1">
            <a:off x="5221856" y="2109159"/>
            <a:ext cx="304800" cy="381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9" name="Google Shape;349;p32"/>
          <p:cNvCxnSpPr/>
          <p:nvPr/>
        </p:nvCxnSpPr>
        <p:spPr>
          <a:xfrm>
            <a:off x="5526656" y="2109159"/>
            <a:ext cx="2133600" cy="158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" name="Google Shape;350;p32"/>
          <p:cNvCxnSpPr>
            <a:stCxn id="346" idx="6"/>
          </p:cNvCxnSpPr>
          <p:nvPr/>
        </p:nvCxnSpPr>
        <p:spPr>
          <a:xfrm>
            <a:off x="5221856" y="2490159"/>
            <a:ext cx="2438400" cy="1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1" name="Google Shape;351;p32"/>
          <p:cNvCxnSpPr>
            <a:stCxn id="346" idx="6"/>
          </p:cNvCxnSpPr>
          <p:nvPr/>
        </p:nvCxnSpPr>
        <p:spPr>
          <a:xfrm>
            <a:off x="5221856" y="2490159"/>
            <a:ext cx="304800" cy="381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2" name="Google Shape;352;p32"/>
          <p:cNvCxnSpPr/>
          <p:nvPr/>
        </p:nvCxnSpPr>
        <p:spPr>
          <a:xfrm>
            <a:off x="5526656" y="2871159"/>
            <a:ext cx="2133600" cy="158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3" name="Google Shape;353;p32"/>
          <p:cNvSpPr txBox="1"/>
          <p:nvPr/>
        </p:nvSpPr>
        <p:spPr>
          <a:xfrm>
            <a:off x="5597823" y="1771879"/>
            <a:ext cx="2595833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: 0.35      40,000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5597823" y="1176962"/>
            <a:ext cx="342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   Annual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Saving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5602856" y="2173692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: 0.50      33,000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5602856" y="256636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: 0.15      26,000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7888855" y="1347160"/>
            <a:ext cx="25745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worth (12%)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8193656" y="1804359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$ 215808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8193656" y="2185359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$ 241042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8193656" y="2566359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$ 266275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1564256" y="3404560"/>
            <a:ext cx="457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4802756" y="2326235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D1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4802756" y="4503479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D2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2783456" y="1956760"/>
            <a:ext cx="2133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Mechanize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3393056" y="4699960"/>
            <a:ext cx="1676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Elsewhere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366" name="Google Shape;366;p32"/>
          <p:cNvCxnSpPr/>
          <p:nvPr/>
        </p:nvCxnSpPr>
        <p:spPr>
          <a:xfrm>
            <a:off x="5221856" y="4776159"/>
            <a:ext cx="2667000" cy="1588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7" name="Google Shape;367;p32"/>
          <p:cNvSpPr txBox="1"/>
          <p:nvPr/>
        </p:nvSpPr>
        <p:spPr>
          <a:xfrm>
            <a:off x="5526656" y="4699959"/>
            <a:ext cx="335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12% rate of return 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8269856" y="4471359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$ 100454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3050156" y="5286438"/>
            <a:ext cx="6019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F21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single stage decision tree diagram</a:t>
            </a:r>
            <a:endParaRPr/>
          </a:p>
        </p:txBody>
      </p:sp>
      <p:sp>
        <p:nvSpPr>
          <p:cNvPr id="370" name="Google Shape;370;p32"/>
          <p:cNvSpPr txBox="1">
            <a:spLocks noGrp="1"/>
          </p:cNvSpPr>
          <p:nvPr>
            <p:ph type="title"/>
          </p:nvPr>
        </p:nvSpPr>
        <p:spPr>
          <a:xfrm>
            <a:off x="802256" y="14885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Example (Cont’d…..)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>
            <a:spLocks noGrp="1"/>
          </p:cNvSpPr>
          <p:nvPr>
            <p:ph type="body" idx="1"/>
          </p:nvPr>
        </p:nvSpPr>
        <p:spPr>
          <a:xfrm>
            <a:off x="760562" y="1377051"/>
            <a:ext cx="10515600" cy="48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Expected PW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>
                <a:latin typeface="Times New Roman"/>
                <a:ea typeface="Times New Roman"/>
                <a:cs typeface="Times New Roman"/>
                <a:sym typeface="Times New Roman"/>
              </a:rPr>
              <a:t>For option 1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 (PW) = - 215808 (0.35) +(– 241042) ( 0.50) + (– 266275) (0.15)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= - $ 2,35,995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>
                <a:latin typeface="Times New Roman"/>
                <a:ea typeface="Times New Roman"/>
                <a:cs typeface="Times New Roman"/>
                <a:sym typeface="Times New Roman"/>
              </a:rPr>
              <a:t>For Option 2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 (PW) = - $ 100454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The analysis indicates that none of the options are preferable and even if we make the decision, the option 2 should be selected.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1416170" y="2271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Example (Cont’d…..)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 Analysis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34"/>
          <p:cNvSpPr txBox="1">
            <a:spLocks noGrp="1"/>
          </p:cNvSpPr>
          <p:nvPr>
            <p:ph type="body" idx="1"/>
          </p:nvPr>
        </p:nvSpPr>
        <p:spPr>
          <a:xfrm>
            <a:off x="596660" y="1690688"/>
            <a:ext cx="1006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is also called the Optimistic- pessimistic – most likely estimation.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Sensitivity and break even analysis is useful to show the effect of one common variable and NPW.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reality there may be difficult to specify precisely the relationship between a particular variable and the NPW because there may be interdependence between the variable. [8]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Hence the relationship is further complicated by inter dependencies among the variables at a time.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86718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Scenario analysis is the technique that considers the sensitivity of NPW due to change in key variables at a time and the range of likely value of those variables.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example, the decision maker may examine three extreme cases i.e. best case scenario, worst case scenario and the most likely scenario.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NPWs under the worse and the best scenarios are then calculated and compared with the expected (or base case) NPW.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35"/>
          <p:cNvSpPr txBox="1">
            <a:spLocks noGrp="1"/>
          </p:cNvSpPr>
          <p:nvPr>
            <p:ph type="title"/>
          </p:nvPr>
        </p:nvSpPr>
        <p:spPr>
          <a:xfrm>
            <a:off x="1071113" y="3737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 Analysis (Cont’d…)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>
            <a:spLocks noGrp="1"/>
          </p:cNvSpPr>
          <p:nvPr>
            <p:ph type="title"/>
          </p:nvPr>
        </p:nvSpPr>
        <p:spPr>
          <a:xfrm>
            <a:off x="924464" y="2412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Adjust MARR </a:t>
            </a:r>
            <a:endParaRPr/>
          </a:p>
        </p:txBody>
      </p:sp>
      <p:sp>
        <p:nvSpPr>
          <p:cNvPr id="394" name="Google Shape;394;p36"/>
          <p:cNvSpPr txBox="1">
            <a:spLocks noGrp="1"/>
          </p:cNvSpPr>
          <p:nvPr>
            <p:ph type="body" idx="1"/>
          </p:nvPr>
        </p:nvSpPr>
        <p:spPr>
          <a:xfrm>
            <a:off x="493143" y="1325293"/>
            <a:ext cx="10048336" cy="5144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Uncertainty causes factors inherent to engineering economy studies, such as cash flows and project life, to become random variables in the analysis. 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 widely used industrial practice for including some consideration of uncertainty is to increase the MARR when a project is thought to be relatively uncertain. 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Hence a procedure has emerged that employs risk adjusted interest rates. 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If two or more </a:t>
            </a:r>
            <a:r>
              <a:rPr lang="en-US" b="1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investments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 delivered the same </a:t>
            </a:r>
            <a:r>
              <a:rPr lang="en-US" b="1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return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 over a given time period, the one that has the lowest risk will have a better risk-adjusted return. [9]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2999</Words>
  <Application>Microsoft Office PowerPoint</Application>
  <PresentationFormat>Widescreen</PresentationFormat>
  <Paragraphs>323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Noto Sans Symbols</vt:lpstr>
      <vt:lpstr>Times New Roman</vt:lpstr>
      <vt:lpstr>Office Theme</vt:lpstr>
      <vt:lpstr>COURSE TITLE ENGINEERING ECONOMIC ANALYSIS</vt:lpstr>
      <vt:lpstr>Learning Objective</vt:lpstr>
      <vt:lpstr>SENSITIVITY ANALYSIS</vt:lpstr>
      <vt:lpstr>SENSITIVITY ANALYSIS (Cont’d….) </vt:lpstr>
      <vt:lpstr>SENSITIVITY ANALYSIS (Cont’d….) </vt:lpstr>
      <vt:lpstr>SENSITIVITY ANALYSIS (Cont’d….) </vt:lpstr>
      <vt:lpstr>SENSITIVITY ANALYSIS (Cont’d….) </vt:lpstr>
      <vt:lpstr>SENSITIVITY ANALYSIS (Cont’d….) </vt:lpstr>
      <vt:lpstr>STEPS FOR SENSITIVITY ANALYSIS</vt:lpstr>
      <vt:lpstr>STEPS FOR SENSITIVITY ANALYSIS (Cont’d….)</vt:lpstr>
      <vt:lpstr>SENSITIVITY ANALYSIS (Cont’d….)</vt:lpstr>
      <vt:lpstr>SENSITIVITY ANALYSIS (Cont’d….)</vt:lpstr>
      <vt:lpstr>Example [3] </vt:lpstr>
      <vt:lpstr>Example (Cont’d…..)</vt:lpstr>
      <vt:lpstr>Example (Cont’d…..)</vt:lpstr>
      <vt:lpstr>Example (Cont’d…..)</vt:lpstr>
      <vt:lpstr>Example (Cont’d…..)</vt:lpstr>
      <vt:lpstr>Example (Cont’d…..)</vt:lpstr>
      <vt:lpstr>Example (Cont’d…..)</vt:lpstr>
      <vt:lpstr>Example (Cont’d…..)</vt:lpstr>
      <vt:lpstr>Step 6 Sensitivity Graph (Spider plot) Of Four Factors</vt:lpstr>
      <vt:lpstr>Example (Cont’d…..)</vt:lpstr>
      <vt:lpstr>Decision Tree Analysis</vt:lpstr>
      <vt:lpstr>Decision Tree Analysis</vt:lpstr>
      <vt:lpstr>Decision Tree Analysis (Cont’d….) </vt:lpstr>
      <vt:lpstr>Decision Tree Analysis (Cont’d….) </vt:lpstr>
      <vt:lpstr>Decision Tree Analysis (Cont’d….) </vt:lpstr>
      <vt:lpstr>Decision Tree Analysis (Cont’d….) </vt:lpstr>
      <vt:lpstr>Decision Tree Analysis (Cont’d….) </vt:lpstr>
      <vt:lpstr>Decision Tree Example</vt:lpstr>
      <vt:lpstr>Decision Tree Example (Cont’d…..) </vt:lpstr>
      <vt:lpstr>Decision Tree Example (Cont’d…..) </vt:lpstr>
      <vt:lpstr>Decision Tree Example (Cont’d…..) </vt:lpstr>
      <vt:lpstr>Scenario Analysis </vt:lpstr>
      <vt:lpstr>Scenario Analysis (Cont’d…)  </vt:lpstr>
      <vt:lpstr>Risk Adjust MARR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Subham Shekhar Jha</cp:lastModifiedBy>
  <cp:revision>6</cp:revision>
  <dcterms:created xsi:type="dcterms:W3CDTF">2022-10-14T04:44:36Z</dcterms:created>
  <dcterms:modified xsi:type="dcterms:W3CDTF">2025-02-03T16:31:39Z</dcterms:modified>
</cp:coreProperties>
</file>
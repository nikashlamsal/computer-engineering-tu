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12192000" cy="6858000"/>
  <p:notesSz cx="6858000" cy="9144000"/>
  <p:embeddedFontLst>
    <p:embeddedFont>
      <p:font typeface="Constantia" panose="02030602050306030303" pitchFamily="18"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5" roundtripDataSignature="AMtx7mgfESJPsWt8psBCo7I/VS4RlgxW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4F57D6-6E30-420B-A929-F54C7F686708}">
  <a:tblStyle styleId="{A94F57D6-6E30-420B-A929-F54C7F686708}"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fill>
          <a:solidFill>
            <a:schemeClr val="dk1">
              <a:alpha val="20000"/>
            </a:schemeClr>
          </a:solidFill>
        </a:fill>
      </a:tcStyle>
    </a:band1H>
    <a:band2H>
      <a:tcTxStyle/>
      <a:tcStyle>
        <a:tcBdr/>
      </a:tcStyle>
    </a:band2H>
    <a:band1V>
      <a:tcTxStyle/>
      <a:tcStyle>
        <a:tcBdr/>
        <a:fill>
          <a:solidFill>
            <a:schemeClr val="dk1">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dk1"/>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dk1"/>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2" name="Google Shape;342;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7" name="Google Shape;367;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5" name="Google Shape;385;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3" name="Google Shape;393;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9" name="Google Shape;399;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5" name="Google Shape;405;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1" name="Google Shape;411;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7" name="Google Shape;417;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p5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1" name="Google Shape;431;p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8" name="Google Shape;438;p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4" name="Google Shape;444;p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0" name="Google Shape;450;p5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5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5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6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6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6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6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65"/>
          <p:cNvSpPr>
            <a:spLocks noGrp="1"/>
          </p:cNvSpPr>
          <p:nvPr>
            <p:ph type="pic" idx="2"/>
          </p:nvPr>
        </p:nvSpPr>
        <p:spPr>
          <a:xfrm>
            <a:off x="5183188" y="987425"/>
            <a:ext cx="6172200" cy="4873625"/>
          </a:xfrm>
          <a:prstGeom prst="rect">
            <a:avLst/>
          </a:prstGeom>
          <a:noFill/>
          <a:ln>
            <a:noFill/>
          </a:ln>
        </p:spPr>
      </p:sp>
      <p:sp>
        <p:nvSpPr>
          <p:cNvPr id="64" name="Google Shape;64;p6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6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6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6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5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byjus.com/commerce/sinking-fund-method/"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790477" y="-561225"/>
            <a:ext cx="8319247" cy="2387600"/>
          </a:xfrm>
          <a:prstGeom prst="rect">
            <a:avLst/>
          </a:prstGeom>
          <a:noFill/>
          <a:ln>
            <a:noFill/>
          </a:ln>
        </p:spPr>
        <p:txBody>
          <a:bodyPr spcFirstLastPara="1" wrap="square" lIns="91425" tIns="45700" rIns="91425" bIns="45700" anchor="b" anchorCtr="0">
            <a:normAutofit fontScale="97500"/>
          </a:bodyPr>
          <a:lstStyle/>
          <a:p>
            <a:pPr marL="0" lvl="0" indent="0" algn="ctr" rtl="0">
              <a:lnSpc>
                <a:spcPct val="90000"/>
              </a:lnSpc>
              <a:spcBef>
                <a:spcPts val="0"/>
              </a:spcBef>
              <a:spcAft>
                <a:spcPts val="0"/>
              </a:spcAft>
              <a:buClr>
                <a:srgbClr val="FF0000"/>
              </a:buClr>
              <a:buSzPct val="100000"/>
              <a:buFont typeface="Times New Roman"/>
              <a:buNone/>
            </a:pPr>
            <a:r>
              <a:rPr lang="en-US" sz="3600" b="1" i="0" u="none" strike="noStrike" cap="none">
                <a:solidFill>
                  <a:srgbClr val="FF0000"/>
                </a:solidFill>
                <a:latin typeface="Times New Roman"/>
                <a:ea typeface="Times New Roman"/>
                <a:cs typeface="Times New Roman"/>
                <a:sym typeface="Times New Roman"/>
              </a:rPr>
              <a:t>COURSE TITLE</a:t>
            </a:r>
            <a:br>
              <a:rPr lang="en-US" sz="3600" b="1" i="0" u="none" strike="noStrike" cap="none">
                <a:solidFill>
                  <a:schemeClr val="dk1"/>
                </a:solidFill>
                <a:latin typeface="Times New Roman"/>
                <a:ea typeface="Times New Roman"/>
                <a:cs typeface="Times New Roman"/>
                <a:sym typeface="Times New Roman"/>
              </a:rPr>
            </a:br>
            <a:r>
              <a:rPr lang="en-US" sz="3600" b="1" i="0" u="none" strike="noStrike" cap="none">
                <a:solidFill>
                  <a:srgbClr val="002060"/>
                </a:solidFill>
                <a:latin typeface="Times New Roman"/>
                <a:ea typeface="Times New Roman"/>
                <a:cs typeface="Times New Roman"/>
                <a:sym typeface="Times New Roman"/>
              </a:rPr>
              <a:t>ENGINEERING ECONOMIC ANALYSIS</a:t>
            </a:r>
            <a:endParaRPr sz="3600" b="1" i="0" u="none" strike="noStrike" cap="none">
              <a:solidFill>
                <a:srgbClr val="002060"/>
              </a:solidFill>
              <a:latin typeface="Times New Roman"/>
              <a:ea typeface="Times New Roman"/>
              <a:cs typeface="Times New Roman"/>
              <a:sym typeface="Times New Roman"/>
            </a:endParaRPr>
          </a:p>
        </p:txBody>
      </p:sp>
      <p:sp>
        <p:nvSpPr>
          <p:cNvPr id="85" name="Google Shape;85;p1"/>
          <p:cNvSpPr txBox="1"/>
          <p:nvPr/>
        </p:nvSpPr>
        <p:spPr>
          <a:xfrm>
            <a:off x="1149755" y="1920966"/>
            <a:ext cx="9359153" cy="4643736"/>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FF0000"/>
              </a:buClr>
              <a:buSzPct val="100000"/>
              <a:buFont typeface="Arial"/>
              <a:buNone/>
            </a:pPr>
            <a:r>
              <a:rPr lang="en-US" sz="3300" b="1" i="0" u="none" strike="noStrike" cap="none" dirty="0">
                <a:solidFill>
                  <a:srgbClr val="FF0000"/>
                </a:solidFill>
                <a:latin typeface="Times New Roman"/>
                <a:ea typeface="Times New Roman"/>
                <a:cs typeface="Times New Roman"/>
                <a:sym typeface="Times New Roman"/>
              </a:rPr>
              <a:t>Chapter 7 </a:t>
            </a:r>
            <a:endParaRPr dirty="0"/>
          </a:p>
          <a:p>
            <a:pPr marL="0" marR="0" lvl="0" indent="0" algn="ctr" rtl="0">
              <a:lnSpc>
                <a:spcPct val="90000"/>
              </a:lnSpc>
              <a:spcBef>
                <a:spcPts val="1000"/>
              </a:spcBef>
              <a:spcAft>
                <a:spcPts val="0"/>
              </a:spcAft>
              <a:buClr>
                <a:srgbClr val="002060"/>
              </a:buClr>
              <a:buSzPct val="100000"/>
              <a:buFont typeface="Arial"/>
              <a:buNone/>
            </a:pPr>
            <a:r>
              <a:rPr lang="en-US" sz="3200" b="1" i="0" u="none" strike="noStrike" cap="none" dirty="0">
                <a:solidFill>
                  <a:srgbClr val="002060"/>
                </a:solidFill>
                <a:latin typeface="Times New Roman"/>
                <a:ea typeface="Times New Roman"/>
                <a:cs typeface="Times New Roman"/>
                <a:sym typeface="Times New Roman"/>
              </a:rPr>
              <a:t>DEPRECIATION</a:t>
            </a:r>
            <a:endParaRPr dirty="0"/>
          </a:p>
          <a:p>
            <a:pPr marL="0" marR="0" lvl="0" indent="0" algn="ctr" rtl="0">
              <a:lnSpc>
                <a:spcPct val="90000"/>
              </a:lnSpc>
              <a:spcBef>
                <a:spcPts val="1000"/>
              </a:spcBef>
              <a:spcAft>
                <a:spcPts val="0"/>
              </a:spcAft>
              <a:buClr>
                <a:schemeClr val="dk1"/>
              </a:buClr>
              <a:buSzPct val="1000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20000"/>
              </a:lnSpc>
              <a:spcBef>
                <a:spcPts val="1000"/>
              </a:spcBef>
              <a:spcAft>
                <a:spcPts val="0"/>
              </a:spcAft>
              <a:buClr>
                <a:srgbClr val="FF0000"/>
              </a:buClr>
              <a:buSzPct val="100000"/>
              <a:buFont typeface="Arial"/>
              <a:buNone/>
            </a:pPr>
            <a:r>
              <a:rPr lang="en-US" sz="2800" b="1" i="0" u="none" strike="noStrike" cap="none" dirty="0">
                <a:solidFill>
                  <a:srgbClr val="FF0000"/>
                </a:solidFill>
                <a:latin typeface="Times New Roman"/>
                <a:ea typeface="Times New Roman"/>
                <a:cs typeface="Times New Roman"/>
                <a:sym typeface="Times New Roman"/>
              </a:rPr>
              <a:t>Concept and terminologies of depreciation, Causes of depreciation, Basic methods of depreciation </a:t>
            </a:r>
            <a:endParaRPr dirty="0"/>
          </a:p>
          <a:p>
            <a:pPr marL="0" marR="0" lvl="0" indent="0" algn="ctr" rtl="0">
              <a:lnSpc>
                <a:spcPct val="90000"/>
              </a:lnSpc>
              <a:spcBef>
                <a:spcPts val="1000"/>
              </a:spcBef>
              <a:spcAft>
                <a:spcPts val="0"/>
              </a:spcAft>
              <a:buClr>
                <a:schemeClr val="dk1"/>
              </a:buClr>
              <a:buSzPct val="100000"/>
              <a:buFont typeface="Arial"/>
              <a:buNone/>
            </a:pPr>
            <a:endParaRPr sz="24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body" idx="1"/>
          </p:nvPr>
        </p:nvSpPr>
        <p:spPr>
          <a:xfrm>
            <a:off x="639792" y="1316665"/>
            <a:ext cx="10515600" cy="533430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latin typeface="Times New Roman"/>
                <a:ea typeface="Times New Roman"/>
                <a:cs typeface="Times New Roman"/>
                <a:sym typeface="Times New Roman"/>
              </a:rPr>
              <a:t>After studying this lecture students will be able to learn:</a:t>
            </a:r>
            <a:endParaRPr/>
          </a:p>
          <a:p>
            <a:pPr marL="228600" lvl="0" indent="-228600" algn="l" rtl="0">
              <a:lnSpc>
                <a:spcPct val="90000"/>
              </a:lnSpc>
              <a:spcBef>
                <a:spcPts val="1000"/>
              </a:spcBef>
              <a:spcAft>
                <a:spcPts val="0"/>
              </a:spcAft>
              <a:buClr>
                <a:schemeClr val="dk1"/>
              </a:buClr>
              <a:buSzPts val="2600"/>
              <a:buFont typeface="Noto Sans Symbols"/>
              <a:buChar char="⮚"/>
            </a:pPr>
            <a:r>
              <a:rPr lang="en-US" sz="2600" b="1">
                <a:latin typeface="Times New Roman"/>
                <a:ea typeface="Times New Roman"/>
                <a:cs typeface="Times New Roman"/>
                <a:sym typeface="Times New Roman"/>
              </a:rPr>
              <a:t>Concept of depreciation and terminologies </a:t>
            </a:r>
            <a:endParaRPr/>
          </a:p>
          <a:p>
            <a:pPr marL="228600" lvl="0" indent="-228600" algn="l" rtl="0">
              <a:lnSpc>
                <a:spcPct val="90000"/>
              </a:lnSpc>
              <a:spcBef>
                <a:spcPts val="1000"/>
              </a:spcBef>
              <a:spcAft>
                <a:spcPts val="0"/>
              </a:spcAft>
              <a:buClr>
                <a:schemeClr val="dk1"/>
              </a:buClr>
              <a:buSzPts val="2600"/>
              <a:buFont typeface="Noto Sans Symbols"/>
              <a:buChar char="⮚"/>
            </a:pPr>
            <a:r>
              <a:rPr lang="en-US" sz="2600" b="1">
                <a:latin typeface="Times New Roman"/>
                <a:ea typeface="Times New Roman"/>
                <a:cs typeface="Times New Roman"/>
                <a:sym typeface="Times New Roman"/>
              </a:rPr>
              <a:t>Causes of depreciation</a:t>
            </a:r>
            <a:endParaRPr/>
          </a:p>
          <a:p>
            <a:pPr marL="228600" lvl="0" indent="-228600" algn="just" rtl="0">
              <a:lnSpc>
                <a:spcPct val="100000"/>
              </a:lnSpc>
              <a:spcBef>
                <a:spcPts val="1000"/>
              </a:spcBef>
              <a:spcAft>
                <a:spcPts val="0"/>
              </a:spcAft>
              <a:buClr>
                <a:schemeClr val="dk1"/>
              </a:buClr>
              <a:buSzPts val="2600"/>
              <a:buFont typeface="Noto Sans Symbols"/>
              <a:buChar char="⮚"/>
            </a:pPr>
            <a:r>
              <a:rPr lang="en-US" sz="2600" b="1">
                <a:latin typeface="Times New Roman"/>
                <a:ea typeface="Times New Roman"/>
                <a:cs typeface="Times New Roman"/>
                <a:sym typeface="Times New Roman"/>
              </a:rPr>
              <a:t>Basic methods of depreciation </a:t>
            </a:r>
            <a:endParaRPr/>
          </a:p>
          <a:p>
            <a:pPr marL="0" lvl="0" indent="0" algn="just" rtl="0">
              <a:lnSpc>
                <a:spcPct val="100000"/>
              </a:lnSpc>
              <a:spcBef>
                <a:spcPts val="1000"/>
              </a:spcBef>
              <a:spcAft>
                <a:spcPts val="0"/>
              </a:spcAft>
              <a:buClr>
                <a:schemeClr val="dk1"/>
              </a:buClr>
              <a:buSzPts val="2600"/>
              <a:buNone/>
            </a:pPr>
            <a:r>
              <a:rPr lang="en-US" sz="2600" b="1">
                <a:latin typeface="Times New Roman"/>
                <a:ea typeface="Times New Roman"/>
                <a:cs typeface="Times New Roman"/>
                <a:sym typeface="Times New Roman"/>
              </a:rPr>
              <a:t>                - Straight line method</a:t>
            </a:r>
            <a:endParaRPr/>
          </a:p>
          <a:p>
            <a:pPr marL="0" lvl="0" indent="0" algn="just" rtl="0">
              <a:lnSpc>
                <a:spcPct val="100000"/>
              </a:lnSpc>
              <a:spcBef>
                <a:spcPts val="1000"/>
              </a:spcBef>
              <a:spcAft>
                <a:spcPts val="0"/>
              </a:spcAft>
              <a:buClr>
                <a:schemeClr val="dk1"/>
              </a:buClr>
              <a:buSzPts val="2600"/>
              <a:buNone/>
            </a:pPr>
            <a:r>
              <a:rPr lang="en-US" sz="2600" b="1">
                <a:latin typeface="Times New Roman"/>
                <a:ea typeface="Times New Roman"/>
                <a:cs typeface="Times New Roman"/>
                <a:sym typeface="Times New Roman"/>
              </a:rPr>
              <a:t>                - Declining balance method  </a:t>
            </a:r>
            <a:endParaRPr/>
          </a:p>
          <a:p>
            <a:pPr marL="0" lvl="0" indent="0" algn="just" rtl="0">
              <a:lnSpc>
                <a:spcPct val="100000"/>
              </a:lnSpc>
              <a:spcBef>
                <a:spcPts val="1000"/>
              </a:spcBef>
              <a:spcAft>
                <a:spcPts val="0"/>
              </a:spcAft>
              <a:buClr>
                <a:schemeClr val="dk1"/>
              </a:buClr>
              <a:buSzPts val="2600"/>
              <a:buNone/>
            </a:pPr>
            <a:r>
              <a:rPr lang="en-US" sz="2600" b="1">
                <a:latin typeface="Times New Roman"/>
                <a:ea typeface="Times New Roman"/>
                <a:cs typeface="Times New Roman"/>
                <a:sym typeface="Times New Roman"/>
              </a:rPr>
              <a:t>                - Sum of the year digit method  </a:t>
            </a:r>
            <a:endParaRPr/>
          </a:p>
          <a:p>
            <a:pPr marL="0" lvl="0" indent="0" algn="just" rtl="0">
              <a:lnSpc>
                <a:spcPct val="100000"/>
              </a:lnSpc>
              <a:spcBef>
                <a:spcPts val="1000"/>
              </a:spcBef>
              <a:spcAft>
                <a:spcPts val="0"/>
              </a:spcAft>
              <a:buClr>
                <a:schemeClr val="dk1"/>
              </a:buClr>
              <a:buSzPts val="2600"/>
              <a:buNone/>
            </a:pPr>
            <a:r>
              <a:rPr lang="en-US" sz="2600" b="1">
                <a:latin typeface="Times New Roman"/>
                <a:ea typeface="Times New Roman"/>
                <a:cs typeface="Times New Roman"/>
                <a:sym typeface="Times New Roman"/>
              </a:rPr>
              <a:t>                - Sinking fund method </a:t>
            </a:r>
            <a:endParaRPr/>
          </a:p>
          <a:p>
            <a:pPr marL="0" lvl="0" indent="0" algn="just" rtl="0">
              <a:lnSpc>
                <a:spcPct val="100000"/>
              </a:lnSpc>
              <a:spcBef>
                <a:spcPts val="1000"/>
              </a:spcBef>
              <a:spcAft>
                <a:spcPts val="0"/>
              </a:spcAft>
              <a:buClr>
                <a:schemeClr val="dk1"/>
              </a:buClr>
              <a:buSzPts val="2600"/>
              <a:buNone/>
            </a:pPr>
            <a:r>
              <a:rPr lang="en-US" sz="2600" b="1">
                <a:latin typeface="Times New Roman"/>
                <a:ea typeface="Times New Roman"/>
                <a:cs typeface="Times New Roman"/>
                <a:sym typeface="Times New Roman"/>
              </a:rPr>
              <a:t>                - Modified accelerated cost recovery system </a:t>
            </a:r>
            <a:endParaRPr sz="2600"/>
          </a:p>
        </p:txBody>
      </p:sp>
      <p:sp>
        <p:nvSpPr>
          <p:cNvPr id="91" name="Google Shape;91;p2"/>
          <p:cNvSpPr txBox="1">
            <a:spLocks noGrp="1"/>
          </p:cNvSpPr>
          <p:nvPr>
            <p:ph type="title"/>
          </p:nvPr>
        </p:nvSpPr>
        <p:spPr>
          <a:xfrm>
            <a:off x="1433423" y="146379"/>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000"/>
              <a:buFont typeface="Times New Roman"/>
              <a:buNone/>
            </a:pPr>
            <a:r>
              <a:rPr lang="en-US" sz="4000" b="1" i="0" u="none" strike="noStrike" cap="none">
                <a:solidFill>
                  <a:srgbClr val="002060"/>
                </a:solidFill>
                <a:latin typeface="Times New Roman"/>
                <a:ea typeface="Times New Roman"/>
                <a:cs typeface="Times New Roman"/>
                <a:sym typeface="Times New Roman"/>
              </a:rPr>
              <a:t>Learning Objective</a:t>
            </a:r>
            <a:endParaRPr sz="40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1442049" y="22710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Concept of depreciation </a:t>
            </a:r>
            <a:endParaRPr sz="3200" b="1">
              <a:solidFill>
                <a:srgbClr val="002060"/>
              </a:solidFill>
              <a:latin typeface="Times New Roman"/>
              <a:ea typeface="Times New Roman"/>
              <a:cs typeface="Times New Roman"/>
              <a:sym typeface="Times New Roman"/>
            </a:endParaRPr>
          </a:p>
        </p:txBody>
      </p:sp>
      <p:sp>
        <p:nvSpPr>
          <p:cNvPr id="97" name="Google Shape;97;p3"/>
          <p:cNvSpPr txBox="1">
            <a:spLocks noGrp="1"/>
          </p:cNvSpPr>
          <p:nvPr>
            <p:ph type="body" idx="1"/>
          </p:nvPr>
        </p:nvSpPr>
        <p:spPr>
          <a:xfrm>
            <a:off x="570780" y="1250741"/>
            <a:ext cx="9772291" cy="5296708"/>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20000"/>
              </a:lnSpc>
              <a:spcBef>
                <a:spcPts val="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Depreciation is the gradual reduction in the value of an asset due to wear and tear, usage, passage of time, obsolescence, depletion or inadequacy. [1]</a:t>
            </a:r>
            <a:endParaRPr/>
          </a:p>
          <a:p>
            <a:pPr marL="228600" lvl="0" indent="-228600" algn="just" rtl="0">
              <a:lnSpc>
                <a:spcPct val="12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In economic analysis, value may refer to either market value or value to the owner.</a:t>
            </a:r>
            <a:endParaRPr/>
          </a:p>
          <a:p>
            <a:pPr marL="228600" lvl="0" indent="-228600" algn="just" rtl="0">
              <a:lnSpc>
                <a:spcPct val="12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A non cash expense that reduces the value of an asset as a result of wear and tear or age and obsolescence. </a:t>
            </a:r>
            <a:endParaRPr/>
          </a:p>
          <a:p>
            <a:pPr marL="228600" lvl="0" indent="-228600" algn="just" rtl="0">
              <a:lnSpc>
                <a:spcPct val="12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Most assets lose their value over time (in other words, they depreciate), and must be replaced once the end of their useful life is reached.</a:t>
            </a:r>
            <a:endParaRPr b="1">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Font typeface="Noto Sans Symbols"/>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body" idx="1"/>
          </p:nvPr>
        </p:nvSpPr>
        <p:spPr>
          <a:xfrm>
            <a:off x="570781" y="1480569"/>
            <a:ext cx="9798170" cy="480808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120000"/>
              </a:lnSpc>
              <a:spcBef>
                <a:spcPts val="0"/>
              </a:spcBef>
              <a:spcAft>
                <a:spcPts val="0"/>
              </a:spcAft>
              <a:buClr>
                <a:schemeClr val="dk1"/>
              </a:buClr>
              <a:buSzPct val="100000"/>
              <a:buFont typeface="Noto Sans Symbols"/>
              <a:buChar char="⮚"/>
            </a:pPr>
            <a:r>
              <a:rPr lang="en-US" sz="3000" b="1" dirty="0">
                <a:latin typeface="Times New Roman"/>
                <a:ea typeface="Times New Roman"/>
                <a:cs typeface="Times New Roman"/>
                <a:sym typeface="Times New Roman"/>
              </a:rPr>
              <a:t>When an asset is installed and used, it reduces its value in terms of money due to ageing. </a:t>
            </a:r>
            <a:endParaRPr dirty="0"/>
          </a:p>
          <a:p>
            <a:pPr marL="228600" lvl="0" indent="-228600" algn="just" rtl="0">
              <a:lnSpc>
                <a:spcPct val="120000"/>
              </a:lnSpc>
              <a:spcBef>
                <a:spcPts val="1000"/>
              </a:spcBef>
              <a:spcAft>
                <a:spcPts val="0"/>
              </a:spcAft>
              <a:buClr>
                <a:schemeClr val="dk1"/>
              </a:buClr>
              <a:buSzPct val="100000"/>
              <a:buFont typeface="Noto Sans Symbols"/>
              <a:buChar char="⮚"/>
            </a:pPr>
            <a:r>
              <a:rPr lang="en-US" sz="3000" b="1" dirty="0">
                <a:latin typeface="Times New Roman"/>
                <a:ea typeface="Times New Roman"/>
                <a:cs typeface="Times New Roman"/>
                <a:sym typeface="Times New Roman"/>
              </a:rPr>
              <a:t>It is an accounting concept that establishes an annual </a:t>
            </a:r>
            <a:r>
              <a:rPr lang="en-US" sz="3000" b="1">
                <a:latin typeface="Times New Roman"/>
                <a:ea typeface="Times New Roman"/>
                <a:cs typeface="Times New Roman"/>
                <a:sym typeface="Times New Roman"/>
              </a:rPr>
              <a:t>deduction against</a:t>
            </a:r>
            <a:r>
              <a:rPr lang="en-US" sz="3000" b="1" dirty="0">
                <a:latin typeface="Times New Roman"/>
                <a:ea typeface="Times New Roman"/>
                <a:cs typeface="Times New Roman"/>
                <a:sym typeface="Times New Roman"/>
              </a:rPr>
              <a:t> </a:t>
            </a:r>
            <a:r>
              <a:rPr lang="en-US" sz="3000" b="1">
                <a:latin typeface="Times New Roman"/>
                <a:ea typeface="Times New Roman"/>
                <a:cs typeface="Times New Roman"/>
                <a:sym typeface="Times New Roman"/>
              </a:rPr>
              <a:t>before </a:t>
            </a:r>
            <a:r>
              <a:rPr lang="en-US" sz="3000" b="1" dirty="0">
                <a:latin typeface="Times New Roman"/>
                <a:ea typeface="Times New Roman"/>
                <a:cs typeface="Times New Roman"/>
                <a:sym typeface="Times New Roman"/>
              </a:rPr>
              <a:t>tax income such that the effect of time and use on asset’s value can be reflected in a firm’s financial statements. [2]</a:t>
            </a:r>
            <a:endParaRPr dirty="0"/>
          </a:p>
          <a:p>
            <a:pPr marL="228600" lvl="0" indent="-228600" algn="just" rtl="0">
              <a:lnSpc>
                <a:spcPct val="120000"/>
              </a:lnSpc>
              <a:spcBef>
                <a:spcPts val="1000"/>
              </a:spcBef>
              <a:spcAft>
                <a:spcPts val="0"/>
              </a:spcAft>
              <a:buClr>
                <a:schemeClr val="dk1"/>
              </a:buClr>
              <a:buSzPct val="100000"/>
              <a:buFont typeface="Noto Sans Symbols"/>
              <a:buChar char="⮚"/>
            </a:pPr>
            <a:r>
              <a:rPr lang="en-US" sz="3000" b="1" dirty="0">
                <a:latin typeface="Times New Roman"/>
                <a:ea typeface="Times New Roman"/>
                <a:cs typeface="Times New Roman"/>
                <a:sym typeface="Times New Roman"/>
              </a:rPr>
              <a:t>Engineers need to learn about depreciation because their design decisions can affect the way investments and annual operating costs are treated from an income tax perspective.</a:t>
            </a:r>
            <a:endParaRPr dirty="0"/>
          </a:p>
          <a:p>
            <a:pPr marL="228600" lvl="0" indent="-64135" algn="just" rtl="0">
              <a:lnSpc>
                <a:spcPct val="120000"/>
              </a:lnSpc>
              <a:spcBef>
                <a:spcPts val="1000"/>
              </a:spcBef>
              <a:spcAft>
                <a:spcPts val="0"/>
              </a:spcAft>
              <a:buClr>
                <a:schemeClr val="dk1"/>
              </a:buClr>
              <a:buSzPct val="100000"/>
              <a:buFont typeface="Noto Sans Symbols"/>
              <a:buNone/>
            </a:pPr>
            <a:endParaRPr b="1" dirty="0">
              <a:latin typeface="Times New Roman"/>
              <a:ea typeface="Times New Roman"/>
              <a:cs typeface="Times New Roman"/>
              <a:sym typeface="Times New Roman"/>
            </a:endParaRPr>
          </a:p>
        </p:txBody>
      </p:sp>
      <p:sp>
        <p:nvSpPr>
          <p:cNvPr id="103" name="Google Shape;103;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Concept of depreciation (Cont’d….)  </a:t>
            </a:r>
            <a:endParaRPr sz="3200" b="1">
              <a:solidFill>
                <a:srgbClr val="00206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body" idx="1"/>
          </p:nvPr>
        </p:nvSpPr>
        <p:spPr>
          <a:xfrm>
            <a:off x="743309" y="1463316"/>
            <a:ext cx="9806796" cy="4721824"/>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800"/>
              <a:buNone/>
            </a:pPr>
            <a:r>
              <a:rPr lang="en-US" b="1">
                <a:latin typeface="Times New Roman"/>
                <a:ea typeface="Times New Roman"/>
                <a:cs typeface="Times New Roman"/>
                <a:sym typeface="Times New Roman"/>
              </a:rPr>
              <a:t>In general, assets can only be depreciated if they meet the following basic requirements: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property must be used for business purpose to produce income.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property must have a useful life that can be determined and this life must be longer than one year.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property must be an asset that decays, gets used up, wears out, becomes obsolete, or loses value to the owner from natural causes. </a:t>
            </a:r>
            <a:endParaRPr/>
          </a:p>
          <a:p>
            <a:pPr marL="0" lvl="0" indent="0" algn="l" rtl="0">
              <a:lnSpc>
                <a:spcPct val="90000"/>
              </a:lnSpc>
              <a:spcBef>
                <a:spcPts val="1000"/>
              </a:spcBef>
              <a:spcAft>
                <a:spcPts val="0"/>
              </a:spcAft>
              <a:buClr>
                <a:schemeClr val="dk1"/>
              </a:buClr>
              <a:buSzPts val="2800"/>
              <a:buNone/>
            </a:pPr>
            <a:endParaRPr b="1">
              <a:latin typeface="Times New Roman"/>
              <a:ea typeface="Times New Roman"/>
              <a:cs typeface="Times New Roman"/>
              <a:sym typeface="Times New Roman"/>
            </a:endParaRPr>
          </a:p>
        </p:txBody>
      </p:sp>
      <p:sp>
        <p:nvSpPr>
          <p:cNvPr id="109" name="Google Shape;109;p5"/>
          <p:cNvSpPr txBox="1">
            <a:spLocks noGrp="1"/>
          </p:cNvSpPr>
          <p:nvPr>
            <p:ph type="title"/>
          </p:nvPr>
        </p:nvSpPr>
        <p:spPr>
          <a:xfrm>
            <a:off x="1467928" y="29611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Concept of depreciation (Cont’d….)  </a:t>
            </a:r>
            <a:endParaRPr sz="3200" b="1">
              <a:solidFill>
                <a:srgbClr val="00206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Causes of depreciation </a:t>
            </a:r>
            <a:endParaRPr/>
          </a:p>
        </p:txBody>
      </p:sp>
      <p:sp>
        <p:nvSpPr>
          <p:cNvPr id="115" name="Google Shape;115;p6"/>
          <p:cNvSpPr txBox="1">
            <a:spLocks noGrp="1"/>
          </p:cNvSpPr>
          <p:nvPr>
            <p:ph type="body" idx="1"/>
          </p:nvPr>
        </p:nvSpPr>
        <p:spPr>
          <a:xfrm>
            <a:off x="493143" y="1558206"/>
            <a:ext cx="10515600" cy="4894352"/>
          </a:xfrm>
          <a:prstGeom prst="rect">
            <a:avLst/>
          </a:prstGeom>
          <a:noFill/>
          <a:ln>
            <a:noFill/>
          </a:ln>
        </p:spPr>
        <p:txBody>
          <a:bodyPr spcFirstLastPara="1" wrap="square" lIns="91425" tIns="45700" rIns="91425" bIns="45700" anchor="t" anchorCtr="0">
            <a:normAutofit/>
          </a:bodyPr>
          <a:lstStyle/>
          <a:p>
            <a:pPr marL="514350" lvl="0" indent="-514350" algn="just" rtl="0">
              <a:lnSpc>
                <a:spcPct val="100000"/>
              </a:lnSpc>
              <a:spcBef>
                <a:spcPts val="0"/>
              </a:spcBef>
              <a:spcAft>
                <a:spcPts val="0"/>
              </a:spcAft>
              <a:buClr>
                <a:srgbClr val="C00000"/>
              </a:buClr>
              <a:buSzPts val="2800"/>
              <a:buAutoNum type="arabicPeriod"/>
            </a:pPr>
            <a:r>
              <a:rPr lang="en-US" b="1">
                <a:solidFill>
                  <a:srgbClr val="C00000"/>
                </a:solidFill>
                <a:latin typeface="Times New Roman"/>
                <a:ea typeface="Times New Roman"/>
                <a:cs typeface="Times New Roman"/>
                <a:sym typeface="Times New Roman"/>
              </a:rPr>
              <a:t>Wear and tear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Also called physical depreciation. The continuous use of an asset makes it old and ineffective. </a:t>
            </a:r>
            <a:endParaRPr/>
          </a:p>
          <a:p>
            <a:pPr marL="514350" lvl="0" indent="-514350" algn="just" rtl="0">
              <a:lnSpc>
                <a:spcPct val="100000"/>
              </a:lnSpc>
              <a:spcBef>
                <a:spcPts val="1000"/>
              </a:spcBef>
              <a:spcAft>
                <a:spcPts val="0"/>
              </a:spcAft>
              <a:buClr>
                <a:srgbClr val="C00000"/>
              </a:buClr>
              <a:buSzPts val="2800"/>
              <a:buAutoNum type="arabicPeriod" startAt="2"/>
            </a:pPr>
            <a:r>
              <a:rPr lang="en-US" b="1">
                <a:solidFill>
                  <a:srgbClr val="C00000"/>
                </a:solidFill>
                <a:latin typeface="Times New Roman"/>
                <a:ea typeface="Times New Roman"/>
                <a:cs typeface="Times New Roman"/>
                <a:sym typeface="Times New Roman"/>
              </a:rPr>
              <a:t>Effusion of time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 with the passage of time, the value of some assets diminishes, even if they are not used in the business. </a:t>
            </a:r>
            <a:endParaRPr/>
          </a:p>
          <a:p>
            <a:pPr marL="0" lvl="0" indent="0" algn="just" rtl="0">
              <a:lnSpc>
                <a:spcPct val="100000"/>
              </a:lnSpc>
              <a:spcBef>
                <a:spcPts val="100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3.   Obsolescence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An asset may loose its usefulness due to improvement it technology. Also called functional depreciation. </a:t>
            </a:r>
            <a:endParaRPr b="1">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7"/>
          <p:cNvSpPr txBox="1">
            <a:spLocks noGrp="1"/>
          </p:cNvSpPr>
          <p:nvPr>
            <p:ph type="body" idx="1"/>
          </p:nvPr>
        </p:nvSpPr>
        <p:spPr>
          <a:xfrm>
            <a:off x="613913" y="1195897"/>
            <a:ext cx="9565257" cy="509276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4. Sudden failure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It refers to sudden or catastrophic loss in value due to technological characteristics inherent in the asset. [3]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It also includes the loss due to accident or misuse. </a:t>
            </a:r>
            <a:endParaRPr/>
          </a:p>
          <a:p>
            <a:pPr marL="0" lvl="0" indent="0" algn="just" rtl="0">
              <a:lnSpc>
                <a:spcPct val="100000"/>
              </a:lnSpc>
              <a:spcBef>
                <a:spcPts val="100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5. Depletion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An assets may get exhausted due to its excessive consumption which causes in gradual decrease in the quantity which is depletion.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Removal of oil, timber, rock or minerals from a site decreases the value of holding</a:t>
            </a:r>
            <a:endParaRPr/>
          </a:p>
          <a:p>
            <a:pPr marL="0" lvl="0" indent="0" algn="just"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endParaRPr/>
          </a:p>
        </p:txBody>
      </p:sp>
      <p:sp>
        <p:nvSpPr>
          <p:cNvPr id="121" name="Google Shape;121;p7"/>
          <p:cNvSpPr txBox="1">
            <a:spLocks noGrp="1"/>
          </p:cNvSpPr>
          <p:nvPr>
            <p:ph type="title"/>
          </p:nvPr>
        </p:nvSpPr>
        <p:spPr>
          <a:xfrm>
            <a:off x="1381664"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Causes of depreciation (Cont’d….) </a:t>
            </a:r>
            <a:endParaRPr sz="3200" b="1">
              <a:solidFill>
                <a:srgbClr val="00206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8"/>
          <p:cNvSpPr/>
          <p:nvPr/>
        </p:nvSpPr>
        <p:spPr>
          <a:xfrm>
            <a:off x="613914" y="3339860"/>
            <a:ext cx="1600200" cy="3048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7" name="Google Shape;127;p8"/>
          <p:cNvSpPr txBox="1"/>
          <p:nvPr/>
        </p:nvSpPr>
        <p:spPr>
          <a:xfrm>
            <a:off x="613914" y="3263660"/>
            <a:ext cx="1600200" cy="400050"/>
          </a:xfrm>
          <a:prstGeom prst="rect">
            <a:avLst/>
          </a:prstGeom>
          <a:solidFill>
            <a:srgbClr val="FFF2CC"/>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Depreciation</a:t>
            </a:r>
            <a:endParaRPr/>
          </a:p>
        </p:txBody>
      </p:sp>
      <p:cxnSp>
        <p:nvCxnSpPr>
          <p:cNvPr id="128" name="Google Shape;128;p8"/>
          <p:cNvCxnSpPr/>
          <p:nvPr/>
        </p:nvCxnSpPr>
        <p:spPr>
          <a:xfrm>
            <a:off x="2214114" y="3492260"/>
            <a:ext cx="457200" cy="1588"/>
          </a:xfrm>
          <a:prstGeom prst="straightConnector1">
            <a:avLst/>
          </a:prstGeom>
          <a:noFill/>
          <a:ln w="28575" cap="flat" cmpd="sng">
            <a:solidFill>
              <a:schemeClr val="dk1"/>
            </a:solidFill>
            <a:prstDash val="solid"/>
            <a:miter lim="800000"/>
            <a:headEnd type="none" w="sm" len="sm"/>
            <a:tailEnd type="none" w="sm" len="sm"/>
          </a:ln>
        </p:spPr>
      </p:cxnSp>
      <p:cxnSp>
        <p:nvCxnSpPr>
          <p:cNvPr id="129" name="Google Shape;129;p8"/>
          <p:cNvCxnSpPr/>
          <p:nvPr/>
        </p:nvCxnSpPr>
        <p:spPr>
          <a:xfrm rot="5400000">
            <a:off x="806002" y="3606560"/>
            <a:ext cx="3732212" cy="1588"/>
          </a:xfrm>
          <a:prstGeom prst="straightConnector1">
            <a:avLst/>
          </a:prstGeom>
          <a:noFill/>
          <a:ln w="28575" cap="flat" cmpd="sng">
            <a:solidFill>
              <a:schemeClr val="dk1"/>
            </a:solidFill>
            <a:prstDash val="solid"/>
            <a:miter lim="800000"/>
            <a:headEnd type="none" w="sm" len="sm"/>
            <a:tailEnd type="none" w="sm" len="sm"/>
          </a:ln>
        </p:spPr>
      </p:cxnSp>
      <p:sp>
        <p:nvSpPr>
          <p:cNvPr id="130" name="Google Shape;130;p8"/>
          <p:cNvSpPr/>
          <p:nvPr/>
        </p:nvSpPr>
        <p:spPr>
          <a:xfrm>
            <a:off x="3204714" y="1282460"/>
            <a:ext cx="3352800" cy="1143000"/>
          </a:xfrm>
          <a:prstGeom prst="rect">
            <a:avLst/>
          </a:prstGeom>
          <a:solidFill>
            <a:srgbClr val="FFF2CC"/>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1" name="Google Shape;131;p8"/>
          <p:cNvSpPr txBox="1"/>
          <p:nvPr/>
        </p:nvSpPr>
        <p:spPr>
          <a:xfrm>
            <a:off x="3357114" y="1206261"/>
            <a:ext cx="2971800" cy="13239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Economic depreciation</a:t>
            </a:r>
            <a:endParaRPr/>
          </a:p>
          <a:p>
            <a:pPr marL="0" marR="0" lvl="0" indent="0" algn="ctr" rtl="0">
              <a:spcBef>
                <a:spcPts val="0"/>
              </a:spcBef>
              <a:spcAft>
                <a:spcPts val="0"/>
              </a:spcAft>
              <a:buNone/>
            </a:pPr>
            <a:r>
              <a:rPr lang="en-US" sz="2000" b="1" i="0" u="none" strike="noStrike" cap="none">
                <a:solidFill>
                  <a:schemeClr val="dk1"/>
                </a:solidFill>
                <a:latin typeface="Calibri"/>
                <a:ea typeface="Calibri"/>
                <a:cs typeface="Calibri"/>
                <a:sym typeface="Calibri"/>
              </a:rPr>
              <a:t>The gradual decrease in utility in an asset with use and time </a:t>
            </a:r>
            <a:endParaRPr/>
          </a:p>
        </p:txBody>
      </p:sp>
      <p:cxnSp>
        <p:nvCxnSpPr>
          <p:cNvPr id="132" name="Google Shape;132;p8"/>
          <p:cNvCxnSpPr/>
          <p:nvPr/>
        </p:nvCxnSpPr>
        <p:spPr>
          <a:xfrm>
            <a:off x="2671314" y="1739660"/>
            <a:ext cx="533400" cy="1588"/>
          </a:xfrm>
          <a:prstGeom prst="straightConnector1">
            <a:avLst/>
          </a:prstGeom>
          <a:noFill/>
          <a:ln w="28575" cap="flat" cmpd="sng">
            <a:solidFill>
              <a:schemeClr val="dk1"/>
            </a:solidFill>
            <a:prstDash val="solid"/>
            <a:miter lim="800000"/>
            <a:headEnd type="none" w="sm" len="sm"/>
            <a:tailEnd type="stealth" w="med" len="med"/>
          </a:ln>
        </p:spPr>
      </p:cxnSp>
      <p:sp>
        <p:nvSpPr>
          <p:cNvPr id="133" name="Google Shape;133;p8"/>
          <p:cNvSpPr txBox="1"/>
          <p:nvPr/>
        </p:nvSpPr>
        <p:spPr>
          <a:xfrm>
            <a:off x="3249060" y="3763069"/>
            <a:ext cx="3477040" cy="1938992"/>
          </a:xfrm>
          <a:prstGeom prst="rect">
            <a:avLst/>
          </a:prstGeom>
          <a:solidFill>
            <a:srgbClr val="FFF2CC"/>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Accounting depreciation</a:t>
            </a:r>
            <a:endParaRPr/>
          </a:p>
          <a:p>
            <a:pPr marL="0" marR="0" lvl="0" indent="0" algn="ctr" rtl="0">
              <a:spcBef>
                <a:spcPts val="0"/>
              </a:spcBef>
              <a:spcAft>
                <a:spcPts val="0"/>
              </a:spcAft>
              <a:buNone/>
            </a:pPr>
            <a:r>
              <a:rPr lang="en-US" sz="2000" b="1" i="0" u="none" strike="noStrike" cap="none">
                <a:solidFill>
                  <a:schemeClr val="dk1"/>
                </a:solidFill>
                <a:latin typeface="Calibri"/>
                <a:ea typeface="Calibri"/>
                <a:cs typeface="Calibri"/>
                <a:sym typeface="Calibri"/>
              </a:rPr>
              <a:t>The systematic allocation of an asset’s value in portions over its depreciable life – often used in engineering economic analysis</a:t>
            </a:r>
            <a:endParaRPr/>
          </a:p>
        </p:txBody>
      </p:sp>
      <p:cxnSp>
        <p:nvCxnSpPr>
          <p:cNvPr id="134" name="Google Shape;134;p8"/>
          <p:cNvCxnSpPr/>
          <p:nvPr/>
        </p:nvCxnSpPr>
        <p:spPr>
          <a:xfrm>
            <a:off x="6557514" y="1739660"/>
            <a:ext cx="457200" cy="1588"/>
          </a:xfrm>
          <a:prstGeom prst="straightConnector1">
            <a:avLst/>
          </a:prstGeom>
          <a:noFill/>
          <a:ln w="28575" cap="flat" cmpd="sng">
            <a:solidFill>
              <a:schemeClr val="dk1"/>
            </a:solidFill>
            <a:prstDash val="solid"/>
            <a:miter lim="800000"/>
            <a:headEnd type="none" w="sm" len="sm"/>
            <a:tailEnd type="none" w="sm" len="sm"/>
          </a:ln>
        </p:spPr>
      </p:cxnSp>
      <p:cxnSp>
        <p:nvCxnSpPr>
          <p:cNvPr id="135" name="Google Shape;135;p8"/>
          <p:cNvCxnSpPr/>
          <p:nvPr/>
        </p:nvCxnSpPr>
        <p:spPr>
          <a:xfrm rot="5400000">
            <a:off x="6178102" y="1663460"/>
            <a:ext cx="1674812" cy="1588"/>
          </a:xfrm>
          <a:prstGeom prst="straightConnector1">
            <a:avLst/>
          </a:prstGeom>
          <a:noFill/>
          <a:ln w="28575" cap="flat" cmpd="sng">
            <a:solidFill>
              <a:schemeClr val="dk1"/>
            </a:solidFill>
            <a:prstDash val="solid"/>
            <a:miter lim="800000"/>
            <a:headEnd type="none" w="sm" len="sm"/>
            <a:tailEnd type="none" w="sm" len="sm"/>
          </a:ln>
        </p:spPr>
      </p:cxnSp>
      <p:sp>
        <p:nvSpPr>
          <p:cNvPr id="136" name="Google Shape;136;p8"/>
          <p:cNvSpPr/>
          <p:nvPr/>
        </p:nvSpPr>
        <p:spPr>
          <a:xfrm>
            <a:off x="7395714" y="520460"/>
            <a:ext cx="1752600" cy="838200"/>
          </a:xfrm>
          <a:prstGeom prst="rect">
            <a:avLst/>
          </a:prstGeom>
          <a:solidFill>
            <a:srgbClr val="FFF2CC"/>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7" name="Google Shape;137;p8"/>
          <p:cNvSpPr txBox="1"/>
          <p:nvPr/>
        </p:nvSpPr>
        <p:spPr>
          <a:xfrm>
            <a:off x="7273063" y="638007"/>
            <a:ext cx="1921702"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Physical Depreciation</a:t>
            </a:r>
            <a:endParaRPr/>
          </a:p>
        </p:txBody>
      </p:sp>
      <p:cxnSp>
        <p:nvCxnSpPr>
          <p:cNvPr id="138" name="Google Shape;138;p8"/>
          <p:cNvCxnSpPr/>
          <p:nvPr/>
        </p:nvCxnSpPr>
        <p:spPr>
          <a:xfrm>
            <a:off x="7014714" y="825260"/>
            <a:ext cx="381000" cy="1588"/>
          </a:xfrm>
          <a:prstGeom prst="straightConnector1">
            <a:avLst/>
          </a:prstGeom>
          <a:noFill/>
          <a:ln w="28575" cap="flat" cmpd="sng">
            <a:solidFill>
              <a:schemeClr val="dk1"/>
            </a:solidFill>
            <a:prstDash val="solid"/>
            <a:miter lim="800000"/>
            <a:headEnd type="none" w="sm" len="sm"/>
            <a:tailEnd type="stealth" w="med" len="med"/>
          </a:ln>
        </p:spPr>
      </p:cxnSp>
      <p:sp>
        <p:nvSpPr>
          <p:cNvPr id="139" name="Google Shape;139;p8"/>
          <p:cNvSpPr txBox="1"/>
          <p:nvPr/>
        </p:nvSpPr>
        <p:spPr>
          <a:xfrm>
            <a:off x="7395715" y="2044461"/>
            <a:ext cx="1825618" cy="707886"/>
          </a:xfrm>
          <a:prstGeom prst="rect">
            <a:avLst/>
          </a:prstGeom>
          <a:solidFill>
            <a:srgbClr val="FFF2CC"/>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Functional Depreciation</a:t>
            </a:r>
            <a:endParaRPr/>
          </a:p>
        </p:txBody>
      </p:sp>
      <p:cxnSp>
        <p:nvCxnSpPr>
          <p:cNvPr id="140" name="Google Shape;140;p8"/>
          <p:cNvCxnSpPr/>
          <p:nvPr/>
        </p:nvCxnSpPr>
        <p:spPr>
          <a:xfrm>
            <a:off x="7014714" y="2501660"/>
            <a:ext cx="381000" cy="1588"/>
          </a:xfrm>
          <a:prstGeom prst="straightConnector1">
            <a:avLst/>
          </a:prstGeom>
          <a:noFill/>
          <a:ln w="28575" cap="flat" cmpd="sng">
            <a:solidFill>
              <a:schemeClr val="dk1"/>
            </a:solidFill>
            <a:prstDash val="solid"/>
            <a:miter lim="800000"/>
            <a:headEnd type="none" w="sm" len="sm"/>
            <a:tailEnd type="stealth" w="med" len="med"/>
          </a:ln>
        </p:spPr>
      </p:cxnSp>
      <p:sp>
        <p:nvSpPr>
          <p:cNvPr id="141" name="Google Shape;141;p8"/>
          <p:cNvSpPr/>
          <p:nvPr/>
        </p:nvSpPr>
        <p:spPr>
          <a:xfrm>
            <a:off x="7319514" y="3568460"/>
            <a:ext cx="1752600" cy="838200"/>
          </a:xfrm>
          <a:prstGeom prst="rect">
            <a:avLst/>
          </a:prstGeom>
          <a:solidFill>
            <a:srgbClr val="FFF2CC"/>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2" name="Google Shape;142;p8"/>
          <p:cNvSpPr txBox="1"/>
          <p:nvPr/>
        </p:nvSpPr>
        <p:spPr>
          <a:xfrm>
            <a:off x="7241727" y="3644661"/>
            <a:ext cx="1830387"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Book Depreciation</a:t>
            </a:r>
            <a:endParaRPr/>
          </a:p>
        </p:txBody>
      </p:sp>
      <p:sp>
        <p:nvSpPr>
          <p:cNvPr id="143" name="Google Shape;143;p8"/>
          <p:cNvSpPr txBox="1"/>
          <p:nvPr/>
        </p:nvSpPr>
        <p:spPr>
          <a:xfrm>
            <a:off x="7395714" y="5244860"/>
            <a:ext cx="1799051" cy="707886"/>
          </a:xfrm>
          <a:prstGeom prst="rect">
            <a:avLst/>
          </a:prstGeom>
          <a:solidFill>
            <a:srgbClr val="FFF2CC"/>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Tax Depreciation</a:t>
            </a:r>
            <a:endParaRPr/>
          </a:p>
        </p:txBody>
      </p:sp>
      <p:cxnSp>
        <p:nvCxnSpPr>
          <p:cNvPr id="144" name="Google Shape;144;p8"/>
          <p:cNvCxnSpPr/>
          <p:nvPr/>
        </p:nvCxnSpPr>
        <p:spPr>
          <a:xfrm>
            <a:off x="6633714" y="4767231"/>
            <a:ext cx="381000" cy="1588"/>
          </a:xfrm>
          <a:prstGeom prst="straightConnector1">
            <a:avLst/>
          </a:prstGeom>
          <a:noFill/>
          <a:ln w="28575" cap="flat" cmpd="sng">
            <a:solidFill>
              <a:schemeClr val="dk1"/>
            </a:solidFill>
            <a:prstDash val="solid"/>
            <a:miter lim="800000"/>
            <a:headEnd type="none" w="sm" len="sm"/>
            <a:tailEnd type="none" w="sm" len="sm"/>
          </a:ln>
        </p:spPr>
      </p:cxnSp>
      <p:cxnSp>
        <p:nvCxnSpPr>
          <p:cNvPr id="145" name="Google Shape;145;p8"/>
          <p:cNvCxnSpPr/>
          <p:nvPr/>
        </p:nvCxnSpPr>
        <p:spPr>
          <a:xfrm flipH="1">
            <a:off x="7014714" y="4103450"/>
            <a:ext cx="1589" cy="1598612"/>
          </a:xfrm>
          <a:prstGeom prst="straightConnector1">
            <a:avLst/>
          </a:prstGeom>
          <a:noFill/>
          <a:ln w="28575" cap="flat" cmpd="sng">
            <a:solidFill>
              <a:schemeClr val="dk1"/>
            </a:solidFill>
            <a:prstDash val="solid"/>
            <a:miter lim="800000"/>
            <a:headEnd type="none" w="sm" len="sm"/>
            <a:tailEnd type="none" w="sm" len="sm"/>
          </a:ln>
        </p:spPr>
      </p:cxnSp>
      <p:cxnSp>
        <p:nvCxnSpPr>
          <p:cNvPr id="146" name="Google Shape;146;p8"/>
          <p:cNvCxnSpPr/>
          <p:nvPr/>
        </p:nvCxnSpPr>
        <p:spPr>
          <a:xfrm>
            <a:off x="7014714" y="4101860"/>
            <a:ext cx="304800" cy="1588"/>
          </a:xfrm>
          <a:prstGeom prst="straightConnector1">
            <a:avLst/>
          </a:prstGeom>
          <a:noFill/>
          <a:ln w="28575" cap="flat" cmpd="sng">
            <a:solidFill>
              <a:schemeClr val="dk1"/>
            </a:solidFill>
            <a:prstDash val="solid"/>
            <a:miter lim="800000"/>
            <a:headEnd type="none" w="sm" len="sm"/>
            <a:tailEnd type="stealth" w="med" len="med"/>
          </a:ln>
        </p:spPr>
      </p:cxnSp>
      <p:cxnSp>
        <p:nvCxnSpPr>
          <p:cNvPr id="147" name="Google Shape;147;p8"/>
          <p:cNvCxnSpPr/>
          <p:nvPr/>
        </p:nvCxnSpPr>
        <p:spPr>
          <a:xfrm>
            <a:off x="7014714" y="5700472"/>
            <a:ext cx="447135" cy="1588"/>
          </a:xfrm>
          <a:prstGeom prst="straightConnector1">
            <a:avLst/>
          </a:prstGeom>
          <a:noFill/>
          <a:ln w="28575" cap="flat" cmpd="sng">
            <a:solidFill>
              <a:schemeClr val="dk1"/>
            </a:solidFill>
            <a:prstDash val="solid"/>
            <a:miter lim="800000"/>
            <a:headEnd type="none" w="sm" len="sm"/>
            <a:tailEnd type="stealth" w="med" len="med"/>
          </a:ln>
        </p:spPr>
      </p:cxnSp>
      <p:cxnSp>
        <p:nvCxnSpPr>
          <p:cNvPr id="148" name="Google Shape;148;p8"/>
          <p:cNvCxnSpPr/>
          <p:nvPr/>
        </p:nvCxnSpPr>
        <p:spPr>
          <a:xfrm>
            <a:off x="2671314" y="5473460"/>
            <a:ext cx="533400" cy="1588"/>
          </a:xfrm>
          <a:prstGeom prst="straightConnector1">
            <a:avLst/>
          </a:prstGeom>
          <a:noFill/>
          <a:ln w="28575" cap="flat" cmpd="sng">
            <a:solidFill>
              <a:schemeClr val="dk1"/>
            </a:solidFill>
            <a:prstDash val="solid"/>
            <a:miter lim="800000"/>
            <a:headEnd type="none" w="sm" len="sm"/>
            <a:tailEnd type="stealth" w="med" len="med"/>
          </a:ln>
        </p:spPr>
      </p:cxnSp>
      <p:sp>
        <p:nvSpPr>
          <p:cNvPr id="149" name="Google Shape;149;p8"/>
          <p:cNvSpPr txBox="1"/>
          <p:nvPr/>
        </p:nvSpPr>
        <p:spPr>
          <a:xfrm>
            <a:off x="1077237" y="457467"/>
            <a:ext cx="5648863"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002060"/>
                </a:solidFill>
                <a:latin typeface="Times New Roman"/>
                <a:ea typeface="Times New Roman"/>
                <a:cs typeface="Times New Roman"/>
                <a:sym typeface="Times New Roman"/>
              </a:rPr>
              <a:t>Classification of Depreciation</a:t>
            </a:r>
            <a:endParaRPr/>
          </a:p>
        </p:txBody>
      </p:sp>
      <p:sp>
        <p:nvSpPr>
          <p:cNvPr id="150" name="Google Shape;150;p8"/>
          <p:cNvSpPr txBox="1"/>
          <p:nvPr/>
        </p:nvSpPr>
        <p:spPr>
          <a:xfrm>
            <a:off x="4042914" y="5866482"/>
            <a:ext cx="2286000" cy="40011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chemeClr val="dk1"/>
                </a:solidFill>
                <a:latin typeface="Times New Roman"/>
                <a:ea typeface="Times New Roman"/>
                <a:cs typeface="Times New Roman"/>
                <a:sym typeface="Times New Roman"/>
              </a:rPr>
              <a:t>Source : [4]</a:t>
            </a:r>
            <a:endParaRPr sz="2000" b="1"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txBox="1">
            <a:spLocks noGrp="1"/>
          </p:cNvSpPr>
          <p:nvPr>
            <p:ph type="body" idx="1"/>
          </p:nvPr>
        </p:nvSpPr>
        <p:spPr>
          <a:xfrm>
            <a:off x="605287" y="1264908"/>
            <a:ext cx="9772290" cy="5127266"/>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rgbClr val="C00000"/>
              </a:buClr>
              <a:buSzPts val="2800"/>
              <a:buAutoNum type="arabicPeriod"/>
            </a:pPr>
            <a:r>
              <a:rPr lang="en-US" b="1">
                <a:solidFill>
                  <a:srgbClr val="C00000"/>
                </a:solidFill>
                <a:latin typeface="Times New Roman"/>
                <a:ea typeface="Times New Roman"/>
                <a:cs typeface="Times New Roman"/>
                <a:sym typeface="Times New Roman"/>
              </a:rPr>
              <a:t>Economic depreciation </a:t>
            </a:r>
            <a:endParaRPr/>
          </a:p>
          <a:p>
            <a:pPr marL="228600" lvl="0" indent="-228600" algn="l"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It refers the gradual decrease in the economic value/utility of fixed assets like equipment, vehicles, with passage of time and wear and tear. </a:t>
            </a:r>
            <a:endParaRPr/>
          </a:p>
          <a:p>
            <a:pPr marL="0" lvl="0" indent="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a:t>
            </a:r>
            <a:r>
              <a:rPr lang="en-US" b="1">
                <a:solidFill>
                  <a:srgbClr val="C00000"/>
                </a:solidFill>
                <a:latin typeface="Times New Roman"/>
                <a:ea typeface="Times New Roman"/>
                <a:cs typeface="Times New Roman"/>
                <a:sym typeface="Times New Roman"/>
              </a:rPr>
              <a:t>(a) Physical depreciation </a:t>
            </a:r>
            <a:endParaRPr/>
          </a:p>
          <a:p>
            <a:pPr marL="228600" lvl="0" indent="-228600" algn="l"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It occurs in any fixed asset due to wear and tear from use and deterioration from interaction with environment like corrosion. </a:t>
            </a:r>
            <a:endParaRPr/>
          </a:p>
          <a:p>
            <a:pPr marL="0" lvl="0" indent="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a:t>
            </a:r>
            <a:r>
              <a:rPr lang="en-US" b="1">
                <a:solidFill>
                  <a:srgbClr val="C00000"/>
                </a:solidFill>
                <a:latin typeface="Times New Roman"/>
                <a:ea typeface="Times New Roman"/>
                <a:cs typeface="Times New Roman"/>
                <a:sym typeface="Times New Roman"/>
              </a:rPr>
              <a:t>(b) Functional depreciation </a:t>
            </a:r>
            <a:endParaRPr/>
          </a:p>
          <a:p>
            <a:pPr marL="228600" lvl="0" indent="-228600" algn="l"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It occurs as a result of change in technology that decreases or eliminates the need for an asset. </a:t>
            </a:r>
            <a:endParaRPr b="1">
              <a:latin typeface="Times New Roman"/>
              <a:ea typeface="Times New Roman"/>
              <a:cs typeface="Times New Roman"/>
              <a:sym typeface="Times New Roman"/>
            </a:endParaRPr>
          </a:p>
        </p:txBody>
      </p:sp>
      <p:sp>
        <p:nvSpPr>
          <p:cNvPr id="156" name="Google Shape;156;p9"/>
          <p:cNvSpPr txBox="1">
            <a:spLocks noGrp="1"/>
          </p:cNvSpPr>
          <p:nvPr>
            <p:ph type="title"/>
          </p:nvPr>
        </p:nvSpPr>
        <p:spPr>
          <a:xfrm>
            <a:off x="1174630" y="544481"/>
            <a:ext cx="8090139" cy="5355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Classification of Depreciation (Cont’d…..) </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0"/>
          <p:cNvSpPr txBox="1">
            <a:spLocks noGrp="1"/>
          </p:cNvSpPr>
          <p:nvPr>
            <p:ph type="body" idx="1"/>
          </p:nvPr>
        </p:nvSpPr>
        <p:spPr>
          <a:xfrm>
            <a:off x="553528" y="1333919"/>
            <a:ext cx="9858555" cy="4825341"/>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2.  Accounting Depreciation</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systematic allocation of the initial cost of an asset in parts over a time, known as its depreciable life and is done by the accounting depreciation. [4]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 This method of depreciation is exclusively used in engineering economic analysis as it provides basis for determining the income taxes associated with any project undertaken.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Two methods are applied for accounting depreciation i.e. book depreciation method and tax depreciation method. </a:t>
            </a:r>
            <a:endParaRPr/>
          </a:p>
          <a:p>
            <a:pPr marL="228600" lvl="0" indent="-50800" algn="just" rtl="0">
              <a:lnSpc>
                <a:spcPct val="90000"/>
              </a:lnSpc>
              <a:spcBef>
                <a:spcPts val="1000"/>
              </a:spcBef>
              <a:spcAft>
                <a:spcPts val="0"/>
              </a:spcAft>
              <a:buClr>
                <a:schemeClr val="dk1"/>
              </a:buClr>
              <a:buSzPts val="2800"/>
              <a:buFont typeface="Noto Sans Symbols"/>
              <a:buNone/>
            </a:pPr>
            <a:endParaRPr b="1">
              <a:latin typeface="Times New Roman"/>
              <a:ea typeface="Times New Roman"/>
              <a:cs typeface="Times New Roman"/>
              <a:sym typeface="Times New Roman"/>
            </a:endParaRPr>
          </a:p>
        </p:txBody>
      </p:sp>
      <p:sp>
        <p:nvSpPr>
          <p:cNvPr id="162" name="Google Shape;162;p10"/>
          <p:cNvSpPr txBox="1">
            <a:spLocks noGrp="1"/>
          </p:cNvSpPr>
          <p:nvPr>
            <p:ph type="title"/>
          </p:nvPr>
        </p:nvSpPr>
        <p:spPr>
          <a:xfrm>
            <a:off x="838200" y="501349"/>
            <a:ext cx="8955657" cy="5355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Classification of Depreciation (Cont’d…..) </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Characteristics of depreciation </a:t>
            </a:r>
            <a:endParaRPr/>
          </a:p>
        </p:txBody>
      </p:sp>
      <p:sp>
        <p:nvSpPr>
          <p:cNvPr id="168" name="Google Shape;168;p11"/>
          <p:cNvSpPr txBox="1">
            <a:spLocks noGrp="1"/>
          </p:cNvSpPr>
          <p:nvPr>
            <p:ph type="body" idx="1"/>
          </p:nvPr>
        </p:nvSpPr>
        <p:spPr>
          <a:xfrm>
            <a:off x="622539" y="1471942"/>
            <a:ext cx="9746411" cy="4963364"/>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1"/>
              </a:buClr>
              <a:buSzPts val="2800"/>
              <a:buNone/>
            </a:pPr>
            <a:r>
              <a:rPr lang="en-US" b="1">
                <a:latin typeface="Times New Roman"/>
                <a:ea typeface="Times New Roman"/>
                <a:cs typeface="Times New Roman"/>
                <a:sym typeface="Times New Roman"/>
              </a:rPr>
              <a:t>The depreciation charged on fixed assets has the following features: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Depreciation is always charged on fixed assets except land.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Depreciation causes gradual and continuous fall in the value of an asset.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Depreciation is a continuous process and it does not matter whether the asset was put to use during the period or not.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Depreciation is the fall in the book value of the asset and not in the market value of the asset. </a:t>
            </a:r>
            <a:endParaRPr/>
          </a:p>
          <a:p>
            <a:pPr marL="228600" lvl="0" indent="-50800" algn="just" rtl="0">
              <a:lnSpc>
                <a:spcPct val="100000"/>
              </a:lnSpc>
              <a:spcBef>
                <a:spcPts val="1000"/>
              </a:spcBef>
              <a:spcAft>
                <a:spcPts val="0"/>
              </a:spcAft>
              <a:buClr>
                <a:schemeClr val="dk1"/>
              </a:buClr>
              <a:buSzPts val="2800"/>
              <a:buFont typeface="Noto Sans Symbols"/>
              <a:buNone/>
            </a:pPr>
            <a:endParaRPr b="1">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2"/>
          <p:cNvSpPr txBox="1">
            <a:spLocks noGrp="1"/>
          </p:cNvSpPr>
          <p:nvPr>
            <p:ph type="body" idx="1"/>
          </p:nvPr>
        </p:nvSpPr>
        <p:spPr>
          <a:xfrm>
            <a:off x="838200" y="1825625"/>
            <a:ext cx="9608389"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Depreciation is charge against revenue of an accounting period. </a:t>
            </a:r>
            <a:endParaRPr/>
          </a:p>
          <a:p>
            <a:pPr marL="228600" lvl="0" indent="-228600" algn="just" rtl="0">
              <a:lnSpc>
                <a:spcPct val="15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Depreciation is the result of the use of assets, passage of time and obsolescence. </a:t>
            </a:r>
            <a:endParaRPr/>
          </a:p>
          <a:p>
            <a:pPr marL="228600" lvl="0" indent="-228600" algn="just" rtl="0">
              <a:lnSpc>
                <a:spcPct val="15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Total depreciation of an asset cannot exceed its depreciable value (cost less scrap value) </a:t>
            </a:r>
            <a:endParaRPr/>
          </a:p>
        </p:txBody>
      </p:sp>
      <p:sp>
        <p:nvSpPr>
          <p:cNvPr id="174" name="Google Shape;174;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Characteristics of depreciation (Cont’d….) </a:t>
            </a:r>
            <a:endParaRPr sz="3200" b="1">
              <a:solidFill>
                <a:srgbClr val="00206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3"/>
          <p:cNvSpPr txBox="1">
            <a:spLocks noGrp="1"/>
          </p:cNvSpPr>
          <p:nvPr>
            <p:ph type="title"/>
          </p:nvPr>
        </p:nvSpPr>
        <p:spPr>
          <a:xfrm>
            <a:off x="1457865" y="261608"/>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Terminologies of Depreciation </a:t>
            </a:r>
            <a:endParaRPr/>
          </a:p>
        </p:txBody>
      </p:sp>
      <p:sp>
        <p:nvSpPr>
          <p:cNvPr id="180" name="Google Shape;180;p13"/>
          <p:cNvSpPr txBox="1">
            <a:spLocks noGrp="1"/>
          </p:cNvSpPr>
          <p:nvPr>
            <p:ph type="body" idx="1"/>
          </p:nvPr>
        </p:nvSpPr>
        <p:spPr>
          <a:xfrm>
            <a:off x="501770" y="1342546"/>
            <a:ext cx="9772291" cy="4842594"/>
          </a:xfrm>
          <a:prstGeom prst="rect">
            <a:avLst/>
          </a:prstGeom>
          <a:noFill/>
          <a:ln>
            <a:noFill/>
          </a:ln>
        </p:spPr>
        <p:txBody>
          <a:bodyPr spcFirstLastPara="1" wrap="square" lIns="91425" tIns="45700" rIns="91425" bIns="45700" anchor="t" anchorCtr="0">
            <a:normAutofit/>
          </a:bodyPr>
          <a:lstStyle/>
          <a:p>
            <a:pPr marL="457200" lvl="0" indent="-457200" algn="just" rtl="0">
              <a:lnSpc>
                <a:spcPct val="100000"/>
              </a:lnSpc>
              <a:spcBef>
                <a:spcPts val="0"/>
              </a:spcBef>
              <a:spcAft>
                <a:spcPts val="0"/>
              </a:spcAft>
              <a:buClr>
                <a:srgbClr val="C00000"/>
              </a:buClr>
              <a:buSzPts val="2800"/>
              <a:buFont typeface="Calibri"/>
              <a:buAutoNum type="arabicPeriod"/>
            </a:pPr>
            <a:r>
              <a:rPr lang="en-US" b="1">
                <a:solidFill>
                  <a:srgbClr val="C00000"/>
                </a:solidFill>
                <a:latin typeface="Times New Roman"/>
                <a:ea typeface="Times New Roman"/>
                <a:cs typeface="Times New Roman"/>
                <a:sym typeface="Times New Roman"/>
              </a:rPr>
              <a:t>Cost basis or Unadjusted Cost</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Initial cost of the assets including purchase price, delivery and installation fees, and other depreciable direct costs incurred to prepare the asset for use.</a:t>
            </a:r>
            <a:endParaRPr/>
          </a:p>
          <a:p>
            <a:pPr marL="0" lvl="0" indent="0" algn="just" rtl="0">
              <a:lnSpc>
                <a:spcPct val="100000"/>
              </a:lnSpc>
              <a:spcBef>
                <a:spcPts val="100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2.  Book Value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Represents the remaining, un-depreciated capital investment on the books after the total amount of depreciation charges to date have been subtracted from the basis. [5]</a:t>
            </a:r>
            <a:endParaRPr b="1">
              <a:latin typeface="Times New Roman"/>
              <a:ea typeface="Times New Roman"/>
              <a:cs typeface="Times New Roman"/>
              <a:sym typeface="Times New Roman"/>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book value is usually determined at the end of each year.</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4"/>
          <p:cNvSpPr txBox="1">
            <a:spLocks noGrp="1"/>
          </p:cNvSpPr>
          <p:nvPr>
            <p:ph type="body" idx="1"/>
          </p:nvPr>
        </p:nvSpPr>
        <p:spPr>
          <a:xfrm>
            <a:off x="613913" y="1587170"/>
            <a:ext cx="10039710" cy="4848135"/>
          </a:xfrm>
          <a:prstGeom prst="rect">
            <a:avLst/>
          </a:prstGeom>
          <a:noFill/>
          <a:ln>
            <a:noFill/>
          </a:ln>
        </p:spPr>
        <p:txBody>
          <a:bodyPr spcFirstLastPara="1" wrap="square" lIns="91425" tIns="45700" rIns="91425" bIns="45700" anchor="t" anchorCtr="0">
            <a:normAutofit lnSpcReduction="10000"/>
          </a:bodyPr>
          <a:lstStyle/>
          <a:p>
            <a:pPr marL="457200" lvl="0" indent="-457200" algn="just" rtl="0">
              <a:lnSpc>
                <a:spcPct val="90000"/>
              </a:lnSpc>
              <a:spcBef>
                <a:spcPts val="0"/>
              </a:spcBef>
              <a:spcAft>
                <a:spcPts val="0"/>
              </a:spcAft>
              <a:buClr>
                <a:srgbClr val="C00000"/>
              </a:buClr>
              <a:buSzPts val="2800"/>
              <a:buFont typeface="Arial"/>
              <a:buAutoNum type="arabicPeriod" startAt="3"/>
            </a:pPr>
            <a:r>
              <a:rPr lang="en-US" b="1">
                <a:solidFill>
                  <a:srgbClr val="C00000"/>
                </a:solidFill>
                <a:latin typeface="Times New Roman"/>
                <a:ea typeface="Times New Roman"/>
                <a:cs typeface="Times New Roman"/>
                <a:sym typeface="Times New Roman"/>
              </a:rPr>
              <a:t>Recovery period</a:t>
            </a:r>
            <a:endParaRPr/>
          </a:p>
          <a:p>
            <a:pPr marL="457200" lvl="0" indent="-457200" algn="just" rtl="0">
              <a:lnSpc>
                <a:spcPct val="9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The number of years over which the basis of property is recovered through the accounting process. </a:t>
            </a:r>
            <a:endParaRPr/>
          </a:p>
          <a:p>
            <a:pPr marL="457200" lvl="0" indent="-457200" algn="just" rtl="0">
              <a:lnSpc>
                <a:spcPct val="9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It is the depreciable life n in years </a:t>
            </a:r>
            <a:endParaRPr/>
          </a:p>
          <a:p>
            <a:pPr marL="0" lvl="0" indent="0" algn="just" rtl="0">
              <a:lnSpc>
                <a:spcPct val="100000"/>
              </a:lnSpc>
              <a:spcBef>
                <a:spcPts val="1000"/>
              </a:spcBef>
              <a:spcAft>
                <a:spcPts val="0"/>
              </a:spcAft>
              <a:buClr>
                <a:srgbClr val="C00000"/>
              </a:buClr>
              <a:buSzPts val="2800"/>
              <a:buNone/>
            </a:pPr>
            <a:r>
              <a:rPr lang="en-US" b="1">
                <a:solidFill>
                  <a:srgbClr val="C00000"/>
                </a:solidFill>
                <a:latin typeface="Arial"/>
                <a:ea typeface="Arial"/>
                <a:cs typeface="Arial"/>
                <a:sym typeface="Arial"/>
              </a:rPr>
              <a:t>4.  </a:t>
            </a:r>
            <a:r>
              <a:rPr lang="en-US" b="1">
                <a:solidFill>
                  <a:srgbClr val="C00000"/>
                </a:solidFill>
                <a:latin typeface="Times New Roman"/>
                <a:ea typeface="Times New Roman"/>
                <a:cs typeface="Times New Roman"/>
                <a:sym typeface="Times New Roman"/>
              </a:rPr>
              <a:t>Salvage Value (SV)  </a:t>
            </a:r>
            <a:endParaRPr/>
          </a:p>
          <a:p>
            <a:pPr marL="457200" lvl="0" indent="-457200" algn="just" rtl="0">
              <a:lnSpc>
                <a:spcPct val="10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It is the estimated value of the property at the end of the asset’s depreciable life. </a:t>
            </a:r>
            <a:endParaRPr/>
          </a:p>
          <a:p>
            <a:pPr marL="457200" lvl="0" indent="-457200" algn="just" rtl="0">
              <a:lnSpc>
                <a:spcPct val="10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It is the expected selling price of a property when the asset can no longer be used productively by its owner. </a:t>
            </a:r>
            <a:endParaRPr/>
          </a:p>
          <a:p>
            <a:pPr marL="0" lvl="0" indent="0" algn="just" rtl="0">
              <a:lnSpc>
                <a:spcPct val="90000"/>
              </a:lnSpc>
              <a:spcBef>
                <a:spcPts val="1000"/>
              </a:spcBef>
              <a:spcAft>
                <a:spcPts val="0"/>
              </a:spcAft>
              <a:buClr>
                <a:schemeClr val="dk1"/>
              </a:buClr>
              <a:buSzPts val="2800"/>
              <a:buNone/>
            </a:pPr>
            <a:r>
              <a:rPr lang="en-US" b="1">
                <a:latin typeface="Arial"/>
                <a:ea typeface="Arial"/>
                <a:cs typeface="Arial"/>
                <a:sym typeface="Arial"/>
              </a:rPr>
              <a:t> </a:t>
            </a:r>
            <a:endParaRPr/>
          </a:p>
          <a:p>
            <a:pPr marL="457200" lvl="0" indent="-279400" algn="just" rtl="0">
              <a:lnSpc>
                <a:spcPct val="90000"/>
              </a:lnSpc>
              <a:spcBef>
                <a:spcPts val="1000"/>
              </a:spcBef>
              <a:spcAft>
                <a:spcPts val="0"/>
              </a:spcAft>
              <a:buClr>
                <a:schemeClr val="dk1"/>
              </a:buClr>
              <a:buSzPts val="2800"/>
              <a:buNone/>
            </a:pPr>
            <a:endParaRPr b="1">
              <a:latin typeface="Arial"/>
              <a:ea typeface="Arial"/>
              <a:cs typeface="Arial"/>
              <a:sym typeface="Arial"/>
            </a:endParaRPr>
          </a:p>
          <a:p>
            <a:pPr marL="457200" lvl="0" indent="-279400" algn="just" rtl="0">
              <a:lnSpc>
                <a:spcPct val="90000"/>
              </a:lnSpc>
              <a:spcBef>
                <a:spcPts val="1000"/>
              </a:spcBef>
              <a:spcAft>
                <a:spcPts val="0"/>
              </a:spcAft>
              <a:buClr>
                <a:schemeClr val="dk1"/>
              </a:buClr>
              <a:buSzPts val="2800"/>
              <a:buNone/>
            </a:pPr>
            <a:endParaRPr b="1">
              <a:latin typeface="Arial"/>
              <a:ea typeface="Arial"/>
              <a:cs typeface="Arial"/>
              <a:sym typeface="Arial"/>
            </a:endParaRPr>
          </a:p>
          <a:p>
            <a:pPr marL="0" lvl="0" indent="0" algn="l" rtl="0">
              <a:lnSpc>
                <a:spcPct val="90000"/>
              </a:lnSpc>
              <a:spcBef>
                <a:spcPts val="1000"/>
              </a:spcBef>
              <a:spcAft>
                <a:spcPts val="0"/>
              </a:spcAft>
              <a:buClr>
                <a:schemeClr val="dk1"/>
              </a:buClr>
              <a:buSzPts val="2800"/>
              <a:buNone/>
            </a:pPr>
            <a:endParaRPr/>
          </a:p>
        </p:txBody>
      </p:sp>
      <p:sp>
        <p:nvSpPr>
          <p:cNvPr id="186" name="Google Shape;186;p14"/>
          <p:cNvSpPr txBox="1">
            <a:spLocks noGrp="1"/>
          </p:cNvSpPr>
          <p:nvPr>
            <p:ph type="title"/>
          </p:nvPr>
        </p:nvSpPr>
        <p:spPr>
          <a:xfrm>
            <a:off x="838200" y="26160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Terminologies of Depreciation (Cont’d…)  </a:t>
            </a:r>
            <a:endParaRPr sz="3200" b="1">
              <a:solidFill>
                <a:srgbClr val="00206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5"/>
          <p:cNvSpPr txBox="1">
            <a:spLocks noGrp="1"/>
          </p:cNvSpPr>
          <p:nvPr>
            <p:ph type="body" idx="1"/>
          </p:nvPr>
        </p:nvSpPr>
        <p:spPr>
          <a:xfrm>
            <a:off x="674298" y="1388764"/>
            <a:ext cx="9617015" cy="4891266"/>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rgbClr val="C00000"/>
              </a:buClr>
              <a:buSzPts val="2800"/>
              <a:buAutoNum type="arabicPeriod" startAt="5"/>
            </a:pPr>
            <a:r>
              <a:rPr lang="en-US" b="1">
                <a:solidFill>
                  <a:srgbClr val="C00000"/>
                </a:solidFill>
                <a:latin typeface="Times New Roman"/>
                <a:ea typeface="Times New Roman"/>
                <a:cs typeface="Times New Roman"/>
                <a:sym typeface="Times New Roman"/>
              </a:rPr>
              <a:t>Market Value  </a:t>
            </a:r>
            <a:endParaRPr/>
          </a:p>
          <a:p>
            <a:pPr marL="228600" lvl="0" indent="-228600" algn="just"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It is the estimated amount of money that are bought and sold in the open market. </a:t>
            </a:r>
            <a:endParaRPr/>
          </a:p>
          <a:p>
            <a:pPr marL="228600" lvl="0" indent="-228600" algn="just"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It is the amount that is paid by willing buyer to willing seller for a property. </a:t>
            </a:r>
            <a:endParaRPr/>
          </a:p>
          <a:p>
            <a:pPr marL="0" lvl="0" indent="0" algn="l" rtl="0">
              <a:lnSpc>
                <a:spcPct val="90000"/>
              </a:lnSpc>
              <a:spcBef>
                <a:spcPts val="100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6.  Useful Life </a:t>
            </a:r>
            <a:endParaRPr/>
          </a:p>
          <a:p>
            <a:pPr marL="228600" lvl="0" indent="-228600" algn="just" rtl="0">
              <a:lnSpc>
                <a:spcPct val="90000"/>
              </a:lnSpc>
              <a:spcBef>
                <a:spcPts val="1000"/>
              </a:spcBef>
              <a:spcAft>
                <a:spcPts val="0"/>
              </a:spcAft>
              <a:buClr>
                <a:schemeClr val="dk1"/>
              </a:buClr>
              <a:buSzPts val="2800"/>
              <a:buFont typeface="Noto Sans Symbols"/>
              <a:buChar char="⮚"/>
            </a:pPr>
            <a:r>
              <a:rPr lang="en-US"/>
              <a:t> </a:t>
            </a:r>
            <a:r>
              <a:rPr lang="en-US" b="1">
                <a:latin typeface="Times New Roman"/>
                <a:ea typeface="Times New Roman"/>
                <a:cs typeface="Times New Roman"/>
                <a:sym typeface="Times New Roman"/>
              </a:rPr>
              <a:t>It the estimated time that the property can be kept into business and trade to produce income. </a:t>
            </a:r>
            <a:endParaRPr/>
          </a:p>
          <a:p>
            <a:pPr marL="228600" lvl="0" indent="-228600" algn="just"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It is also sometimes called depreciable life. </a:t>
            </a:r>
            <a:endParaRPr/>
          </a:p>
        </p:txBody>
      </p:sp>
      <p:sp>
        <p:nvSpPr>
          <p:cNvPr id="192" name="Google Shape;192;p15"/>
          <p:cNvSpPr txBox="1">
            <a:spLocks noGrp="1"/>
          </p:cNvSpPr>
          <p:nvPr>
            <p:ph type="title"/>
          </p:nvPr>
        </p:nvSpPr>
        <p:spPr>
          <a:xfrm>
            <a:off x="950344" y="235729"/>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Terminologies of Depreciation (Cont’d…)  </a:t>
            </a:r>
            <a:endParaRPr sz="3200" b="1">
              <a:solidFill>
                <a:srgbClr val="00206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6"/>
          <p:cNvSpPr txBox="1">
            <a:spLocks noGrp="1"/>
          </p:cNvSpPr>
          <p:nvPr>
            <p:ph type="title"/>
          </p:nvPr>
        </p:nvSpPr>
        <p:spPr>
          <a:xfrm>
            <a:off x="1467928" y="27023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Methods of Depreciation </a:t>
            </a:r>
            <a:endParaRPr/>
          </a:p>
        </p:txBody>
      </p:sp>
      <p:sp>
        <p:nvSpPr>
          <p:cNvPr id="198" name="Google Shape;198;p16"/>
          <p:cNvSpPr txBox="1">
            <a:spLocks noGrp="1"/>
          </p:cNvSpPr>
          <p:nvPr>
            <p:ph type="body" idx="1"/>
          </p:nvPr>
        </p:nvSpPr>
        <p:spPr>
          <a:xfrm>
            <a:off x="562153" y="1446062"/>
            <a:ext cx="10928231" cy="4963364"/>
          </a:xfrm>
          <a:prstGeom prst="rect">
            <a:avLst/>
          </a:prstGeom>
          <a:noFill/>
          <a:ln>
            <a:noFill/>
          </a:ln>
        </p:spPr>
        <p:txBody>
          <a:bodyPr spcFirstLastPara="1" wrap="square" lIns="91425" tIns="45700" rIns="91425" bIns="45700" anchor="t" anchorCtr="0">
            <a:normAutofit lnSpcReduction="10000"/>
          </a:bodyPr>
          <a:lstStyle/>
          <a:p>
            <a:pPr marL="514350" lvl="0" indent="-514350" algn="l" rtl="0">
              <a:lnSpc>
                <a:spcPct val="90000"/>
              </a:lnSpc>
              <a:spcBef>
                <a:spcPts val="0"/>
              </a:spcBef>
              <a:spcAft>
                <a:spcPts val="0"/>
              </a:spcAft>
              <a:buClr>
                <a:srgbClr val="C00000"/>
              </a:buClr>
              <a:buSzPts val="2800"/>
              <a:buAutoNum type="arabicPeriod"/>
            </a:pPr>
            <a:r>
              <a:rPr lang="en-US" b="1">
                <a:solidFill>
                  <a:srgbClr val="C00000"/>
                </a:solidFill>
                <a:latin typeface="Times New Roman"/>
                <a:ea typeface="Times New Roman"/>
                <a:cs typeface="Times New Roman"/>
                <a:sym typeface="Times New Roman"/>
              </a:rPr>
              <a:t>Book Depreciation Method </a:t>
            </a:r>
            <a:r>
              <a:rPr lang="en-US" b="1">
                <a:latin typeface="Times New Roman"/>
                <a:ea typeface="Times New Roman"/>
                <a:cs typeface="Times New Roman"/>
                <a:sym typeface="Times New Roman"/>
              </a:rPr>
              <a:t>(used by business for financial accounting)</a:t>
            </a:r>
            <a:r>
              <a:rPr lang="en-US" b="1">
                <a:solidFill>
                  <a:srgbClr val="C00000"/>
                </a:solidFill>
                <a:latin typeface="Times New Roman"/>
                <a:ea typeface="Times New Roman"/>
                <a:cs typeface="Times New Roman"/>
                <a:sym typeface="Times New Roman"/>
              </a:rPr>
              <a:t> </a:t>
            </a:r>
            <a:endParaRPr/>
          </a:p>
          <a:p>
            <a:pPr marL="0" lvl="0" indent="0" algn="l" rtl="0">
              <a:lnSpc>
                <a:spcPct val="90000"/>
              </a:lnSpc>
              <a:spcBef>
                <a:spcPts val="1000"/>
              </a:spcBef>
              <a:spcAft>
                <a:spcPts val="0"/>
              </a:spcAft>
              <a:buClr>
                <a:srgbClr val="C00000"/>
              </a:buClr>
              <a:buSzPts val="2800"/>
              <a:buNone/>
            </a:pPr>
            <a:r>
              <a:rPr lang="en-US" b="1">
                <a:solidFill>
                  <a:srgbClr val="C00000"/>
                </a:solidFill>
                <a:latin typeface="Arial"/>
                <a:ea typeface="Arial"/>
                <a:cs typeface="Arial"/>
                <a:sym typeface="Arial"/>
              </a:rPr>
              <a:t>             </a:t>
            </a:r>
            <a:r>
              <a:rPr lang="en-US" b="1">
                <a:latin typeface="Times New Roman"/>
                <a:ea typeface="Times New Roman"/>
                <a:cs typeface="Times New Roman"/>
                <a:sym typeface="Times New Roman"/>
              </a:rPr>
              <a:t>(a) Straight line Method</a:t>
            </a:r>
            <a:endParaRPr/>
          </a:p>
          <a:p>
            <a:pPr marL="0" lvl="0" indent="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(b) Accelerated Method </a:t>
            </a:r>
            <a:endParaRPr/>
          </a:p>
          <a:p>
            <a:pPr marL="514350" lvl="0" indent="-51435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(i) Declining balance Method</a:t>
            </a:r>
            <a:endParaRPr/>
          </a:p>
          <a:p>
            <a:pPr marL="514350" lvl="0" indent="-51435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(ii) Sum of the Year’s Digit Method.</a:t>
            </a:r>
            <a:endParaRPr/>
          </a:p>
          <a:p>
            <a:pPr marL="514350" lvl="0" indent="-51435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(iii) Sinking Fund Method </a:t>
            </a:r>
            <a:endParaRPr b="1">
              <a:latin typeface="Times New Roman"/>
              <a:ea typeface="Times New Roman"/>
              <a:cs typeface="Times New Roman"/>
              <a:sym typeface="Times New Roman"/>
            </a:endParaRPr>
          </a:p>
          <a:p>
            <a:pPr marL="514350" lvl="0" indent="-514350" algn="l" rtl="0">
              <a:lnSpc>
                <a:spcPct val="90000"/>
              </a:lnSpc>
              <a:spcBef>
                <a:spcPts val="1000"/>
              </a:spcBef>
              <a:spcAft>
                <a:spcPts val="0"/>
              </a:spcAft>
              <a:buClr>
                <a:srgbClr val="C00000"/>
              </a:buClr>
              <a:buSzPts val="3200"/>
              <a:buNone/>
            </a:pPr>
            <a:r>
              <a:rPr lang="en-US" sz="3200" b="1">
                <a:solidFill>
                  <a:srgbClr val="C00000"/>
                </a:solidFill>
                <a:latin typeface="Times New Roman"/>
                <a:ea typeface="Times New Roman"/>
                <a:cs typeface="Times New Roman"/>
                <a:sym typeface="Times New Roman"/>
              </a:rPr>
              <a:t>2</a:t>
            </a:r>
            <a:r>
              <a:rPr lang="en-US" b="1">
                <a:solidFill>
                  <a:srgbClr val="C00000"/>
                </a:solidFill>
                <a:latin typeface="Times New Roman"/>
                <a:ea typeface="Times New Roman"/>
                <a:cs typeface="Times New Roman"/>
                <a:sym typeface="Times New Roman"/>
              </a:rPr>
              <a:t>.  Tax Depreciation Methods </a:t>
            </a:r>
            <a:r>
              <a:rPr lang="en-US" b="1">
                <a:latin typeface="Times New Roman"/>
                <a:ea typeface="Times New Roman"/>
                <a:cs typeface="Times New Roman"/>
                <a:sym typeface="Times New Roman"/>
              </a:rPr>
              <a:t>(used in tax calculation per government regulations) </a:t>
            </a:r>
            <a:endParaRPr b="1">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3F21F1"/>
              </a:buClr>
              <a:buSzPts val="2800"/>
              <a:buNone/>
            </a:pPr>
            <a:r>
              <a:rPr lang="en-US" b="1">
                <a:solidFill>
                  <a:srgbClr val="3F21F1"/>
                </a:solidFill>
                <a:latin typeface="Arial"/>
                <a:ea typeface="Arial"/>
                <a:cs typeface="Arial"/>
                <a:sym typeface="Arial"/>
              </a:rPr>
              <a:t>        </a:t>
            </a:r>
            <a:r>
              <a:rPr lang="en-US" b="1">
                <a:latin typeface="Times New Roman"/>
                <a:ea typeface="Times New Roman"/>
                <a:cs typeface="Times New Roman"/>
                <a:sym typeface="Times New Roman"/>
              </a:rPr>
              <a:t>(a) Accelerated Cost Recovery System (ACRS)</a:t>
            </a:r>
            <a:endParaRPr/>
          </a:p>
          <a:p>
            <a:pPr marL="0" lvl="0" indent="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(b) Modified Accelerated Cost Recovery Systems. (MACRS)</a:t>
            </a:r>
            <a:endParaRPr/>
          </a:p>
          <a:p>
            <a:pPr marL="0" lvl="0" indent="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7"/>
          <p:cNvSpPr txBox="1">
            <a:spLocks noGrp="1"/>
          </p:cNvSpPr>
          <p:nvPr>
            <p:ph type="body" idx="1"/>
          </p:nvPr>
        </p:nvSpPr>
        <p:spPr>
          <a:xfrm>
            <a:off x="631165" y="1483743"/>
            <a:ext cx="10100094" cy="500331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2060"/>
              </a:buClr>
              <a:buSzPts val="2800"/>
              <a:buNone/>
            </a:pPr>
            <a:r>
              <a:rPr lang="en-US" b="1">
                <a:solidFill>
                  <a:srgbClr val="002060"/>
                </a:solidFill>
                <a:latin typeface="Times New Roman"/>
                <a:ea typeface="Times New Roman"/>
                <a:cs typeface="Times New Roman"/>
                <a:sym typeface="Times New Roman"/>
              </a:rPr>
              <a:t>Book Depreciation</a:t>
            </a:r>
            <a:endParaRPr b="1">
              <a:latin typeface="Times New Roman"/>
              <a:ea typeface="Times New Roman"/>
              <a:cs typeface="Times New Roman"/>
              <a:sym typeface="Times New Roman"/>
            </a:endParaRPr>
          </a:p>
          <a:p>
            <a:pPr marL="514350" lvl="0" indent="-514350" algn="l" rtl="0">
              <a:lnSpc>
                <a:spcPct val="90000"/>
              </a:lnSpc>
              <a:spcBef>
                <a:spcPts val="1000"/>
              </a:spcBef>
              <a:spcAft>
                <a:spcPts val="0"/>
              </a:spcAft>
              <a:buClr>
                <a:srgbClr val="C00000"/>
              </a:buClr>
              <a:buSzPts val="2800"/>
              <a:buAutoNum type="arabicPeriod"/>
            </a:pPr>
            <a:r>
              <a:rPr lang="en-US" b="1">
                <a:solidFill>
                  <a:srgbClr val="C00000"/>
                </a:solidFill>
                <a:latin typeface="Times New Roman"/>
                <a:ea typeface="Times New Roman"/>
                <a:cs typeface="Times New Roman"/>
                <a:sym typeface="Times New Roman"/>
              </a:rPr>
              <a:t>Straight – Line Method (SL)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It is the simplest and most often used depreciation method.</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It assumes that a </a:t>
            </a:r>
            <a:r>
              <a:rPr lang="en-US" b="1">
                <a:solidFill>
                  <a:srgbClr val="C00000"/>
                </a:solidFill>
                <a:latin typeface="Times New Roman"/>
                <a:ea typeface="Times New Roman"/>
                <a:cs typeface="Times New Roman"/>
                <a:sym typeface="Times New Roman"/>
              </a:rPr>
              <a:t>constant amount is depreciated each year</a:t>
            </a:r>
            <a:r>
              <a:rPr lang="en-US" b="1">
                <a:latin typeface="Times New Roman"/>
                <a:ea typeface="Times New Roman"/>
                <a:cs typeface="Times New Roman"/>
                <a:sym typeface="Times New Roman"/>
              </a:rPr>
              <a:t> over the depreciable (useful life) of the asset.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In this method, a </a:t>
            </a:r>
            <a:r>
              <a:rPr lang="en-US" b="1">
                <a:solidFill>
                  <a:srgbClr val="C00000"/>
                </a:solidFill>
                <a:latin typeface="Times New Roman"/>
                <a:ea typeface="Times New Roman"/>
                <a:cs typeface="Times New Roman"/>
                <a:sym typeface="Times New Roman"/>
              </a:rPr>
              <a:t>fixed or equal sum or amount is charged as the depreciation amount throughout the lifetime </a:t>
            </a:r>
            <a:r>
              <a:rPr lang="en-US" b="1">
                <a:latin typeface="Times New Roman"/>
                <a:ea typeface="Times New Roman"/>
                <a:cs typeface="Times New Roman"/>
                <a:sym typeface="Times New Roman"/>
              </a:rPr>
              <a:t>of the asset such that the accumulated sum at the end of the life of the asset is exactly equal to the purchase value of the cost, i.e. the value of the assets will become zero </a:t>
            </a:r>
            <a:endParaRPr/>
          </a:p>
          <a:p>
            <a:pPr marL="0" lvl="0" indent="0" algn="l" rtl="0">
              <a:lnSpc>
                <a:spcPct val="90000"/>
              </a:lnSpc>
              <a:spcBef>
                <a:spcPts val="1000"/>
              </a:spcBef>
              <a:spcAft>
                <a:spcPts val="0"/>
              </a:spcAft>
              <a:buClr>
                <a:schemeClr val="dk1"/>
              </a:buClr>
              <a:buSzPts val="2800"/>
              <a:buNone/>
            </a:pPr>
            <a:endParaRPr b="1">
              <a:solidFill>
                <a:srgbClr val="3F21F1"/>
              </a:solidFill>
              <a:latin typeface="Arial"/>
              <a:ea typeface="Arial"/>
              <a:cs typeface="Arial"/>
              <a:sym typeface="Arial"/>
            </a:endParaRPr>
          </a:p>
          <a:p>
            <a:pPr marL="0" lvl="0" indent="0" algn="l" rtl="0">
              <a:lnSpc>
                <a:spcPct val="90000"/>
              </a:lnSpc>
              <a:spcBef>
                <a:spcPts val="1000"/>
              </a:spcBef>
              <a:spcAft>
                <a:spcPts val="0"/>
              </a:spcAft>
              <a:buClr>
                <a:schemeClr val="dk1"/>
              </a:buClr>
              <a:buSzPts val="2800"/>
              <a:buNone/>
            </a:pPr>
            <a:endParaRPr/>
          </a:p>
        </p:txBody>
      </p:sp>
      <p:sp>
        <p:nvSpPr>
          <p:cNvPr id="204" name="Google Shape;204;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Methods of Depreciation (Cont’d….)  </a:t>
            </a:r>
            <a:endParaRPr sz="3200" b="1">
              <a:solidFill>
                <a:srgbClr val="00206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8"/>
          <p:cNvSpPr txBox="1">
            <a:spLocks noGrp="1"/>
          </p:cNvSpPr>
          <p:nvPr>
            <p:ph type="body" idx="1"/>
          </p:nvPr>
        </p:nvSpPr>
        <p:spPr>
          <a:xfrm>
            <a:off x="3305356" y="2541618"/>
            <a:ext cx="3923581" cy="701731"/>
          </a:xfrm>
          <a:prstGeom prst="rect">
            <a:avLst/>
          </a:prstGeom>
          <a:solidFill>
            <a:schemeClr val="lt2"/>
          </a:solid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chemeClr val="dk1"/>
              </a:buClr>
              <a:buSzPts val="4400"/>
              <a:buFont typeface="Arial"/>
              <a:buNone/>
            </a:pPr>
            <a:r>
              <a:rPr lang="en-US" sz="4400" b="1" i="0" u="none" strike="noStrike" cap="none">
                <a:solidFill>
                  <a:schemeClr val="dk1"/>
                </a:solidFill>
                <a:latin typeface="Times New Roman"/>
                <a:ea typeface="Times New Roman"/>
                <a:cs typeface="Times New Roman"/>
                <a:sym typeface="Times New Roman"/>
              </a:rPr>
              <a:t>D</a:t>
            </a:r>
            <a:r>
              <a:rPr lang="en-US" sz="4400" b="1" i="0" u="none" strike="noStrike" cap="none" baseline="-25000">
                <a:solidFill>
                  <a:schemeClr val="dk1"/>
                </a:solidFill>
                <a:latin typeface="Times New Roman"/>
                <a:ea typeface="Times New Roman"/>
                <a:cs typeface="Times New Roman"/>
                <a:sym typeface="Times New Roman"/>
              </a:rPr>
              <a:t>n</a:t>
            </a:r>
            <a:r>
              <a:rPr lang="en-US" sz="4400" b="1" i="0" u="none" strike="noStrike" cap="none">
                <a:solidFill>
                  <a:schemeClr val="dk1"/>
                </a:solidFill>
                <a:latin typeface="Times New Roman"/>
                <a:ea typeface="Times New Roman"/>
                <a:cs typeface="Times New Roman"/>
                <a:sym typeface="Times New Roman"/>
              </a:rPr>
              <a:t>  = (I – S)/ N  </a:t>
            </a:r>
            <a:endParaRPr/>
          </a:p>
        </p:txBody>
      </p:sp>
      <p:sp>
        <p:nvSpPr>
          <p:cNvPr id="210" name="Google Shape;210;p18"/>
          <p:cNvSpPr/>
          <p:nvPr/>
        </p:nvSpPr>
        <p:spPr>
          <a:xfrm>
            <a:off x="756812" y="1552702"/>
            <a:ext cx="5165197" cy="523220"/>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Clr>
                <a:srgbClr val="C00000"/>
              </a:buClr>
              <a:buSzPts val="2800"/>
              <a:buFont typeface="Times New Roman"/>
              <a:buAutoNum type="arabicPeriod"/>
            </a:pPr>
            <a:r>
              <a:rPr lang="en-US" sz="2800" b="1" i="0" u="none" strike="noStrike" cap="none">
                <a:solidFill>
                  <a:srgbClr val="C00000"/>
                </a:solidFill>
                <a:latin typeface="Times New Roman"/>
                <a:ea typeface="Times New Roman"/>
                <a:cs typeface="Times New Roman"/>
                <a:sym typeface="Times New Roman"/>
              </a:rPr>
              <a:t>Straight – Line Method (SL) </a:t>
            </a:r>
            <a:endParaRPr sz="2800" b="1" i="0" u="none" strike="noStrike" cap="none">
              <a:solidFill>
                <a:srgbClr val="C00000"/>
              </a:solidFill>
              <a:latin typeface="Times New Roman"/>
              <a:ea typeface="Times New Roman"/>
              <a:cs typeface="Times New Roman"/>
              <a:sym typeface="Times New Roman"/>
            </a:endParaRPr>
          </a:p>
        </p:txBody>
      </p:sp>
      <p:sp>
        <p:nvSpPr>
          <p:cNvPr id="211" name="Google Shape;211;p18"/>
          <p:cNvSpPr txBox="1"/>
          <p:nvPr/>
        </p:nvSpPr>
        <p:spPr>
          <a:xfrm>
            <a:off x="756812" y="3243349"/>
            <a:ext cx="9499995" cy="252376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Where,</a:t>
            </a:r>
            <a:endParaRPr/>
          </a:p>
          <a:p>
            <a:pPr marL="0" marR="0" lvl="0" indent="0" algn="l" rtl="0">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D</a:t>
            </a:r>
            <a:r>
              <a:rPr lang="en-US" sz="2800" b="1" i="0" u="none" strike="noStrike" cap="none" baseline="-25000">
                <a:solidFill>
                  <a:schemeClr val="dk1"/>
                </a:solidFill>
                <a:latin typeface="Times New Roman"/>
                <a:ea typeface="Times New Roman"/>
                <a:cs typeface="Times New Roman"/>
                <a:sym typeface="Times New Roman"/>
              </a:rPr>
              <a:t>n</a:t>
            </a:r>
            <a:r>
              <a:rPr lang="en-US" sz="2800" b="1" i="0" u="none" strike="noStrike" cap="none">
                <a:solidFill>
                  <a:schemeClr val="dk1"/>
                </a:solidFill>
                <a:latin typeface="Times New Roman"/>
                <a:ea typeface="Times New Roman"/>
                <a:cs typeface="Times New Roman"/>
                <a:sym typeface="Times New Roman"/>
              </a:rPr>
              <a:t> = Depreciation charge during year n</a:t>
            </a:r>
            <a:endParaRPr/>
          </a:p>
          <a:p>
            <a:pPr marL="0" marR="0" lvl="0" indent="0" algn="l" rtl="0">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I     = Cost of the assets including installation expenses</a:t>
            </a:r>
            <a:endParaRPr/>
          </a:p>
          <a:p>
            <a:pPr marL="0" marR="0" lvl="0" indent="0" algn="l" rtl="0">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S    = Salvage value at the end of useful life</a:t>
            </a:r>
            <a:endParaRPr/>
          </a:p>
          <a:p>
            <a:pPr marL="0" marR="0" lvl="0" indent="0" algn="l" rtl="0">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N   = Useful life  </a:t>
            </a:r>
            <a:endParaRPr/>
          </a:p>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2" name="Google Shape;212;p18"/>
          <p:cNvSpPr txBox="1"/>
          <p:nvPr/>
        </p:nvSpPr>
        <p:spPr>
          <a:xfrm>
            <a:off x="627416" y="5536284"/>
            <a:ext cx="104997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u="none" strike="noStrike" cap="none">
                <a:solidFill>
                  <a:schemeClr val="dk1"/>
                </a:solidFill>
                <a:latin typeface="Times New Roman"/>
                <a:ea typeface="Times New Roman"/>
                <a:cs typeface="Times New Roman"/>
                <a:sym typeface="Times New Roman"/>
              </a:rPr>
              <a:t>Book Value  in a given year = Cost Basis – total depreciation charges made to date</a:t>
            </a:r>
            <a:endParaRPr/>
          </a:p>
        </p:txBody>
      </p:sp>
      <p:sp>
        <p:nvSpPr>
          <p:cNvPr id="213" name="Google Shape;213;p18"/>
          <p:cNvSpPr txBox="1">
            <a:spLocks noGrp="1"/>
          </p:cNvSpPr>
          <p:nvPr>
            <p:ph type="title"/>
          </p:nvPr>
        </p:nvSpPr>
        <p:spPr>
          <a:xfrm>
            <a:off x="1079740" y="28466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Methods of Depreciation (Cont’d….)  </a:t>
            </a:r>
            <a:endParaRPr sz="3200" b="1">
              <a:solidFill>
                <a:srgbClr val="00206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9"/>
          <p:cNvSpPr txBox="1">
            <a:spLocks noGrp="1"/>
          </p:cNvSpPr>
          <p:nvPr>
            <p:ph type="title"/>
          </p:nvPr>
        </p:nvSpPr>
        <p:spPr>
          <a:xfrm>
            <a:off x="1252268" y="227139"/>
            <a:ext cx="10515600" cy="1325563"/>
          </a:xfrm>
          <a:prstGeom prst="rect">
            <a:avLst/>
          </a:prstGeom>
          <a:noFill/>
          <a:ln>
            <a:noFill/>
          </a:ln>
        </p:spPr>
        <p:txBody>
          <a:bodyPr spcFirstLastPara="1" wrap="square" lIns="91425" tIns="45700" rIns="91425" bIns="45700" anchor="ctr" anchorCtr="0">
            <a:normAutofit/>
          </a:bodyPr>
          <a:lstStyle/>
          <a:p>
            <a:pPr marL="514350" lvl="0" indent="-51435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Straight – Line Method (SL) (Cont’d…) </a:t>
            </a:r>
            <a:endParaRPr sz="3200" b="1">
              <a:solidFill>
                <a:srgbClr val="002060"/>
              </a:solidFill>
              <a:latin typeface="Times New Roman"/>
              <a:ea typeface="Times New Roman"/>
              <a:cs typeface="Times New Roman"/>
              <a:sym typeface="Times New Roman"/>
            </a:endParaRPr>
          </a:p>
        </p:txBody>
      </p:sp>
      <p:sp>
        <p:nvSpPr>
          <p:cNvPr id="219" name="Google Shape;219;p19"/>
          <p:cNvSpPr txBox="1">
            <a:spLocks noGrp="1"/>
          </p:cNvSpPr>
          <p:nvPr>
            <p:ph type="body" idx="1"/>
          </p:nvPr>
        </p:nvSpPr>
        <p:spPr>
          <a:xfrm>
            <a:off x="872706" y="1420183"/>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pPr>
            <a:endParaRPr b="1">
              <a:latin typeface="Arial"/>
              <a:ea typeface="Arial"/>
              <a:cs typeface="Arial"/>
              <a:sym typeface="Arial"/>
            </a:endParaRPr>
          </a:p>
          <a:p>
            <a:pPr marL="228600" lvl="0" indent="-22860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Consider the following automobile data:</a:t>
            </a:r>
            <a:endParaRPr/>
          </a:p>
          <a:p>
            <a:pPr marL="228600" lvl="0" indent="-22860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Cost of the asset , (I)  = $ 10,000</a:t>
            </a:r>
            <a:endParaRPr/>
          </a:p>
          <a:p>
            <a:pPr marL="228600" lvl="0" indent="-22860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Useful life ,(N)             = 5 years</a:t>
            </a:r>
            <a:endParaRPr/>
          </a:p>
          <a:p>
            <a:pPr marL="228600" lvl="0" indent="-22860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Estimated Salvage value (S) = $ 2,000</a:t>
            </a:r>
            <a:endParaRPr/>
          </a:p>
          <a:p>
            <a:pPr marL="228600" lvl="0" indent="-228600" algn="l" rtl="0">
              <a:lnSpc>
                <a:spcPct val="90000"/>
              </a:lnSpc>
              <a:spcBef>
                <a:spcPts val="1000"/>
              </a:spcBef>
              <a:spcAft>
                <a:spcPts val="0"/>
              </a:spcAft>
              <a:buClr>
                <a:schemeClr val="dk1"/>
              </a:buClr>
              <a:buSzPts val="2800"/>
              <a:buNone/>
            </a:pPr>
            <a:endParaRPr b="1">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Compute the annual depreciation allowance and the resulting book value using the straight line depreciation method? </a:t>
            </a:r>
            <a:endParaRPr b="1">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3"/>
        <p:cNvGrpSpPr/>
        <p:nvPr/>
      </p:nvGrpSpPr>
      <p:grpSpPr>
        <a:xfrm>
          <a:off x="0" y="0"/>
          <a:ext cx="0" cy="0"/>
          <a:chOff x="0" y="0"/>
          <a:chExt cx="0" cy="0"/>
        </a:xfrm>
      </p:grpSpPr>
      <p:sp>
        <p:nvSpPr>
          <p:cNvPr id="224" name="Google Shape;224;p20"/>
          <p:cNvSpPr txBox="1">
            <a:spLocks noGrp="1"/>
          </p:cNvSpPr>
          <p:nvPr>
            <p:ph type="body" idx="1"/>
          </p:nvPr>
        </p:nvSpPr>
        <p:spPr>
          <a:xfrm>
            <a:off x="536275" y="1006116"/>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pPr>
            <a:r>
              <a:rPr lang="en-US" b="1">
                <a:latin typeface="Times New Roman"/>
                <a:ea typeface="Times New Roman"/>
                <a:cs typeface="Times New Roman"/>
                <a:sym typeface="Times New Roman"/>
              </a:rPr>
              <a:t>Given:  I = $10,000, S = $2,000, N = 5 years</a:t>
            </a:r>
            <a:endParaRPr/>
          </a:p>
          <a:p>
            <a:pPr marL="228600" lvl="0" indent="-22860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Find:    D</a:t>
            </a:r>
            <a:r>
              <a:rPr lang="en-US" b="1" baseline="-25000">
                <a:latin typeface="Times New Roman"/>
                <a:ea typeface="Times New Roman"/>
                <a:cs typeface="Times New Roman"/>
                <a:sym typeface="Times New Roman"/>
              </a:rPr>
              <a:t>n</a:t>
            </a:r>
            <a:r>
              <a:rPr lang="en-US" b="1">
                <a:latin typeface="Times New Roman"/>
                <a:ea typeface="Times New Roman"/>
                <a:cs typeface="Times New Roman"/>
                <a:sym typeface="Times New Roman"/>
              </a:rPr>
              <a:t> and B</a:t>
            </a:r>
            <a:r>
              <a:rPr lang="en-US" b="1" baseline="-25000">
                <a:latin typeface="Times New Roman"/>
                <a:ea typeface="Times New Roman"/>
                <a:cs typeface="Times New Roman"/>
                <a:sym typeface="Times New Roman"/>
              </a:rPr>
              <a:t>n</a:t>
            </a:r>
            <a:r>
              <a:rPr lang="en-US" b="1">
                <a:latin typeface="Times New Roman"/>
                <a:ea typeface="Times New Roman"/>
                <a:cs typeface="Times New Roman"/>
                <a:sym typeface="Times New Roman"/>
              </a:rPr>
              <a:t> for n =1 to 5</a:t>
            </a:r>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The straight line depreciation rate is 1/5 or 20%. </a:t>
            </a:r>
            <a:endParaRPr b="1">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Therefore the annual depreciation charge is </a:t>
            </a:r>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D</a:t>
            </a:r>
            <a:r>
              <a:rPr lang="en-US" b="1" baseline="-25000">
                <a:latin typeface="Times New Roman"/>
                <a:ea typeface="Times New Roman"/>
                <a:cs typeface="Times New Roman"/>
                <a:sym typeface="Times New Roman"/>
              </a:rPr>
              <a:t>n</a:t>
            </a:r>
            <a:r>
              <a:rPr lang="en-US" b="1">
                <a:latin typeface="Times New Roman"/>
                <a:ea typeface="Times New Roman"/>
                <a:cs typeface="Times New Roman"/>
                <a:sym typeface="Times New Roman"/>
              </a:rPr>
              <a:t> = (0.20) ($10,000 - $2000)  = $ 1600</a:t>
            </a:r>
            <a:endParaRPr/>
          </a:p>
        </p:txBody>
      </p:sp>
      <p:sp>
        <p:nvSpPr>
          <p:cNvPr id="225" name="Google Shape;225;p20"/>
          <p:cNvSpPr txBox="1">
            <a:spLocks noGrp="1"/>
          </p:cNvSpPr>
          <p:nvPr>
            <p:ph type="title"/>
          </p:nvPr>
        </p:nvSpPr>
        <p:spPr>
          <a:xfrm>
            <a:off x="1485181" y="0"/>
            <a:ext cx="10515600" cy="1325563"/>
          </a:xfrm>
          <a:prstGeom prst="rect">
            <a:avLst/>
          </a:prstGeom>
          <a:noFill/>
          <a:ln>
            <a:noFill/>
          </a:ln>
        </p:spPr>
        <p:txBody>
          <a:bodyPr spcFirstLastPara="1" wrap="square" lIns="91425" tIns="45700" rIns="91425" bIns="45700" anchor="ctr" anchorCtr="0">
            <a:normAutofit/>
          </a:bodyPr>
          <a:lstStyle/>
          <a:p>
            <a:pPr marL="514350" lvl="0" indent="-51435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Straight – Line Method (SL) (Cont’d…) </a:t>
            </a:r>
            <a:endParaRPr sz="3200" b="1">
              <a:solidFill>
                <a:srgbClr val="002060"/>
              </a:solidFill>
              <a:latin typeface="Times New Roman"/>
              <a:ea typeface="Times New Roman"/>
              <a:cs typeface="Times New Roman"/>
              <a:sym typeface="Times New Roman"/>
            </a:endParaRPr>
          </a:p>
        </p:txBody>
      </p:sp>
      <p:sp>
        <p:nvSpPr>
          <p:cNvPr id="226" name="Google Shape;226;p20"/>
          <p:cNvSpPr/>
          <p:nvPr/>
        </p:nvSpPr>
        <p:spPr>
          <a:xfrm>
            <a:off x="6498566" y="3701057"/>
            <a:ext cx="5069457"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i="0" u="none" strike="noStrike" cap="none">
                <a:solidFill>
                  <a:schemeClr val="dk1"/>
                </a:solidFill>
                <a:latin typeface="Times New Roman"/>
                <a:ea typeface="Times New Roman"/>
                <a:cs typeface="Times New Roman"/>
                <a:sym typeface="Times New Roman"/>
              </a:rPr>
              <a:t>Where B</a:t>
            </a:r>
            <a:r>
              <a:rPr lang="en-US" sz="2400" b="1" i="0" u="none" strike="noStrike" cap="none" baseline="-25000">
                <a:solidFill>
                  <a:schemeClr val="dk1"/>
                </a:solidFill>
                <a:latin typeface="Times New Roman"/>
                <a:ea typeface="Times New Roman"/>
                <a:cs typeface="Times New Roman"/>
                <a:sym typeface="Times New Roman"/>
              </a:rPr>
              <a:t>n-1</a:t>
            </a:r>
            <a:r>
              <a:rPr lang="en-US" sz="2400" b="1" i="0" u="none" strike="noStrike" cap="none">
                <a:solidFill>
                  <a:schemeClr val="dk1"/>
                </a:solidFill>
                <a:latin typeface="Times New Roman"/>
                <a:ea typeface="Times New Roman"/>
                <a:cs typeface="Times New Roman"/>
                <a:sym typeface="Times New Roman"/>
              </a:rPr>
              <a:t> and B</a:t>
            </a:r>
            <a:r>
              <a:rPr lang="en-US" sz="2400" b="1" i="0" u="none" strike="noStrike" cap="none" baseline="-25000">
                <a:solidFill>
                  <a:schemeClr val="dk1"/>
                </a:solidFill>
                <a:latin typeface="Times New Roman"/>
                <a:ea typeface="Times New Roman"/>
                <a:cs typeface="Times New Roman"/>
                <a:sym typeface="Times New Roman"/>
              </a:rPr>
              <a:t>n</a:t>
            </a:r>
            <a:r>
              <a:rPr lang="en-US" sz="2400" b="1" i="0" u="none" strike="noStrike" cap="none">
                <a:solidFill>
                  <a:schemeClr val="dk1"/>
                </a:solidFill>
                <a:latin typeface="Times New Roman"/>
                <a:ea typeface="Times New Roman"/>
                <a:cs typeface="Times New Roman"/>
                <a:sym typeface="Times New Roman"/>
              </a:rPr>
              <a:t> represents the book value before depreciation and after depreciation</a:t>
            </a:r>
            <a:endParaRPr sz="2400" b="1" i="0" u="none" strike="noStrike" cap="none">
              <a:solidFill>
                <a:schemeClr val="dk1"/>
              </a:solidFill>
              <a:latin typeface="Times New Roman"/>
              <a:ea typeface="Times New Roman"/>
              <a:cs typeface="Times New Roman"/>
              <a:sym typeface="Times New Roman"/>
            </a:endParaRPr>
          </a:p>
        </p:txBody>
      </p:sp>
      <p:graphicFrame>
        <p:nvGraphicFramePr>
          <p:cNvPr id="227" name="Google Shape;227;p20"/>
          <p:cNvGraphicFramePr/>
          <p:nvPr/>
        </p:nvGraphicFramePr>
        <p:xfrm>
          <a:off x="1265895" y="3588264"/>
          <a:ext cx="3000000" cy="3000000"/>
        </p:xfrm>
        <a:graphic>
          <a:graphicData uri="http://schemas.openxmlformats.org/drawingml/2006/table">
            <a:tbl>
              <a:tblPr firstRow="1" firstCol="1" bandRow="1">
                <a:noFill/>
                <a:tableStyleId>{A94F57D6-6E30-420B-A929-F54C7F686708}</a:tableStyleId>
              </a:tblPr>
              <a:tblGrid>
                <a:gridCol w="651575">
                  <a:extLst>
                    <a:ext uri="{9D8B030D-6E8A-4147-A177-3AD203B41FA5}">
                      <a16:colId xmlns:a16="http://schemas.microsoft.com/office/drawing/2014/main" val="20000"/>
                    </a:ext>
                  </a:extLst>
                </a:gridCol>
                <a:gridCol w="1490900">
                  <a:extLst>
                    <a:ext uri="{9D8B030D-6E8A-4147-A177-3AD203B41FA5}">
                      <a16:colId xmlns:a16="http://schemas.microsoft.com/office/drawing/2014/main" val="20001"/>
                    </a:ext>
                  </a:extLst>
                </a:gridCol>
                <a:gridCol w="1590300">
                  <a:extLst>
                    <a:ext uri="{9D8B030D-6E8A-4147-A177-3AD203B41FA5}">
                      <a16:colId xmlns:a16="http://schemas.microsoft.com/office/drawing/2014/main" val="20002"/>
                    </a:ext>
                  </a:extLst>
                </a:gridCol>
                <a:gridCol w="1065725">
                  <a:extLst>
                    <a:ext uri="{9D8B030D-6E8A-4147-A177-3AD203B41FA5}">
                      <a16:colId xmlns:a16="http://schemas.microsoft.com/office/drawing/2014/main" val="20003"/>
                    </a:ext>
                  </a:extLst>
                </a:gridCol>
              </a:tblGrid>
              <a:tr h="407775">
                <a:tc>
                  <a:txBody>
                    <a:bodyPr/>
                    <a:lstStyle/>
                    <a:p>
                      <a:pPr marL="0" marR="0" lvl="0" indent="0" algn="ctr" rtl="0">
                        <a:lnSpc>
                          <a:spcPct val="115000"/>
                        </a:lnSpc>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n</a:t>
                      </a:r>
                      <a:endParaRPr sz="2000" b="1" u="none" strike="noStrike" cap="none">
                        <a:solidFill>
                          <a:srgbClr val="C00000"/>
                        </a:solidFill>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B</a:t>
                      </a:r>
                      <a:r>
                        <a:rPr lang="en-US" sz="2000" b="1" u="none" strike="noStrike" cap="none" baseline="-25000">
                          <a:solidFill>
                            <a:srgbClr val="C00000"/>
                          </a:solidFill>
                          <a:latin typeface="Times New Roman"/>
                          <a:ea typeface="Times New Roman"/>
                          <a:cs typeface="Times New Roman"/>
                          <a:sym typeface="Times New Roman"/>
                        </a:rPr>
                        <a:t>n-1</a:t>
                      </a:r>
                      <a:r>
                        <a:rPr lang="en-US" sz="2000" b="1" u="none" strike="noStrike" cap="none">
                          <a:solidFill>
                            <a:srgbClr val="C00000"/>
                          </a:solidFill>
                          <a:latin typeface="Times New Roman"/>
                          <a:ea typeface="Times New Roman"/>
                          <a:cs typeface="Times New Roman"/>
                          <a:sym typeface="Times New Roman"/>
                        </a:rPr>
                        <a:t> ($)</a:t>
                      </a:r>
                      <a:endParaRPr sz="2000" b="1" u="none" strike="noStrike" cap="none">
                        <a:solidFill>
                          <a:srgbClr val="C00000"/>
                        </a:solidFill>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D</a:t>
                      </a:r>
                      <a:r>
                        <a:rPr lang="en-US" sz="2000" b="1" u="none" strike="noStrike" cap="none" baseline="-25000">
                          <a:solidFill>
                            <a:srgbClr val="C00000"/>
                          </a:solidFill>
                          <a:latin typeface="Times New Roman"/>
                          <a:ea typeface="Times New Roman"/>
                          <a:cs typeface="Times New Roman"/>
                          <a:sym typeface="Times New Roman"/>
                        </a:rPr>
                        <a:t>n </a:t>
                      </a:r>
                      <a:r>
                        <a:rPr lang="en-US" sz="2000" b="1" u="none" strike="noStrike" cap="none">
                          <a:solidFill>
                            <a:srgbClr val="C00000"/>
                          </a:solidFill>
                          <a:latin typeface="Times New Roman"/>
                          <a:ea typeface="Times New Roman"/>
                          <a:cs typeface="Times New Roman"/>
                          <a:sym typeface="Times New Roman"/>
                        </a:rPr>
                        <a:t>($)</a:t>
                      </a:r>
                      <a:endParaRPr sz="2000" b="1" u="none" strike="noStrike" cap="none">
                        <a:solidFill>
                          <a:srgbClr val="C00000"/>
                        </a:solidFill>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B</a:t>
                      </a:r>
                      <a:r>
                        <a:rPr lang="en-US" sz="2000" b="1" u="none" strike="noStrike" cap="none" baseline="-25000">
                          <a:solidFill>
                            <a:srgbClr val="C00000"/>
                          </a:solidFill>
                          <a:latin typeface="Times New Roman"/>
                          <a:ea typeface="Times New Roman"/>
                          <a:cs typeface="Times New Roman"/>
                          <a:sym typeface="Times New Roman"/>
                        </a:rPr>
                        <a:t>n </a:t>
                      </a:r>
                      <a:r>
                        <a:rPr lang="en-US" sz="2000" b="1" u="none" strike="noStrike" cap="none">
                          <a:solidFill>
                            <a:srgbClr val="C00000"/>
                          </a:solidFill>
                          <a:latin typeface="Times New Roman"/>
                          <a:ea typeface="Times New Roman"/>
                          <a:cs typeface="Times New Roman"/>
                          <a:sym typeface="Times New Roman"/>
                        </a:rPr>
                        <a:t>($)</a:t>
                      </a:r>
                      <a:endParaRPr sz="2000" b="1" u="none" strike="noStrike" cap="none">
                        <a:solidFill>
                          <a:srgbClr val="C00000"/>
                        </a:solidFill>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r h="407775">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1</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10,000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1600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8400</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1"/>
                  </a:ext>
                </a:extLst>
              </a:tr>
              <a:tr h="407775">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2</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8400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1600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6800</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2"/>
                  </a:ext>
                </a:extLst>
              </a:tr>
              <a:tr h="407775">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3</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6800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1600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5200</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3"/>
                  </a:ext>
                </a:extLst>
              </a:tr>
              <a:tr h="407775">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4</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5200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1600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3600</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4"/>
                  </a:ext>
                </a:extLst>
              </a:tr>
              <a:tr h="445900">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5</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3600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1600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2000</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1"/>
          <p:cNvSpPr txBox="1">
            <a:spLocks noGrp="1"/>
          </p:cNvSpPr>
          <p:nvPr>
            <p:ph type="body" idx="1"/>
          </p:nvPr>
        </p:nvSpPr>
        <p:spPr>
          <a:xfrm>
            <a:off x="579408" y="1440162"/>
            <a:ext cx="9858554" cy="4839867"/>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rgbClr val="002060"/>
              </a:buClr>
              <a:buSzPts val="2800"/>
              <a:buFont typeface="Arial"/>
              <a:buAutoNum type="arabicPeriod" startAt="2"/>
            </a:pPr>
            <a:r>
              <a:rPr lang="en-US" b="1">
                <a:solidFill>
                  <a:srgbClr val="002060"/>
                </a:solidFill>
                <a:latin typeface="Times New Roman"/>
                <a:ea typeface="Times New Roman"/>
                <a:cs typeface="Times New Roman"/>
                <a:sym typeface="Times New Roman"/>
              </a:rPr>
              <a:t>Accelerated Method</a:t>
            </a:r>
            <a:endParaRPr/>
          </a:p>
          <a:p>
            <a:pPr marL="228600" lvl="0" indent="-228600" algn="just"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Depreciation methods that provide for a higher depreciation charge in the first year of an asset's life and gradually decreasing charges in subsequent years are called accelerated depreciation methods</a:t>
            </a:r>
            <a:endParaRPr/>
          </a:p>
          <a:p>
            <a:pPr marL="514350" lvl="0" indent="-514350" algn="l" rtl="0">
              <a:lnSpc>
                <a:spcPct val="90000"/>
              </a:lnSpc>
              <a:spcBef>
                <a:spcPts val="1000"/>
              </a:spcBef>
              <a:spcAft>
                <a:spcPts val="0"/>
              </a:spcAft>
              <a:buClr>
                <a:srgbClr val="3F21F1"/>
              </a:buClr>
              <a:buSzPts val="2800"/>
              <a:buNone/>
            </a:pPr>
            <a:r>
              <a:rPr lang="en-US" b="1">
                <a:solidFill>
                  <a:srgbClr val="3F21F1"/>
                </a:solidFill>
                <a:latin typeface="Times New Roman"/>
                <a:ea typeface="Times New Roman"/>
                <a:cs typeface="Times New Roman"/>
                <a:sym typeface="Times New Roman"/>
              </a:rPr>
              <a:t>          </a:t>
            </a:r>
            <a:r>
              <a:rPr lang="en-US" b="1">
                <a:solidFill>
                  <a:srgbClr val="C00000"/>
                </a:solidFill>
                <a:latin typeface="Times New Roman"/>
                <a:ea typeface="Times New Roman"/>
                <a:cs typeface="Times New Roman"/>
                <a:sym typeface="Times New Roman"/>
              </a:rPr>
              <a:t>(a)</a:t>
            </a:r>
            <a:r>
              <a:rPr lang="en-US" b="1">
                <a:solidFill>
                  <a:srgbClr val="3F21F1"/>
                </a:solidFill>
                <a:latin typeface="Times New Roman"/>
                <a:ea typeface="Times New Roman"/>
                <a:cs typeface="Times New Roman"/>
                <a:sym typeface="Times New Roman"/>
              </a:rPr>
              <a:t> </a:t>
            </a:r>
            <a:r>
              <a:rPr lang="en-US" b="1">
                <a:solidFill>
                  <a:srgbClr val="C00000"/>
                </a:solidFill>
                <a:latin typeface="Times New Roman"/>
                <a:ea typeface="Times New Roman"/>
                <a:cs typeface="Times New Roman"/>
                <a:sym typeface="Times New Roman"/>
              </a:rPr>
              <a:t>Declining balance Method (DB)</a:t>
            </a:r>
            <a:endParaRPr/>
          </a:p>
          <a:p>
            <a:pPr marL="228600" lvl="0" indent="-228600" algn="just"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Declining balance is also known as the fixed percentage or uniform percentage method.</a:t>
            </a:r>
            <a:endParaRPr/>
          </a:p>
          <a:p>
            <a:pPr marL="228600" lvl="0" indent="-228600" algn="just"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In this method, Book value is multiplied by the fixed rate </a:t>
            </a:r>
            <a:endParaRPr/>
          </a:p>
          <a:p>
            <a:pPr marL="514350" lvl="0" indent="-51435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α = (1/N) multiplier</a:t>
            </a:r>
            <a:endParaRPr/>
          </a:p>
          <a:p>
            <a:pPr marL="0" lvl="0" indent="0" algn="l" rtl="0">
              <a:lnSpc>
                <a:spcPct val="90000"/>
              </a:lnSpc>
              <a:spcBef>
                <a:spcPts val="1000"/>
              </a:spcBef>
              <a:spcAft>
                <a:spcPts val="0"/>
              </a:spcAft>
              <a:buClr>
                <a:schemeClr val="dk1"/>
              </a:buClr>
              <a:buSzPts val="2800"/>
              <a:buNone/>
            </a:pPr>
            <a:endParaRPr/>
          </a:p>
        </p:txBody>
      </p:sp>
      <p:sp>
        <p:nvSpPr>
          <p:cNvPr id="233" name="Google Shape;233;p21"/>
          <p:cNvSpPr txBox="1">
            <a:spLocks noGrp="1"/>
          </p:cNvSpPr>
          <p:nvPr>
            <p:ph type="title"/>
          </p:nvPr>
        </p:nvSpPr>
        <p:spPr>
          <a:xfrm>
            <a:off x="1494197" y="11460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Methods of Depreciation (Cont’d….)  </a:t>
            </a:r>
            <a:endParaRPr sz="3200" b="1">
              <a:solidFill>
                <a:srgbClr val="00206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2"/>
          <p:cNvSpPr txBox="1">
            <a:spLocks noGrp="1"/>
          </p:cNvSpPr>
          <p:nvPr>
            <p:ph type="title"/>
          </p:nvPr>
        </p:nvSpPr>
        <p:spPr>
          <a:xfrm>
            <a:off x="1459302" y="296114"/>
            <a:ext cx="10515600" cy="1325563"/>
          </a:xfrm>
          <a:prstGeom prst="rect">
            <a:avLst/>
          </a:prstGeom>
          <a:noFill/>
          <a:ln>
            <a:noFill/>
          </a:ln>
        </p:spPr>
        <p:txBody>
          <a:bodyPr spcFirstLastPara="1" wrap="square" lIns="91425" tIns="45700" rIns="91425" bIns="45700" anchor="ctr" anchorCtr="0">
            <a:normAutofit/>
          </a:bodyPr>
          <a:lstStyle/>
          <a:p>
            <a:pPr marL="514350" lvl="0" indent="-51435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Declining balance Method (DB) (Cont’d..) </a:t>
            </a:r>
            <a:endParaRPr/>
          </a:p>
        </p:txBody>
      </p:sp>
      <p:sp>
        <p:nvSpPr>
          <p:cNvPr id="239" name="Google Shape;239;p22"/>
          <p:cNvSpPr txBox="1">
            <a:spLocks noGrp="1"/>
          </p:cNvSpPr>
          <p:nvPr>
            <p:ph type="body" idx="1"/>
          </p:nvPr>
        </p:nvSpPr>
        <p:spPr>
          <a:xfrm>
            <a:off x="665671" y="1489195"/>
            <a:ext cx="9711906" cy="5066880"/>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most commonly used multipliers is </a:t>
            </a:r>
            <a:r>
              <a:rPr lang="en-US" b="1" u="sng">
                <a:latin typeface="Times New Roman"/>
                <a:ea typeface="Times New Roman"/>
                <a:cs typeface="Times New Roman"/>
                <a:sym typeface="Times New Roman"/>
              </a:rPr>
              <a:t>double the straight line rate</a:t>
            </a:r>
            <a:r>
              <a:rPr lang="en-US" b="1">
                <a:latin typeface="Times New Roman"/>
                <a:ea typeface="Times New Roman"/>
                <a:cs typeface="Times New Roman"/>
                <a:sym typeface="Times New Roman"/>
              </a:rPr>
              <a:t> i.e (α = (1/N) *2, for this reason it is called Double Declining Balance Method. </a:t>
            </a:r>
            <a:endParaRPr/>
          </a:p>
          <a:p>
            <a:pPr marL="514350" lvl="0" indent="-514350" algn="just" rtl="0">
              <a:lnSpc>
                <a:spcPct val="90000"/>
              </a:lnSpc>
              <a:spcBef>
                <a:spcPts val="100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      Suppose a business has an asset with $1,000 Original Cost, $100 Salvage Value, and 5 years useful life.</a:t>
            </a:r>
            <a:endParaRPr/>
          </a:p>
          <a:p>
            <a:pPr marL="514350" lvl="0" indent="-514350" algn="just" rtl="0">
              <a:lnSpc>
                <a:spcPct val="90000"/>
              </a:lnSpc>
              <a:spcBef>
                <a:spcPts val="1000"/>
              </a:spcBef>
              <a:spcAft>
                <a:spcPts val="0"/>
              </a:spcAft>
              <a:buClr>
                <a:schemeClr val="dk1"/>
              </a:buClr>
              <a:buSzPts val="2800"/>
              <a:buFont typeface="Arial"/>
              <a:buChar char="•"/>
            </a:pPr>
            <a:r>
              <a:rPr lang="en-US" b="1">
                <a:latin typeface="Times New Roman"/>
                <a:ea typeface="Times New Roman"/>
                <a:cs typeface="Times New Roman"/>
                <a:sym typeface="Times New Roman"/>
              </a:rPr>
              <a:t>First, calculate straight-line depreciation rate.</a:t>
            </a:r>
            <a:endParaRPr/>
          </a:p>
          <a:p>
            <a:pPr marL="514350" lvl="0" indent="-514350" algn="just" rtl="0">
              <a:lnSpc>
                <a:spcPct val="90000"/>
              </a:lnSpc>
              <a:spcBef>
                <a:spcPts val="1000"/>
              </a:spcBef>
              <a:spcAft>
                <a:spcPts val="0"/>
              </a:spcAft>
              <a:buClr>
                <a:schemeClr val="dk1"/>
              </a:buClr>
              <a:buSzPts val="2800"/>
              <a:buFont typeface="Arial"/>
              <a:buChar char="•"/>
            </a:pPr>
            <a:r>
              <a:rPr lang="en-US" b="1">
                <a:latin typeface="Times New Roman"/>
                <a:ea typeface="Times New Roman"/>
                <a:cs typeface="Times New Roman"/>
                <a:sym typeface="Times New Roman"/>
              </a:rPr>
              <a:t>Since the asset has 5 years useful life, the straight-line depreciation rate equals (100% / 5) 20% per year.</a:t>
            </a:r>
            <a:endParaRPr/>
          </a:p>
          <a:p>
            <a:pPr marL="514350" lvl="0" indent="-514350" algn="just" rtl="0">
              <a:lnSpc>
                <a:spcPct val="90000"/>
              </a:lnSpc>
              <a:spcBef>
                <a:spcPts val="1000"/>
              </a:spcBef>
              <a:spcAft>
                <a:spcPts val="0"/>
              </a:spcAft>
              <a:buClr>
                <a:schemeClr val="dk1"/>
              </a:buClr>
              <a:buSzPts val="2800"/>
              <a:buFont typeface="Arial"/>
              <a:buChar char="•"/>
            </a:pPr>
            <a:r>
              <a:rPr lang="en-US" b="1">
                <a:latin typeface="Times New Roman"/>
                <a:ea typeface="Times New Roman"/>
                <a:cs typeface="Times New Roman"/>
                <a:sym typeface="Times New Roman"/>
              </a:rPr>
              <a:t> With double-declining-balance method, as the name suggests, double that rate, or 40% depreciation rate is used.</a:t>
            </a:r>
            <a:endParaRPr/>
          </a:p>
          <a:p>
            <a:pPr marL="228600" lvl="0" indent="-50800" algn="just" rtl="0">
              <a:lnSpc>
                <a:spcPct val="100000"/>
              </a:lnSpc>
              <a:spcBef>
                <a:spcPts val="1000"/>
              </a:spcBef>
              <a:spcAft>
                <a:spcPts val="0"/>
              </a:spcAft>
              <a:buClr>
                <a:schemeClr val="dk1"/>
              </a:buClr>
              <a:buSzPts val="2800"/>
              <a:buFont typeface="Noto Sans Symbols"/>
              <a:buNone/>
            </a:pPr>
            <a:endParaRPr b="1">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b="1">
              <a:solidFill>
                <a:srgbClr val="00206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Example </a:t>
            </a:r>
            <a:endParaRPr/>
          </a:p>
          <a:p>
            <a:pPr marL="0" lvl="0" indent="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Consider the following accounting information for a computer system.</a:t>
            </a:r>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Cost Basis of the asset, I, = $ 10,000</a:t>
            </a:r>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Useful life, N,                     = 5 years</a:t>
            </a:r>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Estimated Salvage Value , S, = $778</a:t>
            </a:r>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Compute the annual depreciation allowances and the resulting book values using the double declining deprecation method.</a:t>
            </a:r>
            <a:endParaRPr/>
          </a:p>
          <a:p>
            <a:pPr marL="0" lvl="0" indent="0" algn="l" rtl="0">
              <a:lnSpc>
                <a:spcPct val="90000"/>
              </a:lnSpc>
              <a:spcBef>
                <a:spcPts val="1000"/>
              </a:spcBef>
              <a:spcAft>
                <a:spcPts val="0"/>
              </a:spcAft>
              <a:buClr>
                <a:schemeClr val="dk1"/>
              </a:buClr>
              <a:buSzPts val="2800"/>
              <a:buNone/>
            </a:pPr>
            <a:endParaRPr/>
          </a:p>
        </p:txBody>
      </p:sp>
      <p:sp>
        <p:nvSpPr>
          <p:cNvPr id="245" name="Google Shape;24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514350" lvl="0" indent="-51435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Declining balance Method (DB) (Cont’d..)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4"/>
          <p:cNvSpPr txBox="1">
            <a:spLocks noGrp="1"/>
          </p:cNvSpPr>
          <p:nvPr>
            <p:ph type="body" idx="1"/>
          </p:nvPr>
        </p:nvSpPr>
        <p:spPr>
          <a:xfrm>
            <a:off x="553529" y="1609966"/>
            <a:ext cx="10220863" cy="5731114"/>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book value at the beginning of the first year is $ 10,000.</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declining balance rate (α) is  (1/5) *2 = 40%</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depreciation deduction for the first year will be  $ 4000                              ( 40%* $10,000 = $4000)</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book value at the beginning of the second year is $10,000 - $4000 = $6000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depreciation deduction for the second year will be $ 2,400   ( 40% * $ 6,000 = $2,400)</a:t>
            </a:r>
            <a:endParaRPr b="1">
              <a:latin typeface="Times New Roman"/>
              <a:ea typeface="Times New Roman"/>
              <a:cs typeface="Times New Roman"/>
              <a:sym typeface="Times New Roman"/>
            </a:endParaRPr>
          </a:p>
        </p:txBody>
      </p:sp>
      <p:sp>
        <p:nvSpPr>
          <p:cNvPr id="251" name="Google Shape;251;p24"/>
          <p:cNvSpPr txBox="1">
            <a:spLocks noGrp="1"/>
          </p:cNvSpPr>
          <p:nvPr>
            <p:ph type="title"/>
          </p:nvPr>
        </p:nvSpPr>
        <p:spPr>
          <a:xfrm>
            <a:off x="1243641" y="457200"/>
            <a:ext cx="10515600" cy="1325563"/>
          </a:xfrm>
          <a:prstGeom prst="rect">
            <a:avLst/>
          </a:prstGeom>
          <a:noFill/>
          <a:ln>
            <a:noFill/>
          </a:ln>
        </p:spPr>
        <p:txBody>
          <a:bodyPr spcFirstLastPara="1" wrap="square" lIns="91425" tIns="45700" rIns="91425" bIns="45700" anchor="ctr" anchorCtr="0">
            <a:normAutofit/>
          </a:bodyPr>
          <a:lstStyle/>
          <a:p>
            <a:pPr marL="514350" lvl="0" indent="-51435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Declining balance Method (DB) (Cont’d..)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5"/>
          <p:cNvSpPr txBox="1">
            <a:spLocks noGrp="1"/>
          </p:cNvSpPr>
          <p:nvPr>
            <p:ph type="body" idx="1"/>
          </p:nvPr>
        </p:nvSpPr>
        <p:spPr>
          <a:xfrm>
            <a:off x="639792" y="1428809"/>
            <a:ext cx="9668774"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book value at the beginning of the third year is 6, 000 – 2400 = $ 3,600</a:t>
            </a:r>
            <a:endParaRPr b="1">
              <a:latin typeface="Times New Roman"/>
              <a:ea typeface="Times New Roman"/>
              <a:cs typeface="Times New Roman"/>
              <a:sym typeface="Times New Roman"/>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On continuing this process, we obtain the depreciation value and book value as shown in Table.                       </a:t>
            </a:r>
            <a:endParaRPr/>
          </a:p>
          <a:p>
            <a:pPr marL="228600" lvl="0" indent="-50800" algn="l" rtl="0">
              <a:lnSpc>
                <a:spcPct val="90000"/>
              </a:lnSpc>
              <a:spcBef>
                <a:spcPts val="1000"/>
              </a:spcBef>
              <a:spcAft>
                <a:spcPts val="0"/>
              </a:spcAft>
              <a:buClr>
                <a:schemeClr val="dk1"/>
              </a:buClr>
              <a:buSzPts val="2800"/>
              <a:buNone/>
            </a:pPr>
            <a:endParaRPr/>
          </a:p>
        </p:txBody>
      </p:sp>
      <p:sp>
        <p:nvSpPr>
          <p:cNvPr id="257" name="Google Shape;257;p25"/>
          <p:cNvSpPr txBox="1">
            <a:spLocks noGrp="1"/>
          </p:cNvSpPr>
          <p:nvPr>
            <p:ph type="title"/>
          </p:nvPr>
        </p:nvSpPr>
        <p:spPr>
          <a:xfrm>
            <a:off x="1485181" y="218476"/>
            <a:ext cx="10515600" cy="1325563"/>
          </a:xfrm>
          <a:prstGeom prst="rect">
            <a:avLst/>
          </a:prstGeom>
          <a:noFill/>
          <a:ln>
            <a:noFill/>
          </a:ln>
        </p:spPr>
        <p:txBody>
          <a:bodyPr spcFirstLastPara="1" wrap="square" lIns="91425" tIns="45700" rIns="91425" bIns="45700" anchor="ctr" anchorCtr="0">
            <a:normAutofit/>
          </a:bodyPr>
          <a:lstStyle/>
          <a:p>
            <a:pPr marL="514350" lvl="0" indent="-51435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Declining balance Method (DB) (Cont’d..) </a:t>
            </a:r>
            <a:endParaRPr/>
          </a:p>
        </p:txBody>
      </p:sp>
      <p:graphicFrame>
        <p:nvGraphicFramePr>
          <p:cNvPr id="258" name="Google Shape;258;p25"/>
          <p:cNvGraphicFramePr/>
          <p:nvPr/>
        </p:nvGraphicFramePr>
        <p:xfrm>
          <a:off x="2596551" y="3422934"/>
          <a:ext cx="3000000" cy="3000000"/>
        </p:xfrm>
        <a:graphic>
          <a:graphicData uri="http://schemas.openxmlformats.org/drawingml/2006/table">
            <a:tbl>
              <a:tblPr firstRow="1" firstCol="1" bandRow="1">
                <a:noFill/>
                <a:tableStyleId>{A94F57D6-6E30-420B-A929-F54C7F686708}</a:tableStyleId>
              </a:tblPr>
              <a:tblGrid>
                <a:gridCol w="649550">
                  <a:extLst>
                    <a:ext uri="{9D8B030D-6E8A-4147-A177-3AD203B41FA5}">
                      <a16:colId xmlns:a16="http://schemas.microsoft.com/office/drawing/2014/main" val="20000"/>
                    </a:ext>
                  </a:extLst>
                </a:gridCol>
                <a:gridCol w="1673100">
                  <a:extLst>
                    <a:ext uri="{9D8B030D-6E8A-4147-A177-3AD203B41FA5}">
                      <a16:colId xmlns:a16="http://schemas.microsoft.com/office/drawing/2014/main" val="20001"/>
                    </a:ext>
                  </a:extLst>
                </a:gridCol>
                <a:gridCol w="1597650">
                  <a:extLst>
                    <a:ext uri="{9D8B030D-6E8A-4147-A177-3AD203B41FA5}">
                      <a16:colId xmlns:a16="http://schemas.microsoft.com/office/drawing/2014/main" val="20002"/>
                    </a:ext>
                  </a:extLst>
                </a:gridCol>
                <a:gridCol w="1574700">
                  <a:extLst>
                    <a:ext uri="{9D8B030D-6E8A-4147-A177-3AD203B41FA5}">
                      <a16:colId xmlns:a16="http://schemas.microsoft.com/office/drawing/2014/main" val="20003"/>
                    </a:ext>
                  </a:extLst>
                </a:gridCol>
              </a:tblGrid>
              <a:tr h="460375">
                <a:tc>
                  <a:txBody>
                    <a:bodyPr/>
                    <a:lstStyle/>
                    <a:p>
                      <a:pPr marL="0" marR="0" lvl="0" indent="0" algn="ctr" rtl="0">
                        <a:lnSpc>
                          <a:spcPct val="115000"/>
                        </a:lnSpc>
                        <a:spcBef>
                          <a:spcPts val="0"/>
                        </a:spcBef>
                        <a:spcAft>
                          <a:spcPts val="0"/>
                        </a:spcAft>
                        <a:buNone/>
                      </a:pPr>
                      <a:r>
                        <a:rPr lang="en-US" sz="2400" b="1" u="none" strike="noStrike" cap="none">
                          <a:solidFill>
                            <a:srgbClr val="C00000"/>
                          </a:solidFill>
                          <a:latin typeface="Times New Roman"/>
                          <a:ea typeface="Times New Roman"/>
                          <a:cs typeface="Times New Roman"/>
                          <a:sym typeface="Times New Roman"/>
                        </a:rPr>
                        <a:t>n</a:t>
                      </a:r>
                      <a:endParaRPr sz="2400" b="1" u="none" strike="noStrike" cap="none">
                        <a:solidFill>
                          <a:srgbClr val="C00000"/>
                        </a:solidFill>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solidFill>
                            <a:srgbClr val="C00000"/>
                          </a:solidFill>
                          <a:latin typeface="Times New Roman"/>
                          <a:ea typeface="Times New Roman"/>
                          <a:cs typeface="Times New Roman"/>
                          <a:sym typeface="Times New Roman"/>
                        </a:rPr>
                        <a:t>B</a:t>
                      </a:r>
                      <a:r>
                        <a:rPr lang="en-US" sz="2400" b="1" u="none" strike="noStrike" cap="none" baseline="-25000">
                          <a:solidFill>
                            <a:srgbClr val="C00000"/>
                          </a:solidFill>
                          <a:latin typeface="Times New Roman"/>
                          <a:ea typeface="Times New Roman"/>
                          <a:cs typeface="Times New Roman"/>
                          <a:sym typeface="Times New Roman"/>
                        </a:rPr>
                        <a:t>n-1 </a:t>
                      </a:r>
                      <a:r>
                        <a:rPr lang="en-US" sz="2400" b="1" u="none" strike="noStrike" cap="none">
                          <a:solidFill>
                            <a:srgbClr val="C00000"/>
                          </a:solidFill>
                          <a:latin typeface="Times New Roman"/>
                          <a:ea typeface="Times New Roman"/>
                          <a:cs typeface="Times New Roman"/>
                          <a:sym typeface="Times New Roman"/>
                        </a:rPr>
                        <a:t>($)</a:t>
                      </a:r>
                      <a:endParaRPr sz="2400" b="1" u="none" strike="noStrike" cap="none">
                        <a:solidFill>
                          <a:srgbClr val="C00000"/>
                        </a:solidFill>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solidFill>
                            <a:srgbClr val="C00000"/>
                          </a:solidFill>
                          <a:latin typeface="Times New Roman"/>
                          <a:ea typeface="Times New Roman"/>
                          <a:cs typeface="Times New Roman"/>
                          <a:sym typeface="Times New Roman"/>
                        </a:rPr>
                        <a:t>D</a:t>
                      </a:r>
                      <a:r>
                        <a:rPr lang="en-US" sz="2400" b="1" u="none" strike="noStrike" cap="none" baseline="-25000">
                          <a:solidFill>
                            <a:srgbClr val="C00000"/>
                          </a:solidFill>
                          <a:latin typeface="Times New Roman"/>
                          <a:ea typeface="Times New Roman"/>
                          <a:cs typeface="Times New Roman"/>
                          <a:sym typeface="Times New Roman"/>
                        </a:rPr>
                        <a:t>n </a:t>
                      </a:r>
                      <a:r>
                        <a:rPr lang="en-US" sz="2400" b="1" u="none" strike="noStrike" cap="none">
                          <a:solidFill>
                            <a:srgbClr val="C00000"/>
                          </a:solidFill>
                          <a:latin typeface="Times New Roman"/>
                          <a:ea typeface="Times New Roman"/>
                          <a:cs typeface="Times New Roman"/>
                          <a:sym typeface="Times New Roman"/>
                        </a:rPr>
                        <a:t>($)</a:t>
                      </a:r>
                      <a:endParaRPr sz="2400" b="1" u="none" strike="noStrike" cap="none">
                        <a:solidFill>
                          <a:srgbClr val="C00000"/>
                        </a:solidFill>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solidFill>
                            <a:srgbClr val="C00000"/>
                          </a:solidFill>
                          <a:latin typeface="Times New Roman"/>
                          <a:ea typeface="Times New Roman"/>
                          <a:cs typeface="Times New Roman"/>
                          <a:sym typeface="Times New Roman"/>
                        </a:rPr>
                        <a:t>B</a:t>
                      </a:r>
                      <a:r>
                        <a:rPr lang="en-US" sz="2400" b="1" u="none" strike="noStrike" cap="none" baseline="-25000">
                          <a:solidFill>
                            <a:srgbClr val="C00000"/>
                          </a:solidFill>
                          <a:latin typeface="Times New Roman"/>
                          <a:ea typeface="Times New Roman"/>
                          <a:cs typeface="Times New Roman"/>
                          <a:sym typeface="Times New Roman"/>
                        </a:rPr>
                        <a:t>n </a:t>
                      </a:r>
                      <a:r>
                        <a:rPr lang="en-US" sz="2400" b="1" u="none" strike="noStrike" cap="none">
                          <a:solidFill>
                            <a:srgbClr val="C00000"/>
                          </a:solidFill>
                          <a:latin typeface="Times New Roman"/>
                          <a:ea typeface="Times New Roman"/>
                          <a:cs typeface="Times New Roman"/>
                          <a:sym typeface="Times New Roman"/>
                        </a:rPr>
                        <a:t>($)</a:t>
                      </a:r>
                      <a:endParaRPr sz="2400" b="1" u="none" strike="noStrike" cap="none">
                        <a:solidFill>
                          <a:srgbClr val="C00000"/>
                        </a:solidFill>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r h="460375">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1</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10,000</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4,000</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6,000</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1"/>
                  </a:ext>
                </a:extLst>
              </a:tr>
              <a:tr h="460375">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2</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6,000</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2,400</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3,600</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2"/>
                  </a:ext>
                </a:extLst>
              </a:tr>
              <a:tr h="460375">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3</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3,600</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1,440</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2,160</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3"/>
                  </a:ext>
                </a:extLst>
              </a:tr>
              <a:tr h="460375">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4</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2,160</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8,64</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1,296</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4"/>
                  </a:ext>
                </a:extLst>
              </a:tr>
              <a:tr h="460375">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5</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 1,296</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5,18</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7,78</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6"/>
          <p:cNvSpPr txBox="1">
            <a:spLocks noGrp="1"/>
          </p:cNvSpPr>
          <p:nvPr>
            <p:ph type="body" idx="1"/>
          </p:nvPr>
        </p:nvSpPr>
        <p:spPr>
          <a:xfrm>
            <a:off x="596661" y="1239029"/>
            <a:ext cx="9970697" cy="509276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Issues regarding Salvage Value </a:t>
            </a:r>
            <a:endParaRPr/>
          </a:p>
          <a:p>
            <a:pPr marL="228600" lvl="0" indent="-228600" algn="just"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Salvage value (S) must be estimated at the beginning of depreciation analysis.</a:t>
            </a:r>
            <a:endParaRPr/>
          </a:p>
          <a:p>
            <a:pPr marL="228600" lvl="0" indent="-228600" algn="just"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In previous example, the final Book Value (B</a:t>
            </a:r>
            <a:r>
              <a:rPr lang="en-US" b="1" baseline="-25000">
                <a:latin typeface="Times New Roman"/>
                <a:ea typeface="Times New Roman"/>
                <a:cs typeface="Times New Roman"/>
                <a:sym typeface="Times New Roman"/>
              </a:rPr>
              <a:t>N</a:t>
            </a:r>
            <a:r>
              <a:rPr lang="en-US" b="1">
                <a:latin typeface="Times New Roman"/>
                <a:ea typeface="Times New Roman"/>
                <a:cs typeface="Times New Roman"/>
                <a:sym typeface="Times New Roman"/>
              </a:rPr>
              <a:t>) equals to the estimated salvage value, an occurrence that is rather unusual in the real world. </a:t>
            </a:r>
            <a:endParaRPr/>
          </a:p>
          <a:p>
            <a:pPr marL="228600" lvl="0" indent="-228600" algn="just"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When </a:t>
            </a:r>
            <a:r>
              <a:rPr lang="en-US" b="1">
                <a:solidFill>
                  <a:srgbClr val="C00000"/>
                </a:solidFill>
                <a:latin typeface="Times New Roman"/>
                <a:ea typeface="Times New Roman"/>
                <a:cs typeface="Times New Roman"/>
                <a:sym typeface="Times New Roman"/>
              </a:rPr>
              <a:t>B</a:t>
            </a:r>
            <a:r>
              <a:rPr lang="en-US" b="1" baseline="-25000">
                <a:solidFill>
                  <a:srgbClr val="C00000"/>
                </a:solidFill>
                <a:latin typeface="Times New Roman"/>
                <a:ea typeface="Times New Roman"/>
                <a:cs typeface="Times New Roman"/>
                <a:sym typeface="Times New Roman"/>
              </a:rPr>
              <a:t>N</a:t>
            </a:r>
            <a:r>
              <a:rPr lang="en-US" b="1">
                <a:solidFill>
                  <a:srgbClr val="C00000"/>
                </a:solidFill>
                <a:latin typeface="Times New Roman"/>
                <a:ea typeface="Times New Roman"/>
                <a:cs typeface="Times New Roman"/>
                <a:sym typeface="Times New Roman"/>
              </a:rPr>
              <a:t> ≠ S</a:t>
            </a:r>
            <a:r>
              <a:rPr lang="en-US" b="1">
                <a:latin typeface="Times New Roman"/>
                <a:ea typeface="Times New Roman"/>
                <a:cs typeface="Times New Roman"/>
                <a:sym typeface="Times New Roman"/>
              </a:rPr>
              <a:t>, we have to make the adjustments in our depreciation analysis methods.</a:t>
            </a:r>
            <a:endParaRPr/>
          </a:p>
          <a:p>
            <a:pPr marL="228600" lvl="0" indent="-228600" algn="just"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Two cases Arises: </a:t>
            </a:r>
            <a:endParaRPr/>
          </a:p>
          <a:p>
            <a:pPr marL="0" lvl="0" indent="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a:t>
            </a:r>
            <a:r>
              <a:rPr lang="en-US" b="1">
                <a:solidFill>
                  <a:srgbClr val="C00000"/>
                </a:solidFill>
                <a:latin typeface="Times New Roman"/>
                <a:ea typeface="Times New Roman"/>
                <a:cs typeface="Times New Roman"/>
                <a:sym typeface="Times New Roman"/>
              </a:rPr>
              <a:t>Case 1 : When B</a:t>
            </a:r>
            <a:r>
              <a:rPr lang="en-US" b="1" baseline="-25000">
                <a:solidFill>
                  <a:srgbClr val="C00000"/>
                </a:solidFill>
                <a:latin typeface="Times New Roman"/>
                <a:ea typeface="Times New Roman"/>
                <a:cs typeface="Times New Roman"/>
                <a:sym typeface="Times New Roman"/>
              </a:rPr>
              <a:t>N</a:t>
            </a:r>
            <a:r>
              <a:rPr lang="en-US" b="1">
                <a:solidFill>
                  <a:srgbClr val="C00000"/>
                </a:solidFill>
                <a:latin typeface="Times New Roman"/>
                <a:ea typeface="Times New Roman"/>
                <a:cs typeface="Times New Roman"/>
                <a:sym typeface="Times New Roman"/>
              </a:rPr>
              <a:t> &gt; S</a:t>
            </a:r>
            <a:endParaRPr/>
          </a:p>
          <a:p>
            <a:pPr marL="0" lvl="0" indent="0" algn="just" rtl="0">
              <a:lnSpc>
                <a:spcPct val="90000"/>
              </a:lnSpc>
              <a:spcBef>
                <a:spcPts val="100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                              Case 2 : When B</a:t>
            </a:r>
            <a:r>
              <a:rPr lang="en-US" b="1" baseline="-25000">
                <a:solidFill>
                  <a:srgbClr val="C00000"/>
                </a:solidFill>
                <a:latin typeface="Times New Roman"/>
                <a:ea typeface="Times New Roman"/>
                <a:cs typeface="Times New Roman"/>
                <a:sym typeface="Times New Roman"/>
              </a:rPr>
              <a:t>N</a:t>
            </a:r>
            <a:r>
              <a:rPr lang="en-US" b="1">
                <a:solidFill>
                  <a:srgbClr val="C00000"/>
                </a:solidFill>
                <a:latin typeface="Times New Roman"/>
                <a:ea typeface="Times New Roman"/>
                <a:cs typeface="Times New Roman"/>
                <a:sym typeface="Times New Roman"/>
              </a:rPr>
              <a:t> &lt; S</a:t>
            </a:r>
            <a:endParaRPr/>
          </a:p>
          <a:p>
            <a:pPr marL="0" lvl="0" indent="0" algn="l" rtl="0">
              <a:lnSpc>
                <a:spcPct val="90000"/>
              </a:lnSpc>
              <a:spcBef>
                <a:spcPts val="1000"/>
              </a:spcBef>
              <a:spcAft>
                <a:spcPts val="0"/>
              </a:spcAft>
              <a:buClr>
                <a:schemeClr val="dk1"/>
              </a:buClr>
              <a:buSzPts val="2800"/>
              <a:buNone/>
            </a:pPr>
            <a:endParaRPr/>
          </a:p>
        </p:txBody>
      </p:sp>
      <p:sp>
        <p:nvSpPr>
          <p:cNvPr id="264" name="Google Shape;264;p26"/>
          <p:cNvSpPr txBox="1">
            <a:spLocks noGrp="1"/>
          </p:cNvSpPr>
          <p:nvPr>
            <p:ph type="title"/>
          </p:nvPr>
        </p:nvSpPr>
        <p:spPr>
          <a:xfrm>
            <a:off x="1131498" y="63201"/>
            <a:ext cx="10515600" cy="1325563"/>
          </a:xfrm>
          <a:prstGeom prst="rect">
            <a:avLst/>
          </a:prstGeom>
          <a:noFill/>
          <a:ln>
            <a:noFill/>
          </a:ln>
        </p:spPr>
        <p:txBody>
          <a:bodyPr spcFirstLastPara="1" wrap="square" lIns="91425" tIns="45700" rIns="91425" bIns="45700" anchor="ctr" anchorCtr="0">
            <a:normAutofit/>
          </a:bodyPr>
          <a:lstStyle/>
          <a:p>
            <a:pPr marL="514350" lvl="0" indent="-51435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Declining balance Method (DB) (Cont’d..)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7"/>
          <p:cNvSpPr txBox="1">
            <a:spLocks noGrp="1"/>
          </p:cNvSpPr>
          <p:nvPr>
            <p:ph type="body" idx="1"/>
          </p:nvPr>
        </p:nvSpPr>
        <p:spPr>
          <a:xfrm>
            <a:off x="570781" y="1118259"/>
            <a:ext cx="10515600" cy="5463695"/>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50000"/>
              </a:lnSpc>
              <a:spcBef>
                <a:spcPts val="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Case 1 : When B</a:t>
            </a:r>
            <a:r>
              <a:rPr lang="en-US" b="1" baseline="-25000">
                <a:solidFill>
                  <a:srgbClr val="C00000"/>
                </a:solidFill>
                <a:latin typeface="Times New Roman"/>
                <a:ea typeface="Times New Roman"/>
                <a:cs typeface="Times New Roman"/>
                <a:sym typeface="Times New Roman"/>
              </a:rPr>
              <a:t>N</a:t>
            </a:r>
            <a:r>
              <a:rPr lang="en-US" b="1">
                <a:solidFill>
                  <a:srgbClr val="C00000"/>
                </a:solidFill>
                <a:latin typeface="Times New Roman"/>
                <a:ea typeface="Times New Roman"/>
                <a:cs typeface="Times New Roman"/>
                <a:sym typeface="Times New Roman"/>
              </a:rPr>
              <a:t> &gt; S</a:t>
            </a:r>
            <a:endParaRPr/>
          </a:p>
          <a:p>
            <a:pPr marL="228600" lvl="0" indent="-228600" algn="just" rtl="0">
              <a:lnSpc>
                <a:spcPct val="15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When B</a:t>
            </a:r>
            <a:r>
              <a:rPr lang="en-US" b="1" baseline="-25000">
                <a:latin typeface="Times New Roman"/>
                <a:ea typeface="Times New Roman"/>
                <a:cs typeface="Times New Roman"/>
                <a:sym typeface="Times New Roman"/>
              </a:rPr>
              <a:t>N</a:t>
            </a:r>
            <a:r>
              <a:rPr lang="en-US" b="1">
                <a:latin typeface="Times New Roman"/>
                <a:ea typeface="Times New Roman"/>
                <a:cs typeface="Times New Roman"/>
                <a:sym typeface="Times New Roman"/>
              </a:rPr>
              <a:t> &gt; S, is the situation in which we have not depreciated the entire cost of the asset.</a:t>
            </a:r>
            <a:endParaRPr/>
          </a:p>
          <a:p>
            <a:pPr marL="228600" lvl="0" indent="-228600" algn="just" rtl="0">
              <a:lnSpc>
                <a:spcPct val="15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To reduce the book value of an asset to its salvage value as quickly as possible, it can be done by </a:t>
            </a:r>
            <a:r>
              <a:rPr lang="en-US" b="1">
                <a:solidFill>
                  <a:srgbClr val="3F21F1"/>
                </a:solidFill>
                <a:latin typeface="Times New Roman"/>
                <a:ea typeface="Times New Roman"/>
                <a:cs typeface="Times New Roman"/>
                <a:sym typeface="Times New Roman"/>
              </a:rPr>
              <a:t>switching from declining balance (DB) to Straight line (SL).</a:t>
            </a:r>
            <a:endParaRPr/>
          </a:p>
          <a:p>
            <a:pPr marL="228600" lvl="0" indent="-228600" algn="just" rtl="0">
              <a:lnSpc>
                <a:spcPct val="15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switch from DB to SL depreciation can take place in any of the ‘n’ years (optimal year).</a:t>
            </a:r>
            <a:endParaRPr/>
          </a:p>
        </p:txBody>
      </p:sp>
      <p:sp>
        <p:nvSpPr>
          <p:cNvPr id="270" name="Google Shape;270;p27"/>
          <p:cNvSpPr txBox="1">
            <a:spLocks noGrp="1"/>
          </p:cNvSpPr>
          <p:nvPr>
            <p:ph type="title"/>
          </p:nvPr>
        </p:nvSpPr>
        <p:spPr>
          <a:xfrm>
            <a:off x="1062487" y="68742"/>
            <a:ext cx="10515600" cy="1325563"/>
          </a:xfrm>
          <a:prstGeom prst="rect">
            <a:avLst/>
          </a:prstGeom>
          <a:noFill/>
          <a:ln>
            <a:noFill/>
          </a:ln>
        </p:spPr>
        <p:txBody>
          <a:bodyPr spcFirstLastPara="1" wrap="square" lIns="91425" tIns="45700" rIns="91425" bIns="45700" anchor="ctr" anchorCtr="0">
            <a:normAutofit/>
          </a:bodyPr>
          <a:lstStyle/>
          <a:p>
            <a:pPr marL="514350" lvl="0" indent="-51435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Declining balance Method (DB) (Cont’d..)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n-US" b="1">
                <a:latin typeface="Times New Roman"/>
                <a:ea typeface="Times New Roman"/>
                <a:cs typeface="Times New Roman"/>
                <a:sym typeface="Times New Roman"/>
              </a:rPr>
              <a:t>The switching rule is :</a:t>
            </a:r>
            <a:endParaRPr/>
          </a:p>
          <a:p>
            <a:pPr marL="0" lvl="0" indent="0" algn="just" rtl="0">
              <a:lnSpc>
                <a:spcPct val="90000"/>
              </a:lnSpc>
              <a:spcBef>
                <a:spcPts val="1000"/>
              </a:spcBef>
              <a:spcAft>
                <a:spcPts val="0"/>
              </a:spcAft>
              <a:buClr>
                <a:schemeClr val="dk1"/>
              </a:buClr>
              <a:buSzPts val="2800"/>
              <a:buNone/>
            </a:pPr>
            <a:r>
              <a:rPr lang="en-US" b="1" i="1">
                <a:latin typeface="Times New Roman"/>
                <a:ea typeface="Times New Roman"/>
                <a:cs typeface="Times New Roman"/>
                <a:sym typeface="Times New Roman"/>
              </a:rPr>
              <a:t>‘If depreciation by DB in any year is less than (or equal to) the depreciation by SL then we would switch to and remain with SL method for the duration of the project’s depreciable life.’ </a:t>
            </a:r>
            <a:r>
              <a:rPr lang="en-US" b="1">
                <a:latin typeface="Times New Roman"/>
                <a:ea typeface="Times New Roman"/>
                <a:cs typeface="Times New Roman"/>
                <a:sym typeface="Times New Roman"/>
              </a:rPr>
              <a:t>[4]</a:t>
            </a:r>
            <a:endParaRPr>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b="1"/>
          </a:p>
          <a:p>
            <a:pPr marL="228600" lvl="0" indent="-228600" algn="l"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straight line depreciation is any year n is calculated by </a:t>
            </a:r>
            <a:endParaRPr/>
          </a:p>
          <a:p>
            <a:pPr marL="228600" lvl="0" indent="-22860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D</a:t>
            </a:r>
            <a:r>
              <a:rPr lang="en-US" b="1" baseline="-25000">
                <a:latin typeface="Times New Roman"/>
                <a:ea typeface="Times New Roman"/>
                <a:cs typeface="Times New Roman"/>
                <a:sym typeface="Times New Roman"/>
              </a:rPr>
              <a:t>n</a:t>
            </a:r>
            <a:r>
              <a:rPr lang="en-US" b="1">
                <a:latin typeface="Times New Roman"/>
                <a:ea typeface="Times New Roman"/>
                <a:cs typeface="Times New Roman"/>
                <a:sym typeface="Times New Roman"/>
              </a:rPr>
              <a:t> =    book value at the beginning of year n – salvage value</a:t>
            </a:r>
            <a:endParaRPr/>
          </a:p>
          <a:p>
            <a:pPr marL="228600" lvl="0" indent="-22860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Remaining useful life at beginning of year n</a:t>
            </a:r>
            <a:endParaRPr/>
          </a:p>
          <a:p>
            <a:pPr marL="0" lvl="0" indent="0" algn="l" rtl="0">
              <a:lnSpc>
                <a:spcPct val="90000"/>
              </a:lnSpc>
              <a:spcBef>
                <a:spcPts val="1000"/>
              </a:spcBef>
              <a:spcAft>
                <a:spcPts val="0"/>
              </a:spcAft>
              <a:buClr>
                <a:schemeClr val="dk1"/>
              </a:buClr>
              <a:buSzPts val="2800"/>
              <a:buNone/>
            </a:pPr>
            <a:endParaRPr/>
          </a:p>
        </p:txBody>
      </p:sp>
      <p:cxnSp>
        <p:nvCxnSpPr>
          <p:cNvPr id="276" name="Google Shape;276;p28"/>
          <p:cNvCxnSpPr/>
          <p:nvPr/>
        </p:nvCxnSpPr>
        <p:spPr>
          <a:xfrm>
            <a:off x="2938733" y="5121591"/>
            <a:ext cx="7749395" cy="2500"/>
          </a:xfrm>
          <a:prstGeom prst="straightConnector1">
            <a:avLst/>
          </a:prstGeom>
          <a:noFill/>
          <a:ln w="28575" cap="flat" cmpd="sng">
            <a:solidFill>
              <a:schemeClr val="dk1"/>
            </a:solidFill>
            <a:prstDash val="solid"/>
            <a:miter lim="800000"/>
            <a:headEnd type="none" w="sm" len="sm"/>
            <a:tailEnd type="none" w="sm" len="sm"/>
          </a:ln>
        </p:spPr>
      </p:cxnSp>
      <p:sp>
        <p:nvSpPr>
          <p:cNvPr id="277" name="Google Shape;277;p28"/>
          <p:cNvSpPr txBox="1">
            <a:spLocks noGrp="1"/>
          </p:cNvSpPr>
          <p:nvPr>
            <p:ph type="title"/>
          </p:nvPr>
        </p:nvSpPr>
        <p:spPr>
          <a:xfrm>
            <a:off x="1131498" y="391004"/>
            <a:ext cx="10515600" cy="1325563"/>
          </a:xfrm>
          <a:prstGeom prst="rect">
            <a:avLst/>
          </a:prstGeom>
          <a:noFill/>
          <a:ln>
            <a:noFill/>
          </a:ln>
        </p:spPr>
        <p:txBody>
          <a:bodyPr spcFirstLastPara="1" wrap="square" lIns="91425" tIns="45700" rIns="91425" bIns="45700" anchor="ctr" anchorCtr="0">
            <a:normAutofit/>
          </a:bodyPr>
          <a:lstStyle/>
          <a:p>
            <a:pPr marL="514350" lvl="0" indent="-51435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Declining balance Method (DB) (Cont’d..)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9"/>
          <p:cNvSpPr txBox="1">
            <a:spLocks noGrp="1"/>
          </p:cNvSpPr>
          <p:nvPr>
            <p:ph type="body" idx="1"/>
          </p:nvPr>
        </p:nvSpPr>
        <p:spPr>
          <a:xfrm>
            <a:off x="605287" y="1489194"/>
            <a:ext cx="10515600" cy="4713197"/>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90000"/>
              </a:lnSpc>
              <a:spcBef>
                <a:spcPts val="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Case 1 : When B</a:t>
            </a:r>
            <a:r>
              <a:rPr lang="en-US" b="1" baseline="-25000">
                <a:solidFill>
                  <a:srgbClr val="C00000"/>
                </a:solidFill>
                <a:latin typeface="Times New Roman"/>
                <a:ea typeface="Times New Roman"/>
                <a:cs typeface="Times New Roman"/>
                <a:sym typeface="Times New Roman"/>
              </a:rPr>
              <a:t>N</a:t>
            </a:r>
            <a:r>
              <a:rPr lang="en-US" b="1">
                <a:solidFill>
                  <a:srgbClr val="C00000"/>
                </a:solidFill>
                <a:latin typeface="Times New Roman"/>
                <a:ea typeface="Times New Roman"/>
                <a:cs typeface="Times New Roman"/>
                <a:sym typeface="Times New Roman"/>
              </a:rPr>
              <a:t> &gt; S (Example)</a:t>
            </a:r>
            <a:endParaRPr/>
          </a:p>
          <a:p>
            <a:pPr marL="0" lvl="0" indent="0" algn="just" rtl="0">
              <a:lnSpc>
                <a:spcPct val="90000"/>
              </a:lnSpc>
              <a:spcBef>
                <a:spcPts val="1000"/>
              </a:spcBef>
              <a:spcAft>
                <a:spcPts val="0"/>
              </a:spcAft>
              <a:buClr>
                <a:schemeClr val="dk1"/>
              </a:buClr>
              <a:buSzPts val="2800"/>
              <a:buNone/>
            </a:pPr>
            <a:endParaRPr b="1">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Consider the following accounting information for a computer system.</a:t>
            </a:r>
            <a:endParaRPr/>
          </a:p>
          <a:p>
            <a:pPr marL="228600" lvl="0" indent="-228600" algn="just" rtl="0">
              <a:lnSpc>
                <a:spcPct val="90000"/>
              </a:lnSpc>
              <a:spcBef>
                <a:spcPts val="1000"/>
              </a:spcBef>
              <a:spcAft>
                <a:spcPts val="0"/>
              </a:spcAft>
              <a:buClr>
                <a:schemeClr val="dk1"/>
              </a:buClr>
              <a:buSzPts val="2800"/>
              <a:buFont typeface="Arial"/>
              <a:buNone/>
            </a:pPr>
            <a:r>
              <a:rPr lang="en-US" b="1">
                <a:latin typeface="Times New Roman"/>
                <a:ea typeface="Times New Roman"/>
                <a:cs typeface="Times New Roman"/>
                <a:sym typeface="Times New Roman"/>
              </a:rPr>
              <a:t>            Cost Basis of the asset, I, = $ 10,000</a:t>
            </a:r>
            <a:endParaRPr/>
          </a:p>
          <a:p>
            <a:pPr marL="228600" lvl="0" indent="-228600" algn="just" rtl="0">
              <a:lnSpc>
                <a:spcPct val="90000"/>
              </a:lnSpc>
              <a:spcBef>
                <a:spcPts val="1000"/>
              </a:spcBef>
              <a:spcAft>
                <a:spcPts val="0"/>
              </a:spcAft>
              <a:buClr>
                <a:schemeClr val="dk1"/>
              </a:buClr>
              <a:buSzPts val="2800"/>
              <a:buFont typeface="Arial"/>
              <a:buNone/>
            </a:pPr>
            <a:r>
              <a:rPr lang="en-US" b="1">
                <a:latin typeface="Times New Roman"/>
                <a:ea typeface="Times New Roman"/>
                <a:cs typeface="Times New Roman"/>
                <a:sym typeface="Times New Roman"/>
              </a:rPr>
              <a:t>            Useful life, N,                     = 5 years</a:t>
            </a:r>
            <a:endParaRPr/>
          </a:p>
          <a:p>
            <a:pPr marL="228600" lvl="0" indent="-228600" algn="just" rtl="0">
              <a:lnSpc>
                <a:spcPct val="90000"/>
              </a:lnSpc>
              <a:spcBef>
                <a:spcPts val="1000"/>
              </a:spcBef>
              <a:spcAft>
                <a:spcPts val="0"/>
              </a:spcAft>
              <a:buClr>
                <a:schemeClr val="dk1"/>
              </a:buClr>
              <a:buSzPts val="2800"/>
              <a:buFont typeface="Arial"/>
              <a:buNone/>
            </a:pPr>
            <a:r>
              <a:rPr lang="en-US" b="1">
                <a:latin typeface="Times New Roman"/>
                <a:ea typeface="Times New Roman"/>
                <a:cs typeface="Times New Roman"/>
                <a:sym typeface="Times New Roman"/>
              </a:rPr>
              <a:t>            Salvage Value , S,               = $0</a:t>
            </a:r>
            <a:endParaRPr/>
          </a:p>
          <a:p>
            <a:pPr marL="228600" lvl="0" indent="-228600" algn="just" rtl="0">
              <a:lnSpc>
                <a:spcPct val="90000"/>
              </a:lnSpc>
              <a:spcBef>
                <a:spcPts val="1000"/>
              </a:spcBef>
              <a:spcAft>
                <a:spcPts val="0"/>
              </a:spcAft>
              <a:buClr>
                <a:schemeClr val="dk1"/>
              </a:buClr>
              <a:buSzPts val="2800"/>
              <a:buFont typeface="Arial"/>
              <a:buNone/>
            </a:pPr>
            <a:r>
              <a:rPr lang="en-US" b="1">
                <a:latin typeface="Times New Roman"/>
                <a:ea typeface="Times New Roman"/>
                <a:cs typeface="Times New Roman"/>
                <a:sym typeface="Times New Roman"/>
              </a:rPr>
              <a:t>            Declining balance Rate (α) = (1/5) *2 = 40%</a:t>
            </a:r>
            <a:endParaRPr/>
          </a:p>
          <a:p>
            <a:pPr marL="228600" lvl="0" indent="-228600" algn="just" rtl="0">
              <a:lnSpc>
                <a:spcPct val="90000"/>
              </a:lnSpc>
              <a:spcBef>
                <a:spcPts val="1000"/>
              </a:spcBef>
              <a:spcAft>
                <a:spcPts val="0"/>
              </a:spcAft>
              <a:buClr>
                <a:schemeClr val="dk1"/>
              </a:buClr>
              <a:buSzPts val="2800"/>
              <a:buFont typeface="Arial"/>
              <a:buNone/>
            </a:pPr>
            <a:r>
              <a:rPr lang="en-US" b="1">
                <a:latin typeface="Times New Roman"/>
                <a:ea typeface="Times New Roman"/>
                <a:cs typeface="Times New Roman"/>
                <a:sym typeface="Times New Roman"/>
              </a:rPr>
              <a:t>    Determine the optimal time to switch from DB to SL depreciation and the resulting depreciation schedule.</a:t>
            </a:r>
            <a:endParaRPr/>
          </a:p>
        </p:txBody>
      </p:sp>
      <p:sp>
        <p:nvSpPr>
          <p:cNvPr id="283" name="Google Shape;283;p29"/>
          <p:cNvSpPr txBox="1"/>
          <p:nvPr/>
        </p:nvSpPr>
        <p:spPr>
          <a:xfrm>
            <a:off x="1381664" y="227103"/>
            <a:ext cx="10515600" cy="1325563"/>
          </a:xfrm>
          <a:prstGeom prst="rect">
            <a:avLst/>
          </a:prstGeom>
          <a:noFill/>
          <a:ln>
            <a:noFill/>
          </a:ln>
        </p:spPr>
        <p:txBody>
          <a:bodyPr spcFirstLastPara="1" wrap="square" lIns="91425" tIns="45700" rIns="91425" bIns="45700" anchor="ctr" anchorCtr="0">
            <a:normAutofit/>
          </a:bodyPr>
          <a:lstStyle/>
          <a:p>
            <a:pPr marL="514350" marR="0" lvl="0" indent="-514350" algn="l" rtl="0">
              <a:lnSpc>
                <a:spcPct val="9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Declining balance Method (DB) (Cont’d..) </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0"/>
          <p:cNvSpPr txBox="1">
            <a:spLocks noGrp="1"/>
          </p:cNvSpPr>
          <p:nvPr>
            <p:ph type="body" idx="1"/>
          </p:nvPr>
        </p:nvSpPr>
        <p:spPr>
          <a:xfrm>
            <a:off x="1381664" y="866866"/>
            <a:ext cx="8512834" cy="13716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Font typeface="Arial"/>
              <a:buNone/>
            </a:pPr>
            <a:endParaRPr sz="2400" b="1">
              <a:solidFill>
                <a:srgbClr val="C00000"/>
              </a:solidFill>
            </a:endParaRPr>
          </a:p>
          <a:p>
            <a:pPr marL="0" lvl="0" indent="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First, Computing the DDB depreciation for each year.</a:t>
            </a:r>
            <a:endParaRPr/>
          </a:p>
          <a:p>
            <a:pPr marL="228600" lvl="0" indent="-228600" algn="l" rtl="0">
              <a:lnSpc>
                <a:spcPct val="90000"/>
              </a:lnSpc>
              <a:spcBef>
                <a:spcPts val="1000"/>
              </a:spcBef>
              <a:spcAft>
                <a:spcPts val="0"/>
              </a:spcAft>
              <a:buClr>
                <a:schemeClr val="dk1"/>
              </a:buClr>
              <a:buSzPts val="2800"/>
              <a:buFont typeface="Arial"/>
              <a:buNone/>
            </a:pPr>
            <a:endParaRPr b="1">
              <a:latin typeface="Times New Roman"/>
              <a:ea typeface="Times New Roman"/>
              <a:cs typeface="Times New Roman"/>
              <a:sym typeface="Times New Roman"/>
            </a:endParaRPr>
          </a:p>
        </p:txBody>
      </p:sp>
      <p:graphicFrame>
        <p:nvGraphicFramePr>
          <p:cNvPr id="289" name="Google Shape;289;p30"/>
          <p:cNvGraphicFramePr/>
          <p:nvPr/>
        </p:nvGraphicFramePr>
        <p:xfrm>
          <a:off x="2396706" y="1853738"/>
          <a:ext cx="3000000" cy="3000000"/>
        </p:xfrm>
        <a:graphic>
          <a:graphicData uri="http://schemas.openxmlformats.org/drawingml/2006/table">
            <a:tbl>
              <a:tblPr firstRow="1" bandRow="1">
                <a:noFill/>
                <a:tableStyleId>{A94F57D6-6E30-420B-A929-F54C7F686708}</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518125">
                <a:tc>
                  <a:txBody>
                    <a:bodyPr/>
                    <a:lstStyle/>
                    <a:p>
                      <a:pPr marL="0" marR="0" lvl="0" indent="0" algn="ctr" rtl="0">
                        <a:spcBef>
                          <a:spcPts val="0"/>
                        </a:spcBef>
                        <a:spcAft>
                          <a:spcPts val="0"/>
                        </a:spcAft>
                        <a:buNone/>
                      </a:pPr>
                      <a:r>
                        <a:rPr lang="en-US" sz="2800" b="1" u="none" strike="noStrike" cap="none">
                          <a:solidFill>
                            <a:srgbClr val="C00000"/>
                          </a:solidFill>
                          <a:latin typeface="Times New Roman"/>
                          <a:ea typeface="Times New Roman"/>
                          <a:cs typeface="Times New Roman"/>
                          <a:sym typeface="Times New Roman"/>
                        </a:rPr>
                        <a:t>n</a:t>
                      </a:r>
                      <a:endParaRPr/>
                    </a:p>
                  </a:txBody>
                  <a:tcPr marL="91450" marR="91450" marT="45725" marB="45725"/>
                </a:tc>
                <a:tc>
                  <a:txBody>
                    <a:bodyPr/>
                    <a:lstStyle/>
                    <a:p>
                      <a:pPr marL="0" marR="0" lvl="0" indent="0" algn="ctr" rtl="0">
                        <a:spcBef>
                          <a:spcPts val="0"/>
                        </a:spcBef>
                        <a:spcAft>
                          <a:spcPts val="0"/>
                        </a:spcAft>
                        <a:buNone/>
                      </a:pPr>
                      <a:r>
                        <a:rPr lang="en-US" sz="2800" b="1" u="none" strike="noStrike" cap="none">
                          <a:solidFill>
                            <a:srgbClr val="C00000"/>
                          </a:solidFill>
                          <a:latin typeface="Times New Roman"/>
                          <a:ea typeface="Times New Roman"/>
                          <a:cs typeface="Times New Roman"/>
                          <a:sym typeface="Times New Roman"/>
                        </a:rPr>
                        <a:t>B</a:t>
                      </a:r>
                      <a:r>
                        <a:rPr lang="en-US" sz="2800" b="1" u="none" strike="noStrike" cap="none" baseline="-25000">
                          <a:solidFill>
                            <a:srgbClr val="C00000"/>
                          </a:solidFill>
                          <a:latin typeface="Times New Roman"/>
                          <a:ea typeface="Times New Roman"/>
                          <a:cs typeface="Times New Roman"/>
                          <a:sym typeface="Times New Roman"/>
                        </a:rPr>
                        <a:t>n-1</a:t>
                      </a:r>
                      <a:endParaRPr/>
                    </a:p>
                  </a:txBody>
                  <a:tcPr marL="91450" marR="91450" marT="45725" marB="45725"/>
                </a:tc>
                <a:tc>
                  <a:txBody>
                    <a:bodyPr/>
                    <a:lstStyle/>
                    <a:p>
                      <a:pPr marL="0" marR="0" lvl="0" indent="0" algn="ctr" rtl="0">
                        <a:spcBef>
                          <a:spcPts val="0"/>
                        </a:spcBef>
                        <a:spcAft>
                          <a:spcPts val="0"/>
                        </a:spcAft>
                        <a:buNone/>
                      </a:pPr>
                      <a:r>
                        <a:rPr lang="en-US" sz="2800" b="1" u="none" strike="noStrike" cap="none">
                          <a:solidFill>
                            <a:srgbClr val="C00000"/>
                          </a:solidFill>
                          <a:latin typeface="Times New Roman"/>
                          <a:ea typeface="Times New Roman"/>
                          <a:cs typeface="Times New Roman"/>
                          <a:sym typeface="Times New Roman"/>
                        </a:rPr>
                        <a:t>D</a:t>
                      </a:r>
                      <a:r>
                        <a:rPr lang="en-US" sz="2800" b="1" u="none" strike="noStrike" cap="none" baseline="-25000">
                          <a:solidFill>
                            <a:srgbClr val="C00000"/>
                          </a:solidFill>
                          <a:latin typeface="Times New Roman"/>
                          <a:ea typeface="Times New Roman"/>
                          <a:cs typeface="Times New Roman"/>
                          <a:sym typeface="Times New Roman"/>
                        </a:rPr>
                        <a:t>n</a:t>
                      </a:r>
                      <a:endParaRPr sz="2800" b="1" u="none" strike="noStrike" cap="none" baseline="-25000">
                        <a:solidFill>
                          <a:srgbClr val="C00000"/>
                        </a:solidFill>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800" b="1" u="none" strike="noStrike" cap="none">
                          <a:solidFill>
                            <a:srgbClr val="C00000"/>
                          </a:solidFill>
                          <a:latin typeface="Times New Roman"/>
                          <a:ea typeface="Times New Roman"/>
                          <a:cs typeface="Times New Roman"/>
                          <a:sym typeface="Times New Roman"/>
                        </a:rPr>
                        <a:t>B</a:t>
                      </a:r>
                      <a:r>
                        <a:rPr lang="en-US" sz="2800" b="1" u="none" strike="noStrike" cap="none" baseline="-25000">
                          <a:solidFill>
                            <a:srgbClr val="C00000"/>
                          </a:solidFill>
                          <a:latin typeface="Times New Roman"/>
                          <a:ea typeface="Times New Roman"/>
                          <a:cs typeface="Times New Roman"/>
                          <a:sym typeface="Times New Roman"/>
                        </a:rPr>
                        <a:t>n</a:t>
                      </a:r>
                      <a:endParaRPr sz="2800" b="1" u="none" strike="noStrike" cap="none" baseline="-25000">
                        <a:solidFill>
                          <a:srgbClr val="C00000"/>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457175">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1</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$ 10,000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$ 4,000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$ 6,000</a:t>
                      </a:r>
                      <a:endParaRPr/>
                    </a:p>
                  </a:txBody>
                  <a:tcPr marL="91450" marR="91450" marT="45725" marB="45725"/>
                </a:tc>
                <a:extLst>
                  <a:ext uri="{0D108BD9-81ED-4DB2-BD59-A6C34878D82A}">
                    <a16:rowId xmlns:a16="http://schemas.microsoft.com/office/drawing/2014/main" val="10001"/>
                  </a:ext>
                </a:extLst>
              </a:tr>
              <a:tr h="457175">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2</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Times New Roman"/>
                        <a:buNone/>
                      </a:pPr>
                      <a:r>
                        <a:rPr lang="en-US" sz="2400" b="1" u="none" strike="noStrike" cap="none">
                          <a:latin typeface="Times New Roman"/>
                          <a:ea typeface="Times New Roman"/>
                          <a:cs typeface="Times New Roman"/>
                          <a:sym typeface="Times New Roman"/>
                        </a:rPr>
                        <a:t>$ 6,000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$ 2,400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$ 3,600</a:t>
                      </a:r>
                      <a:endParaRPr/>
                    </a:p>
                  </a:txBody>
                  <a:tcPr marL="91450" marR="91450" marT="45725" marB="45725"/>
                </a:tc>
                <a:extLst>
                  <a:ext uri="{0D108BD9-81ED-4DB2-BD59-A6C34878D82A}">
                    <a16:rowId xmlns:a16="http://schemas.microsoft.com/office/drawing/2014/main" val="10002"/>
                  </a:ext>
                </a:extLst>
              </a:tr>
              <a:tr h="457175">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3</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Times New Roman"/>
                        <a:buNone/>
                      </a:pPr>
                      <a:r>
                        <a:rPr lang="en-US" sz="2400" b="1" u="none" strike="noStrike" cap="none">
                          <a:latin typeface="Times New Roman"/>
                          <a:ea typeface="Times New Roman"/>
                          <a:cs typeface="Times New Roman"/>
                          <a:sym typeface="Times New Roman"/>
                        </a:rPr>
                        <a:t>$ 3,600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$ 1,440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$ 2,160</a:t>
                      </a:r>
                      <a:endParaRPr/>
                    </a:p>
                  </a:txBody>
                  <a:tcPr marL="91450" marR="91450" marT="45725" marB="45725"/>
                </a:tc>
                <a:extLst>
                  <a:ext uri="{0D108BD9-81ED-4DB2-BD59-A6C34878D82A}">
                    <a16:rowId xmlns:a16="http://schemas.microsoft.com/office/drawing/2014/main" val="10003"/>
                  </a:ext>
                </a:extLst>
              </a:tr>
              <a:tr h="457175">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4</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Times New Roman"/>
                        <a:buNone/>
                      </a:pPr>
                      <a:r>
                        <a:rPr lang="en-US" sz="2400" b="1" u="none" strike="noStrike" cap="none">
                          <a:latin typeface="Times New Roman"/>
                          <a:ea typeface="Times New Roman"/>
                          <a:cs typeface="Times New Roman"/>
                          <a:sym typeface="Times New Roman"/>
                        </a:rPr>
                        <a:t>$ 2,160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$ 864</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$ 1,296</a:t>
                      </a:r>
                      <a:endParaRPr/>
                    </a:p>
                  </a:txBody>
                  <a:tcPr marL="91450" marR="91450" marT="45725" marB="45725"/>
                </a:tc>
                <a:extLst>
                  <a:ext uri="{0D108BD9-81ED-4DB2-BD59-A6C34878D82A}">
                    <a16:rowId xmlns:a16="http://schemas.microsoft.com/office/drawing/2014/main" val="10004"/>
                  </a:ext>
                </a:extLst>
              </a:tr>
              <a:tr h="551925">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5</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$ 1,296</a:t>
                      </a:r>
                      <a:endParaRPr sz="2400" b="1"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$ 518</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$ 778</a:t>
                      </a:r>
                      <a:endParaRPr/>
                    </a:p>
                  </a:txBody>
                  <a:tcPr marL="91450" marR="91450" marT="45725" marB="45725"/>
                </a:tc>
                <a:extLst>
                  <a:ext uri="{0D108BD9-81ED-4DB2-BD59-A6C34878D82A}">
                    <a16:rowId xmlns:a16="http://schemas.microsoft.com/office/drawing/2014/main" val="10005"/>
                  </a:ext>
                </a:extLst>
              </a:tr>
            </a:tbl>
          </a:graphicData>
        </a:graphic>
      </p:graphicFrame>
      <p:sp>
        <p:nvSpPr>
          <p:cNvPr id="290" name="Google Shape;290;p30"/>
          <p:cNvSpPr txBox="1"/>
          <p:nvPr/>
        </p:nvSpPr>
        <p:spPr>
          <a:xfrm>
            <a:off x="933090" y="4777597"/>
            <a:ext cx="9849929" cy="138499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Here the Book value is $778 at the end of Year 5 which is </a:t>
            </a:r>
            <a:r>
              <a:rPr lang="en-US" sz="2800" b="1" i="0" u="none" strike="noStrike" cap="none">
                <a:solidFill>
                  <a:srgbClr val="FF0000"/>
                </a:solidFill>
                <a:latin typeface="Times New Roman"/>
                <a:ea typeface="Times New Roman"/>
                <a:cs typeface="Times New Roman"/>
                <a:sym typeface="Times New Roman"/>
              </a:rPr>
              <a:t>Greater than salvage value. </a:t>
            </a:r>
            <a:r>
              <a:rPr lang="en-US" sz="2800" b="1" i="0" u="none" strike="noStrike" cap="none">
                <a:solidFill>
                  <a:schemeClr val="dk1"/>
                </a:solidFill>
                <a:latin typeface="Times New Roman"/>
                <a:ea typeface="Times New Roman"/>
                <a:cs typeface="Times New Roman"/>
                <a:sym typeface="Times New Roman"/>
              </a:rPr>
              <a:t>Therefore we use the switching fundamentals.</a:t>
            </a:r>
            <a:endParaRPr/>
          </a:p>
        </p:txBody>
      </p:sp>
      <p:sp>
        <p:nvSpPr>
          <p:cNvPr id="291" name="Google Shape;291;p30"/>
          <p:cNvSpPr txBox="1"/>
          <p:nvPr/>
        </p:nvSpPr>
        <p:spPr>
          <a:xfrm>
            <a:off x="1381664" y="227103"/>
            <a:ext cx="10515600" cy="1325563"/>
          </a:xfrm>
          <a:prstGeom prst="rect">
            <a:avLst/>
          </a:prstGeom>
          <a:noFill/>
          <a:ln>
            <a:noFill/>
          </a:ln>
        </p:spPr>
        <p:txBody>
          <a:bodyPr spcFirstLastPara="1" wrap="square" lIns="91425" tIns="45700" rIns="91425" bIns="45700" anchor="ctr" anchorCtr="0">
            <a:normAutofit/>
          </a:bodyPr>
          <a:lstStyle/>
          <a:p>
            <a:pPr marL="514350" marR="0" lvl="0" indent="-514350" algn="l" rtl="0">
              <a:lnSpc>
                <a:spcPct val="9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Declining balance Method (DB) (Cont’d..) </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9"/>
                                        </p:tgtEl>
                                        <p:attrNameLst>
                                          <p:attrName>style.visibility</p:attrName>
                                        </p:attrNameLst>
                                      </p:cBhvr>
                                      <p:to>
                                        <p:strVal val="visible"/>
                                      </p:to>
                                    </p:set>
                                    <p:animEffect transition="in" filter="fade">
                                      <p:cBhvr>
                                        <p:cTn id="7" dur="1000"/>
                                        <p:tgtEl>
                                          <p:spTgt spid="28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0"/>
                                        </p:tgtEl>
                                        <p:attrNameLst>
                                          <p:attrName>style.visibility</p:attrName>
                                        </p:attrNameLst>
                                      </p:cBhvr>
                                      <p:to>
                                        <p:strVal val="visible"/>
                                      </p:to>
                                    </p:set>
                                    <p:animEffect transition="in" filter="fade">
                                      <p:cBhvr>
                                        <p:cTn id="12" dur="1000"/>
                                        <p:tgtEl>
                                          <p:spTgt spid="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1"/>
          <p:cNvSpPr txBox="1">
            <a:spLocks noGrp="1"/>
          </p:cNvSpPr>
          <p:nvPr>
            <p:ph type="body" idx="1"/>
          </p:nvPr>
        </p:nvSpPr>
        <p:spPr>
          <a:xfrm>
            <a:off x="605287" y="1452095"/>
            <a:ext cx="9392728" cy="4351338"/>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1"/>
              </a:buClr>
              <a:buSzPts val="2800"/>
              <a:buNone/>
            </a:pPr>
            <a:r>
              <a:rPr lang="en-US" b="1">
                <a:latin typeface="Times New Roman"/>
                <a:ea typeface="Times New Roman"/>
                <a:cs typeface="Times New Roman"/>
                <a:sym typeface="Times New Roman"/>
              </a:rPr>
              <a:t>Second, we compute the SL depreciation for each year then compare SL to DDB depreciation for each year and use the decision rule for when to change.</a:t>
            </a:r>
            <a:endParaRPr/>
          </a:p>
          <a:p>
            <a:pPr marL="228600" lvl="0" indent="-50800" algn="l" rtl="0">
              <a:lnSpc>
                <a:spcPct val="90000"/>
              </a:lnSpc>
              <a:spcBef>
                <a:spcPts val="1000"/>
              </a:spcBef>
              <a:spcAft>
                <a:spcPts val="0"/>
              </a:spcAft>
              <a:buClr>
                <a:schemeClr val="dk1"/>
              </a:buClr>
              <a:buSzPts val="2800"/>
              <a:buNone/>
            </a:pPr>
            <a:endParaRPr/>
          </a:p>
        </p:txBody>
      </p:sp>
      <p:graphicFrame>
        <p:nvGraphicFramePr>
          <p:cNvPr id="297" name="Google Shape;297;p31"/>
          <p:cNvGraphicFramePr/>
          <p:nvPr/>
        </p:nvGraphicFramePr>
        <p:xfrm>
          <a:off x="1337094" y="3191770"/>
          <a:ext cx="3000000" cy="3000000"/>
        </p:xfrm>
        <a:graphic>
          <a:graphicData uri="http://schemas.openxmlformats.org/drawingml/2006/table">
            <a:tbl>
              <a:tblPr firstRow="1" firstCol="1" bandRow="1">
                <a:noFill/>
                <a:tableStyleId>{A94F57D6-6E30-420B-A929-F54C7F686708}</a:tableStyleId>
              </a:tblPr>
              <a:tblGrid>
                <a:gridCol w="940275">
                  <a:extLst>
                    <a:ext uri="{9D8B030D-6E8A-4147-A177-3AD203B41FA5}">
                      <a16:colId xmlns:a16="http://schemas.microsoft.com/office/drawing/2014/main" val="20000"/>
                    </a:ext>
                  </a:extLst>
                </a:gridCol>
                <a:gridCol w="2958850">
                  <a:extLst>
                    <a:ext uri="{9D8B030D-6E8A-4147-A177-3AD203B41FA5}">
                      <a16:colId xmlns:a16="http://schemas.microsoft.com/office/drawing/2014/main" val="20001"/>
                    </a:ext>
                  </a:extLst>
                </a:gridCol>
                <a:gridCol w="2434050">
                  <a:extLst>
                    <a:ext uri="{9D8B030D-6E8A-4147-A177-3AD203B41FA5}">
                      <a16:colId xmlns:a16="http://schemas.microsoft.com/office/drawing/2014/main" val="20002"/>
                    </a:ext>
                  </a:extLst>
                </a:gridCol>
                <a:gridCol w="1896400">
                  <a:extLst>
                    <a:ext uri="{9D8B030D-6E8A-4147-A177-3AD203B41FA5}">
                      <a16:colId xmlns:a16="http://schemas.microsoft.com/office/drawing/2014/main" val="20003"/>
                    </a:ext>
                  </a:extLst>
                </a:gridCol>
              </a:tblGrid>
              <a:tr h="465825">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n</a:t>
                      </a:r>
                      <a:endParaRPr sz="2000" b="1" u="none" strike="noStrike" cap="none">
                        <a:solidFill>
                          <a:srgbClr val="C00000"/>
                        </a:solidFill>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SL Depreciation</a:t>
                      </a:r>
                      <a:endParaRPr sz="2000" b="1" u="none" strike="noStrike" cap="none">
                        <a:solidFill>
                          <a:srgbClr val="C00000"/>
                        </a:solidFill>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DDB Depreciation</a:t>
                      </a:r>
                      <a:endParaRPr sz="2000" b="1" u="none" strike="noStrike" cap="none">
                        <a:solidFill>
                          <a:srgbClr val="C00000"/>
                        </a:solidFill>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Decision</a:t>
                      </a:r>
                      <a:endParaRPr sz="2000" b="1" u="none" strike="noStrike" cap="none">
                        <a:solidFill>
                          <a:srgbClr val="C00000"/>
                        </a:solidFill>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r h="384500">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(10000-0)/5 = 2000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&lt;4000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Do not switch</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1"/>
                  </a:ext>
                </a:extLst>
              </a:tr>
              <a:tr h="384500">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2</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(6000 -0)/4=1500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&lt;2400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Do not switch</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2"/>
                  </a:ext>
                </a:extLst>
              </a:tr>
              <a:tr h="384500">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3</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(3600 -0) /3 = 1200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&lt;1440</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Do not switch</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3"/>
                  </a:ext>
                </a:extLst>
              </a:tr>
              <a:tr h="384500">
                <a:tc>
                  <a:txBody>
                    <a:bodyPr/>
                    <a:lstStyle/>
                    <a:p>
                      <a:pPr marL="0" marR="0" lvl="0" indent="0" algn="ctr" rtl="0">
                        <a:spcBef>
                          <a:spcPts val="0"/>
                        </a:spcBef>
                        <a:spcAft>
                          <a:spcPts val="0"/>
                        </a:spcAft>
                        <a:buNone/>
                      </a:pPr>
                      <a:r>
                        <a:rPr lang="en-US" sz="2000" b="1" u="none" strike="noStrike" cap="none">
                          <a:solidFill>
                            <a:srgbClr val="00B0F0"/>
                          </a:solidFill>
                          <a:latin typeface="Times New Roman"/>
                          <a:ea typeface="Times New Roman"/>
                          <a:cs typeface="Times New Roman"/>
                          <a:sym typeface="Times New Roman"/>
                        </a:rPr>
                        <a:t>4</a:t>
                      </a:r>
                      <a:endParaRPr sz="2000" b="1" u="none" strike="noStrike" cap="none">
                        <a:solidFill>
                          <a:srgbClr val="00B0F0"/>
                        </a:solidFill>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solidFill>
                            <a:srgbClr val="00B0F0"/>
                          </a:solidFill>
                          <a:latin typeface="Times New Roman"/>
                          <a:ea typeface="Times New Roman"/>
                          <a:cs typeface="Times New Roman"/>
                          <a:sym typeface="Times New Roman"/>
                        </a:rPr>
                        <a:t>(2160- 0) 2 = 1080</a:t>
                      </a:r>
                      <a:endParaRPr sz="2000" b="1" u="none" strike="noStrike" cap="none">
                        <a:solidFill>
                          <a:srgbClr val="00B0F0"/>
                        </a:solidFill>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solidFill>
                            <a:srgbClr val="00B0F0"/>
                          </a:solidFill>
                          <a:latin typeface="Times New Roman"/>
                          <a:ea typeface="Times New Roman"/>
                          <a:cs typeface="Times New Roman"/>
                          <a:sym typeface="Times New Roman"/>
                        </a:rPr>
                        <a:t>&gt;864</a:t>
                      </a:r>
                      <a:endParaRPr sz="2000" b="1" u="none" strike="noStrike" cap="none">
                        <a:solidFill>
                          <a:srgbClr val="00B0F0"/>
                        </a:solidFill>
                        <a:latin typeface="Times New Roman"/>
                        <a:ea typeface="Times New Roman"/>
                        <a:cs typeface="Times New Roman"/>
                        <a:sym typeface="Times New Roman"/>
                      </a:endParaRPr>
                    </a:p>
                  </a:txBody>
                  <a:tcPr marL="68575" marR="68575" marT="0" marB="0"/>
                </a:tc>
                <a:tc>
                  <a:txBody>
                    <a:bodyPr/>
                    <a:lstStyle/>
                    <a:p>
                      <a:pPr marL="0" marR="0" lvl="0" indent="0" algn="ctr" rtl="0">
                        <a:spcBef>
                          <a:spcPts val="0"/>
                        </a:spcBef>
                        <a:spcAft>
                          <a:spcPts val="0"/>
                        </a:spcAft>
                        <a:buNone/>
                      </a:pPr>
                      <a:r>
                        <a:rPr lang="en-US" sz="2000" b="1" u="none" strike="noStrike" cap="none">
                          <a:solidFill>
                            <a:srgbClr val="00B0F0"/>
                          </a:solidFill>
                          <a:latin typeface="Times New Roman"/>
                          <a:ea typeface="Times New Roman"/>
                          <a:cs typeface="Times New Roman"/>
                          <a:sym typeface="Times New Roman"/>
                        </a:rPr>
                        <a:t>Switch to SL</a:t>
                      </a:r>
                      <a:endParaRPr sz="2000" b="1" u="none" strike="noStrike" cap="none">
                        <a:solidFill>
                          <a:srgbClr val="00B0F0"/>
                        </a:solidFill>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4"/>
                  </a:ext>
                </a:extLst>
              </a:tr>
            </a:tbl>
          </a:graphicData>
        </a:graphic>
      </p:graphicFrame>
      <p:sp>
        <p:nvSpPr>
          <p:cNvPr id="298" name="Google Shape;298;p31"/>
          <p:cNvSpPr/>
          <p:nvPr/>
        </p:nvSpPr>
        <p:spPr>
          <a:xfrm>
            <a:off x="2905875" y="5728741"/>
            <a:ext cx="546585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rgbClr val="C00000"/>
                </a:solidFill>
                <a:latin typeface="Times New Roman"/>
                <a:ea typeface="Times New Roman"/>
                <a:cs typeface="Times New Roman"/>
                <a:sym typeface="Times New Roman"/>
              </a:rPr>
              <a:t>The optimal year for switching is year 4 </a:t>
            </a:r>
            <a:endParaRPr sz="2400" b="1" i="0" u="none" strike="noStrike" cap="none">
              <a:solidFill>
                <a:srgbClr val="C00000"/>
              </a:solidFill>
              <a:latin typeface="Times New Roman"/>
              <a:ea typeface="Times New Roman"/>
              <a:cs typeface="Times New Roman"/>
              <a:sym typeface="Times New Roman"/>
            </a:endParaRPr>
          </a:p>
        </p:txBody>
      </p:sp>
      <p:sp>
        <p:nvSpPr>
          <p:cNvPr id="299" name="Google Shape;299;p31"/>
          <p:cNvSpPr txBox="1">
            <a:spLocks noGrp="1"/>
          </p:cNvSpPr>
          <p:nvPr>
            <p:ph type="title"/>
          </p:nvPr>
        </p:nvSpPr>
        <p:spPr>
          <a:xfrm>
            <a:off x="1407544" y="201223"/>
            <a:ext cx="10515600" cy="1325563"/>
          </a:xfrm>
          <a:prstGeom prst="rect">
            <a:avLst/>
          </a:prstGeom>
          <a:noFill/>
          <a:ln>
            <a:noFill/>
          </a:ln>
        </p:spPr>
        <p:txBody>
          <a:bodyPr spcFirstLastPara="1" wrap="square" lIns="91425" tIns="45700" rIns="91425" bIns="45700" anchor="ctr" anchorCtr="0">
            <a:normAutofit/>
          </a:bodyPr>
          <a:lstStyle/>
          <a:p>
            <a:pPr marL="514350" marR="0" lvl="0" indent="-514350" algn="l" rtl="0">
              <a:lnSpc>
                <a:spcPct val="9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Declining balance Method (DB) (Cont’d..) </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2"/>
          <p:cNvSpPr txBox="1">
            <a:spLocks noGrp="1"/>
          </p:cNvSpPr>
          <p:nvPr>
            <p:ph type="body" idx="1"/>
          </p:nvPr>
        </p:nvSpPr>
        <p:spPr>
          <a:xfrm>
            <a:off x="681487" y="1341408"/>
            <a:ext cx="9282024" cy="160020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n-US" b="1">
                <a:latin typeface="Times New Roman"/>
                <a:ea typeface="Times New Roman"/>
                <a:cs typeface="Times New Roman"/>
                <a:sym typeface="Times New Roman"/>
              </a:rPr>
              <a:t>Third</a:t>
            </a:r>
            <a:r>
              <a:rPr lang="en-US" sz="2400" b="1">
                <a:latin typeface="Arial"/>
                <a:ea typeface="Arial"/>
                <a:cs typeface="Arial"/>
                <a:sym typeface="Arial"/>
              </a:rPr>
              <a:t> </a:t>
            </a:r>
            <a:r>
              <a:rPr lang="en-US" b="1">
                <a:latin typeface="Times New Roman"/>
                <a:ea typeface="Times New Roman"/>
                <a:cs typeface="Times New Roman"/>
                <a:sym typeface="Times New Roman"/>
              </a:rPr>
              <a:t>, use the SL depreciation method for the remaining depreciable year from the optimal year.</a:t>
            </a:r>
            <a:endParaRPr/>
          </a:p>
          <a:p>
            <a:pPr marL="0" lvl="0" indent="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The depreciation schedule is</a:t>
            </a:r>
            <a:endParaRPr/>
          </a:p>
          <a:p>
            <a:pPr marL="228600" lvl="0" indent="-228600" algn="l" rtl="0">
              <a:lnSpc>
                <a:spcPct val="90000"/>
              </a:lnSpc>
              <a:spcBef>
                <a:spcPts val="1000"/>
              </a:spcBef>
              <a:spcAft>
                <a:spcPts val="0"/>
              </a:spcAft>
              <a:buClr>
                <a:schemeClr val="dk1"/>
              </a:buClr>
              <a:buSzPts val="2400"/>
              <a:buFont typeface="Arial"/>
              <a:buNone/>
            </a:pPr>
            <a:endParaRPr sz="2400"/>
          </a:p>
        </p:txBody>
      </p:sp>
      <p:graphicFrame>
        <p:nvGraphicFramePr>
          <p:cNvPr id="305" name="Google Shape;305;p32"/>
          <p:cNvGraphicFramePr/>
          <p:nvPr/>
        </p:nvGraphicFramePr>
        <p:xfrm>
          <a:off x="2043023" y="2968926"/>
          <a:ext cx="3000000" cy="3000000"/>
        </p:xfrm>
        <a:graphic>
          <a:graphicData uri="http://schemas.openxmlformats.org/drawingml/2006/table">
            <a:tbl>
              <a:tblPr firstRow="1" bandRow="1">
                <a:noFill/>
                <a:tableStyleId>{A94F57D6-6E30-420B-A929-F54C7F686708}</a:tableStyleId>
              </a:tblPr>
              <a:tblGrid>
                <a:gridCol w="9144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640150">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Year</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DDB with switching to SL</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End of year Book value</a:t>
                      </a:r>
                      <a:endParaRPr/>
                    </a:p>
                  </a:txBody>
                  <a:tcPr marL="91450" marR="91450" marT="45725" marB="45725"/>
                </a:tc>
                <a:extLst>
                  <a:ext uri="{0D108BD9-81ED-4DB2-BD59-A6C34878D82A}">
                    <a16:rowId xmlns:a16="http://schemas.microsoft.com/office/drawing/2014/main" val="10000"/>
                  </a:ext>
                </a:extLst>
              </a:tr>
              <a:tr h="3708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$ 4,000</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$ 6,000</a:t>
                      </a:r>
                      <a:endParaRPr/>
                    </a:p>
                  </a:txBody>
                  <a:tcPr marL="91450" marR="91450" marT="45725" marB="45725"/>
                </a:tc>
                <a:extLst>
                  <a:ext uri="{0D108BD9-81ED-4DB2-BD59-A6C34878D82A}">
                    <a16:rowId xmlns:a16="http://schemas.microsoft.com/office/drawing/2014/main" val="10001"/>
                  </a:ext>
                </a:extLst>
              </a:tr>
              <a:tr h="3708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2</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$ 2,400</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$ 3,600</a:t>
                      </a:r>
                      <a:endParaRPr/>
                    </a:p>
                  </a:txBody>
                  <a:tcPr marL="91450" marR="91450" marT="45725" marB="45725"/>
                </a:tc>
                <a:extLst>
                  <a:ext uri="{0D108BD9-81ED-4DB2-BD59-A6C34878D82A}">
                    <a16:rowId xmlns:a16="http://schemas.microsoft.com/office/drawing/2014/main" val="10002"/>
                  </a:ext>
                </a:extLst>
              </a:tr>
              <a:tr h="3708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3</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$ 1,440</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$ 2160</a:t>
                      </a:r>
                      <a:endParaRPr/>
                    </a:p>
                  </a:txBody>
                  <a:tcPr marL="91450" marR="91450" marT="45725" marB="45725"/>
                </a:tc>
                <a:extLst>
                  <a:ext uri="{0D108BD9-81ED-4DB2-BD59-A6C34878D82A}">
                    <a16:rowId xmlns:a16="http://schemas.microsoft.com/office/drawing/2014/main" val="10003"/>
                  </a:ext>
                </a:extLst>
              </a:tr>
              <a:tr h="3708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4</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$ 1,080</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$ 1080</a:t>
                      </a:r>
                      <a:endParaRPr/>
                    </a:p>
                  </a:txBody>
                  <a:tcPr marL="91450" marR="91450" marT="45725" marB="45725"/>
                </a:tc>
                <a:extLst>
                  <a:ext uri="{0D108BD9-81ED-4DB2-BD59-A6C34878D82A}">
                    <a16:rowId xmlns:a16="http://schemas.microsoft.com/office/drawing/2014/main" val="10004"/>
                  </a:ext>
                </a:extLst>
              </a:tr>
              <a:tr h="3708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5</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$ 1,080</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$ 0</a:t>
                      </a:r>
                      <a:endParaRPr/>
                    </a:p>
                  </a:txBody>
                  <a:tcPr marL="91450" marR="91450" marT="45725" marB="45725"/>
                </a:tc>
                <a:extLst>
                  <a:ext uri="{0D108BD9-81ED-4DB2-BD59-A6C34878D82A}">
                    <a16:rowId xmlns:a16="http://schemas.microsoft.com/office/drawing/2014/main" val="10005"/>
                  </a:ext>
                </a:extLst>
              </a:tr>
              <a:tr h="370875">
                <a:tc>
                  <a:txBody>
                    <a:bodyPr/>
                    <a:lstStyle/>
                    <a:p>
                      <a:pPr marL="0" marR="0" lvl="0" indent="0" algn="ctr" rtl="0">
                        <a:spcBef>
                          <a:spcPts val="0"/>
                        </a:spcBef>
                        <a:spcAft>
                          <a:spcPts val="0"/>
                        </a:spcAft>
                        <a:buNone/>
                      </a:pPr>
                      <a:endParaRPr sz="2000" b="1"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Total = $ 10,000</a:t>
                      </a:r>
                      <a:endParaRPr sz="2000" b="1"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endParaRPr sz="20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6"/>
                  </a:ext>
                </a:extLst>
              </a:tr>
            </a:tbl>
          </a:graphicData>
        </a:graphic>
      </p:graphicFrame>
      <p:sp>
        <p:nvSpPr>
          <p:cNvPr id="306" name="Google Shape;306;p32"/>
          <p:cNvSpPr txBox="1">
            <a:spLocks noGrp="1"/>
          </p:cNvSpPr>
          <p:nvPr>
            <p:ph type="title"/>
          </p:nvPr>
        </p:nvSpPr>
        <p:spPr>
          <a:xfrm>
            <a:off x="1450676" y="270234"/>
            <a:ext cx="10515600" cy="1325563"/>
          </a:xfrm>
          <a:prstGeom prst="rect">
            <a:avLst/>
          </a:prstGeom>
          <a:noFill/>
          <a:ln>
            <a:noFill/>
          </a:ln>
        </p:spPr>
        <p:txBody>
          <a:bodyPr spcFirstLastPara="1" wrap="square" lIns="91425" tIns="45700" rIns="91425" bIns="45700" anchor="ctr" anchorCtr="0">
            <a:normAutofit/>
          </a:bodyPr>
          <a:lstStyle/>
          <a:p>
            <a:pPr marL="514350" marR="0" lvl="0" indent="-514350" algn="l" rtl="0">
              <a:lnSpc>
                <a:spcPct val="9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Declining balance Method (DB) (Cont’d..) </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3"/>
          <p:cNvSpPr txBox="1">
            <a:spLocks noGrp="1"/>
          </p:cNvSpPr>
          <p:nvPr>
            <p:ph type="title"/>
          </p:nvPr>
        </p:nvSpPr>
        <p:spPr>
          <a:xfrm>
            <a:off x="976223" y="1365789"/>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Times New Roman"/>
              <a:buNone/>
            </a:pPr>
            <a:r>
              <a:rPr lang="en-US" sz="2800" b="1">
                <a:solidFill>
                  <a:srgbClr val="C00000"/>
                </a:solidFill>
                <a:latin typeface="Times New Roman"/>
                <a:ea typeface="Times New Roman"/>
                <a:cs typeface="Times New Roman"/>
                <a:sym typeface="Times New Roman"/>
              </a:rPr>
              <a:t>Case 2: B</a:t>
            </a:r>
            <a:r>
              <a:rPr lang="en-US" sz="2800" b="1" baseline="-25000">
                <a:solidFill>
                  <a:srgbClr val="C00000"/>
                </a:solidFill>
                <a:latin typeface="Times New Roman"/>
                <a:ea typeface="Times New Roman"/>
                <a:cs typeface="Times New Roman"/>
                <a:sym typeface="Times New Roman"/>
              </a:rPr>
              <a:t>N</a:t>
            </a:r>
            <a:r>
              <a:rPr lang="en-US" sz="2800" b="1">
                <a:solidFill>
                  <a:srgbClr val="C00000"/>
                </a:solidFill>
                <a:latin typeface="Times New Roman"/>
                <a:ea typeface="Times New Roman"/>
                <a:cs typeface="Times New Roman"/>
                <a:sym typeface="Times New Roman"/>
              </a:rPr>
              <a:t> &lt; S</a:t>
            </a:r>
            <a:endParaRPr/>
          </a:p>
        </p:txBody>
      </p:sp>
      <p:sp>
        <p:nvSpPr>
          <p:cNvPr id="312" name="Google Shape;312;p33"/>
          <p:cNvSpPr txBox="1">
            <a:spLocks noGrp="1"/>
          </p:cNvSpPr>
          <p:nvPr>
            <p:ph type="body" idx="1"/>
          </p:nvPr>
        </p:nvSpPr>
        <p:spPr>
          <a:xfrm>
            <a:off x="743310" y="2506662"/>
            <a:ext cx="8866516"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When B</a:t>
            </a:r>
            <a:r>
              <a:rPr lang="en-US" b="1" baseline="-25000">
                <a:latin typeface="Times New Roman"/>
                <a:ea typeface="Times New Roman"/>
                <a:cs typeface="Times New Roman"/>
                <a:sym typeface="Times New Roman"/>
              </a:rPr>
              <a:t>N</a:t>
            </a:r>
            <a:r>
              <a:rPr lang="en-US" b="1">
                <a:latin typeface="Times New Roman"/>
                <a:ea typeface="Times New Roman"/>
                <a:cs typeface="Times New Roman"/>
                <a:sym typeface="Times New Roman"/>
              </a:rPr>
              <a:t> &lt; S , we must re-adjust our analysis because tax law doesn’t permit us to depreciate the asset below their salvage value. [4]</a:t>
            </a:r>
            <a:endParaRPr b="1">
              <a:latin typeface="Times New Roman"/>
              <a:ea typeface="Times New Roman"/>
              <a:cs typeface="Times New Roman"/>
              <a:sym typeface="Times New Roman"/>
            </a:endParaRPr>
          </a:p>
          <a:p>
            <a:pPr marL="228600" lvl="0" indent="-228600" algn="just" rtl="0">
              <a:lnSpc>
                <a:spcPct val="15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If the book value is lower than S, at any period, then the depreciation amount are adjusted so that B</a:t>
            </a:r>
            <a:r>
              <a:rPr lang="en-US" b="1" baseline="-25000">
                <a:latin typeface="Times New Roman"/>
                <a:ea typeface="Times New Roman"/>
                <a:cs typeface="Times New Roman"/>
                <a:sym typeface="Times New Roman"/>
              </a:rPr>
              <a:t>N</a:t>
            </a:r>
            <a:r>
              <a:rPr lang="en-US" b="1">
                <a:latin typeface="Times New Roman"/>
                <a:ea typeface="Times New Roman"/>
                <a:cs typeface="Times New Roman"/>
                <a:sym typeface="Times New Roman"/>
              </a:rPr>
              <a:t> =S.</a:t>
            </a:r>
            <a:endParaRPr/>
          </a:p>
        </p:txBody>
      </p:sp>
      <p:sp>
        <p:nvSpPr>
          <p:cNvPr id="313" name="Google Shape;313;p33"/>
          <p:cNvSpPr txBox="1"/>
          <p:nvPr/>
        </p:nvSpPr>
        <p:spPr>
          <a:xfrm>
            <a:off x="1450676" y="270234"/>
            <a:ext cx="10515600" cy="1325563"/>
          </a:xfrm>
          <a:prstGeom prst="rect">
            <a:avLst/>
          </a:prstGeom>
          <a:noFill/>
          <a:ln>
            <a:noFill/>
          </a:ln>
        </p:spPr>
        <p:txBody>
          <a:bodyPr spcFirstLastPara="1" wrap="square" lIns="91425" tIns="45700" rIns="91425" bIns="45700" anchor="ctr" anchorCtr="0">
            <a:normAutofit/>
          </a:bodyPr>
          <a:lstStyle/>
          <a:p>
            <a:pPr marL="514350" marR="0" lvl="0" indent="-514350" algn="l" rtl="0">
              <a:lnSpc>
                <a:spcPct val="9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Declining balance Method (DB) (Cont’d..) </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4"/>
          <p:cNvSpPr txBox="1">
            <a:spLocks noGrp="1"/>
          </p:cNvSpPr>
          <p:nvPr>
            <p:ph type="body" idx="1"/>
          </p:nvPr>
        </p:nvSpPr>
        <p:spPr>
          <a:xfrm>
            <a:off x="881332" y="1722108"/>
            <a:ext cx="9625642" cy="596402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Case 2: B</a:t>
            </a:r>
            <a:r>
              <a:rPr lang="en-US" b="1" baseline="-25000">
                <a:solidFill>
                  <a:srgbClr val="C00000"/>
                </a:solidFill>
                <a:latin typeface="Times New Roman"/>
                <a:ea typeface="Times New Roman"/>
                <a:cs typeface="Times New Roman"/>
                <a:sym typeface="Times New Roman"/>
              </a:rPr>
              <a:t>N</a:t>
            </a:r>
            <a:r>
              <a:rPr lang="en-US" b="1">
                <a:solidFill>
                  <a:srgbClr val="C00000"/>
                </a:solidFill>
                <a:latin typeface="Times New Roman"/>
                <a:ea typeface="Times New Roman"/>
                <a:cs typeface="Times New Roman"/>
                <a:sym typeface="Times New Roman"/>
              </a:rPr>
              <a:t> &lt; S</a:t>
            </a:r>
            <a:r>
              <a:rPr lang="en-US">
                <a:latin typeface="Times New Roman"/>
                <a:ea typeface="Times New Roman"/>
                <a:cs typeface="Times New Roman"/>
                <a:sym typeface="Times New Roman"/>
              </a:rPr>
              <a:t> </a:t>
            </a:r>
            <a:r>
              <a:rPr lang="en-US" b="1">
                <a:solidFill>
                  <a:srgbClr val="C00000"/>
                </a:solidFill>
                <a:latin typeface="Times New Roman"/>
                <a:ea typeface="Times New Roman"/>
                <a:cs typeface="Times New Roman"/>
                <a:sym typeface="Times New Roman"/>
              </a:rPr>
              <a:t>(Example) </a:t>
            </a:r>
            <a:endParaRPr/>
          </a:p>
          <a:p>
            <a:pPr marL="228600" lvl="0" indent="-228600" algn="just" rtl="0">
              <a:lnSpc>
                <a:spcPct val="120000"/>
              </a:lnSpc>
              <a:spcBef>
                <a:spcPts val="1000"/>
              </a:spcBef>
              <a:spcAft>
                <a:spcPts val="0"/>
              </a:spcAft>
              <a:buClr>
                <a:schemeClr val="dk1"/>
              </a:buClr>
              <a:buSzPts val="2800"/>
              <a:buFont typeface="Arial"/>
              <a:buNone/>
            </a:pPr>
            <a:r>
              <a:rPr lang="en-US" b="1">
                <a:latin typeface="Times New Roman"/>
                <a:ea typeface="Times New Roman"/>
                <a:cs typeface="Times New Roman"/>
                <a:sym typeface="Times New Roman"/>
              </a:rPr>
              <a:t>   Compute the double declining Balance (DDB) depreciation schedule for the data as follows:</a:t>
            </a:r>
            <a:endParaRPr/>
          </a:p>
          <a:p>
            <a:pPr marL="228600" lvl="0" indent="-228600" algn="just" rtl="0">
              <a:lnSpc>
                <a:spcPct val="120000"/>
              </a:lnSpc>
              <a:spcBef>
                <a:spcPts val="1000"/>
              </a:spcBef>
              <a:spcAft>
                <a:spcPts val="0"/>
              </a:spcAft>
              <a:buClr>
                <a:schemeClr val="dk1"/>
              </a:buClr>
              <a:buSzPts val="2800"/>
              <a:buFont typeface="Arial"/>
              <a:buNone/>
            </a:pPr>
            <a:r>
              <a:rPr lang="en-US" b="1">
                <a:latin typeface="Times New Roman"/>
                <a:ea typeface="Times New Roman"/>
                <a:cs typeface="Times New Roman"/>
                <a:sym typeface="Times New Roman"/>
              </a:rPr>
              <a:t>   Cost basis of the asset, I, = $ 10,000</a:t>
            </a:r>
            <a:endParaRPr/>
          </a:p>
          <a:p>
            <a:pPr marL="228600" lvl="0" indent="-228600" algn="just" rtl="0">
              <a:lnSpc>
                <a:spcPct val="120000"/>
              </a:lnSpc>
              <a:spcBef>
                <a:spcPts val="1000"/>
              </a:spcBef>
              <a:spcAft>
                <a:spcPts val="0"/>
              </a:spcAft>
              <a:buClr>
                <a:schemeClr val="dk1"/>
              </a:buClr>
              <a:buSzPts val="2800"/>
              <a:buFont typeface="Arial"/>
              <a:buNone/>
            </a:pPr>
            <a:r>
              <a:rPr lang="en-US" b="1">
                <a:latin typeface="Times New Roman"/>
                <a:ea typeface="Times New Roman"/>
                <a:cs typeface="Times New Roman"/>
                <a:sym typeface="Times New Roman"/>
              </a:rPr>
              <a:t>   Useful life , N,                    = 5 years</a:t>
            </a:r>
            <a:endParaRPr/>
          </a:p>
          <a:p>
            <a:pPr marL="228600" lvl="0" indent="-228600" algn="just" rtl="0">
              <a:lnSpc>
                <a:spcPct val="120000"/>
              </a:lnSpc>
              <a:spcBef>
                <a:spcPts val="1000"/>
              </a:spcBef>
              <a:spcAft>
                <a:spcPts val="0"/>
              </a:spcAft>
              <a:buClr>
                <a:schemeClr val="dk1"/>
              </a:buClr>
              <a:buSzPts val="2800"/>
              <a:buFont typeface="Arial"/>
              <a:buNone/>
            </a:pPr>
            <a:r>
              <a:rPr lang="en-US" b="1">
                <a:latin typeface="Times New Roman"/>
                <a:ea typeface="Times New Roman"/>
                <a:cs typeface="Times New Roman"/>
                <a:sym typeface="Times New Roman"/>
              </a:rPr>
              <a:t>   Salvage Value, S,               = $ 2,000</a:t>
            </a:r>
            <a:endParaRPr/>
          </a:p>
          <a:p>
            <a:pPr marL="228600" lvl="0" indent="-228600" algn="just" rtl="0">
              <a:lnSpc>
                <a:spcPct val="120000"/>
              </a:lnSpc>
              <a:spcBef>
                <a:spcPts val="1000"/>
              </a:spcBef>
              <a:spcAft>
                <a:spcPts val="0"/>
              </a:spcAft>
              <a:buClr>
                <a:schemeClr val="dk1"/>
              </a:buClr>
              <a:buSzPts val="2800"/>
              <a:buFont typeface="Arial"/>
              <a:buNone/>
            </a:pPr>
            <a:r>
              <a:rPr lang="en-US" b="1">
                <a:latin typeface="Times New Roman"/>
                <a:ea typeface="Times New Roman"/>
                <a:cs typeface="Times New Roman"/>
                <a:sym typeface="Times New Roman"/>
              </a:rPr>
              <a:t>   Declining balance Rate (α) (1/5) = 40%</a:t>
            </a:r>
            <a:endParaRPr/>
          </a:p>
          <a:p>
            <a:pPr marL="228600" lvl="0" indent="-228600" algn="just" rtl="0">
              <a:lnSpc>
                <a:spcPct val="110000"/>
              </a:lnSpc>
              <a:spcBef>
                <a:spcPts val="1000"/>
              </a:spcBef>
              <a:spcAft>
                <a:spcPts val="0"/>
              </a:spcAft>
              <a:buClr>
                <a:schemeClr val="dk1"/>
              </a:buClr>
              <a:buSzPts val="2400"/>
              <a:buFont typeface="Arial"/>
              <a:buNone/>
            </a:pPr>
            <a:endParaRPr sz="2400" b="1">
              <a:latin typeface="Times New Roman"/>
              <a:ea typeface="Times New Roman"/>
              <a:cs typeface="Times New Roman"/>
              <a:sym typeface="Times New Roman"/>
            </a:endParaRPr>
          </a:p>
          <a:p>
            <a:pPr marL="228600" lvl="0" indent="-228600" algn="just" rtl="0">
              <a:lnSpc>
                <a:spcPct val="110000"/>
              </a:lnSpc>
              <a:spcBef>
                <a:spcPts val="1000"/>
              </a:spcBef>
              <a:spcAft>
                <a:spcPts val="0"/>
              </a:spcAft>
              <a:buClr>
                <a:schemeClr val="dk1"/>
              </a:buClr>
              <a:buSzPts val="2400"/>
              <a:buFont typeface="Arial"/>
              <a:buNone/>
            </a:pPr>
            <a:r>
              <a:rPr lang="en-US" sz="2400" b="1">
                <a:latin typeface="Times New Roman"/>
                <a:ea typeface="Times New Roman"/>
                <a:cs typeface="Times New Roman"/>
                <a:sym typeface="Times New Roman"/>
              </a:rPr>
              <a:t>                         </a:t>
            </a:r>
            <a:endParaRPr/>
          </a:p>
          <a:p>
            <a:pPr marL="228600" lvl="0" indent="-228600" algn="l" rtl="0">
              <a:lnSpc>
                <a:spcPct val="90000"/>
              </a:lnSpc>
              <a:spcBef>
                <a:spcPts val="1000"/>
              </a:spcBef>
              <a:spcAft>
                <a:spcPts val="0"/>
              </a:spcAft>
              <a:buClr>
                <a:schemeClr val="dk1"/>
              </a:buClr>
              <a:buSzPts val="2400"/>
              <a:buFont typeface="Arial"/>
              <a:buNone/>
            </a:pPr>
            <a:r>
              <a:rPr lang="en-US" sz="2400"/>
              <a:t> </a:t>
            </a:r>
            <a:endParaRPr/>
          </a:p>
        </p:txBody>
      </p:sp>
      <p:sp>
        <p:nvSpPr>
          <p:cNvPr id="319" name="Google Shape;319;p34"/>
          <p:cNvSpPr txBox="1">
            <a:spLocks noGrp="1"/>
          </p:cNvSpPr>
          <p:nvPr>
            <p:ph type="title"/>
          </p:nvPr>
        </p:nvSpPr>
        <p:spPr>
          <a:xfrm>
            <a:off x="1450676" y="270234"/>
            <a:ext cx="10515600" cy="1325563"/>
          </a:xfrm>
          <a:prstGeom prst="rect">
            <a:avLst/>
          </a:prstGeom>
          <a:noFill/>
          <a:ln>
            <a:noFill/>
          </a:ln>
        </p:spPr>
        <p:txBody>
          <a:bodyPr spcFirstLastPara="1" wrap="square" lIns="91425" tIns="45700" rIns="91425" bIns="45700" anchor="ctr" anchorCtr="0">
            <a:normAutofit/>
          </a:bodyPr>
          <a:lstStyle/>
          <a:p>
            <a:pPr marL="514350" marR="0" lvl="0" indent="-514350" algn="l" rtl="0">
              <a:lnSpc>
                <a:spcPct val="9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Declining balance Method (DB) (Cont’d..) </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graphicFrame>
        <p:nvGraphicFramePr>
          <p:cNvPr id="324" name="Google Shape;324;p35"/>
          <p:cNvGraphicFramePr/>
          <p:nvPr/>
        </p:nvGraphicFramePr>
        <p:xfrm>
          <a:off x="1259459" y="2104757"/>
          <a:ext cx="3000000" cy="3000000"/>
        </p:xfrm>
        <a:graphic>
          <a:graphicData uri="http://schemas.openxmlformats.org/drawingml/2006/table">
            <a:tbl>
              <a:tblPr firstRow="1" bandRow="1">
                <a:noFill/>
                <a:tableStyleId>{A94F57D6-6E30-420B-A929-F54C7F686708}</a:tableStyleId>
              </a:tblPr>
              <a:tblGrid>
                <a:gridCol w="1777050">
                  <a:extLst>
                    <a:ext uri="{9D8B030D-6E8A-4147-A177-3AD203B41FA5}">
                      <a16:colId xmlns:a16="http://schemas.microsoft.com/office/drawing/2014/main" val="20000"/>
                    </a:ext>
                  </a:extLst>
                </a:gridCol>
                <a:gridCol w="1114250">
                  <a:extLst>
                    <a:ext uri="{9D8B030D-6E8A-4147-A177-3AD203B41FA5}">
                      <a16:colId xmlns:a16="http://schemas.microsoft.com/office/drawing/2014/main" val="20001"/>
                    </a:ext>
                  </a:extLst>
                </a:gridCol>
                <a:gridCol w="2284550">
                  <a:extLst>
                    <a:ext uri="{9D8B030D-6E8A-4147-A177-3AD203B41FA5}">
                      <a16:colId xmlns:a16="http://schemas.microsoft.com/office/drawing/2014/main" val="20002"/>
                    </a:ext>
                  </a:extLst>
                </a:gridCol>
                <a:gridCol w="3498025">
                  <a:extLst>
                    <a:ext uri="{9D8B030D-6E8A-4147-A177-3AD203B41FA5}">
                      <a16:colId xmlns:a16="http://schemas.microsoft.com/office/drawing/2014/main" val="20003"/>
                    </a:ext>
                  </a:extLst>
                </a:gridCol>
              </a:tblGrid>
              <a:tr h="701100">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End of Year</a:t>
                      </a:r>
                      <a:endParaRPr/>
                    </a:p>
                  </a:txBody>
                  <a:tcPr marL="91450" marR="91450" marT="45725" marB="45725"/>
                </a:tc>
                <a:tc gridSpan="2">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D</a:t>
                      </a:r>
                      <a:r>
                        <a:rPr lang="en-US" sz="2000" b="1" u="none" strike="noStrike" cap="none" baseline="-25000">
                          <a:solidFill>
                            <a:srgbClr val="C00000"/>
                          </a:solidFill>
                          <a:latin typeface="Times New Roman"/>
                          <a:ea typeface="Times New Roman"/>
                          <a:cs typeface="Times New Roman"/>
                          <a:sym typeface="Times New Roman"/>
                        </a:rPr>
                        <a:t>n</a:t>
                      </a:r>
                      <a:endParaRPr sz="2000" b="1" u="none" strike="noStrike" cap="none" baseline="-25000">
                        <a:solidFill>
                          <a:srgbClr val="C00000"/>
                        </a:solidFill>
                        <a:latin typeface="Times New Roman"/>
                        <a:ea typeface="Times New Roman"/>
                        <a:cs typeface="Times New Roman"/>
                        <a:sym typeface="Times New Roman"/>
                      </a:endParaRPr>
                    </a:p>
                  </a:txBody>
                  <a:tcPr marL="91450" marR="91450" marT="45725" marB="45725"/>
                </a:tc>
                <a:tc hMerge="1">
                  <a:txBody>
                    <a:bodyPr/>
                    <a:lstStyle/>
                    <a:p>
                      <a:endParaRPr lang="en-US"/>
                    </a:p>
                  </a:txBody>
                  <a:tcPr/>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B</a:t>
                      </a:r>
                      <a:r>
                        <a:rPr lang="en-US" sz="2000" b="1" u="none" strike="noStrike" cap="none" baseline="-25000">
                          <a:solidFill>
                            <a:srgbClr val="C00000"/>
                          </a:solidFill>
                          <a:latin typeface="Times New Roman"/>
                          <a:ea typeface="Times New Roman"/>
                          <a:cs typeface="Times New Roman"/>
                          <a:sym typeface="Times New Roman"/>
                        </a:rPr>
                        <a:t>n</a:t>
                      </a:r>
                      <a:endParaRPr sz="2000" b="1" u="none" strike="noStrike" cap="none" baseline="-25000">
                        <a:solidFill>
                          <a:srgbClr val="C00000"/>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3708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a:t>
                      </a:r>
                      <a:endParaRPr/>
                    </a:p>
                  </a:txBody>
                  <a:tcPr marL="91450" marR="91450" marT="45725" marB="45725"/>
                </a:tc>
                <a:tc gridSpan="2">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0.4 ($ 10,000)  = $ 4,000</a:t>
                      </a:r>
                      <a:endParaRPr/>
                    </a:p>
                  </a:txBody>
                  <a:tcPr marL="91450" marR="91450" marT="45725" marB="45725"/>
                </a:tc>
                <a:tc hMerge="1">
                  <a:txBody>
                    <a:bodyPr/>
                    <a:lstStyle/>
                    <a:p>
                      <a:endParaRPr lang="en-US"/>
                    </a:p>
                  </a:txBody>
                  <a:tcPr/>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$ 10,000 - $4,000   = $ 6,000</a:t>
                      </a:r>
                      <a:endParaRPr sz="20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3708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2</a:t>
                      </a:r>
                      <a:endParaRPr/>
                    </a:p>
                  </a:txBody>
                  <a:tcPr marL="91450" marR="91450" marT="45725" marB="45725"/>
                </a:tc>
                <a:tc gridSpan="2">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0.4 ($ 6,000)    = $ 2,400</a:t>
                      </a:r>
                      <a:endParaRPr sz="2000" b="1" u="none" strike="noStrike" cap="none">
                        <a:latin typeface="Times New Roman"/>
                        <a:ea typeface="Times New Roman"/>
                        <a:cs typeface="Times New Roman"/>
                        <a:sym typeface="Times New Roman"/>
                      </a:endParaRPr>
                    </a:p>
                  </a:txBody>
                  <a:tcPr marL="91450" marR="91450" marT="45725" marB="45725"/>
                </a:tc>
                <a:tc hMerge="1">
                  <a:txBody>
                    <a:bodyPr/>
                    <a:lstStyle/>
                    <a:p>
                      <a:endParaRPr lang="en-US"/>
                    </a:p>
                  </a:txBody>
                  <a:tcPr/>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$ 6,000 - $ 2,400     = $ 3,600</a:t>
                      </a:r>
                      <a:endParaRPr/>
                    </a:p>
                  </a:txBody>
                  <a:tcPr marL="91450" marR="91450" marT="45725" marB="45725"/>
                </a:tc>
                <a:extLst>
                  <a:ext uri="{0D108BD9-81ED-4DB2-BD59-A6C34878D82A}">
                    <a16:rowId xmlns:a16="http://schemas.microsoft.com/office/drawing/2014/main" val="10002"/>
                  </a:ext>
                </a:extLst>
              </a:tr>
              <a:tr h="3708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3</a:t>
                      </a:r>
                      <a:endParaRPr/>
                    </a:p>
                  </a:txBody>
                  <a:tcPr marL="91450" marR="91450" marT="45725" marB="45725"/>
                </a:tc>
                <a:tc gridSpan="2">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0.4 ($ 3,600)    =  $ 1,440</a:t>
                      </a:r>
                      <a:endParaRPr/>
                    </a:p>
                  </a:txBody>
                  <a:tcPr marL="91450" marR="91450" marT="45725" marB="45725"/>
                </a:tc>
                <a:tc hMerge="1">
                  <a:txBody>
                    <a:bodyPr/>
                    <a:lstStyle/>
                    <a:p>
                      <a:endParaRPr lang="en-US"/>
                    </a:p>
                  </a:txBody>
                  <a:tcPr/>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$ 3,600 - $ 1,440     = $ 2,160</a:t>
                      </a:r>
                      <a:endParaRPr/>
                    </a:p>
                  </a:txBody>
                  <a:tcPr marL="91450" marR="91450" marT="45725" marB="45725"/>
                </a:tc>
                <a:extLst>
                  <a:ext uri="{0D108BD9-81ED-4DB2-BD59-A6C34878D82A}">
                    <a16:rowId xmlns:a16="http://schemas.microsoft.com/office/drawing/2014/main" val="10003"/>
                  </a:ext>
                </a:extLst>
              </a:tr>
              <a:tr h="640150">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4</a:t>
                      </a:r>
                      <a:endParaRPr/>
                    </a:p>
                  </a:txBody>
                  <a:tcPr marL="91450" marR="91450" marT="45725" marB="45725"/>
                </a:tc>
                <a:tc gridSpan="2">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0.4 ($ 2,160 )   = $ 864 &gt;$160</a:t>
                      </a:r>
                      <a:endParaRPr sz="2000" b="1" u="none" strike="noStrike" cap="none">
                        <a:solidFill>
                          <a:srgbClr val="C00000"/>
                        </a:solidFill>
                        <a:latin typeface="Times New Roman"/>
                        <a:ea typeface="Times New Roman"/>
                        <a:cs typeface="Times New Roman"/>
                        <a:sym typeface="Times New Roman"/>
                      </a:endParaRPr>
                    </a:p>
                  </a:txBody>
                  <a:tcPr marL="91450" marR="91450" marT="45725" marB="45725"/>
                </a:tc>
                <a:tc hMerge="1">
                  <a:txBody>
                    <a:bodyPr/>
                    <a:lstStyle/>
                    <a:p>
                      <a:endParaRPr lang="en-US"/>
                    </a:p>
                  </a:txBody>
                  <a:tcPr/>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$ 2,160 - $ 160        =  $ 2,000</a:t>
                      </a:r>
                      <a:endParaRPr sz="2000" b="1" u="none" strike="noStrike" cap="none">
                        <a:solidFill>
                          <a:srgbClr val="C00000"/>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4"/>
                  </a:ext>
                </a:extLst>
              </a:tr>
              <a:tr h="3708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5</a:t>
                      </a:r>
                      <a:endParaRPr/>
                    </a:p>
                  </a:txBody>
                  <a:tcPr marL="91450" marR="91450" marT="45725" marB="45725"/>
                </a:tc>
                <a:tc>
                  <a:txBody>
                    <a:bodyPr/>
                    <a:lstStyle/>
                    <a:p>
                      <a:pPr marL="0" marR="0" lvl="0" indent="0" algn="ctr" rtl="0">
                        <a:spcBef>
                          <a:spcPts val="0"/>
                        </a:spcBef>
                        <a:spcAft>
                          <a:spcPts val="0"/>
                        </a:spcAft>
                        <a:buNone/>
                      </a:pPr>
                      <a:endParaRPr sz="2000" b="1"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0 </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$ 2,000 - $ 0            = $2,000 </a:t>
                      </a:r>
                      <a:endParaRPr/>
                    </a:p>
                  </a:txBody>
                  <a:tcPr marL="91450" marR="91450" marT="45725" marB="45725"/>
                </a:tc>
                <a:extLst>
                  <a:ext uri="{0D108BD9-81ED-4DB2-BD59-A6C34878D82A}">
                    <a16:rowId xmlns:a16="http://schemas.microsoft.com/office/drawing/2014/main" val="10005"/>
                  </a:ext>
                </a:extLst>
              </a:tr>
              <a:tr h="370875">
                <a:tc>
                  <a:txBody>
                    <a:bodyPr/>
                    <a:lstStyle/>
                    <a:p>
                      <a:pPr marL="0" marR="0" lvl="0" indent="0" algn="ctr" rtl="0">
                        <a:spcBef>
                          <a:spcPts val="0"/>
                        </a:spcBef>
                        <a:spcAft>
                          <a:spcPts val="0"/>
                        </a:spcAft>
                        <a:buNone/>
                      </a:pPr>
                      <a:endParaRPr sz="2000" b="1"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Total </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$ 8,000</a:t>
                      </a:r>
                      <a:endParaRPr/>
                    </a:p>
                  </a:txBody>
                  <a:tcPr marL="91450" marR="91450" marT="45725" marB="45725"/>
                </a:tc>
                <a:tc>
                  <a:txBody>
                    <a:bodyPr/>
                    <a:lstStyle/>
                    <a:p>
                      <a:pPr marL="0" marR="0" lvl="0" indent="0" algn="ctr" rtl="0">
                        <a:spcBef>
                          <a:spcPts val="0"/>
                        </a:spcBef>
                        <a:spcAft>
                          <a:spcPts val="0"/>
                        </a:spcAft>
                        <a:buNone/>
                      </a:pPr>
                      <a:endParaRPr sz="20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6"/>
                  </a:ext>
                </a:extLst>
              </a:tr>
            </a:tbl>
          </a:graphicData>
        </a:graphic>
      </p:graphicFrame>
      <p:sp>
        <p:nvSpPr>
          <p:cNvPr id="325" name="Google Shape;325;p35"/>
          <p:cNvSpPr txBox="1">
            <a:spLocks noGrp="1"/>
          </p:cNvSpPr>
          <p:nvPr>
            <p:ph type="title"/>
          </p:nvPr>
        </p:nvSpPr>
        <p:spPr>
          <a:xfrm>
            <a:off x="1390291" y="209850"/>
            <a:ext cx="10515600" cy="1325563"/>
          </a:xfrm>
          <a:prstGeom prst="rect">
            <a:avLst/>
          </a:prstGeom>
          <a:noFill/>
          <a:ln>
            <a:noFill/>
          </a:ln>
        </p:spPr>
        <p:txBody>
          <a:bodyPr spcFirstLastPara="1" wrap="square" lIns="91425" tIns="45700" rIns="91425" bIns="45700" anchor="ctr" anchorCtr="0">
            <a:normAutofit/>
          </a:bodyPr>
          <a:lstStyle/>
          <a:p>
            <a:pPr marL="514350" marR="0" lvl="0" indent="-514350" algn="l" rtl="0">
              <a:lnSpc>
                <a:spcPct val="9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Declining balance Method (DB) (Cont’d..) </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6"/>
          <p:cNvSpPr txBox="1">
            <a:spLocks noGrp="1"/>
          </p:cNvSpPr>
          <p:nvPr>
            <p:ph type="body" idx="1"/>
          </p:nvPr>
        </p:nvSpPr>
        <p:spPr>
          <a:xfrm>
            <a:off x="665672" y="1253331"/>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(b) Sum of the year digit (SOYD) method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This method results in larger than straight line depreciation charges during the early years of an asset and smaller charges as the asset nears the end of its estimated useful life.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Each year depreciation charge is compound as the remaining useful life at the beginning of the year divided by the sum of the years digits for the total useful life. </a:t>
            </a:r>
            <a:endParaRPr b="1">
              <a:latin typeface="Times New Roman"/>
              <a:ea typeface="Times New Roman"/>
              <a:cs typeface="Times New Roman"/>
              <a:sym typeface="Times New Roman"/>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In this method, the number 1, 2, 3,……..N are summed, where N is the estimated years of useful life.</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
        <p:nvSpPr>
          <p:cNvPr id="331" name="Google Shape;331;p36"/>
          <p:cNvSpPr txBox="1">
            <a:spLocks noGrp="1"/>
          </p:cNvSpPr>
          <p:nvPr>
            <p:ph type="title"/>
          </p:nvPr>
        </p:nvSpPr>
        <p:spPr>
          <a:xfrm>
            <a:off x="1545566" y="11417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Methods of Depreciation (Cont’d….)  </a:t>
            </a:r>
            <a:endParaRPr sz="3200" b="1">
              <a:solidFill>
                <a:srgbClr val="002060"/>
              </a:solidFill>
              <a:latin typeface="Times New Roman"/>
              <a:ea typeface="Times New Roman"/>
              <a:cs typeface="Times New Roman"/>
              <a:sym typeface="Times New Roman"/>
            </a:endParaRPr>
          </a:p>
        </p:txBody>
      </p:sp>
      <p:sp>
        <p:nvSpPr>
          <p:cNvPr id="332" name="Google Shape;332;p36"/>
          <p:cNvSpPr txBox="1"/>
          <p:nvPr/>
        </p:nvSpPr>
        <p:spPr>
          <a:xfrm>
            <a:off x="2780646" y="5604669"/>
            <a:ext cx="7320885"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rgbClr val="C00000"/>
                </a:solidFill>
                <a:latin typeface="Times New Roman"/>
                <a:ea typeface="Times New Roman"/>
                <a:cs typeface="Times New Roman"/>
                <a:sym typeface="Times New Roman"/>
              </a:rPr>
              <a:t>SOYD = 1+2+3+ ………. + N = {N (N+1)}/2</a:t>
            </a:r>
            <a:endParaRPr sz="2800" b="0" i="0" u="none" strike="noStrike" cap="none">
              <a:solidFill>
                <a:srgbClr val="C00000"/>
              </a:solidFill>
              <a:latin typeface="Times New Roman"/>
              <a:ea typeface="Times New Roman"/>
              <a:cs typeface="Times New Roman"/>
              <a:sym typeface="Times New Roman"/>
            </a:endParaRPr>
          </a:p>
          <a:p>
            <a:pPr marL="0" marR="0" lvl="0" indent="0" algn="l" rtl="0">
              <a:spcBef>
                <a:spcPts val="0"/>
              </a:spcBef>
              <a:spcAft>
                <a:spcPts val="0"/>
              </a:spcAft>
              <a:buNone/>
            </a:pPr>
            <a:r>
              <a:rPr lang="en-US" sz="1400" b="1" i="0" u="none" strike="noStrike" cap="none">
                <a:solidFill>
                  <a:srgbClr val="C00000"/>
                </a:solidFill>
                <a:latin typeface="Calibri"/>
                <a:ea typeface="Calibri"/>
                <a:cs typeface="Calibri"/>
                <a:sym typeface="Calibri"/>
              </a:rPr>
              <a:t>                                                        </a:t>
            </a:r>
            <a:endParaRPr sz="1200" b="0" i="0" u="none" strike="noStrike" cap="none">
              <a:solidFill>
                <a:srgbClr val="C00000"/>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Sum of the year digit (SOYD) method (Cont’d…) </a:t>
            </a:r>
            <a:endParaRPr/>
          </a:p>
        </p:txBody>
      </p:sp>
      <p:sp>
        <p:nvSpPr>
          <p:cNvPr id="338" name="Google Shape;338;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SOYD Depreciation (D</a:t>
            </a:r>
            <a:r>
              <a:rPr lang="en-US" b="1" baseline="-25000">
                <a:solidFill>
                  <a:srgbClr val="C00000"/>
                </a:solidFill>
                <a:latin typeface="Times New Roman"/>
                <a:ea typeface="Times New Roman"/>
                <a:cs typeface="Times New Roman"/>
                <a:sym typeface="Times New Roman"/>
              </a:rPr>
              <a:t>n</a:t>
            </a:r>
            <a:r>
              <a:rPr lang="en-US" b="1">
                <a:solidFill>
                  <a:srgbClr val="C00000"/>
                </a:solidFill>
                <a:latin typeface="Times New Roman"/>
                <a:ea typeface="Times New Roman"/>
                <a:cs typeface="Times New Roman"/>
                <a:sym typeface="Times New Roman"/>
              </a:rPr>
              <a:t>) = {N – n + 1} (I – S)</a:t>
            </a:r>
            <a:endParaRPr/>
          </a:p>
          <a:p>
            <a:pPr marL="0" lvl="0" indent="0" algn="ctr" rtl="0">
              <a:lnSpc>
                <a:spcPct val="90000"/>
              </a:lnSpc>
              <a:spcBef>
                <a:spcPts val="100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                               SOYD              </a:t>
            </a:r>
            <a:endParaRPr b="1">
              <a:solidFill>
                <a:srgbClr val="C00000"/>
              </a:solidFill>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Example </a:t>
            </a:r>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Compute the SOYD depreciation schedule for the following data: </a:t>
            </a:r>
            <a:endParaRPr b="1">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Cost basis of the asset, I , = $ 10,000</a:t>
            </a:r>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Useful life , N ,                    = 5 years</a:t>
            </a:r>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Salvage Value , S,               = $ 2,000</a:t>
            </a:r>
            <a:endParaRPr/>
          </a:p>
          <a:p>
            <a:pPr marL="228600" lvl="0" indent="-228600" algn="just" rtl="0">
              <a:lnSpc>
                <a:spcPct val="90000"/>
              </a:lnSpc>
              <a:spcBef>
                <a:spcPts val="1000"/>
              </a:spcBef>
              <a:spcAft>
                <a:spcPts val="0"/>
              </a:spcAft>
              <a:buClr>
                <a:schemeClr val="dk1"/>
              </a:buClr>
              <a:buSzPts val="2800"/>
              <a:buNone/>
            </a:pPr>
            <a:endParaRPr b="1">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a:p>
        </p:txBody>
      </p:sp>
      <p:cxnSp>
        <p:nvCxnSpPr>
          <p:cNvPr id="339" name="Google Shape;339;p37"/>
          <p:cNvCxnSpPr/>
          <p:nvPr/>
        </p:nvCxnSpPr>
        <p:spPr>
          <a:xfrm>
            <a:off x="6871627" y="2304505"/>
            <a:ext cx="1736035" cy="0"/>
          </a:xfrm>
          <a:prstGeom prst="straightConnector1">
            <a:avLst/>
          </a:prstGeom>
          <a:noFill/>
          <a:ln w="57150" cap="flat" cmpd="sng">
            <a:solidFill>
              <a:srgbClr val="C00000"/>
            </a:solidFill>
            <a:prstDash val="solid"/>
            <a:miter lim="800000"/>
            <a:headEnd type="none" w="sm" len="sm"/>
            <a:tailEnd type="none" w="sm" len="sm"/>
          </a:ln>
        </p:spPr>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8"/>
          <p:cNvSpPr txBox="1">
            <a:spLocks noGrp="1"/>
          </p:cNvSpPr>
          <p:nvPr>
            <p:ph type="body" idx="1"/>
          </p:nvPr>
        </p:nvSpPr>
        <p:spPr>
          <a:xfrm>
            <a:off x="1132311" y="1595887"/>
            <a:ext cx="8229600" cy="11041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Font typeface="Arial"/>
              <a:buNone/>
            </a:pPr>
            <a:r>
              <a:rPr lang="en-US" sz="2400" b="1">
                <a:latin typeface="Times New Roman"/>
                <a:ea typeface="Times New Roman"/>
                <a:cs typeface="Times New Roman"/>
                <a:sym typeface="Times New Roman"/>
              </a:rPr>
              <a:t>We first compute the sum – of – years’ digits</a:t>
            </a:r>
            <a:endParaRPr/>
          </a:p>
          <a:p>
            <a:pPr marL="228600" lvl="0" indent="-228600" algn="l" rtl="0">
              <a:lnSpc>
                <a:spcPct val="90000"/>
              </a:lnSpc>
              <a:spcBef>
                <a:spcPts val="1000"/>
              </a:spcBef>
              <a:spcAft>
                <a:spcPts val="0"/>
              </a:spcAft>
              <a:buClr>
                <a:schemeClr val="dk1"/>
              </a:buClr>
              <a:buSzPts val="2400"/>
              <a:buFont typeface="Arial"/>
              <a:buNone/>
            </a:pPr>
            <a:r>
              <a:rPr lang="en-US" sz="2400" b="1">
                <a:latin typeface="Times New Roman"/>
                <a:ea typeface="Times New Roman"/>
                <a:cs typeface="Times New Roman"/>
                <a:sym typeface="Times New Roman"/>
              </a:rPr>
              <a:t>  SOYD = 1+2+3+4+5 = 5 (5+1) / 2  = 15</a:t>
            </a:r>
            <a:endParaRPr/>
          </a:p>
          <a:p>
            <a:pPr marL="228600" lvl="0" indent="-228600" algn="l" rtl="0">
              <a:lnSpc>
                <a:spcPct val="90000"/>
              </a:lnSpc>
              <a:spcBef>
                <a:spcPts val="1000"/>
              </a:spcBef>
              <a:spcAft>
                <a:spcPts val="0"/>
              </a:spcAft>
              <a:buClr>
                <a:schemeClr val="dk1"/>
              </a:buClr>
              <a:buSzPts val="2400"/>
              <a:buFont typeface="Arial"/>
              <a:buNone/>
            </a:pPr>
            <a:endParaRPr sz="2400"/>
          </a:p>
        </p:txBody>
      </p:sp>
      <p:graphicFrame>
        <p:nvGraphicFramePr>
          <p:cNvPr id="345" name="Google Shape;345;p38"/>
          <p:cNvGraphicFramePr/>
          <p:nvPr/>
        </p:nvGraphicFramePr>
        <p:xfrm>
          <a:off x="1077677" y="2789508"/>
          <a:ext cx="3000000" cy="3000000"/>
        </p:xfrm>
        <a:graphic>
          <a:graphicData uri="http://schemas.openxmlformats.org/drawingml/2006/table">
            <a:tbl>
              <a:tblPr firstRow="1" bandRow="1">
                <a:noFill/>
                <a:tableStyleId>{A94F57D6-6E30-420B-A929-F54C7F686708}</a:tableStyleId>
              </a:tblPr>
              <a:tblGrid>
                <a:gridCol w="1166750">
                  <a:extLst>
                    <a:ext uri="{9D8B030D-6E8A-4147-A177-3AD203B41FA5}">
                      <a16:colId xmlns:a16="http://schemas.microsoft.com/office/drawing/2014/main" val="20000"/>
                    </a:ext>
                  </a:extLst>
                </a:gridCol>
                <a:gridCol w="4451500">
                  <a:extLst>
                    <a:ext uri="{9D8B030D-6E8A-4147-A177-3AD203B41FA5}">
                      <a16:colId xmlns:a16="http://schemas.microsoft.com/office/drawing/2014/main" val="20001"/>
                    </a:ext>
                  </a:extLst>
                </a:gridCol>
                <a:gridCol w="3618525">
                  <a:extLst>
                    <a:ext uri="{9D8B030D-6E8A-4147-A177-3AD203B41FA5}">
                      <a16:colId xmlns:a16="http://schemas.microsoft.com/office/drawing/2014/main" val="20002"/>
                    </a:ext>
                  </a:extLst>
                </a:gridCol>
              </a:tblGrid>
              <a:tr h="364875">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Year</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D</a:t>
                      </a:r>
                      <a:r>
                        <a:rPr lang="en-US" sz="2000" b="1" u="none" strike="noStrike" cap="none" baseline="-25000">
                          <a:solidFill>
                            <a:srgbClr val="C00000"/>
                          </a:solidFill>
                          <a:latin typeface="Times New Roman"/>
                          <a:ea typeface="Times New Roman"/>
                          <a:cs typeface="Times New Roman"/>
                          <a:sym typeface="Times New Roman"/>
                        </a:rPr>
                        <a:t>n</a:t>
                      </a:r>
                      <a:endParaRPr sz="2000" b="1" u="none" strike="noStrike" cap="none" baseline="-25000">
                        <a:solidFill>
                          <a:srgbClr val="C00000"/>
                        </a:solidFill>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B</a:t>
                      </a:r>
                      <a:r>
                        <a:rPr lang="en-US" sz="2000" b="1" u="none" strike="noStrike" cap="none" baseline="-25000">
                          <a:solidFill>
                            <a:srgbClr val="C00000"/>
                          </a:solidFill>
                          <a:latin typeface="Times New Roman"/>
                          <a:ea typeface="Times New Roman"/>
                          <a:cs typeface="Times New Roman"/>
                          <a:sym typeface="Times New Roman"/>
                        </a:rPr>
                        <a:t>n</a:t>
                      </a:r>
                      <a:endParaRPr sz="2000" b="1" u="none" strike="noStrike" cap="none" baseline="-25000">
                        <a:solidFill>
                          <a:srgbClr val="C00000"/>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3648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(5/15 ) ($10,000 - $2,000) = $ 2667</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$ 10,000 - $ 2667   = $ 7,333</a:t>
                      </a:r>
                      <a:endParaRPr sz="20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3648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2</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(4/15 ) ($10,000 - $2,000) = $ 2133</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$ 7,333 - $ 2,133     = $ 5,200</a:t>
                      </a:r>
                      <a:endParaRPr/>
                    </a:p>
                  </a:txBody>
                  <a:tcPr marL="91450" marR="91450" marT="45725" marB="45725"/>
                </a:tc>
                <a:extLst>
                  <a:ext uri="{0D108BD9-81ED-4DB2-BD59-A6C34878D82A}">
                    <a16:rowId xmlns:a16="http://schemas.microsoft.com/office/drawing/2014/main" val="10002"/>
                  </a:ext>
                </a:extLst>
              </a:tr>
              <a:tr h="3648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3</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(3/15 ) ($10,000 - $2,000) = $ 1600</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$ 5,200 - $ 1,600     = $ 3,600</a:t>
                      </a:r>
                      <a:endParaRPr/>
                    </a:p>
                  </a:txBody>
                  <a:tcPr marL="91450" marR="91450" marT="45725" marB="45725"/>
                </a:tc>
                <a:extLst>
                  <a:ext uri="{0D108BD9-81ED-4DB2-BD59-A6C34878D82A}">
                    <a16:rowId xmlns:a16="http://schemas.microsoft.com/office/drawing/2014/main" val="10003"/>
                  </a:ext>
                </a:extLst>
              </a:tr>
              <a:tr h="3648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4</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(2/15 ) ($10,000 - $2,000) = $ 1067</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$ 3,600 - $ 1067     =  $ 2,533</a:t>
                      </a:r>
                      <a:endParaRPr sz="20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4"/>
                  </a:ext>
                </a:extLst>
              </a:tr>
              <a:tr h="5792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5</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(1/15 ) ($10,000 - $2,000) = $ 533</a:t>
                      </a:r>
                      <a:endParaRPr/>
                    </a:p>
                  </a:txBody>
                  <a:tcPr marL="91450" marR="91450" marT="45725" marB="45725"/>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$ 2,533 - $ 533        = $ 2,000 </a:t>
                      </a:r>
                      <a:endParaRPr/>
                    </a:p>
                  </a:txBody>
                  <a:tcPr marL="91450" marR="91450" marT="45725" marB="45725"/>
                </a:tc>
                <a:extLst>
                  <a:ext uri="{0D108BD9-81ED-4DB2-BD59-A6C34878D82A}">
                    <a16:rowId xmlns:a16="http://schemas.microsoft.com/office/drawing/2014/main" val="10005"/>
                  </a:ext>
                </a:extLst>
              </a:tr>
            </a:tbl>
          </a:graphicData>
        </a:graphic>
      </p:graphicFrame>
      <p:sp>
        <p:nvSpPr>
          <p:cNvPr id="346" name="Google Shape;346;p38"/>
          <p:cNvSpPr txBox="1">
            <a:spLocks noGrp="1"/>
          </p:cNvSpPr>
          <p:nvPr>
            <p:ph type="title"/>
          </p:nvPr>
        </p:nvSpPr>
        <p:spPr>
          <a:xfrm>
            <a:off x="933904" y="41688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Sum of the year digit (SOYD) method (Cont’d…)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9"/>
          <p:cNvSpPr txBox="1">
            <a:spLocks noGrp="1"/>
          </p:cNvSpPr>
          <p:nvPr>
            <p:ph type="body" idx="1"/>
          </p:nvPr>
        </p:nvSpPr>
        <p:spPr>
          <a:xfrm>
            <a:off x="631166" y="1308040"/>
            <a:ext cx="9832675" cy="4971989"/>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(c) Sinking Fund Method </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Sinking fund method is a method of calculating depreciation for an asset in which apart from calculating depreciation, it also keeps aside a fund for </a:t>
            </a:r>
            <a:r>
              <a:rPr lang="en-US" b="1">
                <a:solidFill>
                  <a:srgbClr val="C00000"/>
                </a:solidFill>
                <a:latin typeface="Times New Roman"/>
                <a:ea typeface="Times New Roman"/>
                <a:cs typeface="Times New Roman"/>
                <a:sym typeface="Times New Roman"/>
              </a:rPr>
              <a:t>replacing the asset </a:t>
            </a:r>
            <a:r>
              <a:rPr lang="en-US" b="1">
                <a:latin typeface="Times New Roman"/>
                <a:ea typeface="Times New Roman"/>
                <a:cs typeface="Times New Roman"/>
                <a:sym typeface="Times New Roman"/>
              </a:rPr>
              <a:t>at the end of its useful life. [6]</a:t>
            </a:r>
            <a:endParaRPr/>
          </a:p>
          <a:p>
            <a:pPr marL="228600" lvl="0" indent="-228600" algn="just" rtl="0">
              <a:lnSpc>
                <a:spcPct val="10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In this method of depreciation, the book value decreases at increasing rates with respect to the life of the asset. </a:t>
            </a:r>
            <a:endParaRPr b="1">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fixed sum depreciated at the end of every time period earns an interest at the rate of i% compounded annually. </a:t>
            </a:r>
            <a:endParaRPr b="1">
              <a:latin typeface="Times New Roman"/>
              <a:ea typeface="Times New Roman"/>
              <a:cs typeface="Times New Roman"/>
              <a:sym typeface="Times New Roman"/>
            </a:endParaRPr>
          </a:p>
          <a:p>
            <a:pPr marL="228600" lvl="0" indent="-50800" algn="just" rtl="0">
              <a:lnSpc>
                <a:spcPct val="100000"/>
              </a:lnSpc>
              <a:spcBef>
                <a:spcPts val="1000"/>
              </a:spcBef>
              <a:spcAft>
                <a:spcPts val="0"/>
              </a:spcAft>
              <a:buClr>
                <a:schemeClr val="dk1"/>
              </a:buClr>
              <a:buSzPts val="2800"/>
              <a:buNone/>
            </a:pPr>
            <a:endParaRPr b="1">
              <a:latin typeface="Times New Roman"/>
              <a:ea typeface="Times New Roman"/>
              <a:cs typeface="Times New Roman"/>
              <a:sym typeface="Times New Roman"/>
            </a:endParaRPr>
          </a:p>
        </p:txBody>
      </p:sp>
      <p:sp>
        <p:nvSpPr>
          <p:cNvPr id="352" name="Google Shape;352;p39"/>
          <p:cNvSpPr txBox="1"/>
          <p:nvPr/>
        </p:nvSpPr>
        <p:spPr>
          <a:xfrm>
            <a:off x="1545566" y="114177"/>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Methods of Depreciation (Cont’d….)  </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0"/>
          <p:cNvSpPr txBox="1">
            <a:spLocks noGrp="1"/>
          </p:cNvSpPr>
          <p:nvPr>
            <p:ph type="title"/>
          </p:nvPr>
        </p:nvSpPr>
        <p:spPr>
          <a:xfrm>
            <a:off x="737997" y="506590"/>
            <a:ext cx="8911687" cy="128089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Sinking Fund Method (Cont’d…)</a:t>
            </a:r>
            <a:endParaRPr sz="3200">
              <a:solidFill>
                <a:srgbClr val="002060"/>
              </a:solidFill>
              <a:latin typeface="Times New Roman"/>
              <a:ea typeface="Times New Roman"/>
              <a:cs typeface="Times New Roman"/>
              <a:sym typeface="Times New Roman"/>
            </a:endParaRPr>
          </a:p>
        </p:txBody>
      </p:sp>
      <p:sp>
        <p:nvSpPr>
          <p:cNvPr id="358" name="Google Shape;358;p40"/>
          <p:cNvSpPr txBox="1">
            <a:spLocks noGrp="1"/>
          </p:cNvSpPr>
          <p:nvPr>
            <p:ph type="body" idx="1"/>
          </p:nvPr>
        </p:nvSpPr>
        <p:spPr>
          <a:xfrm>
            <a:off x="808295" y="1601513"/>
            <a:ext cx="8915400" cy="4609506"/>
          </a:xfrm>
          <a:prstGeom prst="rect">
            <a:avLst/>
          </a:prstGeom>
          <a:noFill/>
          <a:ln>
            <a:noFill/>
          </a:ln>
        </p:spPr>
        <p:txBody>
          <a:bodyPr spcFirstLastPara="1" wrap="square" lIns="91425" tIns="45700" rIns="91425" bIns="45700" anchor="t" anchorCtr="0">
            <a:normAutofit/>
          </a:bodyPr>
          <a:lstStyle/>
          <a:p>
            <a:pPr marL="114300" lvl="0" indent="0" algn="just" rtl="0">
              <a:lnSpc>
                <a:spcPct val="115000"/>
              </a:lnSpc>
              <a:spcBef>
                <a:spcPts val="0"/>
              </a:spcBef>
              <a:spcAft>
                <a:spcPts val="0"/>
              </a:spcAft>
              <a:buClr>
                <a:srgbClr val="FF0000"/>
              </a:buClr>
              <a:buSzPts val="2800"/>
              <a:buNone/>
            </a:pPr>
            <a:r>
              <a:rPr lang="en-US" b="1">
                <a:solidFill>
                  <a:srgbClr val="FF0000"/>
                </a:solidFill>
                <a:latin typeface="Times New Roman"/>
                <a:ea typeface="Times New Roman"/>
                <a:cs typeface="Times New Roman"/>
                <a:sym typeface="Times New Roman"/>
              </a:rPr>
              <a:t>Example </a:t>
            </a:r>
            <a:endParaRPr sz="2800" b="1">
              <a:latin typeface="Times New Roman"/>
              <a:ea typeface="Times New Roman"/>
              <a:cs typeface="Times New Roman"/>
              <a:sym typeface="Times New Roman"/>
            </a:endParaRPr>
          </a:p>
          <a:p>
            <a:pPr marL="114300" lvl="0" indent="0" algn="just" rtl="0">
              <a:lnSpc>
                <a:spcPct val="115000"/>
              </a:lnSpc>
              <a:spcBef>
                <a:spcPts val="1000"/>
              </a:spcBef>
              <a:spcAft>
                <a:spcPts val="0"/>
              </a:spcAft>
              <a:buClr>
                <a:schemeClr val="dk1"/>
              </a:buClr>
              <a:buSzPts val="2800"/>
              <a:buNone/>
            </a:pPr>
            <a:r>
              <a:rPr lang="en-US" sz="2800" b="1">
                <a:latin typeface="Times New Roman"/>
                <a:ea typeface="Times New Roman"/>
                <a:cs typeface="Times New Roman"/>
                <a:sym typeface="Times New Roman"/>
              </a:rPr>
              <a:t>Compute the depreciation charge and book value in each year using sinking fund method.</a:t>
            </a:r>
            <a:endParaRPr sz="2800" b="1">
              <a:latin typeface="Times New Roman"/>
              <a:ea typeface="Times New Roman"/>
              <a:cs typeface="Times New Roman"/>
              <a:sym typeface="Times New Roman"/>
            </a:endParaRPr>
          </a:p>
          <a:p>
            <a:pPr marL="114300" lvl="0" indent="0" algn="just" rtl="0">
              <a:lnSpc>
                <a:spcPct val="115000"/>
              </a:lnSpc>
              <a:spcBef>
                <a:spcPts val="1000"/>
              </a:spcBef>
              <a:spcAft>
                <a:spcPts val="0"/>
              </a:spcAft>
              <a:buClr>
                <a:schemeClr val="dk1"/>
              </a:buClr>
              <a:buSzPts val="2800"/>
              <a:buNone/>
            </a:pPr>
            <a:r>
              <a:rPr lang="en-US" sz="2800" b="1">
                <a:latin typeface="Times New Roman"/>
                <a:ea typeface="Times New Roman"/>
                <a:cs typeface="Times New Roman"/>
                <a:sym typeface="Times New Roman"/>
              </a:rPr>
              <a:t>Cost of the asset      	= $ 1, 00,000</a:t>
            </a:r>
            <a:endParaRPr sz="2800" b="1">
              <a:latin typeface="Times New Roman"/>
              <a:ea typeface="Times New Roman"/>
              <a:cs typeface="Times New Roman"/>
              <a:sym typeface="Times New Roman"/>
            </a:endParaRPr>
          </a:p>
          <a:p>
            <a:pPr marL="114300" lvl="0" indent="0" algn="just" rtl="0">
              <a:lnSpc>
                <a:spcPct val="115000"/>
              </a:lnSpc>
              <a:spcBef>
                <a:spcPts val="1000"/>
              </a:spcBef>
              <a:spcAft>
                <a:spcPts val="0"/>
              </a:spcAft>
              <a:buClr>
                <a:schemeClr val="dk1"/>
              </a:buClr>
              <a:buSzPts val="2800"/>
              <a:buNone/>
            </a:pPr>
            <a:r>
              <a:rPr lang="en-US" sz="2800" b="1">
                <a:latin typeface="Times New Roman"/>
                <a:ea typeface="Times New Roman"/>
                <a:cs typeface="Times New Roman"/>
                <a:sym typeface="Times New Roman"/>
              </a:rPr>
              <a:t>Salvage value         	= $ 20,000 </a:t>
            </a:r>
            <a:endParaRPr sz="2800" b="1">
              <a:latin typeface="Times New Roman"/>
              <a:ea typeface="Times New Roman"/>
              <a:cs typeface="Times New Roman"/>
              <a:sym typeface="Times New Roman"/>
            </a:endParaRPr>
          </a:p>
          <a:p>
            <a:pPr marL="114300" lvl="0" indent="0" algn="just" rtl="0">
              <a:lnSpc>
                <a:spcPct val="115000"/>
              </a:lnSpc>
              <a:spcBef>
                <a:spcPts val="1000"/>
              </a:spcBef>
              <a:spcAft>
                <a:spcPts val="0"/>
              </a:spcAft>
              <a:buClr>
                <a:schemeClr val="dk1"/>
              </a:buClr>
              <a:buSzPts val="2800"/>
              <a:buNone/>
            </a:pPr>
            <a:r>
              <a:rPr lang="en-US" sz="2800" b="1">
                <a:latin typeface="Times New Roman"/>
                <a:ea typeface="Times New Roman"/>
                <a:cs typeface="Times New Roman"/>
                <a:sym typeface="Times New Roman"/>
              </a:rPr>
              <a:t>Life of the asset (N)	= 8 years </a:t>
            </a:r>
            <a:endParaRPr sz="2800" b="1">
              <a:latin typeface="Times New Roman"/>
              <a:ea typeface="Times New Roman"/>
              <a:cs typeface="Times New Roman"/>
              <a:sym typeface="Times New Roman"/>
            </a:endParaRPr>
          </a:p>
          <a:p>
            <a:pPr marL="114300" lvl="0" indent="0" algn="just" rtl="0">
              <a:lnSpc>
                <a:spcPct val="115000"/>
              </a:lnSpc>
              <a:spcBef>
                <a:spcPts val="1000"/>
              </a:spcBef>
              <a:spcAft>
                <a:spcPts val="0"/>
              </a:spcAft>
              <a:buClr>
                <a:schemeClr val="dk1"/>
              </a:buClr>
              <a:buSzPts val="2800"/>
              <a:buNone/>
            </a:pPr>
            <a:r>
              <a:rPr lang="en-US" sz="2800" b="1">
                <a:latin typeface="Times New Roman"/>
                <a:ea typeface="Times New Roman"/>
                <a:cs typeface="Times New Roman"/>
                <a:sym typeface="Times New Roman"/>
              </a:rPr>
              <a:t>Interest rate (i)        	= 12% </a:t>
            </a:r>
            <a:endParaRPr sz="2800" b="1">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1"/>
          <p:cNvSpPr txBox="1">
            <a:spLocks noGrp="1"/>
          </p:cNvSpPr>
          <p:nvPr>
            <p:ph type="body" idx="1"/>
          </p:nvPr>
        </p:nvSpPr>
        <p:spPr>
          <a:xfrm>
            <a:off x="665672" y="1221775"/>
            <a:ext cx="10515600" cy="5291167"/>
          </a:xfrm>
          <a:prstGeom prst="rect">
            <a:avLst/>
          </a:prstGeom>
          <a:noFill/>
          <a:ln>
            <a:noFill/>
          </a:ln>
        </p:spPr>
        <p:txBody>
          <a:bodyPr spcFirstLastPara="1" wrap="square" lIns="91425" tIns="45700" rIns="91425" bIns="45700" anchor="t" anchorCtr="0">
            <a:normAutofit lnSpcReduction="10000"/>
          </a:bodyPr>
          <a:lstStyle/>
          <a:p>
            <a:pPr marL="114300" lvl="0" indent="0" algn="just" rtl="0">
              <a:lnSpc>
                <a:spcPct val="115000"/>
              </a:lnSpc>
              <a:spcBef>
                <a:spcPts val="0"/>
              </a:spcBef>
              <a:spcAft>
                <a:spcPts val="0"/>
              </a:spcAft>
              <a:buClr>
                <a:schemeClr val="dk1"/>
              </a:buClr>
              <a:buSzPts val="2800"/>
              <a:buNone/>
            </a:pPr>
            <a:r>
              <a:rPr lang="en-US" b="1">
                <a:latin typeface="Times New Roman"/>
                <a:ea typeface="Times New Roman"/>
                <a:cs typeface="Times New Roman"/>
                <a:sym typeface="Times New Roman"/>
              </a:rPr>
              <a:t>Fixed or the annual depreciation charge </a:t>
            </a:r>
            <a:endParaRPr b="1">
              <a:latin typeface="Times New Roman"/>
              <a:ea typeface="Times New Roman"/>
              <a:cs typeface="Times New Roman"/>
              <a:sym typeface="Times New Roman"/>
            </a:endParaRPr>
          </a:p>
          <a:p>
            <a:pPr marL="114300" lvl="0" indent="0" algn="just" rtl="0">
              <a:lnSpc>
                <a:spcPct val="115000"/>
              </a:lnSpc>
              <a:spcBef>
                <a:spcPts val="1000"/>
              </a:spcBef>
              <a:spcAft>
                <a:spcPts val="0"/>
              </a:spcAft>
              <a:buClr>
                <a:schemeClr val="dk1"/>
              </a:buClr>
              <a:buSzPts val="2800"/>
              <a:buNone/>
            </a:pPr>
            <a:r>
              <a:rPr lang="en-US" b="1">
                <a:latin typeface="Times New Roman"/>
                <a:ea typeface="Times New Roman"/>
                <a:cs typeface="Times New Roman"/>
                <a:sym typeface="Times New Roman"/>
              </a:rPr>
              <a:t>A = (P-F) (A/F, 12%, 8) = ( 1, 00, 000 – 20, 000) (0.0813) = $6,504 </a:t>
            </a:r>
            <a:endParaRPr b="1">
              <a:latin typeface="Times New Roman"/>
              <a:ea typeface="Times New Roman"/>
              <a:cs typeface="Times New Roman"/>
              <a:sym typeface="Times New Roman"/>
            </a:endParaRPr>
          </a:p>
          <a:p>
            <a:pPr marL="114300" lvl="0" indent="0" algn="just" rtl="0">
              <a:lnSpc>
                <a:spcPct val="115000"/>
              </a:lnSpc>
              <a:spcBef>
                <a:spcPts val="1000"/>
              </a:spcBef>
              <a:spcAft>
                <a:spcPts val="0"/>
              </a:spcAft>
              <a:buClr>
                <a:schemeClr val="dk1"/>
              </a:buClr>
              <a:buSzPts val="2800"/>
              <a:buNone/>
            </a:pPr>
            <a:r>
              <a:rPr lang="en-US" b="1">
                <a:latin typeface="Times New Roman"/>
                <a:ea typeface="Times New Roman"/>
                <a:cs typeface="Times New Roman"/>
                <a:sym typeface="Times New Roman"/>
              </a:rPr>
              <a:t>Depreciation at the end of 1st year (D</a:t>
            </a:r>
            <a:r>
              <a:rPr lang="en-US" b="1" baseline="-25000">
                <a:latin typeface="Times New Roman"/>
                <a:ea typeface="Times New Roman"/>
                <a:cs typeface="Times New Roman"/>
                <a:sym typeface="Times New Roman"/>
              </a:rPr>
              <a:t>1</a:t>
            </a:r>
            <a:r>
              <a:rPr lang="en-US" b="1">
                <a:latin typeface="Times New Roman"/>
                <a:ea typeface="Times New Roman"/>
                <a:cs typeface="Times New Roman"/>
                <a:sym typeface="Times New Roman"/>
              </a:rPr>
              <a:t>) = $ 6,504 </a:t>
            </a:r>
            <a:endParaRPr b="1">
              <a:latin typeface="Times New Roman"/>
              <a:ea typeface="Times New Roman"/>
              <a:cs typeface="Times New Roman"/>
              <a:sym typeface="Times New Roman"/>
            </a:endParaRPr>
          </a:p>
          <a:p>
            <a:pPr marL="114300" lvl="0" indent="0" algn="just" rtl="0">
              <a:lnSpc>
                <a:spcPct val="115000"/>
              </a:lnSpc>
              <a:spcBef>
                <a:spcPts val="1000"/>
              </a:spcBef>
              <a:spcAft>
                <a:spcPts val="0"/>
              </a:spcAft>
              <a:buClr>
                <a:schemeClr val="dk1"/>
              </a:buClr>
              <a:buSzPts val="2800"/>
              <a:buNone/>
            </a:pPr>
            <a:r>
              <a:rPr lang="en-US" b="1">
                <a:latin typeface="Times New Roman"/>
                <a:ea typeface="Times New Roman"/>
                <a:cs typeface="Times New Roman"/>
                <a:sym typeface="Times New Roman"/>
              </a:rPr>
              <a:t>Depreciation at the end of 2nd year (D</a:t>
            </a:r>
            <a:r>
              <a:rPr lang="en-US" b="1" baseline="-25000">
                <a:latin typeface="Times New Roman"/>
                <a:ea typeface="Times New Roman"/>
                <a:cs typeface="Times New Roman"/>
                <a:sym typeface="Times New Roman"/>
              </a:rPr>
              <a:t>2</a:t>
            </a:r>
            <a:r>
              <a:rPr lang="en-US" b="1">
                <a:latin typeface="Times New Roman"/>
                <a:ea typeface="Times New Roman"/>
                <a:cs typeface="Times New Roman"/>
                <a:sym typeface="Times New Roman"/>
              </a:rPr>
              <a:t>)  = 6,504 + (6,504 *0.12) </a:t>
            </a:r>
            <a:endParaRPr/>
          </a:p>
          <a:p>
            <a:pPr marL="114300" lvl="0" indent="0" algn="just" rtl="0">
              <a:lnSpc>
                <a:spcPct val="115000"/>
              </a:lnSpc>
              <a:spcBef>
                <a:spcPts val="1000"/>
              </a:spcBef>
              <a:spcAft>
                <a:spcPts val="0"/>
              </a:spcAft>
              <a:buClr>
                <a:schemeClr val="dk1"/>
              </a:buClr>
              <a:buSzPts val="2800"/>
              <a:buNone/>
            </a:pPr>
            <a:r>
              <a:rPr lang="en-US" b="1">
                <a:latin typeface="Times New Roman"/>
                <a:ea typeface="Times New Roman"/>
                <a:cs typeface="Times New Roman"/>
                <a:sym typeface="Times New Roman"/>
              </a:rPr>
              <a:t> = $ 7284.48 </a:t>
            </a:r>
            <a:endParaRPr b="1">
              <a:latin typeface="Times New Roman"/>
              <a:ea typeface="Times New Roman"/>
              <a:cs typeface="Times New Roman"/>
              <a:sym typeface="Times New Roman"/>
            </a:endParaRPr>
          </a:p>
          <a:p>
            <a:pPr marL="114300" lvl="0" indent="0" algn="just" rtl="0">
              <a:lnSpc>
                <a:spcPct val="115000"/>
              </a:lnSpc>
              <a:spcBef>
                <a:spcPts val="1000"/>
              </a:spcBef>
              <a:spcAft>
                <a:spcPts val="0"/>
              </a:spcAft>
              <a:buClr>
                <a:schemeClr val="dk1"/>
              </a:buClr>
              <a:buSzPts val="2800"/>
              <a:buNone/>
            </a:pPr>
            <a:r>
              <a:rPr lang="en-US" b="1">
                <a:latin typeface="Times New Roman"/>
                <a:ea typeface="Times New Roman"/>
                <a:cs typeface="Times New Roman"/>
                <a:sym typeface="Times New Roman"/>
              </a:rPr>
              <a:t>Depreciation at the end of 3rd year (D</a:t>
            </a:r>
            <a:r>
              <a:rPr lang="en-US" b="1" baseline="-25000">
                <a:latin typeface="Times New Roman"/>
                <a:ea typeface="Times New Roman"/>
                <a:cs typeface="Times New Roman"/>
                <a:sym typeface="Times New Roman"/>
              </a:rPr>
              <a:t>3</a:t>
            </a:r>
            <a:r>
              <a:rPr lang="en-US" b="1">
                <a:latin typeface="Times New Roman"/>
                <a:ea typeface="Times New Roman"/>
                <a:cs typeface="Times New Roman"/>
                <a:sym typeface="Times New Roman"/>
              </a:rPr>
              <a:t>) </a:t>
            </a:r>
            <a:endParaRPr b="1">
              <a:latin typeface="Times New Roman"/>
              <a:ea typeface="Times New Roman"/>
              <a:cs typeface="Times New Roman"/>
              <a:sym typeface="Times New Roman"/>
            </a:endParaRPr>
          </a:p>
          <a:p>
            <a:pPr marL="114300" lvl="0" indent="0" algn="just" rtl="0">
              <a:lnSpc>
                <a:spcPct val="115000"/>
              </a:lnSpc>
              <a:spcBef>
                <a:spcPts val="1000"/>
              </a:spcBef>
              <a:spcAft>
                <a:spcPts val="0"/>
              </a:spcAft>
              <a:buClr>
                <a:schemeClr val="dk1"/>
              </a:buClr>
              <a:buSzPts val="2800"/>
              <a:buNone/>
            </a:pPr>
            <a:r>
              <a:rPr lang="en-US" b="1">
                <a:latin typeface="Times New Roman"/>
                <a:ea typeface="Times New Roman"/>
                <a:cs typeface="Times New Roman"/>
                <a:sym typeface="Times New Roman"/>
              </a:rPr>
              <a:t>= {6,504 + (6,504 + 7,284.48) *0.12} = $. 8,158.62 </a:t>
            </a:r>
            <a:endParaRPr b="1">
              <a:latin typeface="Times New Roman"/>
              <a:ea typeface="Times New Roman"/>
              <a:cs typeface="Times New Roman"/>
              <a:sym typeface="Times New Roman"/>
            </a:endParaRPr>
          </a:p>
          <a:p>
            <a:pPr marL="114300" lvl="0" indent="0" algn="just" rtl="0">
              <a:lnSpc>
                <a:spcPct val="115000"/>
              </a:lnSpc>
              <a:spcBef>
                <a:spcPts val="1000"/>
              </a:spcBef>
              <a:spcAft>
                <a:spcPts val="0"/>
              </a:spcAft>
              <a:buClr>
                <a:schemeClr val="dk1"/>
              </a:buClr>
              <a:buSzPts val="2800"/>
              <a:buNone/>
            </a:pPr>
            <a:r>
              <a:rPr lang="en-US" b="1">
                <a:latin typeface="Times New Roman"/>
                <a:ea typeface="Times New Roman"/>
                <a:cs typeface="Times New Roman"/>
                <a:sym typeface="Times New Roman"/>
              </a:rPr>
              <a:t>Depreciation at the end of 4th year (D</a:t>
            </a:r>
            <a:r>
              <a:rPr lang="en-US" b="1" baseline="-25000">
                <a:latin typeface="Times New Roman"/>
                <a:ea typeface="Times New Roman"/>
                <a:cs typeface="Times New Roman"/>
                <a:sym typeface="Times New Roman"/>
              </a:rPr>
              <a:t>4</a:t>
            </a:r>
            <a:r>
              <a:rPr lang="en-US" b="1">
                <a:latin typeface="Times New Roman"/>
                <a:ea typeface="Times New Roman"/>
                <a:cs typeface="Times New Roman"/>
                <a:sym typeface="Times New Roman"/>
              </a:rPr>
              <a:t>) </a:t>
            </a:r>
            <a:endParaRPr b="1">
              <a:latin typeface="Times New Roman"/>
              <a:ea typeface="Times New Roman"/>
              <a:cs typeface="Times New Roman"/>
              <a:sym typeface="Times New Roman"/>
            </a:endParaRPr>
          </a:p>
          <a:p>
            <a:pPr marL="114300" lvl="0" indent="0" algn="just" rtl="0">
              <a:lnSpc>
                <a:spcPct val="115000"/>
              </a:lnSpc>
              <a:spcBef>
                <a:spcPts val="1000"/>
              </a:spcBef>
              <a:spcAft>
                <a:spcPts val="0"/>
              </a:spcAft>
              <a:buClr>
                <a:schemeClr val="dk1"/>
              </a:buClr>
              <a:buSzPts val="2800"/>
              <a:buNone/>
            </a:pPr>
            <a:r>
              <a:rPr lang="en-US" b="1">
                <a:latin typeface="Times New Roman"/>
                <a:ea typeface="Times New Roman"/>
                <a:cs typeface="Times New Roman"/>
                <a:sym typeface="Times New Roman"/>
              </a:rPr>
              <a:t>= {6,504 + (6,504 + 7,284.48+8,158.62) *0.12} = $ 9,137.65 </a:t>
            </a:r>
            <a:endParaRPr b="1">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a:p>
        </p:txBody>
      </p:sp>
      <p:sp>
        <p:nvSpPr>
          <p:cNvPr id="364" name="Google Shape;364;p41"/>
          <p:cNvSpPr txBox="1">
            <a:spLocks noGrp="1"/>
          </p:cNvSpPr>
          <p:nvPr>
            <p:ph type="title"/>
          </p:nvPr>
        </p:nvSpPr>
        <p:spPr>
          <a:xfrm>
            <a:off x="1735348" y="111873"/>
            <a:ext cx="731376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Sinking Fund Method (Cont’d….)  </a:t>
            </a:r>
            <a:endParaRPr sz="3200">
              <a:solidFill>
                <a:srgbClr val="002060"/>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graphicFrame>
        <p:nvGraphicFramePr>
          <p:cNvPr id="369" name="Google Shape;369;p42"/>
          <p:cNvGraphicFramePr/>
          <p:nvPr/>
        </p:nvGraphicFramePr>
        <p:xfrm>
          <a:off x="771125" y="1868757"/>
          <a:ext cx="3000000" cy="3000000"/>
        </p:xfrm>
        <a:graphic>
          <a:graphicData uri="http://schemas.openxmlformats.org/drawingml/2006/table">
            <a:tbl>
              <a:tblPr firstRow="1" firstCol="1" bandRow="1">
                <a:noFill/>
                <a:tableStyleId>{A94F57D6-6E30-420B-A929-F54C7F686708}</a:tableStyleId>
              </a:tblPr>
              <a:tblGrid>
                <a:gridCol w="1256075">
                  <a:extLst>
                    <a:ext uri="{9D8B030D-6E8A-4147-A177-3AD203B41FA5}">
                      <a16:colId xmlns:a16="http://schemas.microsoft.com/office/drawing/2014/main" val="20000"/>
                    </a:ext>
                  </a:extLst>
                </a:gridCol>
                <a:gridCol w="2648300">
                  <a:extLst>
                    <a:ext uri="{9D8B030D-6E8A-4147-A177-3AD203B41FA5}">
                      <a16:colId xmlns:a16="http://schemas.microsoft.com/office/drawing/2014/main" val="20001"/>
                    </a:ext>
                  </a:extLst>
                </a:gridCol>
                <a:gridCol w="3364300">
                  <a:extLst>
                    <a:ext uri="{9D8B030D-6E8A-4147-A177-3AD203B41FA5}">
                      <a16:colId xmlns:a16="http://schemas.microsoft.com/office/drawing/2014/main" val="20002"/>
                    </a:ext>
                  </a:extLst>
                </a:gridCol>
                <a:gridCol w="2524675">
                  <a:extLst>
                    <a:ext uri="{9D8B030D-6E8A-4147-A177-3AD203B41FA5}">
                      <a16:colId xmlns:a16="http://schemas.microsoft.com/office/drawing/2014/main" val="20003"/>
                    </a:ext>
                  </a:extLst>
                </a:gridCol>
              </a:tblGrid>
              <a:tr h="514475">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EOY (n)</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Fixed depreciation</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Net depreciation(D</a:t>
                      </a:r>
                      <a:r>
                        <a:rPr lang="en-US" sz="2400" b="1" u="none" strike="noStrike" cap="none" baseline="-25000">
                          <a:latin typeface="Times New Roman"/>
                          <a:ea typeface="Times New Roman"/>
                          <a:cs typeface="Times New Roman"/>
                          <a:sym typeface="Times New Roman"/>
                        </a:rPr>
                        <a:t>t</a:t>
                      </a:r>
                      <a:r>
                        <a:rPr lang="en-US" sz="2400" b="1" u="none" strike="noStrike" cap="none">
                          <a:latin typeface="Times New Roman"/>
                          <a:ea typeface="Times New Roman"/>
                          <a:cs typeface="Times New Roman"/>
                          <a:sym typeface="Times New Roman"/>
                        </a:rPr>
                        <a:t>) Rs</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Book value (B</a:t>
                      </a:r>
                      <a:r>
                        <a:rPr lang="en-US" sz="2400" b="1" u="none" strike="noStrike" cap="none" baseline="-25000">
                          <a:latin typeface="Times New Roman"/>
                          <a:ea typeface="Times New Roman"/>
                          <a:cs typeface="Times New Roman"/>
                          <a:sym typeface="Times New Roman"/>
                        </a:rPr>
                        <a:t>n</a:t>
                      </a:r>
                      <a:r>
                        <a:rPr lang="en-US" sz="2400" b="1" u="none" strike="noStrike" cap="none">
                          <a:latin typeface="Times New Roman"/>
                          <a:ea typeface="Times New Roman"/>
                          <a:cs typeface="Times New Roman"/>
                          <a:sym typeface="Times New Roman"/>
                        </a:rPr>
                        <a:t>) $</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r h="351200">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0</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6, 504</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 </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1,00,000</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1"/>
                  </a:ext>
                </a:extLst>
              </a:tr>
              <a:tr h="362675">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1</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6, 504</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6, 504.00</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93,496.00</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2"/>
                  </a:ext>
                </a:extLst>
              </a:tr>
              <a:tr h="351200">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2</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6, 504</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7,284.48</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86,211.52</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3"/>
                  </a:ext>
                </a:extLst>
              </a:tr>
              <a:tr h="351200">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3</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6, 504</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8,158.62</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78,052.90</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4"/>
                  </a:ext>
                </a:extLst>
              </a:tr>
              <a:tr h="351200">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4</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6, 504</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9,137.65</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68,915.25</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5"/>
                  </a:ext>
                </a:extLst>
              </a:tr>
              <a:tr h="351200">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5</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6, 504</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10,234.17</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58.681.08</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6"/>
                  </a:ext>
                </a:extLst>
              </a:tr>
              <a:tr h="351200">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6, 504</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11,462.27</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47,218.81</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7"/>
                  </a:ext>
                </a:extLst>
              </a:tr>
              <a:tr h="351200">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7</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6, 504</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12,837.74</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34,381.07</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8"/>
                  </a:ext>
                </a:extLst>
              </a:tr>
              <a:tr h="678850">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8</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6, 504</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14,378.27</a:t>
                      </a:r>
                      <a:endParaRPr sz="24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20,002.80</a:t>
                      </a:r>
                      <a:endParaRPr sz="24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9"/>
                  </a:ext>
                </a:extLst>
              </a:tr>
            </a:tbl>
          </a:graphicData>
        </a:graphic>
      </p:graphicFrame>
      <p:sp>
        <p:nvSpPr>
          <p:cNvPr id="370" name="Google Shape;370;p42"/>
          <p:cNvSpPr txBox="1">
            <a:spLocks noGrp="1"/>
          </p:cNvSpPr>
          <p:nvPr>
            <p:ph type="title"/>
          </p:nvPr>
        </p:nvSpPr>
        <p:spPr>
          <a:xfrm>
            <a:off x="1554193" y="77368"/>
            <a:ext cx="731376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Sinking Fund Method (Cont’d….)  </a:t>
            </a:r>
            <a:endParaRPr sz="3200">
              <a:solidFill>
                <a:srgbClr val="002060"/>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3"/>
          <p:cNvSpPr txBox="1">
            <a:spLocks noGrp="1"/>
          </p:cNvSpPr>
          <p:nvPr>
            <p:ph type="body" idx="1"/>
          </p:nvPr>
        </p:nvSpPr>
        <p:spPr>
          <a:xfrm>
            <a:off x="596661" y="1273532"/>
            <a:ext cx="10515600" cy="5429192"/>
          </a:xfrm>
          <a:prstGeom prst="rect">
            <a:avLst/>
          </a:prstGeom>
          <a:noFill/>
          <a:ln>
            <a:noFill/>
          </a:ln>
        </p:spPr>
        <p:txBody>
          <a:bodyPr spcFirstLastPara="1" wrap="square" lIns="91425" tIns="45700" rIns="91425" bIns="45700" anchor="t" anchorCtr="0">
            <a:normAutofit/>
          </a:bodyPr>
          <a:lstStyle/>
          <a:p>
            <a:pPr marL="228600" lvl="0" indent="-228600" algn="just" rtl="0">
              <a:lnSpc>
                <a:spcPct val="110000"/>
              </a:lnSpc>
              <a:spcBef>
                <a:spcPts val="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Tax Depreciation Method</a:t>
            </a:r>
            <a:endParaRPr/>
          </a:p>
          <a:p>
            <a:pPr marL="228600" lvl="0" indent="-228600" algn="just" rtl="0">
              <a:lnSpc>
                <a:spcPct val="110000"/>
              </a:lnSpc>
              <a:spcBef>
                <a:spcPts val="1000"/>
              </a:spcBef>
              <a:spcAft>
                <a:spcPts val="0"/>
              </a:spcAft>
              <a:buClr>
                <a:srgbClr val="3F21F1"/>
              </a:buClr>
              <a:buSzPts val="2800"/>
              <a:buNone/>
            </a:pPr>
            <a:r>
              <a:rPr lang="en-US" b="1">
                <a:solidFill>
                  <a:srgbClr val="3F21F1"/>
                </a:solidFill>
                <a:latin typeface="Times New Roman"/>
                <a:ea typeface="Times New Roman"/>
                <a:cs typeface="Times New Roman"/>
                <a:sym typeface="Times New Roman"/>
              </a:rPr>
              <a:t>Modified Accelerated Cost Recovery System (MACRS)</a:t>
            </a:r>
            <a:endParaRPr/>
          </a:p>
          <a:p>
            <a:pPr marL="228600" lvl="0" indent="-228600" algn="just" rtl="0">
              <a:lnSpc>
                <a:spcPct val="15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 In 1980, the U.S. introduced MACRS as the required tax depreciation method for all depreciable assets. [5]</a:t>
            </a:r>
            <a:endParaRPr/>
          </a:p>
          <a:p>
            <a:pPr marL="228600" lvl="0" indent="-228600" algn="just" rtl="0">
              <a:lnSpc>
                <a:spcPct val="15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Historically, for the tax purposes as well as for accounting, an asset’s depreciable life was determined by its estimated useful life i.e. an asset would be fully depreciated at approximately the end of its useful life.</a:t>
            </a:r>
            <a:endParaRPr b="1">
              <a:latin typeface="Times New Roman"/>
              <a:ea typeface="Times New Roman"/>
              <a:cs typeface="Times New Roman"/>
              <a:sym typeface="Times New Roman"/>
            </a:endParaRPr>
          </a:p>
        </p:txBody>
      </p:sp>
      <p:sp>
        <p:nvSpPr>
          <p:cNvPr id="376" name="Google Shape;376;p43"/>
          <p:cNvSpPr txBox="1">
            <a:spLocks noGrp="1"/>
          </p:cNvSpPr>
          <p:nvPr>
            <p:ph type="title"/>
          </p:nvPr>
        </p:nvSpPr>
        <p:spPr>
          <a:xfrm>
            <a:off x="1795732" y="12358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Methods of Depreciation (Cont’d….)  </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4"/>
          <p:cNvSpPr txBox="1">
            <a:spLocks noGrp="1"/>
          </p:cNvSpPr>
          <p:nvPr>
            <p:ph type="title"/>
          </p:nvPr>
        </p:nvSpPr>
        <p:spPr>
          <a:xfrm>
            <a:off x="838200" y="365125"/>
            <a:ext cx="8072887" cy="1325563"/>
          </a:xfrm>
          <a:prstGeom prst="rect">
            <a:avLst/>
          </a:prstGeom>
          <a:noFill/>
          <a:ln>
            <a:noFill/>
          </a:ln>
        </p:spPr>
        <p:txBody>
          <a:bodyPr spcFirstLastPara="1" wrap="square" lIns="91425" tIns="45700" rIns="91425" bIns="45700" anchor="ctr" anchorCtr="0">
            <a:normAutofit/>
          </a:bodyPr>
          <a:lstStyle/>
          <a:p>
            <a:pPr marL="0" lvl="0" indent="0" algn="l" rtl="0">
              <a:lnSpc>
                <a:spcPct val="11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Modified Accelerated Cost Recovery System (MACRS) (Cont’d…)</a:t>
            </a:r>
            <a:endParaRPr sz="3200" b="1">
              <a:solidFill>
                <a:srgbClr val="002060"/>
              </a:solidFill>
              <a:latin typeface="Times New Roman"/>
              <a:ea typeface="Times New Roman"/>
              <a:cs typeface="Times New Roman"/>
              <a:sym typeface="Times New Roman"/>
            </a:endParaRPr>
          </a:p>
        </p:txBody>
      </p:sp>
      <p:sp>
        <p:nvSpPr>
          <p:cNvPr id="382" name="Google Shape;382;p44"/>
          <p:cNvSpPr txBox="1">
            <a:spLocks noGrp="1"/>
          </p:cNvSpPr>
          <p:nvPr>
            <p:ph type="body" idx="1"/>
          </p:nvPr>
        </p:nvSpPr>
        <p:spPr>
          <a:xfrm>
            <a:off x="838200" y="1825624"/>
            <a:ext cx="9763664" cy="4652813"/>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50000"/>
              </a:lnSpc>
              <a:spcBef>
                <a:spcPts val="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MACRS  scheme, totally abandon this practice and simpler guidelines were set which created several classes of assets, each with more or less arbitrary life called </a:t>
            </a:r>
            <a:r>
              <a:rPr lang="en-US" b="1">
                <a:solidFill>
                  <a:srgbClr val="C00000"/>
                </a:solidFill>
                <a:latin typeface="Times New Roman"/>
                <a:ea typeface="Times New Roman"/>
                <a:cs typeface="Times New Roman"/>
                <a:sym typeface="Times New Roman"/>
              </a:rPr>
              <a:t>Recovery Period. </a:t>
            </a:r>
            <a:r>
              <a:rPr lang="en-US" b="1">
                <a:latin typeface="Times New Roman"/>
                <a:ea typeface="Times New Roman"/>
                <a:cs typeface="Times New Roman"/>
                <a:sym typeface="Times New Roman"/>
              </a:rPr>
              <a:t>[4]</a:t>
            </a:r>
            <a:endParaRPr b="1">
              <a:latin typeface="Times New Roman"/>
              <a:ea typeface="Times New Roman"/>
              <a:cs typeface="Times New Roman"/>
              <a:sym typeface="Times New Roman"/>
            </a:endParaRPr>
          </a:p>
          <a:p>
            <a:pPr marL="228600" lvl="0" indent="-228600" algn="just" rtl="0">
              <a:lnSpc>
                <a:spcPct val="150000"/>
              </a:lnSpc>
              <a:spcBef>
                <a:spcPts val="1000"/>
              </a:spcBef>
              <a:spcAft>
                <a:spcPts val="0"/>
              </a:spcAft>
              <a:buClr>
                <a:schemeClr val="dk1"/>
              </a:buClr>
              <a:buSzPts val="2800"/>
              <a:buFont typeface="Noto Sans Symbols"/>
              <a:buChar char="⮚"/>
            </a:pPr>
            <a:r>
              <a:rPr lang="en-US" b="1">
                <a:latin typeface="Times New Roman"/>
                <a:ea typeface="Times New Roman"/>
                <a:cs typeface="Times New Roman"/>
                <a:sym typeface="Times New Roman"/>
              </a:rPr>
              <a:t>The MARCS scheme includes 8 categories of assets: 3 year, 5 year, 7 year, 10 year, 15 year, 20 year, 27.5 year and 39 year.</a:t>
            </a:r>
            <a:endParaRPr/>
          </a:p>
          <a:p>
            <a:pPr marL="228600" lvl="0" indent="-228600" algn="just" rtl="0">
              <a:lnSpc>
                <a:spcPct val="150000"/>
              </a:lnSpc>
              <a:spcBef>
                <a:spcPts val="1000"/>
              </a:spcBef>
              <a:spcAft>
                <a:spcPts val="0"/>
              </a:spcAft>
              <a:buClr>
                <a:srgbClr val="C00000"/>
              </a:buClr>
              <a:buSzPts val="2800"/>
              <a:buFont typeface="Noto Sans Symbols"/>
              <a:buChar char="⮚"/>
            </a:pPr>
            <a:r>
              <a:rPr lang="en-US" b="1">
                <a:solidFill>
                  <a:srgbClr val="C00000"/>
                </a:solidFill>
                <a:latin typeface="Times New Roman"/>
                <a:ea typeface="Times New Roman"/>
                <a:cs typeface="Times New Roman"/>
                <a:sym typeface="Times New Roman"/>
              </a:rPr>
              <a:t>The salvage value of property is always treated as zero.</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5"/>
          <p:cNvSpPr txBox="1">
            <a:spLocks noGrp="1"/>
          </p:cNvSpPr>
          <p:nvPr>
            <p:ph type="title"/>
          </p:nvPr>
        </p:nvSpPr>
        <p:spPr>
          <a:xfrm>
            <a:off x="838200" y="365125"/>
            <a:ext cx="9470366" cy="1325563"/>
          </a:xfrm>
          <a:prstGeom prst="rect">
            <a:avLst/>
          </a:prstGeom>
          <a:noFill/>
          <a:ln>
            <a:noFill/>
          </a:ln>
        </p:spPr>
        <p:txBody>
          <a:bodyPr spcFirstLastPara="1" wrap="square" lIns="91425" tIns="45700" rIns="91425" bIns="45700" anchor="ctr" anchorCtr="0">
            <a:normAutofit/>
          </a:bodyPr>
          <a:lstStyle/>
          <a:p>
            <a:pPr marL="0" lvl="0" indent="0" algn="l" rtl="0">
              <a:lnSpc>
                <a:spcPct val="11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Modified Accelerated Cost Recovery System (MACRS) (Cont’d…)</a:t>
            </a:r>
            <a:endParaRPr sz="3200" b="1">
              <a:solidFill>
                <a:srgbClr val="002060"/>
              </a:solidFill>
              <a:latin typeface="Times New Roman"/>
              <a:ea typeface="Times New Roman"/>
              <a:cs typeface="Times New Roman"/>
              <a:sym typeface="Times New Roman"/>
            </a:endParaRPr>
          </a:p>
        </p:txBody>
      </p:sp>
      <p:graphicFrame>
        <p:nvGraphicFramePr>
          <p:cNvPr id="388" name="Google Shape;388;p45"/>
          <p:cNvGraphicFramePr/>
          <p:nvPr/>
        </p:nvGraphicFramePr>
        <p:xfrm>
          <a:off x="838200" y="2139262"/>
          <a:ext cx="3000000" cy="3000000"/>
        </p:xfrm>
        <a:graphic>
          <a:graphicData uri="http://schemas.openxmlformats.org/drawingml/2006/table">
            <a:tbl>
              <a:tblPr firstRow="1" firstCol="1" bandRow="1">
                <a:noFill/>
                <a:tableStyleId>{A94F57D6-6E30-420B-A929-F54C7F686708}</a:tableStyleId>
              </a:tblPr>
              <a:tblGrid>
                <a:gridCol w="2086150">
                  <a:extLst>
                    <a:ext uri="{9D8B030D-6E8A-4147-A177-3AD203B41FA5}">
                      <a16:colId xmlns:a16="http://schemas.microsoft.com/office/drawing/2014/main" val="20000"/>
                    </a:ext>
                  </a:extLst>
                </a:gridCol>
                <a:gridCol w="7653075">
                  <a:extLst>
                    <a:ext uri="{9D8B030D-6E8A-4147-A177-3AD203B41FA5}">
                      <a16:colId xmlns:a16="http://schemas.microsoft.com/office/drawing/2014/main" val="20001"/>
                    </a:ext>
                  </a:extLst>
                </a:gridCol>
              </a:tblGrid>
              <a:tr h="325450">
                <a:tc>
                  <a:txBody>
                    <a:bodyPr/>
                    <a:lstStyle/>
                    <a:p>
                      <a:pPr marL="0" marR="0" lvl="0" indent="0" algn="ctr" rtl="0">
                        <a:lnSpc>
                          <a:spcPct val="115000"/>
                        </a:lnSpc>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Recovery Period</a:t>
                      </a:r>
                      <a:endParaRPr sz="2000" b="1" u="none" strike="noStrike" cap="none">
                        <a:solidFill>
                          <a:srgbClr val="C00000"/>
                        </a:solidFill>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Applicable Property</a:t>
                      </a:r>
                      <a:endParaRPr sz="2000" b="1" u="none" strike="noStrike" cap="none">
                        <a:solidFill>
                          <a:srgbClr val="C00000"/>
                        </a:solidFill>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r h="650900">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3 year</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Special tools for manufacture of plastics products, metal products and motor vehicle</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1"/>
                  </a:ext>
                </a:extLst>
              </a:tr>
              <a:tr h="650900">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5 year</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Automobiles, light trucks, equipment used of R&amp;D, computerized telephone switching systems.</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2"/>
                  </a:ext>
                </a:extLst>
              </a:tr>
              <a:tr h="325450">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7 year</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Manufacturing equipment, office furniture.</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3"/>
                  </a:ext>
                </a:extLst>
              </a:tr>
              <a:tr h="325450">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10 year</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Vessels, barges, tugs </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4"/>
                  </a:ext>
                </a:extLst>
              </a:tr>
              <a:tr h="325450">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15 year</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Waste water plants, telephone distribution plants</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5"/>
                  </a:ext>
                </a:extLst>
              </a:tr>
              <a:tr h="325450">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20 year</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Municipal sewers, electrical power plants</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6"/>
                  </a:ext>
                </a:extLst>
              </a:tr>
              <a:tr h="325450">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27.5 year</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Residential rental property</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7"/>
                  </a:ext>
                </a:extLst>
              </a:tr>
              <a:tr h="325450">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39 year</a:t>
                      </a:r>
                      <a:endParaRPr sz="2000" b="1"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2000" b="1" u="none" strike="noStrike" cap="none">
                          <a:latin typeface="Times New Roman"/>
                          <a:ea typeface="Times New Roman"/>
                          <a:cs typeface="Times New Roman"/>
                          <a:sym typeface="Times New Roman"/>
                        </a:rPr>
                        <a:t>Nonresidential real property including elevators and escalators</a:t>
                      </a:r>
                      <a:endParaRPr sz="2000" b="1"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8"/>
                  </a:ext>
                </a:extLst>
              </a:tr>
            </a:tbl>
          </a:graphicData>
        </a:graphic>
      </p:graphicFrame>
      <p:sp>
        <p:nvSpPr>
          <p:cNvPr id="389" name="Google Shape;389;p45"/>
          <p:cNvSpPr/>
          <p:nvPr/>
        </p:nvSpPr>
        <p:spPr>
          <a:xfrm>
            <a:off x="704088" y="1690688"/>
            <a:ext cx="3537635" cy="392159"/>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800" b="1" i="0" u="none" strike="noStrike" cap="none">
                <a:solidFill>
                  <a:srgbClr val="C00000"/>
                </a:solidFill>
                <a:latin typeface="Constantia"/>
                <a:ea typeface="Constantia"/>
                <a:cs typeface="Constantia"/>
                <a:sym typeface="Constantia"/>
              </a:rPr>
              <a:t>MACRS Property Classification</a:t>
            </a:r>
            <a:endParaRPr sz="1800" b="0" i="0" u="none" strike="noStrike" cap="none">
              <a:solidFill>
                <a:srgbClr val="C00000"/>
              </a:solidFill>
              <a:latin typeface="Constantia"/>
              <a:ea typeface="Constantia"/>
              <a:cs typeface="Constantia"/>
              <a:sym typeface="Constantia"/>
            </a:endParaRPr>
          </a:p>
        </p:txBody>
      </p:sp>
      <p:sp>
        <p:nvSpPr>
          <p:cNvPr id="390" name="Google Shape;390;p45"/>
          <p:cNvSpPr/>
          <p:nvPr/>
        </p:nvSpPr>
        <p:spPr>
          <a:xfrm>
            <a:off x="5117937" y="5940636"/>
            <a:ext cx="1321837" cy="41088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800" b="1" i="0" u="none" strike="noStrike" cap="none">
                <a:solidFill>
                  <a:srgbClr val="C00000"/>
                </a:solidFill>
                <a:latin typeface="Times New Roman"/>
                <a:ea typeface="Times New Roman"/>
                <a:cs typeface="Times New Roman"/>
                <a:sym typeface="Times New Roman"/>
              </a:rPr>
              <a:t>Source: [4] </a:t>
            </a:r>
            <a:endParaRPr sz="1800" b="0" i="0" u="none" strike="noStrike" cap="none">
              <a:solidFill>
                <a:srgbClr val="C00000"/>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46"/>
          <p:cNvSpPr txBox="1">
            <a:spLocks noGrp="1"/>
          </p:cNvSpPr>
          <p:nvPr>
            <p:ph type="body" idx="1"/>
          </p:nvPr>
        </p:nvSpPr>
        <p:spPr>
          <a:xfrm>
            <a:off x="706903" y="1621677"/>
            <a:ext cx="10257270" cy="4891266"/>
          </a:xfrm>
          <a:prstGeom prst="rect">
            <a:avLst/>
          </a:prstGeom>
          <a:noFill/>
          <a:ln>
            <a:noFill/>
          </a:ln>
        </p:spPr>
        <p:txBody>
          <a:bodyPr spcFirstLastPara="1" wrap="square" lIns="91425" tIns="45700" rIns="91425" bIns="45700" anchor="t" anchorCtr="0">
            <a:normAutofit fontScale="92500" lnSpcReduction="20000"/>
          </a:bodyPr>
          <a:lstStyle/>
          <a:p>
            <a:pPr marL="0" lvl="0" indent="0" algn="just" rtl="0">
              <a:lnSpc>
                <a:spcPct val="110000"/>
              </a:lnSpc>
              <a:spcBef>
                <a:spcPts val="0"/>
              </a:spcBef>
              <a:spcAft>
                <a:spcPts val="0"/>
              </a:spcAft>
              <a:buClr>
                <a:srgbClr val="FF0000"/>
              </a:buClr>
              <a:buSzPct val="100000"/>
              <a:buNone/>
            </a:pPr>
            <a:r>
              <a:rPr lang="en-US" b="1">
                <a:solidFill>
                  <a:srgbClr val="FF0000"/>
                </a:solidFill>
                <a:latin typeface="Constantia"/>
                <a:ea typeface="Constantia"/>
                <a:cs typeface="Constantia"/>
                <a:sym typeface="Constantia"/>
              </a:rPr>
              <a:t>Half year Convention</a:t>
            </a:r>
            <a:endParaRPr b="1">
              <a:solidFill>
                <a:srgbClr val="FF0000"/>
              </a:solidFill>
              <a:latin typeface="Constantia"/>
              <a:ea typeface="Constantia"/>
              <a:cs typeface="Constantia"/>
              <a:sym typeface="Constantia"/>
            </a:endParaRPr>
          </a:p>
          <a:p>
            <a:pPr marL="228600" lvl="0" indent="-228600" algn="just" rtl="0">
              <a:lnSpc>
                <a:spcPct val="110000"/>
              </a:lnSpc>
              <a:spcBef>
                <a:spcPts val="1000"/>
              </a:spcBef>
              <a:spcAft>
                <a:spcPts val="0"/>
              </a:spcAft>
              <a:buClr>
                <a:schemeClr val="dk1"/>
              </a:buClr>
              <a:buSzPct val="100000"/>
              <a:buFont typeface="Noto Sans Symbols"/>
              <a:buChar char="⮚"/>
            </a:pPr>
            <a:r>
              <a:rPr lang="en-US" b="1">
                <a:latin typeface="Times New Roman"/>
                <a:ea typeface="Times New Roman"/>
                <a:cs typeface="Times New Roman"/>
                <a:sym typeface="Times New Roman"/>
              </a:rPr>
              <a:t>The MACRS scheme uses the half-year convention i.e. it is assumed that all assets are placed in service at mid-year and they have zero salvage value.</a:t>
            </a:r>
            <a:endParaRPr/>
          </a:p>
          <a:p>
            <a:pPr marL="228600" lvl="0" indent="-228600" algn="just" rtl="0">
              <a:lnSpc>
                <a:spcPct val="110000"/>
              </a:lnSpc>
              <a:spcBef>
                <a:spcPts val="1000"/>
              </a:spcBef>
              <a:spcAft>
                <a:spcPts val="0"/>
              </a:spcAft>
              <a:buClr>
                <a:schemeClr val="dk1"/>
              </a:buClr>
              <a:buSzPct val="100000"/>
              <a:buFont typeface="Noto Sans Symbols"/>
              <a:buChar char="⮚"/>
            </a:pPr>
            <a:r>
              <a:rPr lang="en-US" b="1">
                <a:latin typeface="Times New Roman"/>
                <a:ea typeface="Times New Roman"/>
                <a:cs typeface="Times New Roman"/>
                <a:sym typeface="Times New Roman"/>
              </a:rPr>
              <a:t>Only half year depreciation is allowed for the first year of the asset placed in service.</a:t>
            </a:r>
            <a:endParaRPr/>
          </a:p>
          <a:p>
            <a:pPr marL="228600" lvl="0" indent="-228600" algn="just" rtl="0">
              <a:lnSpc>
                <a:spcPct val="110000"/>
              </a:lnSpc>
              <a:spcBef>
                <a:spcPts val="1000"/>
              </a:spcBef>
              <a:spcAft>
                <a:spcPts val="0"/>
              </a:spcAft>
              <a:buClr>
                <a:schemeClr val="dk1"/>
              </a:buClr>
              <a:buSzPct val="100000"/>
              <a:buFont typeface="Noto Sans Symbols"/>
              <a:buChar char="⮚"/>
            </a:pPr>
            <a:r>
              <a:rPr lang="en-US" b="1">
                <a:latin typeface="Times New Roman"/>
                <a:ea typeface="Times New Roman"/>
                <a:cs typeface="Times New Roman"/>
                <a:sym typeface="Times New Roman"/>
              </a:rPr>
              <a:t>With half year’s depreciation being taken in service, a full year’s depreciation is allowed in each of the remaining years of the assets recovery period.</a:t>
            </a:r>
            <a:endParaRPr/>
          </a:p>
          <a:p>
            <a:pPr marL="228600" lvl="0" indent="-228600" algn="just" rtl="0">
              <a:lnSpc>
                <a:spcPct val="110000"/>
              </a:lnSpc>
              <a:spcBef>
                <a:spcPts val="1000"/>
              </a:spcBef>
              <a:spcAft>
                <a:spcPts val="0"/>
              </a:spcAft>
              <a:buClr>
                <a:schemeClr val="dk1"/>
              </a:buClr>
              <a:buSzPct val="100000"/>
              <a:buFont typeface="Noto Sans Symbols"/>
              <a:buChar char="⮚"/>
            </a:pPr>
            <a:r>
              <a:rPr lang="en-US" b="1">
                <a:latin typeface="Times New Roman"/>
                <a:ea typeface="Times New Roman"/>
                <a:cs typeface="Times New Roman"/>
                <a:sym typeface="Times New Roman"/>
              </a:rPr>
              <a:t>Finally the remaining half year depreciation in the year following the end of the recovery period. </a:t>
            </a:r>
            <a:endParaRPr/>
          </a:p>
        </p:txBody>
      </p:sp>
      <p:sp>
        <p:nvSpPr>
          <p:cNvPr id="396" name="Google Shape;396;p46"/>
          <p:cNvSpPr txBox="1">
            <a:spLocks noGrp="1"/>
          </p:cNvSpPr>
          <p:nvPr>
            <p:ph type="title"/>
          </p:nvPr>
        </p:nvSpPr>
        <p:spPr>
          <a:xfrm>
            <a:off x="1364411" y="296114"/>
            <a:ext cx="8072887" cy="1325563"/>
          </a:xfrm>
          <a:prstGeom prst="rect">
            <a:avLst/>
          </a:prstGeom>
          <a:noFill/>
          <a:ln>
            <a:noFill/>
          </a:ln>
        </p:spPr>
        <p:txBody>
          <a:bodyPr spcFirstLastPara="1" wrap="square" lIns="91425" tIns="45700" rIns="91425" bIns="45700" anchor="ctr" anchorCtr="0">
            <a:normAutofit/>
          </a:bodyPr>
          <a:lstStyle/>
          <a:p>
            <a:pPr marL="0" lvl="0" indent="0" algn="l" rtl="0">
              <a:lnSpc>
                <a:spcPct val="11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Modified Accelerated Cost Recovery System (MACRS) (Cont’d…)</a:t>
            </a:r>
            <a:endParaRPr sz="3200" b="1">
              <a:solidFill>
                <a:srgbClr val="002060"/>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47"/>
          <p:cNvSpPr txBox="1">
            <a:spLocks noGrp="1"/>
          </p:cNvSpPr>
          <p:nvPr>
            <p:ph type="title"/>
          </p:nvPr>
        </p:nvSpPr>
        <p:spPr>
          <a:xfrm>
            <a:off x="1459302" y="39100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Calculation for MACRS</a:t>
            </a:r>
            <a:endParaRPr/>
          </a:p>
        </p:txBody>
      </p:sp>
      <p:sp>
        <p:nvSpPr>
          <p:cNvPr id="402" name="Google Shape;402;p4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C00000"/>
              </a:buClr>
              <a:buSzPts val="2800"/>
              <a:buNone/>
            </a:pPr>
            <a:r>
              <a:rPr lang="en-US" b="1">
                <a:solidFill>
                  <a:srgbClr val="C00000"/>
                </a:solidFill>
                <a:latin typeface="Times New Roman"/>
                <a:ea typeface="Times New Roman"/>
                <a:cs typeface="Times New Roman"/>
                <a:sym typeface="Times New Roman"/>
              </a:rPr>
              <a:t>Switching from Declining Balance to Straight Line Method</a:t>
            </a:r>
            <a:endParaRPr/>
          </a:p>
          <a:p>
            <a:pPr marL="228600" lvl="0" indent="-228600" algn="l" rtl="0">
              <a:lnSpc>
                <a:spcPct val="15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The MACRS asset is depreciated initially by the Declining balance (DB) method and then Straight line method.</a:t>
            </a:r>
            <a:endParaRPr/>
          </a:p>
          <a:p>
            <a:pPr marL="228600" lvl="0" indent="-228600" algn="l" rtl="0">
              <a:lnSpc>
                <a:spcPct val="15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It adopts the switching convention as discussed in the previous section.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48"/>
          <p:cNvSpPr txBox="1">
            <a:spLocks noGrp="1"/>
          </p:cNvSpPr>
          <p:nvPr>
            <p:ph type="body" idx="1"/>
          </p:nvPr>
        </p:nvSpPr>
        <p:spPr>
          <a:xfrm>
            <a:off x="1010729" y="2300077"/>
            <a:ext cx="9297837" cy="4351338"/>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C00000"/>
              </a:buClr>
              <a:buSzPts val="3200"/>
              <a:buNone/>
            </a:pPr>
            <a:r>
              <a:rPr lang="en-US" sz="3200" b="1">
                <a:solidFill>
                  <a:srgbClr val="C00000"/>
                </a:solidFill>
                <a:latin typeface="Times New Roman"/>
                <a:ea typeface="Times New Roman"/>
                <a:cs typeface="Times New Roman"/>
                <a:sym typeface="Times New Roman"/>
              </a:rPr>
              <a:t>Example</a:t>
            </a:r>
            <a:endParaRPr/>
          </a:p>
          <a:p>
            <a:pPr marL="0" lvl="0" indent="0" algn="just" rtl="0">
              <a:lnSpc>
                <a:spcPct val="100000"/>
              </a:lnSpc>
              <a:spcBef>
                <a:spcPts val="1000"/>
              </a:spcBef>
              <a:spcAft>
                <a:spcPts val="0"/>
              </a:spcAft>
              <a:buClr>
                <a:schemeClr val="dk1"/>
              </a:buClr>
              <a:buSzPts val="3200"/>
              <a:buNone/>
            </a:pPr>
            <a:r>
              <a:rPr lang="en-US" sz="3200" b="1">
                <a:latin typeface="Times New Roman"/>
                <a:ea typeface="Times New Roman"/>
                <a:cs typeface="Times New Roman"/>
                <a:sym typeface="Times New Roman"/>
              </a:rPr>
              <a:t>A tax payer wants to place in service a $ 10,000 asset that is assigned to the 5 year class. Compute the MACRS percentage and depreciation amounts for the asset.</a:t>
            </a:r>
            <a:endParaRPr/>
          </a:p>
        </p:txBody>
      </p:sp>
      <p:sp>
        <p:nvSpPr>
          <p:cNvPr id="408" name="Google Shape;408;p48"/>
          <p:cNvSpPr txBox="1"/>
          <p:nvPr/>
        </p:nvSpPr>
        <p:spPr>
          <a:xfrm>
            <a:off x="1114245" y="692929"/>
            <a:ext cx="8072887"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11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Modified Accelerated Cost Recovery System (MACRS) (Cont’d…)</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49"/>
          <p:cNvSpPr txBox="1">
            <a:spLocks noGrp="1"/>
          </p:cNvSpPr>
          <p:nvPr>
            <p:ph type="body" idx="1"/>
          </p:nvPr>
        </p:nvSpPr>
        <p:spPr>
          <a:xfrm>
            <a:off x="838200" y="1825625"/>
            <a:ext cx="8875143"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chemeClr val="dk1"/>
              </a:buClr>
              <a:buSzPts val="2800"/>
              <a:buNone/>
            </a:pPr>
            <a:r>
              <a:rPr lang="en-US" b="1">
                <a:latin typeface="Times New Roman"/>
                <a:ea typeface="Times New Roman"/>
                <a:cs typeface="Times New Roman"/>
                <a:sym typeface="Times New Roman"/>
              </a:rPr>
              <a:t>  MACRS deduction percentages, beginning with the first taxable year and ending with the 6</a:t>
            </a:r>
            <a:r>
              <a:rPr lang="en-US" b="1" baseline="30000">
                <a:latin typeface="Times New Roman"/>
                <a:ea typeface="Times New Roman"/>
                <a:cs typeface="Times New Roman"/>
                <a:sym typeface="Times New Roman"/>
              </a:rPr>
              <a:t>th</a:t>
            </a:r>
            <a:r>
              <a:rPr lang="en-US" b="1">
                <a:latin typeface="Times New Roman"/>
                <a:ea typeface="Times New Roman"/>
                <a:cs typeface="Times New Roman"/>
                <a:sym typeface="Times New Roman"/>
              </a:rPr>
              <a:t> year is</a:t>
            </a:r>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Straight line rate = 1/5 = 0.20 </a:t>
            </a:r>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Double declining balance rate </a:t>
            </a:r>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(α) = 1/5 *200% = 40%</a:t>
            </a:r>
            <a:endParaRPr/>
          </a:p>
          <a:p>
            <a:pPr marL="228600" lvl="0" indent="-228600" algn="just"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Under MACRS, salvage value = 0 </a:t>
            </a:r>
            <a:endParaRPr/>
          </a:p>
          <a:p>
            <a:pPr marL="0" lvl="0" indent="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sp>
        <p:nvSpPr>
          <p:cNvPr id="414" name="Google Shape;414;p49"/>
          <p:cNvSpPr txBox="1">
            <a:spLocks noGrp="1"/>
          </p:cNvSpPr>
          <p:nvPr>
            <p:ph type="title"/>
          </p:nvPr>
        </p:nvSpPr>
        <p:spPr>
          <a:xfrm>
            <a:off x="838200" y="365125"/>
            <a:ext cx="7995249"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11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Modified Accelerated Cost Recovery System (MACRS) (Cont’d…)</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graphicFrame>
        <p:nvGraphicFramePr>
          <p:cNvPr id="419" name="Google Shape;419;p50"/>
          <p:cNvGraphicFramePr/>
          <p:nvPr/>
        </p:nvGraphicFramePr>
        <p:xfrm>
          <a:off x="1005727" y="1922555"/>
          <a:ext cx="3000000" cy="3000000"/>
        </p:xfrm>
        <a:graphic>
          <a:graphicData uri="http://schemas.openxmlformats.org/drawingml/2006/table">
            <a:tbl>
              <a:tblPr firstRow="1" bandRow="1">
                <a:noFill/>
                <a:tableStyleId>{A94F57D6-6E30-420B-A929-F54C7F686708}</a:tableStyleId>
              </a:tblPr>
              <a:tblGrid>
                <a:gridCol w="894075">
                  <a:extLst>
                    <a:ext uri="{9D8B030D-6E8A-4147-A177-3AD203B41FA5}">
                      <a16:colId xmlns:a16="http://schemas.microsoft.com/office/drawing/2014/main" val="20000"/>
                    </a:ext>
                  </a:extLst>
                </a:gridCol>
                <a:gridCol w="4001550">
                  <a:extLst>
                    <a:ext uri="{9D8B030D-6E8A-4147-A177-3AD203B41FA5}">
                      <a16:colId xmlns:a16="http://schemas.microsoft.com/office/drawing/2014/main" val="20001"/>
                    </a:ext>
                  </a:extLst>
                </a:gridCol>
                <a:gridCol w="1280150">
                  <a:extLst>
                    <a:ext uri="{9D8B030D-6E8A-4147-A177-3AD203B41FA5}">
                      <a16:colId xmlns:a16="http://schemas.microsoft.com/office/drawing/2014/main" val="20002"/>
                    </a:ext>
                  </a:extLst>
                </a:gridCol>
                <a:gridCol w="1659975">
                  <a:extLst>
                    <a:ext uri="{9D8B030D-6E8A-4147-A177-3AD203B41FA5}">
                      <a16:colId xmlns:a16="http://schemas.microsoft.com/office/drawing/2014/main" val="20003"/>
                    </a:ext>
                  </a:extLst>
                </a:gridCol>
              </a:tblGrid>
              <a:tr h="396200">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Year </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Calculation(%)</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MACRS %</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Decision</a:t>
                      </a:r>
                      <a:endParaRPr/>
                    </a:p>
                  </a:txBody>
                  <a:tcPr marL="91450" marR="91450" marT="45700" marB="45700"/>
                </a:tc>
                <a:extLst>
                  <a:ext uri="{0D108BD9-81ED-4DB2-BD59-A6C34878D82A}">
                    <a16:rowId xmlns:a16="http://schemas.microsoft.com/office/drawing/2014/main" val="10000"/>
                  </a:ext>
                </a:extLst>
              </a:tr>
              <a:tr h="396200">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½ year DDB dep. = (0.5) (0.4) (100%) </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20%</a:t>
                      </a:r>
                      <a:endParaRPr/>
                    </a:p>
                  </a:txBody>
                  <a:tcPr marL="91450" marR="91450" marT="45700" marB="45700"/>
                </a:tc>
                <a:tc>
                  <a:txBody>
                    <a:bodyPr/>
                    <a:lstStyle/>
                    <a:p>
                      <a:pPr marL="0" marR="0" lvl="0" indent="0" algn="ctr" rtl="0">
                        <a:spcBef>
                          <a:spcPts val="0"/>
                        </a:spcBef>
                        <a:spcAft>
                          <a:spcPts val="0"/>
                        </a:spcAft>
                        <a:buNone/>
                      </a:pPr>
                      <a:endParaRPr sz="2000" b="1" u="none" strike="noStrike" cap="none">
                        <a:latin typeface="Times New Roman"/>
                        <a:ea typeface="Times New Roman"/>
                        <a:cs typeface="Times New Roman"/>
                        <a:sym typeface="Times New Roman"/>
                      </a:endParaRPr>
                    </a:p>
                  </a:txBody>
                  <a:tcPr marL="91450" marR="91450" marT="45700" marB="45700"/>
                </a:tc>
                <a:extLst>
                  <a:ext uri="{0D108BD9-81ED-4DB2-BD59-A6C34878D82A}">
                    <a16:rowId xmlns:a16="http://schemas.microsoft.com/office/drawing/2014/main" val="10001"/>
                  </a:ext>
                </a:extLst>
              </a:tr>
              <a:tr h="7009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2</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DDB dep. = (0.4) (100% -20%)</a:t>
                      </a:r>
                      <a:endParaRPr/>
                    </a:p>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SL dep. (1/4.5) (100% -20%)</a:t>
                      </a:r>
                      <a:endParaRPr sz="2000" b="1" u="none" strike="noStrike" cap="none">
                        <a:solidFill>
                          <a:srgbClr val="3F21F1"/>
                        </a:solidFill>
                        <a:latin typeface="Times New Roman"/>
                        <a:ea typeface="Times New Roman"/>
                        <a:cs typeface="Times New Roman"/>
                        <a:sym typeface="Times New Roman"/>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32%</a:t>
                      </a:r>
                      <a:endParaRPr/>
                    </a:p>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17.78%</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Do not switch</a:t>
                      </a:r>
                      <a:endParaRPr/>
                    </a:p>
                  </a:txBody>
                  <a:tcPr marL="91450" marR="91450" marT="45700" marB="45700"/>
                </a:tc>
                <a:extLst>
                  <a:ext uri="{0D108BD9-81ED-4DB2-BD59-A6C34878D82A}">
                    <a16:rowId xmlns:a16="http://schemas.microsoft.com/office/drawing/2014/main" val="10002"/>
                  </a:ext>
                </a:extLst>
              </a:tr>
              <a:tr h="7009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3</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DDB dep. =  (0.4) (100% - 52%)</a:t>
                      </a:r>
                      <a:endParaRPr/>
                    </a:p>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SL dep. (1/3.5) (100% -52%) </a:t>
                      </a:r>
                      <a:endParaRPr sz="2000" b="1" u="none" strike="noStrike" cap="none">
                        <a:solidFill>
                          <a:srgbClr val="3F21F1"/>
                        </a:solidFill>
                        <a:latin typeface="Times New Roman"/>
                        <a:ea typeface="Times New Roman"/>
                        <a:cs typeface="Times New Roman"/>
                        <a:sym typeface="Times New Roman"/>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19.20%</a:t>
                      </a:r>
                      <a:endParaRPr/>
                    </a:p>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13.71%</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Do not switch</a:t>
                      </a:r>
                      <a:endParaRPr/>
                    </a:p>
                  </a:txBody>
                  <a:tcPr marL="91450" marR="91450" marT="45700" marB="45700"/>
                </a:tc>
                <a:extLst>
                  <a:ext uri="{0D108BD9-81ED-4DB2-BD59-A6C34878D82A}">
                    <a16:rowId xmlns:a16="http://schemas.microsoft.com/office/drawing/2014/main" val="10003"/>
                  </a:ext>
                </a:extLst>
              </a:tr>
              <a:tr h="7009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4</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DDB dep. = (0.4) (100%-71.20%)</a:t>
                      </a:r>
                      <a:endParaRPr/>
                    </a:p>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SL dep. (1/2.5) (100% -71.20)</a:t>
                      </a:r>
                      <a:endParaRPr sz="2000" b="1" u="none" strike="noStrike" cap="none">
                        <a:latin typeface="Times New Roman"/>
                        <a:ea typeface="Times New Roman"/>
                        <a:cs typeface="Times New Roman"/>
                        <a:sym typeface="Times New Roman"/>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11.52%</a:t>
                      </a:r>
                      <a:endParaRPr/>
                    </a:p>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11.52%</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Switch to SL</a:t>
                      </a:r>
                      <a:endParaRPr/>
                    </a:p>
                  </a:txBody>
                  <a:tcPr marL="91450" marR="91450" marT="45700" marB="45700"/>
                </a:tc>
                <a:extLst>
                  <a:ext uri="{0D108BD9-81ED-4DB2-BD59-A6C34878D82A}">
                    <a16:rowId xmlns:a16="http://schemas.microsoft.com/office/drawing/2014/main" val="10004"/>
                  </a:ext>
                </a:extLst>
              </a:tr>
              <a:tr h="396200">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5</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SL dep. (1/1.5) (100% - 82.72%)</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11.52%</a:t>
                      </a:r>
                      <a:endParaRPr/>
                    </a:p>
                  </a:txBody>
                  <a:tcPr marL="91450" marR="91450" marT="45700" marB="45700"/>
                </a:tc>
                <a:tc>
                  <a:txBody>
                    <a:bodyPr/>
                    <a:lstStyle/>
                    <a:p>
                      <a:pPr marL="0" marR="0" lvl="0" indent="0" algn="ctr" rtl="0">
                        <a:spcBef>
                          <a:spcPts val="0"/>
                        </a:spcBef>
                        <a:spcAft>
                          <a:spcPts val="0"/>
                        </a:spcAft>
                        <a:buNone/>
                      </a:pPr>
                      <a:endParaRPr sz="2000" b="1" u="none" strike="noStrike" cap="none">
                        <a:latin typeface="Times New Roman"/>
                        <a:ea typeface="Times New Roman"/>
                        <a:cs typeface="Times New Roman"/>
                        <a:sym typeface="Times New Roman"/>
                      </a:endParaRPr>
                    </a:p>
                  </a:txBody>
                  <a:tcPr marL="91450" marR="91450" marT="45700" marB="45700"/>
                </a:tc>
                <a:extLst>
                  <a:ext uri="{0D108BD9-81ED-4DB2-BD59-A6C34878D82A}">
                    <a16:rowId xmlns:a16="http://schemas.microsoft.com/office/drawing/2014/main" val="10005"/>
                  </a:ext>
                </a:extLst>
              </a:tr>
              <a:tr h="396200">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6</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½  year SL dep. = (0.5) (11.52%)</a:t>
                      </a:r>
                      <a:endParaRPr/>
                    </a:p>
                  </a:txBody>
                  <a:tcPr marL="91450" marR="91450"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5.76%</a:t>
                      </a:r>
                      <a:endParaRPr/>
                    </a:p>
                  </a:txBody>
                  <a:tcPr marL="91450" marR="91450" marT="45700" marB="45700"/>
                </a:tc>
                <a:tc>
                  <a:txBody>
                    <a:bodyPr/>
                    <a:lstStyle/>
                    <a:p>
                      <a:pPr marL="0" marR="0" lvl="0" indent="0" algn="ctr" rtl="0">
                        <a:spcBef>
                          <a:spcPts val="0"/>
                        </a:spcBef>
                        <a:spcAft>
                          <a:spcPts val="0"/>
                        </a:spcAft>
                        <a:buNone/>
                      </a:pPr>
                      <a:endParaRPr sz="2000" b="1" u="none" strike="noStrike" cap="none">
                        <a:latin typeface="Times New Roman"/>
                        <a:ea typeface="Times New Roman"/>
                        <a:cs typeface="Times New Roman"/>
                        <a:sym typeface="Times New Roman"/>
                      </a:endParaRPr>
                    </a:p>
                  </a:txBody>
                  <a:tcPr marL="91450" marR="91450" marT="45700" marB="45700"/>
                </a:tc>
                <a:extLst>
                  <a:ext uri="{0D108BD9-81ED-4DB2-BD59-A6C34878D82A}">
                    <a16:rowId xmlns:a16="http://schemas.microsoft.com/office/drawing/2014/main" val="10006"/>
                  </a:ext>
                </a:extLst>
              </a:tr>
            </a:tbl>
          </a:graphicData>
        </a:graphic>
      </p:graphicFrame>
      <p:sp>
        <p:nvSpPr>
          <p:cNvPr id="420" name="Google Shape;420;p50"/>
          <p:cNvSpPr txBox="1"/>
          <p:nvPr/>
        </p:nvSpPr>
        <p:spPr>
          <a:xfrm>
            <a:off x="8998788" y="3378312"/>
            <a:ext cx="2422585" cy="193899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i="0" u="none" strike="noStrike" cap="none">
                <a:solidFill>
                  <a:srgbClr val="002060"/>
                </a:solidFill>
                <a:latin typeface="Calibri"/>
                <a:ea typeface="Calibri"/>
                <a:cs typeface="Calibri"/>
                <a:sym typeface="Calibri"/>
              </a:rPr>
              <a:t>In the year 4, SL depreciation is ≥ DDB depreciation and we switch to SL</a:t>
            </a:r>
            <a:r>
              <a:rPr lang="en-US" sz="2400" b="0" i="0" u="none" strike="noStrike" cap="none">
                <a:solidFill>
                  <a:schemeClr val="dk1"/>
                </a:solidFill>
                <a:latin typeface="Calibri"/>
                <a:ea typeface="Calibri"/>
                <a:cs typeface="Calibri"/>
                <a:sym typeface="Calibri"/>
              </a:rPr>
              <a:t>.</a:t>
            </a:r>
            <a:endParaRPr/>
          </a:p>
        </p:txBody>
      </p:sp>
      <p:sp>
        <p:nvSpPr>
          <p:cNvPr id="421" name="Google Shape;421;p50"/>
          <p:cNvSpPr txBox="1">
            <a:spLocks noGrp="1"/>
          </p:cNvSpPr>
          <p:nvPr>
            <p:ph type="title"/>
          </p:nvPr>
        </p:nvSpPr>
        <p:spPr>
          <a:xfrm>
            <a:off x="838200" y="365125"/>
            <a:ext cx="9487619"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11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Modified Accelerated Cost Recovery System (MACRS) (Cont’d…)</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9"/>
                                        </p:tgtEl>
                                        <p:attrNameLst>
                                          <p:attrName>style.visibility</p:attrName>
                                        </p:attrNameLst>
                                      </p:cBhvr>
                                      <p:to>
                                        <p:strVal val="visible"/>
                                      </p:to>
                                    </p:set>
                                    <p:animEffect transition="in" filter="fade">
                                      <p:cBhvr>
                                        <p:cTn id="7" dur="2000"/>
                                        <p:tgtEl>
                                          <p:spTgt spid="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graphicFrame>
        <p:nvGraphicFramePr>
          <p:cNvPr id="426" name="Google Shape;426;p51"/>
          <p:cNvGraphicFramePr/>
          <p:nvPr/>
        </p:nvGraphicFramePr>
        <p:xfrm>
          <a:off x="1565695" y="2751825"/>
          <a:ext cx="3000000" cy="3000000"/>
        </p:xfrm>
        <a:graphic>
          <a:graphicData uri="http://schemas.openxmlformats.org/drawingml/2006/table">
            <a:tbl>
              <a:tblPr firstRow="1" bandRow="1">
                <a:noFill/>
                <a:tableStyleId>{A94F57D6-6E30-420B-A929-F54C7F686708}</a:tableStyleId>
              </a:tblPr>
              <a:tblGrid>
                <a:gridCol w="990525">
                  <a:extLst>
                    <a:ext uri="{9D8B030D-6E8A-4147-A177-3AD203B41FA5}">
                      <a16:colId xmlns:a16="http://schemas.microsoft.com/office/drawing/2014/main" val="20000"/>
                    </a:ext>
                  </a:extLst>
                </a:gridCol>
                <a:gridCol w="1981025">
                  <a:extLst>
                    <a:ext uri="{9D8B030D-6E8A-4147-A177-3AD203B41FA5}">
                      <a16:colId xmlns:a16="http://schemas.microsoft.com/office/drawing/2014/main" val="20001"/>
                    </a:ext>
                  </a:extLst>
                </a:gridCol>
                <a:gridCol w="457150">
                  <a:extLst>
                    <a:ext uri="{9D8B030D-6E8A-4147-A177-3AD203B41FA5}">
                      <a16:colId xmlns:a16="http://schemas.microsoft.com/office/drawing/2014/main" val="20002"/>
                    </a:ext>
                  </a:extLst>
                </a:gridCol>
                <a:gridCol w="2584375">
                  <a:extLst>
                    <a:ext uri="{9D8B030D-6E8A-4147-A177-3AD203B41FA5}">
                      <a16:colId xmlns:a16="http://schemas.microsoft.com/office/drawing/2014/main" val="20003"/>
                    </a:ext>
                  </a:extLst>
                </a:gridCol>
                <a:gridCol w="2099050">
                  <a:extLst>
                    <a:ext uri="{9D8B030D-6E8A-4147-A177-3AD203B41FA5}">
                      <a16:colId xmlns:a16="http://schemas.microsoft.com/office/drawing/2014/main" val="20004"/>
                    </a:ext>
                  </a:extLst>
                </a:gridCol>
              </a:tblGrid>
              <a:tr h="690125">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Year (n)</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MARCS  Percentage (%)</a:t>
                      </a:r>
                      <a:endParaRPr/>
                    </a:p>
                  </a:txBody>
                  <a:tcPr marL="91425" marR="91425" marT="45700" marB="45700"/>
                </a:tc>
                <a:tc>
                  <a:txBody>
                    <a:bodyPr/>
                    <a:lstStyle/>
                    <a:p>
                      <a:pPr marL="0" marR="0" lvl="0" indent="0" algn="ctr" rtl="0">
                        <a:spcBef>
                          <a:spcPts val="0"/>
                        </a:spcBef>
                        <a:spcAft>
                          <a:spcPts val="0"/>
                        </a:spcAft>
                        <a:buNone/>
                      </a:pPr>
                      <a:endParaRPr sz="2000" b="1" u="none" strike="noStrike" cap="none">
                        <a:solidFill>
                          <a:srgbClr val="C00000"/>
                        </a:solidFill>
                        <a:latin typeface="Times New Roman"/>
                        <a:ea typeface="Times New Roman"/>
                        <a:cs typeface="Times New Roman"/>
                        <a:sym typeface="Times New Roman"/>
                      </a:endParaRPr>
                    </a:p>
                  </a:txBody>
                  <a:tcPr marL="91425" marR="91425" marT="45700" marB="45700"/>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Depreciation basis</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solidFill>
                            <a:srgbClr val="C00000"/>
                          </a:solidFill>
                          <a:latin typeface="Times New Roman"/>
                          <a:ea typeface="Times New Roman"/>
                          <a:cs typeface="Times New Roman"/>
                          <a:sym typeface="Times New Roman"/>
                        </a:rPr>
                        <a:t>Depreciation Amount (D</a:t>
                      </a:r>
                      <a:r>
                        <a:rPr lang="en-US" sz="2000" b="1" u="none" strike="noStrike" cap="none" baseline="-25000">
                          <a:solidFill>
                            <a:srgbClr val="C00000"/>
                          </a:solidFill>
                          <a:latin typeface="Times New Roman"/>
                          <a:ea typeface="Times New Roman"/>
                          <a:cs typeface="Times New Roman"/>
                          <a:sym typeface="Times New Roman"/>
                        </a:rPr>
                        <a:t>n</a:t>
                      </a:r>
                      <a:r>
                        <a:rPr lang="en-US" sz="2000" b="1" u="none" strike="noStrike" cap="none">
                          <a:solidFill>
                            <a:srgbClr val="C00000"/>
                          </a:solidFill>
                          <a:latin typeface="Times New Roman"/>
                          <a:ea typeface="Times New Roman"/>
                          <a:cs typeface="Times New Roman"/>
                          <a:sym typeface="Times New Roman"/>
                        </a:rPr>
                        <a:t>)</a:t>
                      </a:r>
                      <a:endParaRPr/>
                    </a:p>
                  </a:txBody>
                  <a:tcPr marL="91425" marR="91425" marT="45700" marB="45700"/>
                </a:tc>
                <a:extLst>
                  <a:ext uri="{0D108BD9-81ED-4DB2-BD59-A6C34878D82A}">
                    <a16:rowId xmlns:a16="http://schemas.microsoft.com/office/drawing/2014/main" val="10000"/>
                  </a:ext>
                </a:extLst>
              </a:tr>
              <a:tr h="368650">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20</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a:t>
                      </a:r>
                      <a:endParaRPr sz="2000" b="1" u="none" strike="noStrike" cap="none">
                        <a:solidFill>
                          <a:srgbClr val="3F21F1"/>
                        </a:solidFill>
                        <a:latin typeface="Times New Roman"/>
                        <a:ea typeface="Times New Roman"/>
                        <a:cs typeface="Times New Roman"/>
                        <a:sym typeface="Times New Roman"/>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$ 10,000</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$ 2,000</a:t>
                      </a:r>
                      <a:endParaRPr/>
                    </a:p>
                  </a:txBody>
                  <a:tcPr marL="91425" marR="91425" marT="45700" marB="45700"/>
                </a:tc>
                <a:extLst>
                  <a:ext uri="{0D108BD9-81ED-4DB2-BD59-A6C34878D82A}">
                    <a16:rowId xmlns:a16="http://schemas.microsoft.com/office/drawing/2014/main" val="10001"/>
                  </a:ext>
                </a:extLst>
              </a:tr>
              <a:tr h="36062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2</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32</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a:t>
                      </a:r>
                      <a:endParaRPr sz="2000" b="1" u="none" strike="noStrike" cap="none">
                        <a:solidFill>
                          <a:srgbClr val="3F21F1"/>
                        </a:solidFill>
                        <a:latin typeface="Times New Roman"/>
                        <a:ea typeface="Times New Roman"/>
                        <a:cs typeface="Times New Roman"/>
                        <a:sym typeface="Times New Roman"/>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$ 10,000</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$ 3,200</a:t>
                      </a:r>
                      <a:endParaRPr/>
                    </a:p>
                  </a:txBody>
                  <a:tcPr marL="91425" marR="91425" marT="45700" marB="45700"/>
                </a:tc>
                <a:extLst>
                  <a:ext uri="{0D108BD9-81ED-4DB2-BD59-A6C34878D82A}">
                    <a16:rowId xmlns:a16="http://schemas.microsoft.com/office/drawing/2014/main" val="10002"/>
                  </a:ext>
                </a:extLst>
              </a:tr>
              <a:tr h="361200">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3</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19.20</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a:t>
                      </a:r>
                      <a:endParaRPr sz="2000" b="1" u="none" strike="noStrike" cap="none">
                        <a:solidFill>
                          <a:srgbClr val="3F21F1"/>
                        </a:solidFill>
                        <a:latin typeface="Times New Roman"/>
                        <a:ea typeface="Times New Roman"/>
                        <a:cs typeface="Times New Roman"/>
                        <a:sym typeface="Times New Roman"/>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$ 10,000</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$ 1,920</a:t>
                      </a:r>
                      <a:endParaRPr/>
                    </a:p>
                  </a:txBody>
                  <a:tcPr marL="91425" marR="91425" marT="45700" marB="45700"/>
                </a:tc>
                <a:extLst>
                  <a:ext uri="{0D108BD9-81ED-4DB2-BD59-A6C34878D82A}">
                    <a16:rowId xmlns:a16="http://schemas.microsoft.com/office/drawing/2014/main" val="10003"/>
                  </a:ext>
                </a:extLst>
              </a:tr>
              <a:tr h="344550">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4</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11.52</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a:t>
                      </a:r>
                      <a:endParaRPr sz="2000" b="1" u="none" strike="noStrike" cap="none">
                        <a:solidFill>
                          <a:srgbClr val="3F21F1"/>
                        </a:solidFill>
                        <a:latin typeface="Times New Roman"/>
                        <a:ea typeface="Times New Roman"/>
                        <a:cs typeface="Times New Roman"/>
                        <a:sym typeface="Times New Roman"/>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$ 10,000</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$1,152</a:t>
                      </a:r>
                      <a:endParaRPr/>
                    </a:p>
                  </a:txBody>
                  <a:tcPr marL="91425" marR="91425" marT="45700" marB="45700"/>
                </a:tc>
                <a:extLst>
                  <a:ext uri="{0D108BD9-81ED-4DB2-BD59-A6C34878D82A}">
                    <a16:rowId xmlns:a16="http://schemas.microsoft.com/office/drawing/2014/main" val="10004"/>
                  </a:ext>
                </a:extLst>
              </a:tr>
              <a:tr h="38827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5</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11.52</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a:t>
                      </a:r>
                      <a:endParaRPr sz="2000" b="1" u="none" strike="noStrike" cap="none">
                        <a:solidFill>
                          <a:srgbClr val="3F21F1"/>
                        </a:solidFill>
                        <a:latin typeface="Times New Roman"/>
                        <a:ea typeface="Times New Roman"/>
                        <a:cs typeface="Times New Roman"/>
                        <a:sym typeface="Times New Roman"/>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$ 10,000</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$1,152</a:t>
                      </a:r>
                      <a:endParaRPr/>
                    </a:p>
                  </a:txBody>
                  <a:tcPr marL="91425" marR="91425" marT="45700" marB="45700"/>
                </a:tc>
                <a:extLst>
                  <a:ext uri="{0D108BD9-81ED-4DB2-BD59-A6C34878D82A}">
                    <a16:rowId xmlns:a16="http://schemas.microsoft.com/office/drawing/2014/main" val="10005"/>
                  </a:ext>
                </a:extLst>
              </a:tr>
              <a:tr h="518125">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6</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5.76</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a:t>
                      </a:r>
                      <a:endParaRPr sz="2000" b="1" u="none" strike="noStrike" cap="none">
                        <a:solidFill>
                          <a:srgbClr val="3F21F1"/>
                        </a:solidFill>
                        <a:latin typeface="Times New Roman"/>
                        <a:ea typeface="Times New Roman"/>
                        <a:cs typeface="Times New Roman"/>
                        <a:sym typeface="Times New Roman"/>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$ 10,000</a:t>
                      </a:r>
                      <a:endParaRPr/>
                    </a:p>
                  </a:txBody>
                  <a:tcPr marL="91425" marR="91425" marT="45700" marB="45700"/>
                </a:tc>
                <a:tc>
                  <a:txBody>
                    <a:bodyPr/>
                    <a:lstStyle/>
                    <a:p>
                      <a:pPr marL="0" marR="0" lvl="0" indent="0" algn="ctr" rtl="0">
                        <a:spcBef>
                          <a:spcPts val="0"/>
                        </a:spcBef>
                        <a:spcAft>
                          <a:spcPts val="0"/>
                        </a:spcAft>
                        <a:buNone/>
                      </a:pPr>
                      <a:r>
                        <a:rPr lang="en-US" sz="2000" b="1" u="none" strike="noStrike" cap="none">
                          <a:latin typeface="Times New Roman"/>
                          <a:ea typeface="Times New Roman"/>
                          <a:cs typeface="Times New Roman"/>
                          <a:sym typeface="Times New Roman"/>
                        </a:rPr>
                        <a:t>$576</a:t>
                      </a:r>
                      <a:endParaRPr/>
                    </a:p>
                  </a:txBody>
                  <a:tcPr marL="91425" marR="91425" marT="45700" marB="45700"/>
                </a:tc>
                <a:extLst>
                  <a:ext uri="{0D108BD9-81ED-4DB2-BD59-A6C34878D82A}">
                    <a16:rowId xmlns:a16="http://schemas.microsoft.com/office/drawing/2014/main" val="10006"/>
                  </a:ext>
                </a:extLst>
              </a:tr>
            </a:tbl>
          </a:graphicData>
        </a:graphic>
      </p:graphicFrame>
      <p:sp>
        <p:nvSpPr>
          <p:cNvPr id="427" name="Google Shape;427;p51"/>
          <p:cNvSpPr txBox="1">
            <a:spLocks noGrp="1"/>
          </p:cNvSpPr>
          <p:nvPr>
            <p:ph type="title"/>
          </p:nvPr>
        </p:nvSpPr>
        <p:spPr>
          <a:xfrm>
            <a:off x="1476555" y="511774"/>
            <a:ext cx="8926902"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11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Modified Accelerated Cost Recovery System (MACRS) (Cont’d…)</a:t>
            </a:r>
            <a:endParaRPr sz="3200" b="1" i="0" u="none" strike="noStrike" cap="none">
              <a:solidFill>
                <a:srgbClr val="002060"/>
              </a:solidFill>
              <a:latin typeface="Times New Roman"/>
              <a:ea typeface="Times New Roman"/>
              <a:cs typeface="Times New Roman"/>
              <a:sym typeface="Times New Roman"/>
            </a:endParaRPr>
          </a:p>
        </p:txBody>
      </p:sp>
      <p:sp>
        <p:nvSpPr>
          <p:cNvPr id="428" name="Google Shape;428;p51"/>
          <p:cNvSpPr txBox="1">
            <a:spLocks noGrp="1"/>
          </p:cNvSpPr>
          <p:nvPr>
            <p:ph type="body" idx="1"/>
          </p:nvPr>
        </p:nvSpPr>
        <p:spPr>
          <a:xfrm>
            <a:off x="1715220" y="2057400"/>
            <a:ext cx="8229600" cy="533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1">
                <a:latin typeface="Times New Roman"/>
                <a:ea typeface="Times New Roman"/>
                <a:cs typeface="Times New Roman"/>
                <a:sym typeface="Times New Roman"/>
              </a:rPr>
              <a:t>Calculate the depreciation amounts from the percentages</a:t>
            </a:r>
            <a:r>
              <a:rPr lang="en-US" sz="2400">
                <a:latin typeface="Times New Roman"/>
                <a:ea typeface="Times New Roman"/>
                <a:cs typeface="Times New Roman"/>
                <a:sym typeface="Times New Roman"/>
              </a:rPr>
              <a: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aphicFrame>
        <p:nvGraphicFramePr>
          <p:cNvPr id="433" name="Google Shape;433;p52"/>
          <p:cNvGraphicFramePr/>
          <p:nvPr/>
        </p:nvGraphicFramePr>
        <p:xfrm>
          <a:off x="3012432" y="2356324"/>
          <a:ext cx="3000000" cy="3000000"/>
        </p:xfrm>
        <a:graphic>
          <a:graphicData uri="http://schemas.openxmlformats.org/drawingml/2006/table">
            <a:tbl>
              <a:tblPr firstRow="1" bandRow="1">
                <a:noFill/>
                <a:tableStyleId>{A94F57D6-6E30-420B-A929-F54C7F686708}</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518125">
                <a:tc>
                  <a:txBody>
                    <a:bodyPr/>
                    <a:lstStyle/>
                    <a:p>
                      <a:pPr marL="0" marR="0" lvl="0" indent="0" algn="ctr" rtl="0">
                        <a:spcBef>
                          <a:spcPts val="0"/>
                        </a:spcBef>
                        <a:spcAft>
                          <a:spcPts val="0"/>
                        </a:spcAft>
                        <a:buNone/>
                      </a:pPr>
                      <a:r>
                        <a:rPr lang="en-US" sz="2800" b="1" u="none" strike="noStrike" cap="none">
                          <a:solidFill>
                            <a:srgbClr val="C00000"/>
                          </a:solidFill>
                          <a:latin typeface="Times New Roman"/>
                          <a:ea typeface="Times New Roman"/>
                          <a:cs typeface="Times New Roman"/>
                          <a:sym typeface="Times New Roman"/>
                        </a:rPr>
                        <a:t>n</a:t>
                      </a:r>
                      <a:endParaRPr/>
                    </a:p>
                  </a:txBody>
                  <a:tcPr marL="91450" marR="91450" marT="45725" marB="45725"/>
                </a:tc>
                <a:tc>
                  <a:txBody>
                    <a:bodyPr/>
                    <a:lstStyle/>
                    <a:p>
                      <a:pPr marL="0" marR="0" lvl="0" indent="0" algn="ctr" rtl="0">
                        <a:spcBef>
                          <a:spcPts val="0"/>
                        </a:spcBef>
                        <a:spcAft>
                          <a:spcPts val="0"/>
                        </a:spcAft>
                        <a:buNone/>
                      </a:pPr>
                      <a:r>
                        <a:rPr lang="en-US" sz="2800" b="1" u="none" strike="noStrike" cap="none">
                          <a:solidFill>
                            <a:srgbClr val="C00000"/>
                          </a:solidFill>
                          <a:latin typeface="Times New Roman"/>
                          <a:ea typeface="Times New Roman"/>
                          <a:cs typeface="Times New Roman"/>
                          <a:sym typeface="Times New Roman"/>
                        </a:rPr>
                        <a:t>B</a:t>
                      </a:r>
                      <a:r>
                        <a:rPr lang="en-US" sz="2800" b="1" u="none" strike="noStrike" cap="none" baseline="-25000">
                          <a:solidFill>
                            <a:srgbClr val="C00000"/>
                          </a:solidFill>
                          <a:latin typeface="Times New Roman"/>
                          <a:ea typeface="Times New Roman"/>
                          <a:cs typeface="Times New Roman"/>
                          <a:sym typeface="Times New Roman"/>
                        </a:rPr>
                        <a:t>n-1</a:t>
                      </a:r>
                      <a:endParaRPr/>
                    </a:p>
                  </a:txBody>
                  <a:tcPr marL="91450" marR="91450" marT="45725" marB="45725"/>
                </a:tc>
                <a:tc>
                  <a:txBody>
                    <a:bodyPr/>
                    <a:lstStyle/>
                    <a:p>
                      <a:pPr marL="0" marR="0" lvl="0" indent="0" algn="ctr" rtl="0">
                        <a:spcBef>
                          <a:spcPts val="0"/>
                        </a:spcBef>
                        <a:spcAft>
                          <a:spcPts val="0"/>
                        </a:spcAft>
                        <a:buNone/>
                      </a:pPr>
                      <a:r>
                        <a:rPr lang="en-US" sz="2800" b="1" u="none" strike="noStrike" cap="none">
                          <a:solidFill>
                            <a:srgbClr val="C00000"/>
                          </a:solidFill>
                          <a:latin typeface="Times New Roman"/>
                          <a:ea typeface="Times New Roman"/>
                          <a:cs typeface="Times New Roman"/>
                          <a:sym typeface="Times New Roman"/>
                        </a:rPr>
                        <a:t>D</a:t>
                      </a:r>
                      <a:r>
                        <a:rPr lang="en-US" sz="2800" b="1" u="none" strike="noStrike" cap="none" baseline="-25000">
                          <a:solidFill>
                            <a:srgbClr val="C00000"/>
                          </a:solidFill>
                          <a:latin typeface="Times New Roman"/>
                          <a:ea typeface="Times New Roman"/>
                          <a:cs typeface="Times New Roman"/>
                          <a:sym typeface="Times New Roman"/>
                        </a:rPr>
                        <a:t>n</a:t>
                      </a:r>
                      <a:endParaRPr sz="2800" b="1" u="none" strike="noStrike" cap="none" baseline="-25000">
                        <a:solidFill>
                          <a:srgbClr val="C00000"/>
                        </a:solidFill>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800" b="1" u="none" strike="noStrike" cap="none">
                          <a:solidFill>
                            <a:srgbClr val="C00000"/>
                          </a:solidFill>
                          <a:latin typeface="Times New Roman"/>
                          <a:ea typeface="Times New Roman"/>
                          <a:cs typeface="Times New Roman"/>
                          <a:sym typeface="Times New Roman"/>
                        </a:rPr>
                        <a:t>B</a:t>
                      </a:r>
                      <a:r>
                        <a:rPr lang="en-US" sz="2800" b="1" u="none" strike="noStrike" cap="none" baseline="-25000">
                          <a:solidFill>
                            <a:srgbClr val="C00000"/>
                          </a:solidFill>
                          <a:latin typeface="Times New Roman"/>
                          <a:ea typeface="Times New Roman"/>
                          <a:cs typeface="Times New Roman"/>
                          <a:sym typeface="Times New Roman"/>
                        </a:rPr>
                        <a:t>n</a:t>
                      </a:r>
                      <a:endParaRPr sz="2800" b="1" u="none" strike="noStrike" cap="none" baseline="-25000">
                        <a:solidFill>
                          <a:srgbClr val="C00000"/>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457175">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1</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$ 10,000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$ 2,000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$ 8,000</a:t>
                      </a:r>
                      <a:endParaRPr/>
                    </a:p>
                  </a:txBody>
                  <a:tcPr marL="91450" marR="91450" marT="45725" marB="45725"/>
                </a:tc>
                <a:extLst>
                  <a:ext uri="{0D108BD9-81ED-4DB2-BD59-A6C34878D82A}">
                    <a16:rowId xmlns:a16="http://schemas.microsoft.com/office/drawing/2014/main" val="10001"/>
                  </a:ext>
                </a:extLst>
              </a:tr>
              <a:tr h="457175">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2</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Times New Roman"/>
                        <a:buNone/>
                      </a:pPr>
                      <a:r>
                        <a:rPr lang="en-US" sz="2400" b="1" u="none" strike="noStrike" cap="none">
                          <a:latin typeface="Times New Roman"/>
                          <a:ea typeface="Times New Roman"/>
                          <a:cs typeface="Times New Roman"/>
                          <a:sym typeface="Times New Roman"/>
                        </a:rPr>
                        <a:t>$ 8,000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$ 3,200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$ 4,800</a:t>
                      </a:r>
                      <a:endParaRPr/>
                    </a:p>
                  </a:txBody>
                  <a:tcPr marL="91450" marR="91450" marT="45725" marB="45725"/>
                </a:tc>
                <a:extLst>
                  <a:ext uri="{0D108BD9-81ED-4DB2-BD59-A6C34878D82A}">
                    <a16:rowId xmlns:a16="http://schemas.microsoft.com/office/drawing/2014/main" val="10002"/>
                  </a:ext>
                </a:extLst>
              </a:tr>
              <a:tr h="457175">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3</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Times New Roman"/>
                        <a:buNone/>
                      </a:pPr>
                      <a:r>
                        <a:rPr lang="en-US" sz="2400" b="1" u="none" strike="noStrike" cap="none">
                          <a:latin typeface="Times New Roman"/>
                          <a:ea typeface="Times New Roman"/>
                          <a:cs typeface="Times New Roman"/>
                          <a:sym typeface="Times New Roman"/>
                        </a:rPr>
                        <a:t>$ 4,800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$ 1,920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$ 2,880</a:t>
                      </a:r>
                      <a:endParaRPr/>
                    </a:p>
                  </a:txBody>
                  <a:tcPr marL="91450" marR="91450" marT="45725" marB="45725"/>
                </a:tc>
                <a:extLst>
                  <a:ext uri="{0D108BD9-81ED-4DB2-BD59-A6C34878D82A}">
                    <a16:rowId xmlns:a16="http://schemas.microsoft.com/office/drawing/2014/main" val="10003"/>
                  </a:ext>
                </a:extLst>
              </a:tr>
              <a:tr h="457175">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4</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Times New Roman"/>
                        <a:buNone/>
                      </a:pPr>
                      <a:r>
                        <a:rPr lang="en-US" sz="2400" b="1" u="none" strike="noStrike" cap="none">
                          <a:latin typeface="Times New Roman"/>
                          <a:ea typeface="Times New Roman"/>
                          <a:cs typeface="Times New Roman"/>
                          <a:sym typeface="Times New Roman"/>
                        </a:rPr>
                        <a:t>$ 2,880</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$ 1,152</a:t>
                      </a:r>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$ 1,728</a:t>
                      </a:r>
                      <a:endParaRPr/>
                    </a:p>
                  </a:txBody>
                  <a:tcPr marL="91450" marR="91450" marT="45725" marB="45725"/>
                </a:tc>
                <a:extLst>
                  <a:ext uri="{0D108BD9-81ED-4DB2-BD59-A6C34878D82A}">
                    <a16:rowId xmlns:a16="http://schemas.microsoft.com/office/drawing/2014/main" val="10004"/>
                  </a:ext>
                </a:extLst>
              </a:tr>
              <a:tr h="420875">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5</a:t>
                      </a:r>
                      <a:endParaRPr/>
                    </a:p>
                    <a:p>
                      <a:pPr marL="0" marR="0" lvl="0" indent="0" algn="ctr" rtl="0">
                        <a:spcBef>
                          <a:spcPts val="0"/>
                        </a:spcBef>
                        <a:spcAft>
                          <a:spcPts val="0"/>
                        </a:spcAft>
                        <a:buNone/>
                      </a:pPr>
                      <a:endParaRPr sz="2400" b="1"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$ 1,728</a:t>
                      </a:r>
                      <a:endParaRPr/>
                    </a:p>
                    <a:p>
                      <a:pPr marL="0" marR="0" lvl="0" indent="0" algn="ctr" rtl="0">
                        <a:spcBef>
                          <a:spcPts val="0"/>
                        </a:spcBef>
                        <a:spcAft>
                          <a:spcPts val="0"/>
                        </a:spcAft>
                        <a:buNone/>
                      </a:pPr>
                      <a:endParaRPr sz="2400" b="1"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$ 1,152</a:t>
                      </a:r>
                      <a:endParaRPr/>
                    </a:p>
                    <a:p>
                      <a:pPr marL="0" marR="0" lvl="0" indent="0" algn="ctr" rtl="0">
                        <a:spcBef>
                          <a:spcPts val="0"/>
                        </a:spcBef>
                        <a:spcAft>
                          <a:spcPts val="0"/>
                        </a:spcAft>
                        <a:buNone/>
                      </a:pPr>
                      <a:endParaRPr sz="2400" b="1"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$ 576 </a:t>
                      </a:r>
                      <a:endParaRPr sz="24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5"/>
                  </a:ext>
                </a:extLst>
              </a:tr>
              <a:tr h="551925">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6</a:t>
                      </a:r>
                      <a:endParaRPr sz="2400" b="1"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$576</a:t>
                      </a:r>
                      <a:endParaRPr sz="2400" b="1"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$576</a:t>
                      </a:r>
                      <a:endParaRPr sz="2400" b="1"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2400" b="1" u="none" strike="noStrike" cap="none">
                          <a:latin typeface="Times New Roman"/>
                          <a:ea typeface="Times New Roman"/>
                          <a:cs typeface="Times New Roman"/>
                          <a:sym typeface="Times New Roman"/>
                        </a:rPr>
                        <a:t>$0</a:t>
                      </a:r>
                      <a:endParaRPr sz="2400" b="1"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6"/>
                  </a:ext>
                </a:extLst>
              </a:tr>
            </a:tbl>
          </a:graphicData>
        </a:graphic>
      </p:graphicFrame>
      <p:sp>
        <p:nvSpPr>
          <p:cNvPr id="434" name="Google Shape;434;p52"/>
          <p:cNvSpPr/>
          <p:nvPr/>
        </p:nvSpPr>
        <p:spPr>
          <a:xfrm>
            <a:off x="3310460" y="1907239"/>
            <a:ext cx="320395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Times New Roman"/>
                <a:ea typeface="Times New Roman"/>
                <a:cs typeface="Times New Roman"/>
                <a:sym typeface="Times New Roman"/>
              </a:rPr>
              <a:t>Depreciation Schedule </a:t>
            </a:r>
            <a:endParaRPr sz="2400">
              <a:solidFill>
                <a:schemeClr val="dk1"/>
              </a:solidFill>
              <a:latin typeface="Times New Roman"/>
              <a:ea typeface="Times New Roman"/>
              <a:cs typeface="Times New Roman"/>
              <a:sym typeface="Times New Roman"/>
            </a:endParaRPr>
          </a:p>
        </p:txBody>
      </p:sp>
      <p:sp>
        <p:nvSpPr>
          <p:cNvPr id="435" name="Google Shape;435;p52"/>
          <p:cNvSpPr txBox="1">
            <a:spLocks noGrp="1"/>
          </p:cNvSpPr>
          <p:nvPr>
            <p:ph type="title"/>
          </p:nvPr>
        </p:nvSpPr>
        <p:spPr>
          <a:xfrm>
            <a:off x="1580071" y="581676"/>
            <a:ext cx="710672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110000"/>
              </a:lnSpc>
              <a:spcBef>
                <a:spcPts val="0"/>
              </a:spcBef>
              <a:spcAft>
                <a:spcPts val="0"/>
              </a:spcAft>
              <a:buClr>
                <a:srgbClr val="002060"/>
              </a:buClr>
              <a:buSzPts val="3200"/>
              <a:buFont typeface="Times New Roman"/>
              <a:buNone/>
            </a:pPr>
            <a:r>
              <a:rPr lang="en-US" sz="3200" b="1" i="0" u="none" strike="noStrike" cap="none">
                <a:solidFill>
                  <a:srgbClr val="002060"/>
                </a:solidFill>
                <a:latin typeface="Times New Roman"/>
                <a:ea typeface="Times New Roman"/>
                <a:cs typeface="Times New Roman"/>
                <a:sym typeface="Times New Roman"/>
              </a:rPr>
              <a:t>Modified Accelerated Cost Recovery System (MACRS) (Cont’d…)</a:t>
            </a:r>
            <a:endParaRPr sz="3200" b="1" i="0" u="none" strike="noStrike" cap="none">
              <a:solidFill>
                <a:srgbClr val="002060"/>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References: </a:t>
            </a:r>
            <a:endParaRPr sz="3200" b="1">
              <a:solidFill>
                <a:srgbClr val="002060"/>
              </a:solidFill>
              <a:latin typeface="Times New Roman"/>
              <a:ea typeface="Times New Roman"/>
              <a:cs typeface="Times New Roman"/>
              <a:sym typeface="Times New Roman"/>
            </a:endParaRPr>
          </a:p>
        </p:txBody>
      </p:sp>
      <p:sp>
        <p:nvSpPr>
          <p:cNvPr id="441" name="Google Shape;441;p53"/>
          <p:cNvSpPr txBox="1">
            <a:spLocks noGrp="1"/>
          </p:cNvSpPr>
          <p:nvPr>
            <p:ph type="body" idx="1"/>
          </p:nvPr>
        </p:nvSpPr>
        <p:spPr>
          <a:xfrm>
            <a:off x="674298" y="1609964"/>
            <a:ext cx="10515600" cy="4833967"/>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1"/>
              </a:buClr>
              <a:buSzPts val="2800"/>
              <a:buNone/>
            </a:pPr>
            <a:r>
              <a:rPr lang="en-US" b="1">
                <a:latin typeface="Times New Roman"/>
                <a:ea typeface="Times New Roman"/>
                <a:cs typeface="Times New Roman"/>
                <a:sym typeface="Times New Roman"/>
              </a:rPr>
              <a:t>[1] </a:t>
            </a:r>
            <a:r>
              <a:rPr lang="en-US" b="1" i="1">
                <a:latin typeface="Times New Roman"/>
                <a:ea typeface="Times New Roman"/>
                <a:cs typeface="Times New Roman"/>
                <a:sym typeface="Times New Roman"/>
              </a:rPr>
              <a:t>Engineering Economics and Costing : </a:t>
            </a:r>
            <a:r>
              <a:rPr lang="en-US" b="1">
                <a:latin typeface="Times New Roman"/>
                <a:ea typeface="Times New Roman"/>
                <a:cs typeface="Times New Roman"/>
                <a:sym typeface="Times New Roman"/>
              </a:rPr>
              <a:t>Dr. K.K. Patra &amp; Dhiraj Bhattacharjee, First Edition, S. Chand and Company Ltd, 2013. </a:t>
            </a:r>
            <a:endParaRPr/>
          </a:p>
          <a:p>
            <a:pPr marL="0" lvl="0" indent="0" algn="just" rtl="0">
              <a:lnSpc>
                <a:spcPct val="100000"/>
              </a:lnSpc>
              <a:spcBef>
                <a:spcPts val="1000"/>
              </a:spcBef>
              <a:spcAft>
                <a:spcPts val="0"/>
              </a:spcAft>
              <a:buClr>
                <a:schemeClr val="dk1"/>
              </a:buClr>
              <a:buSzPts val="2800"/>
              <a:buNone/>
            </a:pPr>
            <a:r>
              <a:rPr lang="en-US" b="1">
                <a:latin typeface="Times New Roman"/>
                <a:ea typeface="Times New Roman"/>
                <a:cs typeface="Times New Roman"/>
                <a:sym typeface="Times New Roman"/>
              </a:rPr>
              <a:t>[2] </a:t>
            </a:r>
            <a:r>
              <a:rPr lang="en-US" b="1" i="1">
                <a:latin typeface="Times New Roman"/>
                <a:ea typeface="Times New Roman"/>
                <a:cs typeface="Times New Roman"/>
                <a:sym typeface="Times New Roman"/>
              </a:rPr>
              <a:t>Engineering Economy:</a:t>
            </a:r>
            <a:r>
              <a:rPr lang="en-US" b="1">
                <a:latin typeface="Times New Roman"/>
                <a:ea typeface="Times New Roman"/>
                <a:cs typeface="Times New Roman"/>
                <a:sym typeface="Times New Roman"/>
              </a:rPr>
              <a:t> William G. Sullivan, James A. Bontadelli &amp; Elin M. Wicks, Eleventh Edition, Pearson Educations, Inc. 2000 . </a:t>
            </a:r>
            <a:endParaRPr/>
          </a:p>
          <a:p>
            <a:pPr marL="0" lvl="0" indent="0" algn="just" rtl="0">
              <a:lnSpc>
                <a:spcPct val="100000"/>
              </a:lnSpc>
              <a:spcBef>
                <a:spcPts val="1000"/>
              </a:spcBef>
              <a:spcAft>
                <a:spcPts val="0"/>
              </a:spcAft>
              <a:buClr>
                <a:schemeClr val="dk1"/>
              </a:buClr>
              <a:buSzPts val="2800"/>
              <a:buNone/>
            </a:pPr>
            <a:r>
              <a:rPr lang="en-US" b="1">
                <a:latin typeface="Times New Roman"/>
                <a:ea typeface="Times New Roman"/>
                <a:cs typeface="Times New Roman"/>
                <a:sym typeface="Times New Roman"/>
              </a:rPr>
              <a:t>[3] </a:t>
            </a:r>
            <a:r>
              <a:rPr lang="en-US" b="1" i="1">
                <a:latin typeface="Times New Roman"/>
                <a:ea typeface="Times New Roman"/>
                <a:cs typeface="Times New Roman"/>
                <a:sym typeface="Times New Roman"/>
              </a:rPr>
              <a:t>Engineering Economics: </a:t>
            </a:r>
            <a:r>
              <a:rPr lang="en-US" b="1">
                <a:latin typeface="Times New Roman"/>
                <a:ea typeface="Times New Roman"/>
                <a:cs typeface="Times New Roman"/>
                <a:sym typeface="Times New Roman"/>
              </a:rPr>
              <a:t>James L. Riggs, David D. Bedworth and Sabah U. Randhawa, Fourth Edition, Tata McGraw Hill Education Private Limited, New Delhi, India, 2004. </a:t>
            </a:r>
            <a:endParaRPr/>
          </a:p>
          <a:p>
            <a:pPr marL="0" lvl="0" indent="0" algn="just" rtl="0">
              <a:lnSpc>
                <a:spcPct val="100000"/>
              </a:lnSpc>
              <a:spcBef>
                <a:spcPts val="1000"/>
              </a:spcBef>
              <a:spcAft>
                <a:spcPts val="0"/>
              </a:spcAft>
              <a:buClr>
                <a:schemeClr val="dk1"/>
              </a:buClr>
              <a:buSzPts val="2800"/>
              <a:buNone/>
            </a:pPr>
            <a:r>
              <a:rPr lang="en-US" b="1">
                <a:latin typeface="Times New Roman"/>
                <a:ea typeface="Times New Roman"/>
                <a:cs typeface="Times New Roman"/>
                <a:sym typeface="Times New Roman"/>
              </a:rPr>
              <a:t>[4]</a:t>
            </a:r>
            <a:r>
              <a:rPr lang="en-US">
                <a:latin typeface="Times New Roman"/>
                <a:ea typeface="Times New Roman"/>
                <a:cs typeface="Times New Roman"/>
                <a:sym typeface="Times New Roman"/>
              </a:rPr>
              <a:t> </a:t>
            </a:r>
            <a:r>
              <a:rPr lang="en-US" b="1" i="1">
                <a:latin typeface="Times New Roman"/>
                <a:ea typeface="Times New Roman"/>
                <a:cs typeface="Times New Roman"/>
                <a:sym typeface="Times New Roman"/>
              </a:rPr>
              <a:t>Contemporary Engineering Economics, </a:t>
            </a:r>
            <a:r>
              <a:rPr lang="en-US" b="1">
                <a:latin typeface="Times New Roman"/>
                <a:ea typeface="Times New Roman"/>
                <a:cs typeface="Times New Roman"/>
                <a:sym typeface="Times New Roman"/>
              </a:rPr>
              <a:t>Chan S. Park Second Edition, Addison-Wesley Publishing Company, 1997.</a:t>
            </a:r>
            <a:endParaRPr b="1">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b="1">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5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800"/>
              <a:buNone/>
            </a:pPr>
            <a:r>
              <a:rPr lang="en-US" b="1">
                <a:latin typeface="Times New Roman"/>
                <a:ea typeface="Times New Roman"/>
                <a:cs typeface="Times New Roman"/>
                <a:sym typeface="Times New Roman"/>
              </a:rPr>
              <a:t>[5] </a:t>
            </a:r>
            <a:r>
              <a:rPr lang="en-US" b="1" i="1">
                <a:latin typeface="Times New Roman"/>
                <a:ea typeface="Times New Roman"/>
                <a:cs typeface="Times New Roman"/>
                <a:sym typeface="Times New Roman"/>
              </a:rPr>
              <a:t>Basics of Engineering Economy: </a:t>
            </a:r>
            <a:r>
              <a:rPr lang="en-US" b="1">
                <a:latin typeface="Times New Roman"/>
                <a:ea typeface="Times New Roman"/>
                <a:cs typeface="Times New Roman"/>
                <a:sym typeface="Times New Roman"/>
              </a:rPr>
              <a:t>Leland Blank and Anthony Tarquin, Indian Edition, Tata McGraw Hill Education Private Limited, New Delhi, India, 2013. </a:t>
            </a:r>
            <a:endParaRPr/>
          </a:p>
          <a:p>
            <a:pPr marL="0" lvl="0" indent="0" algn="l" rtl="0">
              <a:lnSpc>
                <a:spcPct val="100000"/>
              </a:lnSpc>
              <a:spcBef>
                <a:spcPts val="1000"/>
              </a:spcBef>
              <a:spcAft>
                <a:spcPts val="0"/>
              </a:spcAft>
              <a:buClr>
                <a:schemeClr val="dk1"/>
              </a:buClr>
              <a:buSzPts val="2800"/>
              <a:buNone/>
            </a:pPr>
            <a:r>
              <a:rPr lang="en-US" b="1">
                <a:latin typeface="Times New Roman"/>
                <a:ea typeface="Times New Roman"/>
                <a:cs typeface="Times New Roman"/>
                <a:sym typeface="Times New Roman"/>
              </a:rPr>
              <a:t>[6] </a:t>
            </a:r>
            <a:r>
              <a:rPr lang="en-US" b="1" u="sng">
                <a:solidFill>
                  <a:schemeClr val="hlink"/>
                </a:solidFill>
                <a:latin typeface="Times New Roman"/>
                <a:ea typeface="Times New Roman"/>
                <a:cs typeface="Times New Roman"/>
                <a:sym typeface="Times New Roman"/>
                <a:hlinkClick r:id="rId3"/>
              </a:rPr>
              <a:t>https://byjus.com/commerce/sinking-fund-method/</a:t>
            </a:r>
            <a:r>
              <a:rPr lang="en-US" b="1">
                <a:latin typeface="Times New Roman"/>
                <a:ea typeface="Times New Roman"/>
                <a:cs typeface="Times New Roman"/>
                <a:sym typeface="Times New Roman"/>
              </a:rPr>
              <a:t> (Viewed November 2022)</a:t>
            </a:r>
            <a:endParaRPr/>
          </a:p>
          <a:p>
            <a:pPr marL="0" lvl="0" indent="0" algn="l" rtl="0">
              <a:lnSpc>
                <a:spcPct val="90000"/>
              </a:lnSpc>
              <a:spcBef>
                <a:spcPts val="1000"/>
              </a:spcBef>
              <a:spcAft>
                <a:spcPts val="0"/>
              </a:spcAft>
              <a:buClr>
                <a:schemeClr val="dk1"/>
              </a:buClr>
              <a:buSzPts val="2800"/>
              <a:buNone/>
            </a:pPr>
            <a:endParaRPr b="1">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a:p>
        </p:txBody>
      </p:sp>
      <p:sp>
        <p:nvSpPr>
          <p:cNvPr id="447" name="Google Shape;447;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200"/>
              <a:buFont typeface="Times New Roman"/>
              <a:buNone/>
            </a:pPr>
            <a:r>
              <a:rPr lang="en-US" sz="3200" b="1">
                <a:solidFill>
                  <a:srgbClr val="002060"/>
                </a:solidFill>
                <a:latin typeface="Times New Roman"/>
                <a:ea typeface="Times New Roman"/>
                <a:cs typeface="Times New Roman"/>
                <a:sym typeface="Times New Roman"/>
              </a:rPr>
              <a:t>References (Cont’d….) </a:t>
            </a:r>
            <a:endParaRPr sz="3200" b="1">
              <a:solidFill>
                <a:srgbClr val="002060"/>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5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6600"/>
              <a:buNone/>
            </a:pPr>
            <a:endParaRPr sz="6600"/>
          </a:p>
          <a:p>
            <a:pPr marL="0" lvl="0" indent="0" algn="ctr" rtl="0">
              <a:lnSpc>
                <a:spcPct val="90000"/>
              </a:lnSpc>
              <a:spcBef>
                <a:spcPts val="1000"/>
              </a:spcBef>
              <a:spcAft>
                <a:spcPts val="0"/>
              </a:spcAft>
              <a:buClr>
                <a:schemeClr val="dk1"/>
              </a:buClr>
              <a:buSzPts val="6600"/>
              <a:buNone/>
            </a:pPr>
            <a:r>
              <a:rPr lang="en-US" sz="6600"/>
              <a:t>THANK YOU </a:t>
            </a:r>
            <a:endParaRPr sz="66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4588</Words>
  <Application>Microsoft Office PowerPoint</Application>
  <PresentationFormat>Widescreen</PresentationFormat>
  <Paragraphs>609</Paragraphs>
  <Slides>55</Slides>
  <Notes>55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Times New Roman</vt:lpstr>
      <vt:lpstr>Arial</vt:lpstr>
      <vt:lpstr>Constantia</vt:lpstr>
      <vt:lpstr>Calibri</vt:lpstr>
      <vt:lpstr>Noto Sans Symbols</vt:lpstr>
      <vt:lpstr>Office Theme</vt:lpstr>
      <vt:lpstr>COURSE TITLE ENGINEERING ECONOMIC ANALYSIS</vt:lpstr>
      <vt:lpstr>Learning Objective</vt:lpstr>
      <vt:lpstr>Concept of depreciation </vt:lpstr>
      <vt:lpstr>Concept of depreciation (Cont’d….)  </vt:lpstr>
      <vt:lpstr>Concept of depreciation (Cont’d….)  </vt:lpstr>
      <vt:lpstr>Causes of depreciation </vt:lpstr>
      <vt:lpstr>Causes of depreciation (Cont’d….) </vt:lpstr>
      <vt:lpstr>PowerPoint Presentation</vt:lpstr>
      <vt:lpstr>Classification of Depreciation (Cont’d…..) </vt:lpstr>
      <vt:lpstr>Classification of Depreciation (Cont’d…..) </vt:lpstr>
      <vt:lpstr>Characteristics of depreciation </vt:lpstr>
      <vt:lpstr>Characteristics of depreciation (Cont’d….) </vt:lpstr>
      <vt:lpstr>Terminologies of Depreciation </vt:lpstr>
      <vt:lpstr>Terminologies of Depreciation (Cont’d…)  </vt:lpstr>
      <vt:lpstr>Terminologies of Depreciation (Cont’d…)  </vt:lpstr>
      <vt:lpstr>Methods of Depreciation </vt:lpstr>
      <vt:lpstr>Methods of Depreciation (Cont’d….)  </vt:lpstr>
      <vt:lpstr>Methods of Depreciation (Cont’d….)  </vt:lpstr>
      <vt:lpstr>Straight – Line Method (SL) (Cont’d…) </vt:lpstr>
      <vt:lpstr>Straight – Line Method (SL) (Cont’d…) </vt:lpstr>
      <vt:lpstr>Methods of Depreciation (Cont’d….)  </vt:lpstr>
      <vt:lpstr>Declining balance Method (DB) (Cont’d..) </vt:lpstr>
      <vt:lpstr>Declining balance Method (DB) (Cont’d..) </vt:lpstr>
      <vt:lpstr>Declining balance Method (DB) (Cont’d..) </vt:lpstr>
      <vt:lpstr>Declining balance Method (DB) (Cont’d..) </vt:lpstr>
      <vt:lpstr>Declining balance Method (DB) (Cont’d..) </vt:lpstr>
      <vt:lpstr>Declining balance Method (DB) (Cont’d..) </vt:lpstr>
      <vt:lpstr>Declining balance Method (DB) (Cont’d..) </vt:lpstr>
      <vt:lpstr>PowerPoint Presentation</vt:lpstr>
      <vt:lpstr>PowerPoint Presentation</vt:lpstr>
      <vt:lpstr>Declining balance Method (DB) (Cont’d..) </vt:lpstr>
      <vt:lpstr>Declining balance Method (DB) (Cont’d..) </vt:lpstr>
      <vt:lpstr>Case 2: BN &lt; S</vt:lpstr>
      <vt:lpstr>Declining balance Method (DB) (Cont’d..) </vt:lpstr>
      <vt:lpstr>Declining balance Method (DB) (Cont’d..) </vt:lpstr>
      <vt:lpstr>Methods of Depreciation (Cont’d….)  </vt:lpstr>
      <vt:lpstr>Sum of the year digit (SOYD) method (Cont’d…) </vt:lpstr>
      <vt:lpstr>Sum of the year digit (SOYD) method (Cont’d…) </vt:lpstr>
      <vt:lpstr>PowerPoint Presentation</vt:lpstr>
      <vt:lpstr>Sinking Fund Method (Cont’d…)</vt:lpstr>
      <vt:lpstr>Sinking Fund Method (Cont’d….)  </vt:lpstr>
      <vt:lpstr>Sinking Fund Method (Cont’d….)  </vt:lpstr>
      <vt:lpstr>Methods of Depreciation (Cont’d….)  </vt:lpstr>
      <vt:lpstr>Modified Accelerated Cost Recovery System (MACRS) (Cont’d…)</vt:lpstr>
      <vt:lpstr>Modified Accelerated Cost Recovery System (MACRS) (Cont’d…)</vt:lpstr>
      <vt:lpstr>Modified Accelerated Cost Recovery System (MACRS) (Cont’d…)</vt:lpstr>
      <vt:lpstr>Calculation for MACRS</vt:lpstr>
      <vt:lpstr>PowerPoint Presentation</vt:lpstr>
      <vt:lpstr>Modified Accelerated Cost Recovery System (MACRS) (Cont’d…)</vt:lpstr>
      <vt:lpstr>Modified Accelerated Cost Recovery System (MACRS) (Cont’d…)</vt:lpstr>
      <vt:lpstr>Modified Accelerated Cost Recovery System (MACRS) (Cont’d…)</vt:lpstr>
      <vt:lpstr>Modified Accelerated Cost Recovery System (MACRS) (Cont’d…)</vt:lpstr>
      <vt:lpstr>References: </vt:lpstr>
      <vt:lpstr>References (Cont’d….)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Subham Shekhar Jha</cp:lastModifiedBy>
  <cp:revision>2</cp:revision>
  <dcterms:created xsi:type="dcterms:W3CDTF">2022-10-15T09:05:28Z</dcterms:created>
  <dcterms:modified xsi:type="dcterms:W3CDTF">2025-02-06T01:22:28Z</dcterms:modified>
</cp:coreProperties>
</file>
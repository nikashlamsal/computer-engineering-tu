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hu3x49GVY8AAyki19EfvozLGUD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6B745D-9D32-4ED3-9A86-F70C113E7BCE}">
  <a:tblStyle styleId="{F26B745D-9D32-4ED3-9A86-F70C113E7BC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4C46DE4-BAFB-4C5B-8521-B95C013C3B0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4D5695F-A10C-4C2E-97CD-C4870BD3DC1F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F0F0"/>
          </a:solidFill>
        </a:fill>
      </a:tcStyle>
    </a:wholeTbl>
    <a:band1H>
      <a:tcTxStyle/>
      <a:tcStyle>
        <a:tcBdr/>
        <a:fill>
          <a:solidFill>
            <a:srgbClr val="E0E0E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0E0E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4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5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usinessinsider.com/personal-finance/causes-of-inflation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engineering.utep.edu/enge/EE/14/02/1.htm" TargetMode="External"/><Relationship Id="rId4" Type="http://schemas.openxmlformats.org/officeDocument/2006/relationships/hyperlink" Target="https://www.tutor2u.net/economics/reference/inflation-causes-of-inflation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790477" y="-561225"/>
            <a:ext cx="831924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75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/>
              <a:buNone/>
            </a:pPr>
            <a:r>
              <a:rPr lang="en-US"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TITLE</a:t>
            </a:r>
            <a:br>
              <a:rPr lang="en-US"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 ECONOMIC ANALYSIS</a:t>
            </a:r>
            <a:endParaRPr sz="36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149755" y="1920966"/>
            <a:ext cx="9359153" cy="464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8 </a:t>
            </a:r>
            <a:r>
              <a:rPr lang="en-US" sz="33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INFLATION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3200" b="1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 of inflation and its causes, Measuring inflation, Equivalence calculation under inflation, impact of inflation on economic analysis 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body" idx="1"/>
          </p:nvPr>
        </p:nvSpPr>
        <p:spPr>
          <a:xfrm>
            <a:off x="889958" y="1635842"/>
            <a:ext cx="10515600" cy="5334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After studying this lecture students will be able to learn: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Concept of inflation and terminologies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Causes of inflation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Measuring inflation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Equivalence calculation under inflation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Impact of inflation on economic analysis. </a:t>
            </a:r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1433423" y="14637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Times New Roman"/>
              <a:buNone/>
            </a:pPr>
            <a:r>
              <a:rPr lang="en-US" sz="4000" b="1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Objective</a:t>
            </a:r>
            <a:endParaRPr sz="40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1062487" y="1981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  </a:t>
            </a: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 of inflation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579408" y="1359799"/>
            <a:ext cx="9755038" cy="509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The value $ 50 now cannot purchase the same amount of quantity of goods as $50 used to buy the goods five or ten years ago.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It means that the </a:t>
            </a: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 of currency is being decreased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as the time is passing by because of inflation.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Inflation is the increase in the amount of money necessary to purchase the same amount of product or service over time. [1]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The cost of an item tends to increase over time, OR , the same dollar amount buys less of an item over time. [2]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body" idx="1"/>
          </p:nvPr>
        </p:nvSpPr>
        <p:spPr>
          <a:xfrm>
            <a:off x="717430" y="1446063"/>
            <a:ext cx="9832675" cy="527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When the net demand for services and goods exceeds the total supply. Because of less supply, the net prices of these services/goods increases and this kind of situation is known as inflation. </a:t>
            </a:r>
            <a:endParaRPr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Inflation produces </a:t>
            </a:r>
            <a:r>
              <a:rPr lang="en-US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effects on the health of an economy</a:t>
            </a: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For example- the uncertainty about the future behavior of </a:t>
            </a:r>
            <a:r>
              <a:rPr lang="en-US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“inflation rate”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may restrict the investors to invest in the market. 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  </a:t>
            </a: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 of inflation (Cont’d….)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body" idx="1"/>
          </p:nvPr>
        </p:nvSpPr>
        <p:spPr>
          <a:xfrm>
            <a:off x="570781" y="1440521"/>
            <a:ext cx="9677400" cy="4986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⮚"/>
            </a:pP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Deflation is the opposite of inflation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 that prices usually decreases over time, and hence, a specified dollar amount gains in purchasing power.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Inflation is far more common than deflation in real world.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Our focus will be restricted to accounting for inflation in economic analysis.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If economic decisions are taken without considering the effect of inflation into account, most of them would become meaningless and as a result the organizations would end up with unpredictable return. [3]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1200509" y="20122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  </a:t>
            </a: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 of inflation (Cont’d….)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body" idx="1"/>
          </p:nvPr>
        </p:nvSpPr>
        <p:spPr>
          <a:xfrm>
            <a:off x="493144" y="1308039"/>
            <a:ext cx="9867181" cy="539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1435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If the </a:t>
            </a: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 cost of various services and goods increases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then naturally the prices of the final products would also increase.  </a:t>
            </a:r>
            <a:endParaRPr/>
          </a:p>
          <a:p>
            <a:pPr marL="514350" lvl="0" indent="-51435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When industries and business houses </a:t>
            </a: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 the total prices of their services and goods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 order to amplify their </a:t>
            </a: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profit margins. </a:t>
            </a:r>
            <a:endParaRPr/>
          </a:p>
          <a:p>
            <a:pPr marL="514350" lvl="0" indent="-51435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When a specific section of a mass industry increases the prices of its services and goods, because this step of a </a:t>
            </a: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particular section of a mass industry will produce considerable effects on various other sections of industry also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. For example- increase in the price of crude oil will spontaneously cause increase in the bus fares and airfares.</a:t>
            </a:r>
            <a:endParaRPr/>
          </a:p>
        </p:txBody>
      </p:sp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1131498" y="13221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  </a:t>
            </a: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Reasons of inflation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1493807" y="3306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Causes of inflation </a:t>
            </a:r>
            <a:endParaRPr/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1"/>
          </p:nvPr>
        </p:nvSpPr>
        <p:spPr>
          <a:xfrm>
            <a:off x="657046" y="1584086"/>
            <a:ext cx="10515600" cy="485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AutoNum type="arabicPeriod"/>
            </a:pPr>
            <a:r>
              <a:rPr lang="en-US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Demand pull inflation </a:t>
            </a:r>
            <a:endParaRPr/>
          </a:p>
          <a:p>
            <a:pPr marL="0" lvl="0" indent="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‘ Too much money chases too few goods’ </a:t>
            </a:r>
            <a:endParaRPr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Excessive spending power of consumers, sometimes obtained at the expense of savings, that pulls price up, called demand pull inflation [4] </a:t>
            </a:r>
            <a:endParaRPr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This occurs when there is excess aggregate demand in the economy or in the specific market or industry. </a:t>
            </a:r>
            <a:endParaRPr/>
          </a:p>
          <a:p>
            <a:pPr marL="228600" lvl="0" indent="-22860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It may be due to increase in population, decrease in taxes, increase in money supply etc. </a:t>
            </a:r>
            <a:endParaRPr/>
          </a:p>
          <a:p>
            <a:pPr marL="0" lvl="0" indent="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980679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AutoNum type="arabicPeriod" startAt="2"/>
            </a:pPr>
            <a:r>
              <a:rPr lang="en-US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push inflation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Increase in producer’s costs that are passed along to customers, sometimes with disproportionate escalations that pushes price up, called cost push inflation. [4]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This occurs when the costs of production or operation are increasing.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It may be due to increase in the wages of labor, increase in price of the raw materials, increase in cost of imported materials etc. </a:t>
            </a:r>
            <a:endParaRPr/>
          </a:p>
          <a:p>
            <a:pPr marL="22860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635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endParaRPr sz="26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635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endParaRPr sz="2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8"/>
          <p:cNvSpPr txBox="1">
            <a:spLocks noGrp="1"/>
          </p:cNvSpPr>
          <p:nvPr>
            <p:ph type="title"/>
          </p:nvPr>
        </p:nvSpPr>
        <p:spPr>
          <a:xfrm>
            <a:off x="1450676" y="31336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Causes of inflation (Cont’d….) 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>
            <a:spLocks noGrp="1"/>
          </p:cNvSpPr>
          <p:nvPr>
            <p:ph type="body" idx="1"/>
          </p:nvPr>
        </p:nvSpPr>
        <p:spPr>
          <a:xfrm>
            <a:off x="355120" y="833588"/>
            <a:ext cx="10600427" cy="5049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AutoNum type="arabicPeriod" startAt="3"/>
            </a:pPr>
            <a:r>
              <a:rPr lang="en-US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Increased money supply </a:t>
            </a:r>
            <a:endParaRPr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If the money supply increases faster than the rate of production, this could result in inflation, particularly demand-pull inflation because there will be too many dollars chasing too few products. [5]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Devaluation </a:t>
            </a:r>
            <a:endParaRPr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It is the policy of deliberate lowering the value of currency by a country. 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1373038" y="-951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Causes of inflation (Cont’d….) 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0" descr="https://ars.els-cdn.com/content/image/1-s2.0-S2090447920300939-gr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0226" y="1832744"/>
            <a:ext cx="8298612" cy="383884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Causes of inflation (Cont’d….) 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2668438" y="5813644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: Causes of inflation [6]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>
            <a:spLocks noGrp="1"/>
          </p:cNvSpPr>
          <p:nvPr>
            <p:ph type="title"/>
          </p:nvPr>
        </p:nvSpPr>
        <p:spPr>
          <a:xfrm>
            <a:off x="976222" y="-34224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Inflation Terminologies </a:t>
            </a:r>
            <a:endParaRPr/>
          </a:p>
        </p:txBody>
      </p:sp>
      <p:sp>
        <p:nvSpPr>
          <p:cNvPr id="146" name="Google Shape;146;p11"/>
          <p:cNvSpPr txBox="1">
            <a:spLocks noGrp="1"/>
          </p:cNvSpPr>
          <p:nvPr>
            <p:ph type="body" idx="1"/>
          </p:nvPr>
        </p:nvSpPr>
        <p:spPr>
          <a:xfrm>
            <a:off x="510396" y="842213"/>
            <a:ext cx="10919604" cy="5860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None/>
            </a:pP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Actual (current) dollars (A$)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Actual dollars are </a:t>
            </a:r>
            <a:r>
              <a:rPr lang="en-US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estimates of future cash flow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for year ‘n’ that take into account any anticipated changes in amount </a:t>
            </a:r>
            <a:r>
              <a:rPr lang="en-US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 to inflationary or deflationary effects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. [2]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Usually these amounts are determined by applying an inflation rate to base year dollar estimates. 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CC"/>
              </a:buClr>
              <a:buSzPts val="2800"/>
              <a:buNone/>
            </a:pP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Constant (real) dollars (A’$)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Dollars expressed in terms of the same purchasing relative to a particular time.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It means that the money have the constant purchasing power independent of passage of time. Does not consider inflationary and deflationary effects.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>
            <a:spLocks noGrp="1"/>
          </p:cNvSpPr>
          <p:nvPr>
            <p:ph type="body" idx="1"/>
          </p:nvPr>
        </p:nvSpPr>
        <p:spPr>
          <a:xfrm>
            <a:off x="631166" y="1290786"/>
            <a:ext cx="10039709" cy="5239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None/>
            </a:pP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Market interest rate (i)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This rate takes into account the </a:t>
            </a:r>
            <a:r>
              <a:rPr lang="en-US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combined effect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of the earning value of capital (earning power) and any anticipated inflation or deflation (purchasing power) 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CC"/>
              </a:buClr>
              <a:buSzPts val="2800"/>
              <a:buNone/>
            </a:pP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Inflation free interest rate (i’)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This rate is an estimate of the </a:t>
            </a:r>
            <a:r>
              <a:rPr lang="en-US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 earning power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of the money  when  the </a:t>
            </a: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inflation effect have been removed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. This rate is commonly known as real interest rate. </a:t>
            </a:r>
            <a:endParaRPr/>
          </a:p>
          <a:p>
            <a:pPr marL="514350" lvl="0" indent="-51435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CC"/>
              </a:buClr>
              <a:buSzPts val="2800"/>
              <a:buNone/>
            </a:pP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Inflation rate (f)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This is the measure of the </a:t>
            </a: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rate of change in the value of money.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52" name="Google Shape;152;p12"/>
          <p:cNvSpPr txBox="1">
            <a:spLocks noGrp="1"/>
          </p:cNvSpPr>
          <p:nvPr>
            <p:ph type="title"/>
          </p:nvPr>
        </p:nvSpPr>
        <p:spPr>
          <a:xfrm>
            <a:off x="838200" y="632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Inflation Terminologies (Cont’d…..) 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>
            <a:spLocks noGrp="1"/>
          </p:cNvSpPr>
          <p:nvPr>
            <p:ph type="title"/>
          </p:nvPr>
        </p:nvSpPr>
        <p:spPr>
          <a:xfrm>
            <a:off x="1450675" y="21847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Measuring Inflation </a:t>
            </a:r>
            <a:endParaRPr/>
          </a:p>
        </p:txBody>
      </p:sp>
      <p:sp>
        <p:nvSpPr>
          <p:cNvPr id="158" name="Google Shape;158;p13"/>
          <p:cNvSpPr txBox="1">
            <a:spLocks noGrp="1"/>
          </p:cNvSpPr>
          <p:nvPr>
            <p:ph type="body" idx="1"/>
          </p:nvPr>
        </p:nvSpPr>
        <p:spPr>
          <a:xfrm>
            <a:off x="734683" y="1544039"/>
            <a:ext cx="10515600" cy="4796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Generally inflation is measured in percentage term which is simply obtained by calculating the percentage change in current price index over the previous year.</a:t>
            </a:r>
            <a:endParaRPr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The most commonly price index used for measuring inflation are 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Consumer price index (CPI) and 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(b) Producer price index (PPI) 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>
            <a:spLocks noGrp="1"/>
          </p:cNvSpPr>
          <p:nvPr>
            <p:ph type="body" idx="1"/>
          </p:nvPr>
        </p:nvSpPr>
        <p:spPr>
          <a:xfrm>
            <a:off x="484518" y="824959"/>
            <a:ext cx="10091468" cy="580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Consumer price index (CPI)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The CPI measures </a:t>
            </a: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change in the prices paid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for food, shelter, medical care, transportation and other goods and services used by individual or families.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Producer price index (PPI) 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The PPI is good measure of the </a:t>
            </a: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industrial  price increases.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It is a measure of changes in prices charged by manufacturers and wholesalers for products. 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400"/>
              <a:buNone/>
            </a:pPr>
            <a:r>
              <a:rPr lang="en-US" sz="240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performing the engineering economic analysis, the appropriate price indexes must be selected to estimate the price increase of raw materials, finished products and operating costs.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64" name="Google Shape;164;p14"/>
          <p:cNvSpPr txBox="1">
            <a:spLocks noGrp="1"/>
          </p:cNvSpPr>
          <p:nvPr>
            <p:ph type="title"/>
          </p:nvPr>
        </p:nvSpPr>
        <p:spPr>
          <a:xfrm>
            <a:off x="1416170" y="-28494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Measuring Inflation (Cont’d….) 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>
            <a:spLocks noGrp="1"/>
          </p:cNvSpPr>
          <p:nvPr>
            <p:ph type="body" idx="1"/>
          </p:nvPr>
        </p:nvSpPr>
        <p:spPr>
          <a:xfrm>
            <a:off x="682926" y="997489"/>
            <a:ext cx="9280584" cy="5455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Let’s suppose we want to calculate the average inflation rate for a 2-year period: the first year’s inflation rate is 4%, and the second year’s rate is 8%, using a base price of $ 100. [2]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</a:pP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To find the price at the end of the second year we use the process of compounding.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                 First year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            $ 100 (1+0.04) (1+0.08) = $112.32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Second Year</a:t>
            </a:r>
            <a:endParaRPr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>
            <a:off x="1485181" y="12358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Measuring Inflation (Cont’d….) 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1" name="Google Shape;171;p15"/>
          <p:cNvCxnSpPr/>
          <p:nvPr/>
        </p:nvCxnSpPr>
        <p:spPr>
          <a:xfrm>
            <a:off x="2715507" y="5217041"/>
            <a:ext cx="1514060" cy="0"/>
          </a:xfrm>
          <a:prstGeom prst="straightConnector1">
            <a:avLst/>
          </a:prstGeom>
          <a:noFill/>
          <a:ln w="19050" cap="flat" cmpd="sng">
            <a:solidFill>
              <a:srgbClr val="0000CC"/>
            </a:solidFill>
            <a:prstDash val="solid"/>
            <a:miter lim="800000"/>
            <a:headEnd type="stealth" w="med" len="med"/>
            <a:tailEnd type="stealth" w="med" len="med"/>
          </a:ln>
        </p:spPr>
      </p:cxnSp>
      <p:cxnSp>
        <p:nvCxnSpPr>
          <p:cNvPr id="172" name="Google Shape;172;p15"/>
          <p:cNvCxnSpPr/>
          <p:nvPr/>
        </p:nvCxnSpPr>
        <p:spPr>
          <a:xfrm rot="10800000" flipH="1">
            <a:off x="2706099" y="5748787"/>
            <a:ext cx="3046937" cy="8127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stealth" w="med" len="med"/>
            <a:tailEnd type="stealth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 txBox="1">
            <a:spLocks noGrp="1"/>
          </p:cNvSpPr>
          <p:nvPr>
            <p:ph type="body" idx="1"/>
          </p:nvPr>
        </p:nvSpPr>
        <p:spPr>
          <a:xfrm>
            <a:off x="579407" y="997488"/>
            <a:ext cx="9686027" cy="556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to find the average inflation rate (f), we establish the equivalence relation.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                $ 100 (1+f)</a:t>
            </a:r>
            <a:r>
              <a:rPr lang="en-US" b="1" baseline="3000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= $ 112.32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             or, $ 100 ( F/P, f, 2) = $ 112.32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Solving for  f yields,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</a:t>
            </a: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5.98% = 6%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(approximately)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If the inflation rate (f) averages 6% over the next 10 years,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      = $100 (1+0.06)</a:t>
            </a:r>
            <a:r>
              <a:rPr lang="en-US" b="1" baseline="30000">
                <a:latin typeface="Times New Roman"/>
                <a:ea typeface="Times New Roman"/>
                <a:cs typeface="Times New Roman"/>
                <a:sym typeface="Times New Roman"/>
              </a:rPr>
              <a:t>10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= $ 179.08 = $ 180 (approximately)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It can be concluded that the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% increase in the price of the product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               = ($ 180 - $ 100) / $ 100  = 80%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6"/>
          <p:cNvSpPr txBox="1">
            <a:spLocks noGrp="1"/>
          </p:cNvSpPr>
          <p:nvPr>
            <p:ph type="title"/>
          </p:nvPr>
        </p:nvSpPr>
        <p:spPr>
          <a:xfrm>
            <a:off x="1407543" y="-23009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Measuring Inflation (Cont’d….) 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 txBox="1">
            <a:spLocks noGrp="1"/>
          </p:cNvSpPr>
          <p:nvPr>
            <p:ph type="title"/>
          </p:nvPr>
        </p:nvSpPr>
        <p:spPr>
          <a:xfrm>
            <a:off x="1536940" y="598038"/>
            <a:ext cx="768469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Conversion of constant to actual dollar Example</a:t>
            </a:r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body" idx="1"/>
          </p:nvPr>
        </p:nvSpPr>
        <p:spPr>
          <a:xfrm>
            <a:off x="976223" y="177386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Consider the following net cash flow of a project in a constant dollar.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If the average inflation rate is projected as 5 % per year, convert the cash flow into actual dollars.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graphicFrame>
        <p:nvGraphicFramePr>
          <p:cNvPr id="201" name="Google Shape;201;p18"/>
          <p:cNvGraphicFramePr/>
          <p:nvPr/>
        </p:nvGraphicFramePr>
        <p:xfrm>
          <a:off x="3048500" y="2599551"/>
          <a:ext cx="4890050" cy="2450940"/>
        </p:xfrm>
        <a:graphic>
          <a:graphicData uri="http://schemas.openxmlformats.org/drawingml/2006/table">
            <a:tbl>
              <a:tblPr firstRow="1" firstCol="1" bandRow="1">
                <a:noFill/>
                <a:tableStyleId>{F26B745D-9D32-4ED3-9A86-F70C113E7BCE}</a:tableStyleId>
              </a:tblPr>
              <a:tblGrid>
                <a:gridCol w="112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6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Period</a:t>
                      </a:r>
                      <a:endParaRPr sz="2000" b="1" u="none" strike="noStrike" cap="non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 Cash flow in Constant Dollar</a:t>
                      </a:r>
                      <a:endParaRPr sz="2000" b="1" u="none" strike="noStrike" cap="non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-250,000</a:t>
                      </a:r>
                      <a:endParaRPr sz="20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1,00,000</a:t>
                      </a:r>
                      <a:endParaRPr sz="20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1,10,000</a:t>
                      </a:r>
                      <a:endParaRPr sz="20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1,20,000</a:t>
                      </a:r>
                      <a:endParaRPr sz="20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1,30,000</a:t>
                      </a:r>
                      <a:endParaRPr sz="20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1,20,000</a:t>
                      </a:r>
                      <a:endParaRPr sz="20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" name="Google Shape;206;p19"/>
          <p:cNvGraphicFramePr/>
          <p:nvPr/>
        </p:nvGraphicFramePr>
        <p:xfrm>
          <a:off x="1804672" y="2228490"/>
          <a:ext cx="30000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{F26B745D-9D32-4ED3-9A86-F70C113E7BCE}</a:tableStyleId>
              </a:tblPr>
              <a:tblGrid>
                <a:gridCol w="116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9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Period</a:t>
                      </a:r>
                      <a:endParaRPr sz="1800" b="1" u="none" strike="noStrike" cap="non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Cash flow in Constant Dollar</a:t>
                      </a:r>
                      <a:endParaRPr sz="1800" b="1" u="none" strike="noStrike" cap="non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Conversion Factor  = (1+f)</a:t>
                      </a:r>
                      <a:r>
                        <a:rPr lang="en-US" sz="1800" b="1" u="none" strike="noStrike" cap="none" baseline="3000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 b="1" u="none" strike="noStrike" cap="non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Cash flow in Actual Dollar</a:t>
                      </a:r>
                      <a:endParaRPr sz="1800" b="1" u="none" strike="noStrike" cap="non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-250,000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(1+0.05)</a:t>
                      </a:r>
                      <a:r>
                        <a:rPr lang="en-US" sz="1800" b="1" u="none" strike="noStrike" cap="none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-250,000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1,00,000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(1+0.05)</a:t>
                      </a:r>
                      <a:r>
                        <a:rPr lang="en-US" sz="1800" b="1" u="none" strike="noStrike" cap="none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1,05,000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1,10,000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(1+0.05)</a:t>
                      </a:r>
                      <a:r>
                        <a:rPr lang="en-US" sz="1800" b="1" u="none" strike="noStrike" cap="none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1,21,275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1,20,000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(1+0.05)</a:t>
                      </a:r>
                      <a:r>
                        <a:rPr lang="en-US" sz="1800" b="1" u="none" strike="noStrike" cap="none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138,915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1,30,000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(1+0.05)</a:t>
                      </a:r>
                      <a:r>
                        <a:rPr lang="en-US" sz="1800" b="1" u="none" strike="noStrike" cap="none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1,58,016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1,20,000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(1+0.05)</a:t>
                      </a:r>
                      <a:r>
                        <a:rPr lang="en-US" sz="1800" b="1" u="none" strike="noStrike" cap="none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1,53,154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7" name="Google Shape;207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01250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Conversion of constant to actual dollar Example (Cont’d….)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>
            <a:spLocks noGrp="1"/>
          </p:cNvSpPr>
          <p:nvPr>
            <p:ph type="title"/>
          </p:nvPr>
        </p:nvSpPr>
        <p:spPr>
          <a:xfrm>
            <a:off x="1373038" y="2098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Equivalence Calculation Under Inflation</a:t>
            </a:r>
            <a:endParaRPr/>
          </a:p>
        </p:txBody>
      </p:sp>
      <p:sp>
        <p:nvSpPr>
          <p:cNvPr id="213" name="Google Shape;213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 previous chapters, our equivalence analysis took into consideration changes in </a:t>
            </a: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earning power of money i.e. interest rate.</a:t>
            </a:r>
            <a:endParaRPr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To factor in changes in purchasing power i.e. inflation, we use either </a:t>
            </a:r>
            <a:r>
              <a:rPr lang="en-US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 constant dollar analysis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 actual dollar analysis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(3) Mixed dollar analysis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53008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Procedure to adjust inflation under equivalence calculation[3]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03108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Estimate all the costs/returns associated with an investment proposal in terms of today’s dollar.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Modify the costs/returns in step one using an assumed inflation rate so that at each future date they represent the costs/revenues at that day in terms of the dollars that must be expended or received at that time respectively.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As per our requirement, calculate either the annual equivalent amount or future amount or present amount of the cash flow resulting from step 2 by considering the time value of money. 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>
            <a:spLocks noGrp="1"/>
          </p:cNvSpPr>
          <p:nvPr>
            <p:ph type="title"/>
          </p:nvPr>
        </p:nvSpPr>
        <p:spPr>
          <a:xfrm>
            <a:off x="751936" y="287488"/>
            <a:ext cx="856459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1: If cash flow elements are estimated in Constant Dollar (Constant Dollar Analysis)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2"/>
          <p:cNvSpPr txBox="1">
            <a:spLocks noGrp="1"/>
          </p:cNvSpPr>
          <p:nvPr>
            <p:ph type="body" idx="1"/>
          </p:nvPr>
        </p:nvSpPr>
        <p:spPr>
          <a:xfrm>
            <a:off x="562155" y="1903173"/>
            <a:ext cx="9418607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Suppose that all cash flow elements are already given in constant dollar, and that we want to compute the equivalent PW of the constant dollar (A’</a:t>
            </a:r>
            <a:r>
              <a:rPr lang="en-US" b="1" baseline="-25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) occurring in year ‘n’.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 the absence of inflationary effect, we use </a:t>
            </a:r>
            <a:r>
              <a:rPr lang="en-US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inflation free interest rate (i’)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to account only for the earning power of money.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The equivalent present worth is obtained by 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3436187" y="5369944"/>
            <a:ext cx="3810001" cy="707886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40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A’</a:t>
            </a:r>
            <a:r>
              <a:rPr lang="en-US" sz="40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(1+i’)</a:t>
            </a:r>
            <a:r>
              <a:rPr lang="en-US" sz="4000" b="1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 txBox="1">
            <a:spLocks noGrp="1"/>
          </p:cNvSpPr>
          <p:nvPr>
            <p:ph type="title"/>
          </p:nvPr>
        </p:nvSpPr>
        <p:spPr>
          <a:xfrm>
            <a:off x="1226388" y="460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 Dollar Analysis Numerical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3"/>
          <p:cNvSpPr txBox="1">
            <a:spLocks noGrp="1"/>
          </p:cNvSpPr>
          <p:nvPr>
            <p:ph type="body" idx="1"/>
          </p:nvPr>
        </p:nvSpPr>
        <p:spPr>
          <a:xfrm>
            <a:off x="550653" y="1259457"/>
            <a:ext cx="10042585" cy="1923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  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Consider the constant dollar cash flows for a company as follows. If the  manager want the company to earn a 12% inflation free rate of return before tax on any investment, what should be the present worth of this project?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3" name="Google Shape;233;p23"/>
          <p:cNvGraphicFramePr/>
          <p:nvPr/>
        </p:nvGraphicFramePr>
        <p:xfrm>
          <a:off x="2889849" y="318314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{C4C46DE4-BAFB-4C5B-8521-B95C013C3B06}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Period</a:t>
                      </a:r>
                      <a:endParaRPr sz="2400" b="1" u="none" strike="noStrike" cap="none">
                        <a:solidFill>
                          <a:schemeClr val="accent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 cash flow in Constant $</a:t>
                      </a:r>
                      <a:endParaRPr sz="2400" b="1" u="none" strike="noStrike" cap="none">
                        <a:solidFill>
                          <a:schemeClr val="accent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$ 250,000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$ 100,000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$ 110,000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$ 120,000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$ 130,000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$ 120,000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>
            <a:spLocks noGrp="1"/>
          </p:cNvSpPr>
          <p:nvPr>
            <p:ph type="body" idx="1"/>
          </p:nvPr>
        </p:nvSpPr>
        <p:spPr>
          <a:xfrm>
            <a:off x="382437" y="1600200"/>
            <a:ext cx="10081405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Since all values are in constant dollars, we can use the inflation free interest rate. We simply discount the dollar inflows at i’ =12% </a:t>
            </a:r>
            <a:r>
              <a:rPr lang="en-US" b="1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PW (12%) =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- $ 250,000 + $ 100,000 (P/A, 12% , 5) + $ 10,000 (P/G, 12%, 4) + $ 20,000  ( P/F, 12%,5)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PW (12%) =</a:t>
            </a:r>
            <a:r>
              <a:rPr lang="en-US" b="1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$ 163,099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Since the equivalent net receipts exceeds the investment, the project can be justified before considering any tax effects.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24"/>
          <p:cNvSpPr txBox="1">
            <a:spLocks noGrp="1"/>
          </p:cNvSpPr>
          <p:nvPr>
            <p:ph type="title"/>
          </p:nvPr>
        </p:nvSpPr>
        <p:spPr>
          <a:xfrm>
            <a:off x="1140124" y="1193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(Constant Dollar Analysis) Numerical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>
            <a:spLocks noGrp="1"/>
          </p:cNvSpPr>
          <p:nvPr>
            <p:ph type="title"/>
          </p:nvPr>
        </p:nvSpPr>
        <p:spPr>
          <a:xfrm>
            <a:off x="510395" y="554906"/>
            <a:ext cx="90304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US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2: If cash flow elements are estimated in Actual Dollar (Actual Dollar Analysis)</a:t>
            </a:r>
            <a:br>
              <a:rPr lang="en-US" sz="3200" b="1">
                <a:solidFill>
                  <a:srgbClr val="032B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25"/>
          <p:cNvSpPr txBox="1">
            <a:spLocks noGrp="1"/>
          </p:cNvSpPr>
          <p:nvPr>
            <p:ph type="body" idx="1"/>
          </p:nvPr>
        </p:nvSpPr>
        <p:spPr>
          <a:xfrm>
            <a:off x="510395" y="2153429"/>
            <a:ext cx="991894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 this method , all cash flow elements are estimated in actual dollars. </a:t>
            </a:r>
            <a:endParaRPr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To find the equivalent present worth of this actual dollar amount (A</a:t>
            </a:r>
            <a:r>
              <a:rPr lang="en-US" b="1" baseline="-25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) in year n, we may use either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CC"/>
              </a:buClr>
              <a:buSzPts val="2800"/>
              <a:buNone/>
            </a:pP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(a) Deflation method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Adjusted-discount method.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>
            <a:spLocks noGrp="1"/>
          </p:cNvSpPr>
          <p:nvPr>
            <p:ph type="body" idx="1"/>
          </p:nvPr>
        </p:nvSpPr>
        <p:spPr>
          <a:xfrm>
            <a:off x="589470" y="1486618"/>
            <a:ext cx="10141789" cy="613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Deflation Method</a:t>
            </a:r>
            <a:endParaRPr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It requires </a:t>
            </a: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steps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to convert actual dollars into equivalent present worth dollars.</a:t>
            </a:r>
            <a:endParaRPr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First, we convert actual dollars into equivalent constant dollars by </a:t>
            </a: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discounting by the general inflation rate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which removes the inflationary effect.</a:t>
            </a:r>
            <a:endParaRPr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Second, finding the equivalent present worth </a:t>
            </a: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i’%.</a:t>
            </a:r>
            <a:endParaRPr b="1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b="1"/>
          </a:p>
        </p:txBody>
      </p:sp>
      <p:sp>
        <p:nvSpPr>
          <p:cNvPr id="251" name="Google Shape;251;p26"/>
          <p:cNvSpPr txBox="1">
            <a:spLocks noGrp="1"/>
          </p:cNvSpPr>
          <p:nvPr>
            <p:ph type="title"/>
          </p:nvPr>
        </p:nvSpPr>
        <p:spPr>
          <a:xfrm>
            <a:off x="589470" y="356498"/>
            <a:ext cx="90304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US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2: If cash flow elements are estimated in Actual Dollar (Actual Dollar Analysis) (Cont’d…..)</a:t>
            </a:r>
            <a:br>
              <a:rPr lang="en-US" sz="3200" b="1">
                <a:solidFill>
                  <a:srgbClr val="032B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>
            <a:spLocks noGrp="1"/>
          </p:cNvSpPr>
          <p:nvPr>
            <p:ph type="title"/>
          </p:nvPr>
        </p:nvSpPr>
        <p:spPr>
          <a:xfrm>
            <a:off x="824510" y="111391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 Dollar Analysis (Deflation Method) Numerical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27"/>
          <p:cNvSpPr txBox="1">
            <a:spLocks noGrp="1"/>
          </p:cNvSpPr>
          <p:nvPr>
            <p:ph type="body" idx="1"/>
          </p:nvPr>
        </p:nvSpPr>
        <p:spPr>
          <a:xfrm>
            <a:off x="618613" y="1321339"/>
            <a:ext cx="10532316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The project is expected to generate the following cash flows in actual dollars</a:t>
            </a:r>
            <a:endParaRPr sz="2600"/>
          </a:p>
        </p:txBody>
      </p:sp>
      <p:graphicFrame>
        <p:nvGraphicFramePr>
          <p:cNvPr id="258" name="Google Shape;258;p27"/>
          <p:cNvGraphicFramePr/>
          <p:nvPr/>
        </p:nvGraphicFramePr>
        <p:xfrm>
          <a:off x="2981844" y="183077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{F26B745D-9D32-4ED3-9A86-F70C113E7BCE}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Period</a:t>
                      </a:r>
                      <a:endParaRPr sz="2400" b="1" u="none" strike="noStrike" cap="none">
                        <a:solidFill>
                          <a:schemeClr val="accent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 cash flow in Actual $</a:t>
                      </a:r>
                      <a:endParaRPr sz="2400" b="1" u="none" strike="noStrike" cap="none">
                        <a:solidFill>
                          <a:schemeClr val="accent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$ 75,000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$ 32,000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$ 35,700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$ 32,800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$ 29,000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$ 58,000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9" name="Google Shape;259;p27"/>
          <p:cNvSpPr txBox="1"/>
          <p:nvPr/>
        </p:nvSpPr>
        <p:spPr>
          <a:xfrm>
            <a:off x="618613" y="5028019"/>
            <a:ext cx="10136663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lphaLcParenBoth"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the equivalent year 0 dollars (constant dollars), if the general inflation rate (f) is 5% per year?</a:t>
            </a:r>
            <a:endParaRPr/>
          </a:p>
          <a:p>
            <a:pPr marL="514350" marR="0" lvl="0" indent="-5143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lphaLcParenBoth"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the present worth of these cash flows in constant dollars at i’ = 10%.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"/>
          <p:cNvSpPr txBox="1">
            <a:spLocks noGrp="1"/>
          </p:cNvSpPr>
          <p:nvPr>
            <p:ph type="body" idx="1"/>
          </p:nvPr>
        </p:nvSpPr>
        <p:spPr>
          <a:xfrm>
            <a:off x="381000" y="736121"/>
            <a:ext cx="9944819" cy="3758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The net cash flows in actual dollars can be converted to constant dollars </a:t>
            </a: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deflating them by 5% yearly deflation factor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. The deflated or constant dollar cash flows can then be used to determine NPW at i’%.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AutoNum type="alphaLcParenBoth"/>
            </a:pP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the actual dollars into constant dollars </a:t>
            </a:r>
            <a:endParaRPr/>
          </a:p>
          <a:p>
            <a:pPr marL="457200"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66"/>
              </a:buClr>
              <a:buSzPts val="2400"/>
              <a:buNone/>
            </a:pPr>
            <a:r>
              <a:rPr lang="en-US" sz="24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graphicFrame>
        <p:nvGraphicFramePr>
          <p:cNvPr id="265" name="Google Shape;265;p28"/>
          <p:cNvGraphicFramePr/>
          <p:nvPr/>
        </p:nvGraphicFramePr>
        <p:xfrm>
          <a:off x="2170981" y="347213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{24D5695F-A10C-4C2E-97CD-C4870BD3DC1F}</a:tableStyleId>
              </a:tblPr>
              <a:tblGrid>
                <a:gridCol w="114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9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Period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Cash flow in actual  dollar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Multiplied</a:t>
                      </a:r>
                      <a:r>
                        <a:rPr lang="en-US" sz="1800" b="1" u="sng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by deflation factor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Cash flow in Constant dollar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- $ 75,000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(1+0.05) </a:t>
                      </a:r>
                      <a:r>
                        <a:rPr lang="en-US" sz="1800" b="1" u="none" strike="noStrike" cap="none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- $ 75,000 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$ 32,000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(1+ 0.05) </a:t>
                      </a:r>
                      <a:r>
                        <a:rPr lang="en-US" sz="1800" b="1" u="none" strike="noStrike" cap="none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$ 30,476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$ 35,700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(1+0.05) </a:t>
                      </a:r>
                      <a:r>
                        <a:rPr lang="en-US" sz="1800" b="1" u="none" strike="noStrike" cap="none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$ 32,381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$ 32,800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(1+0.05) </a:t>
                      </a:r>
                      <a:r>
                        <a:rPr lang="en-US" sz="1800" b="1" u="none" strike="noStrike" cap="none" baseline="30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</a:t>
                      </a:r>
                      <a:endParaRPr sz="1800" b="1" u="none" strike="noStrike" cap="none" baseline="30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$ 28,334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$ 29,000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(1+0.05) </a:t>
                      </a:r>
                      <a:r>
                        <a:rPr lang="en-US" sz="1800" b="1" u="none" strike="noStrike" cap="none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$ 23,858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$ 58,000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(1+ 0.05)</a:t>
                      </a:r>
                      <a:r>
                        <a:rPr lang="en-US" sz="1800" b="1" u="none" strike="noStrike" cap="none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$ 45,445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6" name="Google Shape;266;p28"/>
          <p:cNvSpPr txBox="1">
            <a:spLocks noGrp="1"/>
          </p:cNvSpPr>
          <p:nvPr>
            <p:ph type="title"/>
          </p:nvPr>
        </p:nvSpPr>
        <p:spPr>
          <a:xfrm>
            <a:off x="824510" y="111391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Deflation Method Numerical (Cont’d….)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9"/>
          <p:cNvSpPr txBox="1">
            <a:spLocks noGrp="1"/>
          </p:cNvSpPr>
          <p:nvPr>
            <p:ph type="body" idx="1"/>
          </p:nvPr>
        </p:nvSpPr>
        <p:spPr>
          <a:xfrm>
            <a:off x="600974" y="1590137"/>
            <a:ext cx="1033732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(b) Compute the equivalent present worth of constant dollar using i’ =10%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graphicFrame>
        <p:nvGraphicFramePr>
          <p:cNvPr id="272" name="Google Shape;272;p29"/>
          <p:cNvGraphicFramePr/>
          <p:nvPr/>
        </p:nvGraphicFramePr>
        <p:xfrm>
          <a:off x="2409645" y="275326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{24D5695F-A10C-4C2E-97CD-C4870BD3DC1F}</a:tableStyleId>
              </a:tblPr>
              <a:tblGrid>
                <a:gridCol w="114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Period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Cash flow in Constant dollar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Multiplied by discounting factor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Equivalent  Present worth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- $ 75,000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- $ 75,000 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$ 30,476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(1+ 0.10) </a:t>
                      </a:r>
                      <a:r>
                        <a:rPr lang="en-US" sz="1800" b="1" u="none" strike="noStrike" cap="none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$ 27,706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$ 32,381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(1+0.10) </a:t>
                      </a:r>
                      <a:r>
                        <a:rPr lang="en-US" sz="1800" b="1" u="none" strike="noStrike" cap="none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$ 26,761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$ 28,334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(1+0.10) </a:t>
                      </a:r>
                      <a:r>
                        <a:rPr lang="en-US" sz="1800" b="1" u="none" strike="noStrike" cap="none" baseline="30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</a:t>
                      </a:r>
                      <a:endParaRPr sz="1800" b="1" u="none" strike="noStrike" cap="none" baseline="30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$ 21,288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$ 23,858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(1+0.10) </a:t>
                      </a:r>
                      <a:r>
                        <a:rPr lang="en-US" sz="1800" b="1" u="none" strike="noStrike" cap="none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$ 16,295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$ 45,445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(1+ 0.10)</a:t>
                      </a:r>
                      <a:r>
                        <a:rPr lang="en-US" sz="1800" b="1" u="none" strike="noStrike" cap="none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$ 28,218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0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 Present worth</a:t>
                      </a:r>
                      <a:endParaRPr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$ 45,268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3" name="Google Shape;273;p29"/>
          <p:cNvSpPr txBox="1">
            <a:spLocks noGrp="1"/>
          </p:cNvSpPr>
          <p:nvPr>
            <p:ph type="title"/>
          </p:nvPr>
        </p:nvSpPr>
        <p:spPr>
          <a:xfrm>
            <a:off x="824510" y="111391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Deflation Method Numerical (Cont’d….)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0"/>
          <p:cNvSpPr/>
          <p:nvPr/>
        </p:nvSpPr>
        <p:spPr>
          <a:xfrm>
            <a:off x="1773373" y="1307651"/>
            <a:ext cx="1143000" cy="755305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0"/>
          <p:cNvSpPr/>
          <p:nvPr/>
        </p:nvSpPr>
        <p:spPr>
          <a:xfrm>
            <a:off x="2993366" y="1264442"/>
            <a:ext cx="1295400" cy="7620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0"/>
          <p:cNvSpPr/>
          <p:nvPr/>
        </p:nvSpPr>
        <p:spPr>
          <a:xfrm>
            <a:off x="4630872" y="1343025"/>
            <a:ext cx="1105694" cy="66278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0"/>
          <p:cNvSpPr/>
          <p:nvPr/>
        </p:nvSpPr>
        <p:spPr>
          <a:xfrm>
            <a:off x="6083941" y="1340642"/>
            <a:ext cx="1143000" cy="685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0"/>
          <p:cNvSpPr/>
          <p:nvPr/>
        </p:nvSpPr>
        <p:spPr>
          <a:xfrm>
            <a:off x="7336766" y="1307651"/>
            <a:ext cx="1143000" cy="831505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0"/>
          <p:cNvSpPr/>
          <p:nvPr/>
        </p:nvSpPr>
        <p:spPr>
          <a:xfrm>
            <a:off x="8632166" y="1300956"/>
            <a:ext cx="1066800" cy="7620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0"/>
          <p:cNvSpPr txBox="1"/>
          <p:nvPr/>
        </p:nvSpPr>
        <p:spPr>
          <a:xfrm>
            <a:off x="1774166" y="1529556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-75,000</a:t>
            </a:r>
            <a:endParaRPr/>
          </a:p>
        </p:txBody>
      </p:sp>
      <p:sp>
        <p:nvSpPr>
          <p:cNvPr id="285" name="Google Shape;285;p30"/>
          <p:cNvSpPr txBox="1"/>
          <p:nvPr/>
        </p:nvSpPr>
        <p:spPr>
          <a:xfrm>
            <a:off x="3039374" y="1493042"/>
            <a:ext cx="12954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32,000</a:t>
            </a:r>
            <a:endParaRPr/>
          </a:p>
        </p:txBody>
      </p:sp>
      <p:sp>
        <p:nvSpPr>
          <p:cNvPr id="286" name="Google Shape;286;p30"/>
          <p:cNvSpPr txBox="1"/>
          <p:nvPr/>
        </p:nvSpPr>
        <p:spPr>
          <a:xfrm>
            <a:off x="4611141" y="1484658"/>
            <a:ext cx="1447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35,700</a:t>
            </a:r>
            <a:endParaRPr/>
          </a:p>
        </p:txBody>
      </p:sp>
      <p:sp>
        <p:nvSpPr>
          <p:cNvPr id="287" name="Google Shape;287;p30"/>
          <p:cNvSpPr txBox="1"/>
          <p:nvPr/>
        </p:nvSpPr>
        <p:spPr>
          <a:xfrm>
            <a:off x="6095602" y="1485278"/>
            <a:ext cx="12954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32,800</a:t>
            </a:r>
            <a:endParaRPr/>
          </a:p>
        </p:txBody>
      </p:sp>
      <p:sp>
        <p:nvSpPr>
          <p:cNvPr id="288" name="Google Shape;288;p30"/>
          <p:cNvSpPr txBox="1"/>
          <p:nvPr/>
        </p:nvSpPr>
        <p:spPr>
          <a:xfrm>
            <a:off x="7260566" y="1605756"/>
            <a:ext cx="13716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Rs 29,000</a:t>
            </a:r>
            <a:endParaRPr/>
          </a:p>
        </p:txBody>
      </p:sp>
      <p:sp>
        <p:nvSpPr>
          <p:cNvPr id="289" name="Google Shape;289;p30"/>
          <p:cNvSpPr txBox="1"/>
          <p:nvPr/>
        </p:nvSpPr>
        <p:spPr>
          <a:xfrm>
            <a:off x="8555966" y="1529556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$ 58,000</a:t>
            </a:r>
            <a:endParaRPr/>
          </a:p>
        </p:txBody>
      </p:sp>
      <p:sp>
        <p:nvSpPr>
          <p:cNvPr id="290" name="Google Shape;290;p30"/>
          <p:cNvSpPr txBox="1"/>
          <p:nvPr/>
        </p:nvSpPr>
        <p:spPr>
          <a:xfrm>
            <a:off x="859766" y="1453357"/>
            <a:ext cx="9144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Actual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dollars</a:t>
            </a:r>
            <a:endParaRPr/>
          </a:p>
        </p:txBody>
      </p:sp>
      <p:sp>
        <p:nvSpPr>
          <p:cNvPr id="291" name="Google Shape;291;p30"/>
          <p:cNvSpPr/>
          <p:nvPr/>
        </p:nvSpPr>
        <p:spPr>
          <a:xfrm>
            <a:off x="1088366" y="2139156"/>
            <a:ext cx="381000" cy="10668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0"/>
          <p:cNvSpPr txBox="1"/>
          <p:nvPr/>
        </p:nvSpPr>
        <p:spPr>
          <a:xfrm>
            <a:off x="859766" y="3205957"/>
            <a:ext cx="10668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Constant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dollars</a:t>
            </a:r>
            <a:endParaRPr/>
          </a:p>
        </p:txBody>
      </p:sp>
      <p:sp>
        <p:nvSpPr>
          <p:cNvPr id="293" name="Google Shape;293;p30"/>
          <p:cNvSpPr/>
          <p:nvPr/>
        </p:nvSpPr>
        <p:spPr>
          <a:xfrm>
            <a:off x="1926566" y="2901156"/>
            <a:ext cx="1143000" cy="990600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1926566" y="3129756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-$ 75,000</a:t>
            </a:r>
            <a:endParaRPr/>
          </a:p>
        </p:txBody>
      </p:sp>
      <p:sp>
        <p:nvSpPr>
          <p:cNvPr id="295" name="Google Shape;295;p30"/>
          <p:cNvSpPr/>
          <p:nvPr/>
        </p:nvSpPr>
        <p:spPr>
          <a:xfrm>
            <a:off x="3221966" y="3129756"/>
            <a:ext cx="990600" cy="533400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0"/>
          <p:cNvSpPr/>
          <p:nvPr/>
        </p:nvSpPr>
        <p:spPr>
          <a:xfrm>
            <a:off x="4669766" y="2977356"/>
            <a:ext cx="1066800" cy="762000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0"/>
          <p:cNvSpPr/>
          <p:nvPr/>
        </p:nvSpPr>
        <p:spPr>
          <a:xfrm>
            <a:off x="6193766" y="3053556"/>
            <a:ext cx="990600" cy="685800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0"/>
          <p:cNvSpPr/>
          <p:nvPr/>
        </p:nvSpPr>
        <p:spPr>
          <a:xfrm>
            <a:off x="7412966" y="3129756"/>
            <a:ext cx="990600" cy="609600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0"/>
          <p:cNvSpPr/>
          <p:nvPr/>
        </p:nvSpPr>
        <p:spPr>
          <a:xfrm>
            <a:off x="8708366" y="2901156"/>
            <a:ext cx="1066800" cy="762000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0"/>
          <p:cNvSpPr txBox="1"/>
          <p:nvPr/>
        </p:nvSpPr>
        <p:spPr>
          <a:xfrm>
            <a:off x="3145766" y="3205956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$ 30,476</a:t>
            </a:r>
            <a:endParaRPr/>
          </a:p>
        </p:txBody>
      </p:sp>
      <p:sp>
        <p:nvSpPr>
          <p:cNvPr id="301" name="Google Shape;301;p30"/>
          <p:cNvSpPr txBox="1"/>
          <p:nvPr/>
        </p:nvSpPr>
        <p:spPr>
          <a:xfrm>
            <a:off x="4593566" y="3205956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$ 32,381</a:t>
            </a:r>
            <a:endParaRPr/>
          </a:p>
        </p:txBody>
      </p:sp>
      <p:sp>
        <p:nvSpPr>
          <p:cNvPr id="302" name="Google Shape;302;p30"/>
          <p:cNvSpPr txBox="1"/>
          <p:nvPr/>
        </p:nvSpPr>
        <p:spPr>
          <a:xfrm>
            <a:off x="6117566" y="3205956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$ 28,334</a:t>
            </a:r>
            <a:endParaRPr/>
          </a:p>
        </p:txBody>
      </p:sp>
      <p:sp>
        <p:nvSpPr>
          <p:cNvPr id="303" name="Google Shape;303;p30"/>
          <p:cNvSpPr txBox="1"/>
          <p:nvPr/>
        </p:nvSpPr>
        <p:spPr>
          <a:xfrm>
            <a:off x="7336766" y="3205956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$ 23,858</a:t>
            </a:r>
            <a:endParaRPr/>
          </a:p>
        </p:txBody>
      </p:sp>
      <p:sp>
        <p:nvSpPr>
          <p:cNvPr id="304" name="Google Shape;304;p30"/>
          <p:cNvSpPr txBox="1"/>
          <p:nvPr/>
        </p:nvSpPr>
        <p:spPr>
          <a:xfrm>
            <a:off x="8632166" y="3129756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$ 45,445</a:t>
            </a:r>
            <a:endParaRPr/>
          </a:p>
        </p:txBody>
      </p:sp>
      <p:sp>
        <p:nvSpPr>
          <p:cNvPr id="305" name="Google Shape;305;p30"/>
          <p:cNvSpPr/>
          <p:nvPr/>
        </p:nvSpPr>
        <p:spPr>
          <a:xfrm>
            <a:off x="1088366" y="3967956"/>
            <a:ext cx="381000" cy="10668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0"/>
          <p:cNvSpPr txBox="1"/>
          <p:nvPr/>
        </p:nvSpPr>
        <p:spPr>
          <a:xfrm>
            <a:off x="859766" y="5110957"/>
            <a:ext cx="10668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2B04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32B04"/>
                </a:solidFill>
                <a:latin typeface="Calibri"/>
                <a:ea typeface="Calibri"/>
                <a:cs typeface="Calibri"/>
                <a:sym typeface="Calibri"/>
              </a:rPr>
              <a:t>Present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2B04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32B04"/>
                </a:solidFill>
                <a:latin typeface="Calibri"/>
                <a:ea typeface="Calibri"/>
                <a:cs typeface="Calibri"/>
                <a:sym typeface="Calibri"/>
              </a:rPr>
              <a:t>worth</a:t>
            </a:r>
            <a:endParaRPr/>
          </a:p>
        </p:txBody>
      </p:sp>
      <p:sp>
        <p:nvSpPr>
          <p:cNvPr id="307" name="Google Shape;307;p30"/>
          <p:cNvSpPr/>
          <p:nvPr/>
        </p:nvSpPr>
        <p:spPr>
          <a:xfrm>
            <a:off x="1850366" y="4958556"/>
            <a:ext cx="1143000" cy="762000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0"/>
          <p:cNvSpPr txBox="1"/>
          <p:nvPr/>
        </p:nvSpPr>
        <p:spPr>
          <a:xfrm>
            <a:off x="1850366" y="5187156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-$ 75,000</a:t>
            </a:r>
            <a:endParaRPr/>
          </a:p>
        </p:txBody>
      </p:sp>
      <p:sp>
        <p:nvSpPr>
          <p:cNvPr id="309" name="Google Shape;309;p30"/>
          <p:cNvSpPr/>
          <p:nvPr/>
        </p:nvSpPr>
        <p:spPr>
          <a:xfrm>
            <a:off x="3145766" y="5034756"/>
            <a:ext cx="990600" cy="685800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0"/>
          <p:cNvSpPr/>
          <p:nvPr/>
        </p:nvSpPr>
        <p:spPr>
          <a:xfrm>
            <a:off x="4593566" y="5034756"/>
            <a:ext cx="1066800" cy="685800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0"/>
          <p:cNvSpPr/>
          <p:nvPr/>
        </p:nvSpPr>
        <p:spPr>
          <a:xfrm>
            <a:off x="6117566" y="5138679"/>
            <a:ext cx="990600" cy="609600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0"/>
          <p:cNvSpPr/>
          <p:nvPr/>
        </p:nvSpPr>
        <p:spPr>
          <a:xfrm>
            <a:off x="7336766" y="5187156"/>
            <a:ext cx="990600" cy="515936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0"/>
          <p:cNvSpPr/>
          <p:nvPr/>
        </p:nvSpPr>
        <p:spPr>
          <a:xfrm>
            <a:off x="8632166" y="4958556"/>
            <a:ext cx="1066800" cy="762000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0"/>
          <p:cNvSpPr txBox="1"/>
          <p:nvPr/>
        </p:nvSpPr>
        <p:spPr>
          <a:xfrm>
            <a:off x="3069566" y="5177631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$ 27,706</a:t>
            </a:r>
            <a:endParaRPr/>
          </a:p>
        </p:txBody>
      </p:sp>
      <p:sp>
        <p:nvSpPr>
          <p:cNvPr id="315" name="Google Shape;315;p30"/>
          <p:cNvSpPr txBox="1"/>
          <p:nvPr/>
        </p:nvSpPr>
        <p:spPr>
          <a:xfrm>
            <a:off x="4517366" y="5168106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$ 26,761</a:t>
            </a:r>
            <a:endParaRPr/>
          </a:p>
        </p:txBody>
      </p:sp>
      <p:sp>
        <p:nvSpPr>
          <p:cNvPr id="316" name="Google Shape;316;p30"/>
          <p:cNvSpPr txBox="1"/>
          <p:nvPr/>
        </p:nvSpPr>
        <p:spPr>
          <a:xfrm>
            <a:off x="6041366" y="5253831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$ 21,288</a:t>
            </a:r>
            <a:endParaRPr/>
          </a:p>
        </p:txBody>
      </p:sp>
      <p:sp>
        <p:nvSpPr>
          <p:cNvPr id="317" name="Google Shape;317;p30"/>
          <p:cNvSpPr txBox="1"/>
          <p:nvPr/>
        </p:nvSpPr>
        <p:spPr>
          <a:xfrm>
            <a:off x="7260566" y="5263356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$ 16,295</a:t>
            </a:r>
            <a:endParaRPr/>
          </a:p>
        </p:txBody>
      </p:sp>
      <p:sp>
        <p:nvSpPr>
          <p:cNvPr id="318" name="Google Shape;318;p30"/>
          <p:cNvSpPr txBox="1"/>
          <p:nvPr/>
        </p:nvSpPr>
        <p:spPr>
          <a:xfrm>
            <a:off x="8555966" y="5187156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$ 28,218</a:t>
            </a:r>
            <a:endParaRPr/>
          </a:p>
        </p:txBody>
      </p:sp>
      <p:cxnSp>
        <p:nvCxnSpPr>
          <p:cNvPr id="319" name="Google Shape;319;p30"/>
          <p:cNvCxnSpPr>
            <a:stCxn id="278" idx="4"/>
          </p:cNvCxnSpPr>
          <p:nvPr/>
        </p:nvCxnSpPr>
        <p:spPr>
          <a:xfrm flipH="1">
            <a:off x="2343373" y="2062956"/>
            <a:ext cx="1500" cy="846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miter lim="800000"/>
            <a:headEnd type="none" w="sm" len="sm"/>
            <a:tailEnd type="stealth" w="med" len="med"/>
          </a:ln>
        </p:spPr>
      </p:cxnSp>
      <p:cxnSp>
        <p:nvCxnSpPr>
          <p:cNvPr id="320" name="Google Shape;320;p30"/>
          <p:cNvCxnSpPr/>
          <p:nvPr/>
        </p:nvCxnSpPr>
        <p:spPr>
          <a:xfrm rot="5400000">
            <a:off x="3070360" y="2595562"/>
            <a:ext cx="1066800" cy="158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miter lim="800000"/>
            <a:headEnd type="none" w="sm" len="sm"/>
            <a:tailEnd type="stealth" w="med" len="med"/>
          </a:ln>
        </p:spPr>
      </p:cxnSp>
      <p:cxnSp>
        <p:nvCxnSpPr>
          <p:cNvPr id="321" name="Google Shape;321;p30"/>
          <p:cNvCxnSpPr>
            <a:stCxn id="280" idx="4"/>
          </p:cNvCxnSpPr>
          <p:nvPr/>
        </p:nvCxnSpPr>
        <p:spPr>
          <a:xfrm flipH="1">
            <a:off x="5162719" y="2005806"/>
            <a:ext cx="21000" cy="1013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miter lim="800000"/>
            <a:headEnd type="none" w="sm" len="sm"/>
            <a:tailEnd type="stealth" w="med" len="med"/>
          </a:ln>
        </p:spPr>
      </p:cxnSp>
      <p:cxnSp>
        <p:nvCxnSpPr>
          <p:cNvPr id="322" name="Google Shape;322;p30"/>
          <p:cNvCxnSpPr>
            <a:stCxn id="281" idx="4"/>
            <a:endCxn id="297" idx="0"/>
          </p:cNvCxnSpPr>
          <p:nvPr/>
        </p:nvCxnSpPr>
        <p:spPr>
          <a:xfrm>
            <a:off x="6655441" y="2026442"/>
            <a:ext cx="33600" cy="1027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miter lim="800000"/>
            <a:headEnd type="none" w="sm" len="sm"/>
            <a:tailEnd type="stealth" w="med" len="med"/>
          </a:ln>
        </p:spPr>
      </p:cxnSp>
      <p:cxnSp>
        <p:nvCxnSpPr>
          <p:cNvPr id="323" name="Google Shape;323;p30"/>
          <p:cNvCxnSpPr>
            <a:endCxn id="298" idx="0"/>
          </p:cNvCxnSpPr>
          <p:nvPr/>
        </p:nvCxnSpPr>
        <p:spPr>
          <a:xfrm>
            <a:off x="7908266" y="2157156"/>
            <a:ext cx="0" cy="972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miter lim="800000"/>
            <a:headEnd type="none" w="sm" len="sm"/>
            <a:tailEnd type="stealth" w="med" len="med"/>
          </a:ln>
        </p:spPr>
      </p:cxnSp>
      <p:cxnSp>
        <p:nvCxnSpPr>
          <p:cNvPr id="324" name="Google Shape;324;p30"/>
          <p:cNvCxnSpPr>
            <a:endCxn id="299" idx="0"/>
          </p:cNvCxnSpPr>
          <p:nvPr/>
        </p:nvCxnSpPr>
        <p:spPr>
          <a:xfrm flipH="1">
            <a:off x="9241766" y="2062956"/>
            <a:ext cx="1500" cy="838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miter lim="800000"/>
            <a:headEnd type="none" w="sm" len="sm"/>
            <a:tailEnd type="stealth" w="med" len="med"/>
          </a:ln>
        </p:spPr>
      </p:cxnSp>
      <p:cxnSp>
        <p:nvCxnSpPr>
          <p:cNvPr id="325" name="Google Shape;325;p30"/>
          <p:cNvCxnSpPr/>
          <p:nvPr/>
        </p:nvCxnSpPr>
        <p:spPr>
          <a:xfrm rot="5400000">
            <a:off x="1850367" y="4425157"/>
            <a:ext cx="1066800" cy="317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miter lim="800000"/>
            <a:headEnd type="none" w="sm" len="sm"/>
            <a:tailEnd type="stealth" w="med" len="med"/>
          </a:ln>
        </p:spPr>
      </p:cxnSp>
      <p:cxnSp>
        <p:nvCxnSpPr>
          <p:cNvPr id="326" name="Google Shape;326;p30"/>
          <p:cNvCxnSpPr/>
          <p:nvPr/>
        </p:nvCxnSpPr>
        <p:spPr>
          <a:xfrm rot="5400000">
            <a:off x="2936216" y="4329906"/>
            <a:ext cx="1371600" cy="38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miter lim="800000"/>
            <a:headEnd type="none" w="sm" len="sm"/>
            <a:tailEnd type="stealth" w="med" len="med"/>
          </a:ln>
        </p:spPr>
      </p:cxnSp>
      <p:cxnSp>
        <p:nvCxnSpPr>
          <p:cNvPr id="327" name="Google Shape;327;p30"/>
          <p:cNvCxnSpPr/>
          <p:nvPr/>
        </p:nvCxnSpPr>
        <p:spPr>
          <a:xfrm rot="5400000">
            <a:off x="4480060" y="4386262"/>
            <a:ext cx="1295400" cy="158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miter lim="800000"/>
            <a:headEnd type="none" w="sm" len="sm"/>
            <a:tailEnd type="stealth" w="med" len="med"/>
          </a:ln>
        </p:spPr>
      </p:cxnSp>
      <p:cxnSp>
        <p:nvCxnSpPr>
          <p:cNvPr id="328" name="Google Shape;328;p30"/>
          <p:cNvCxnSpPr/>
          <p:nvPr/>
        </p:nvCxnSpPr>
        <p:spPr>
          <a:xfrm rot="5400000">
            <a:off x="5965960" y="4424362"/>
            <a:ext cx="1371600" cy="158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miter lim="800000"/>
            <a:headEnd type="none" w="sm" len="sm"/>
            <a:tailEnd type="stealth" w="med" len="med"/>
          </a:ln>
        </p:spPr>
      </p:cxnSp>
      <p:cxnSp>
        <p:nvCxnSpPr>
          <p:cNvPr id="329" name="Google Shape;329;p30"/>
          <p:cNvCxnSpPr/>
          <p:nvPr/>
        </p:nvCxnSpPr>
        <p:spPr>
          <a:xfrm rot="5400000">
            <a:off x="7147060" y="4462462"/>
            <a:ext cx="1447800" cy="158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miter lim="800000"/>
            <a:headEnd type="none" w="sm" len="sm"/>
            <a:tailEnd type="stealth" w="med" len="med"/>
          </a:ln>
        </p:spPr>
      </p:cxnSp>
      <p:cxnSp>
        <p:nvCxnSpPr>
          <p:cNvPr id="330" name="Google Shape;330;p30"/>
          <p:cNvCxnSpPr>
            <a:stCxn id="299" idx="4"/>
          </p:cNvCxnSpPr>
          <p:nvPr/>
        </p:nvCxnSpPr>
        <p:spPr>
          <a:xfrm flipH="1">
            <a:off x="9240266" y="3663156"/>
            <a:ext cx="1500" cy="1295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miter lim="800000"/>
            <a:headEnd type="none" w="sm" len="sm"/>
            <a:tailEnd type="stealth" w="med" len="med"/>
          </a:ln>
        </p:spPr>
      </p:cxnSp>
      <p:sp>
        <p:nvSpPr>
          <p:cNvPr id="331" name="Google Shape;331;p30"/>
          <p:cNvSpPr txBox="1"/>
          <p:nvPr/>
        </p:nvSpPr>
        <p:spPr>
          <a:xfrm>
            <a:off x="431321" y="5949156"/>
            <a:ext cx="9652958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2B04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32B04"/>
                </a:solidFill>
                <a:latin typeface="Calibri"/>
                <a:ea typeface="Calibri"/>
                <a:cs typeface="Calibri"/>
                <a:sym typeface="Calibri"/>
              </a:rPr>
              <a:t>Figure : Converting actual dollar to constant dollar and then to equivalent present worth</a:t>
            </a:r>
            <a:endParaRPr/>
          </a:p>
        </p:txBody>
      </p:sp>
      <p:sp>
        <p:nvSpPr>
          <p:cNvPr id="332" name="Google Shape;332;p30"/>
          <p:cNvSpPr txBox="1"/>
          <p:nvPr/>
        </p:nvSpPr>
        <p:spPr>
          <a:xfrm>
            <a:off x="2001973" y="991782"/>
            <a:ext cx="838200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N = 0</a:t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319261" y="937014"/>
            <a:ext cx="685800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N = 1</a:t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4767854" y="973137"/>
            <a:ext cx="838200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N = 2</a:t>
            </a:r>
            <a:endParaRPr/>
          </a:p>
        </p:txBody>
      </p:sp>
      <p:sp>
        <p:nvSpPr>
          <p:cNvPr id="335" name="Google Shape;335;p30"/>
          <p:cNvSpPr txBox="1"/>
          <p:nvPr/>
        </p:nvSpPr>
        <p:spPr>
          <a:xfrm>
            <a:off x="6324278" y="973137"/>
            <a:ext cx="838200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N = 3</a:t>
            </a:r>
            <a:endParaRPr/>
          </a:p>
        </p:txBody>
      </p:sp>
      <p:sp>
        <p:nvSpPr>
          <p:cNvPr id="336" name="Google Shape;336;p30"/>
          <p:cNvSpPr txBox="1"/>
          <p:nvPr/>
        </p:nvSpPr>
        <p:spPr>
          <a:xfrm>
            <a:off x="7527266" y="941732"/>
            <a:ext cx="838200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N = 4</a:t>
            </a:r>
            <a:endParaRPr/>
          </a:p>
        </p:txBody>
      </p:sp>
      <p:sp>
        <p:nvSpPr>
          <p:cNvPr id="337" name="Google Shape;337;p30"/>
          <p:cNvSpPr txBox="1"/>
          <p:nvPr/>
        </p:nvSpPr>
        <p:spPr>
          <a:xfrm>
            <a:off x="8821079" y="904124"/>
            <a:ext cx="838200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N = 5</a:t>
            </a:r>
            <a:endParaRPr/>
          </a:p>
        </p:txBody>
      </p:sp>
      <p:sp>
        <p:nvSpPr>
          <p:cNvPr id="338" name="Google Shape;338;p30"/>
          <p:cNvSpPr txBox="1"/>
          <p:nvPr/>
        </p:nvSpPr>
        <p:spPr>
          <a:xfrm>
            <a:off x="4136366" y="2367756"/>
            <a:ext cx="2514600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5% deflation rate</a:t>
            </a:r>
            <a:endParaRPr/>
          </a:p>
        </p:txBody>
      </p:sp>
      <p:sp>
        <p:nvSpPr>
          <p:cNvPr id="339" name="Google Shape;339;p30"/>
          <p:cNvSpPr txBox="1"/>
          <p:nvPr/>
        </p:nvSpPr>
        <p:spPr>
          <a:xfrm>
            <a:off x="3741310" y="4080670"/>
            <a:ext cx="39293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10% inflation free interest rate</a:t>
            </a:r>
            <a:endParaRPr sz="1800" b="1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0"/>
          <p:cNvSpPr txBox="1">
            <a:spLocks noGrp="1"/>
          </p:cNvSpPr>
          <p:nvPr>
            <p:ph type="title"/>
          </p:nvPr>
        </p:nvSpPr>
        <p:spPr>
          <a:xfrm>
            <a:off x="824510" y="111391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Deflation Method Numerical (Cont’d….)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1"/>
          <p:cNvSpPr txBox="1">
            <a:spLocks noGrp="1"/>
          </p:cNvSpPr>
          <p:nvPr>
            <p:ph type="body" idx="1"/>
          </p:nvPr>
        </p:nvSpPr>
        <p:spPr>
          <a:xfrm>
            <a:off x="365248" y="1253705"/>
            <a:ext cx="10765766" cy="6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Adjusted – discount method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The </a:t>
            </a: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two-step process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shown in previous example can be streamlined by the efficiency of the adjusted-discount method, </a:t>
            </a: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performs deflation and discounting in one step.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Mathematically,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we can combine this two step procedure into one step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P</a:t>
            </a:r>
            <a:r>
              <a:rPr lang="en-US" sz="2400" b="1" baseline="-25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  =             A</a:t>
            </a:r>
            <a:r>
              <a:rPr lang="en-US" sz="2400" b="1" baseline="-25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(1+ f)</a:t>
            </a:r>
            <a:r>
              <a:rPr lang="en-US" sz="2400" b="1" baseline="30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(1+ i’)</a:t>
            </a:r>
            <a:r>
              <a:rPr lang="en-US" sz="2400" b="1" baseline="30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P</a:t>
            </a:r>
            <a:r>
              <a:rPr lang="en-US" sz="2400" b="1" baseline="-25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   =             A</a:t>
            </a:r>
            <a:r>
              <a:rPr lang="en-US" sz="2400" b="1" baseline="-25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(1+ f)</a:t>
            </a:r>
            <a:r>
              <a:rPr lang="en-US" sz="2400" b="1" baseline="30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 (1+ i’)</a:t>
            </a:r>
            <a:r>
              <a:rPr lang="en-US" sz="2400" b="1" baseline="30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baseline="300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</a:t>
            </a:r>
            <a:endParaRPr sz="2400"/>
          </a:p>
        </p:txBody>
      </p:sp>
      <p:cxnSp>
        <p:nvCxnSpPr>
          <p:cNvPr id="346" name="Google Shape;346;p31"/>
          <p:cNvCxnSpPr/>
          <p:nvPr/>
        </p:nvCxnSpPr>
        <p:spPr>
          <a:xfrm>
            <a:off x="4724400" y="4482931"/>
            <a:ext cx="914400" cy="158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7" name="Google Shape;347;p31"/>
          <p:cNvCxnSpPr/>
          <p:nvPr/>
        </p:nvCxnSpPr>
        <p:spPr>
          <a:xfrm>
            <a:off x="4652576" y="4919073"/>
            <a:ext cx="1066800" cy="158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8" name="Google Shape;348;p31"/>
          <p:cNvCxnSpPr/>
          <p:nvPr/>
        </p:nvCxnSpPr>
        <p:spPr>
          <a:xfrm>
            <a:off x="4243746" y="5796237"/>
            <a:ext cx="1676400" cy="158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9" name="Google Shape;349;p31"/>
          <p:cNvSpPr txBox="1">
            <a:spLocks noGrp="1"/>
          </p:cNvSpPr>
          <p:nvPr>
            <p:ph type="title"/>
          </p:nvPr>
        </p:nvSpPr>
        <p:spPr>
          <a:xfrm>
            <a:off x="824510" y="111391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 Dollar Analysis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2"/>
          <p:cNvSpPr txBox="1">
            <a:spLocks noGrp="1"/>
          </p:cNvSpPr>
          <p:nvPr>
            <p:ph type="title"/>
          </p:nvPr>
        </p:nvSpPr>
        <p:spPr>
          <a:xfrm>
            <a:off x="838200" y="32199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Adjusted – discount method (Cont’d…)</a:t>
            </a:r>
            <a:endParaRPr/>
          </a:p>
        </p:txBody>
      </p:sp>
      <p:sp>
        <p:nvSpPr>
          <p:cNvPr id="355" name="Google Shape;355;p32"/>
          <p:cNvSpPr txBox="1">
            <a:spLocks noGrp="1"/>
          </p:cNvSpPr>
          <p:nvPr>
            <p:ph type="body" idx="1"/>
          </p:nvPr>
        </p:nvSpPr>
        <p:spPr>
          <a:xfrm>
            <a:off x="577970" y="1825624"/>
            <a:ext cx="10775830" cy="4704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b="1" baseline="-25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=              A</a:t>
            </a:r>
            <a:r>
              <a:rPr lang="en-US" b="1" baseline="-25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      {(1+ f) (1+ i’)}</a:t>
            </a:r>
            <a:r>
              <a:rPr lang="en-US" b="1" baseline="30000">
                <a:latin typeface="Times New Roman"/>
                <a:ea typeface="Times New Roman"/>
                <a:cs typeface="Times New Roman"/>
                <a:sym typeface="Times New Roman"/>
              </a:rPr>
              <a:t>n      ………………….. 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(1)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baseline="300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Since the market interest rate (i) reflects both the earning power and the purchasing power, we have following relation relationship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The equivalent present worth values in equation (1) and (2) must  be equal at year 0.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6" name="Google Shape;356;p32"/>
          <p:cNvCxnSpPr/>
          <p:nvPr/>
        </p:nvCxnSpPr>
        <p:spPr>
          <a:xfrm rot="10800000" flipH="1">
            <a:off x="1708030" y="2320506"/>
            <a:ext cx="2268747" cy="17252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7" name="Google Shape;357;p32"/>
          <p:cNvSpPr/>
          <p:nvPr/>
        </p:nvSpPr>
        <p:spPr>
          <a:xfrm>
            <a:off x="2504535" y="4348039"/>
            <a:ext cx="7873042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8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 </a:t>
            </a: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=         A</a:t>
            </a:r>
            <a:r>
              <a:rPr lang="en-US" sz="2800" b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       ………… </a:t>
            </a: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(1+i)</a:t>
            </a:r>
            <a:r>
              <a:rPr lang="en-US" sz="2800" b="1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</p:txBody>
      </p:sp>
      <p:cxnSp>
        <p:nvCxnSpPr>
          <p:cNvPr id="358" name="Google Shape;358;p32"/>
          <p:cNvCxnSpPr/>
          <p:nvPr/>
        </p:nvCxnSpPr>
        <p:spPr>
          <a:xfrm>
            <a:off x="4068793" y="4859596"/>
            <a:ext cx="914400" cy="158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Adjusted – discount method (Cont’d…)</a:t>
            </a:r>
            <a:endParaRPr sz="3200"/>
          </a:p>
        </p:txBody>
      </p:sp>
      <p:sp>
        <p:nvSpPr>
          <p:cNvPr id="364" name="Google Shape;364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Therefore,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                 A</a:t>
            </a:r>
            <a:r>
              <a:rPr lang="en-US" b="1" baseline="-250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=           A</a:t>
            </a:r>
            <a:r>
              <a:rPr lang="en-US" b="1" baseline="-25000">
                <a:latin typeface="Times New Roman"/>
                <a:ea typeface="Times New Roman"/>
                <a:cs typeface="Times New Roman"/>
                <a:sym typeface="Times New Roman"/>
              </a:rPr>
              <a:t>n 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       {(1+ f) (1+ i’)}</a:t>
            </a:r>
            <a:r>
              <a:rPr lang="en-US" b="1" baseline="30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(1+i)</a:t>
            </a:r>
            <a:r>
              <a:rPr lang="en-US" b="1" baseline="30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baseline="30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 This leads to the following relationship among</a:t>
            </a:r>
            <a:r>
              <a:rPr lang="en-US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f, i’, i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                (1+i)     = (1+ f) (1+ i’)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Simplifying the term yields , 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cxnSp>
        <p:nvCxnSpPr>
          <p:cNvPr id="365" name="Google Shape;365;p33"/>
          <p:cNvCxnSpPr/>
          <p:nvPr/>
        </p:nvCxnSpPr>
        <p:spPr>
          <a:xfrm rot="10800000" flipH="1">
            <a:off x="2035834" y="2846717"/>
            <a:ext cx="2268747" cy="17252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6" name="Google Shape;366;p33"/>
          <p:cNvCxnSpPr/>
          <p:nvPr/>
        </p:nvCxnSpPr>
        <p:spPr>
          <a:xfrm>
            <a:off x="6914790" y="2863969"/>
            <a:ext cx="914400" cy="158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7" name="Google Shape;367;p33"/>
          <p:cNvSpPr/>
          <p:nvPr/>
        </p:nvSpPr>
        <p:spPr>
          <a:xfrm>
            <a:off x="3379679" y="5392352"/>
            <a:ext cx="2917604" cy="70788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= i’ + f + i’*f</a:t>
            </a:r>
            <a:endParaRPr sz="4000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4"/>
          <p:cNvSpPr txBox="1">
            <a:spLocks noGrp="1"/>
          </p:cNvSpPr>
          <p:nvPr>
            <p:ph type="body" idx="1"/>
          </p:nvPr>
        </p:nvSpPr>
        <p:spPr>
          <a:xfrm>
            <a:off x="758035" y="1503183"/>
            <a:ext cx="10232017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/>
              <a:t>    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Consider the cash flows in actual dollar as in previous example as follows. Compute the equivalent present worth of these flows using the adjusted discount method. f = 5%, and i’ = 10%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b="1"/>
          </a:p>
        </p:txBody>
      </p:sp>
      <p:graphicFrame>
        <p:nvGraphicFramePr>
          <p:cNvPr id="373" name="Google Shape;373;p34"/>
          <p:cNvGraphicFramePr/>
          <p:nvPr/>
        </p:nvGraphicFramePr>
        <p:xfrm>
          <a:off x="2614523" y="307737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{F26B745D-9D32-4ED3-9A86-F70C113E7BCE}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Period</a:t>
                      </a:r>
                      <a:endParaRPr sz="2400" b="1" u="none" strike="noStrike" cap="none">
                        <a:solidFill>
                          <a:schemeClr val="accent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 cash flow in Actual $</a:t>
                      </a:r>
                      <a:endParaRPr sz="2400" b="1" u="none" strike="noStrike" cap="none">
                        <a:solidFill>
                          <a:schemeClr val="accent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$ 75,000</a:t>
                      </a:r>
                      <a:endParaRPr sz="2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$ 32,000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$ 35,700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$ 32,800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$ 29,000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$ 58,000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74" name="Google Shape;374;p34"/>
          <p:cNvSpPr txBox="1">
            <a:spLocks noGrp="1"/>
          </p:cNvSpPr>
          <p:nvPr>
            <p:ph type="title"/>
          </p:nvPr>
        </p:nvSpPr>
        <p:spPr>
          <a:xfrm>
            <a:off x="841763" y="361557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Adjusted Discount Method Numerical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5"/>
          <p:cNvSpPr txBox="1">
            <a:spLocks noGrp="1"/>
          </p:cNvSpPr>
          <p:nvPr>
            <p:ph type="body" idx="1"/>
          </p:nvPr>
        </p:nvSpPr>
        <p:spPr>
          <a:xfrm>
            <a:off x="484517" y="88534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First, determine the market interest rate (i)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          i = i’ + f + i’ * f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          i = 0.10 + 0.05 + (0.10) (0.05)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              i = 15.5 %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80" name="Google Shape;380;p35"/>
          <p:cNvSpPr txBox="1">
            <a:spLocks noGrp="1"/>
          </p:cNvSpPr>
          <p:nvPr>
            <p:ph type="title"/>
          </p:nvPr>
        </p:nvSpPr>
        <p:spPr>
          <a:xfrm>
            <a:off x="484517" y="1"/>
            <a:ext cx="10515600" cy="107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Adjusted Discount Method Numerical (Cont’d….)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81" name="Google Shape;381;p35"/>
          <p:cNvGraphicFramePr/>
          <p:nvPr/>
        </p:nvGraphicFramePr>
        <p:xfrm>
          <a:off x="484517" y="297898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{24D5695F-A10C-4C2E-97CD-C4870BD3DC1F}</a:tableStyleId>
              </a:tblPr>
              <a:tblGrid>
                <a:gridCol w="114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Period</a:t>
                      </a:r>
                      <a:endParaRPr/>
                    </a:p>
                  </a:txBody>
                  <a:tcPr marL="91450" marR="91450" marT="45700" marB="457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Cash flow in actual  dollar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Multiplied by (1+0.155)</a:t>
                      </a:r>
                      <a:r>
                        <a:rPr lang="en-US" sz="1800" b="1" u="none" strike="noStrike" cap="none" baseline="30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-n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Equivalent Present worth</a:t>
                      </a:r>
                      <a:endParaRPr/>
                    </a:p>
                  </a:txBody>
                  <a:tcPr marL="91450" marR="91450" marT="45700" marB="4570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- $ 75,000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- $ 75,000  </a:t>
                      </a:r>
                      <a:endParaRPr/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$ 32,000</a:t>
                      </a:r>
                      <a:endParaRPr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(1+ 0.155) </a:t>
                      </a:r>
                      <a:r>
                        <a:rPr lang="en-US" sz="1800" b="1" u="none" strike="noStrike" cap="none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</a:t>
                      </a:r>
                      <a:endParaRPr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$ 27,706 </a:t>
                      </a:r>
                      <a:endParaRPr/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$ 35,700</a:t>
                      </a:r>
                      <a:endParaRPr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(1+0.155) </a:t>
                      </a:r>
                      <a:r>
                        <a:rPr lang="en-US" sz="1800" b="1" u="none" strike="noStrike" cap="none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</a:t>
                      </a:r>
                      <a:endParaRPr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$ 26,761</a:t>
                      </a:r>
                      <a:endParaRPr/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$ 32,800</a:t>
                      </a:r>
                      <a:endParaRPr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(1+0.155) </a:t>
                      </a:r>
                      <a:r>
                        <a:rPr lang="en-US" sz="1800" b="1" u="none" strike="noStrike" cap="none" baseline="30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</a:t>
                      </a:r>
                      <a:endParaRPr sz="1800" b="1" u="none" strike="noStrike" cap="none" baseline="30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$ 21,288</a:t>
                      </a:r>
                      <a:endParaRPr/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$ 29,000</a:t>
                      </a:r>
                      <a:endParaRPr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(1+0.155) </a:t>
                      </a:r>
                      <a:r>
                        <a:rPr lang="en-US" sz="1800" b="1" u="none" strike="noStrike" cap="none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-4</a:t>
                      </a:r>
                      <a:endParaRPr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$ 16,295</a:t>
                      </a:r>
                      <a:endParaRPr/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$ 58,000</a:t>
                      </a:r>
                      <a:endParaRPr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(1+ 0.155)</a:t>
                      </a:r>
                      <a:r>
                        <a:rPr lang="en-US" sz="1800" b="1" u="none" strike="noStrike" cap="none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-5</a:t>
                      </a:r>
                      <a:endParaRPr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$ 28,218</a:t>
                      </a:r>
                      <a:endParaRPr/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 Present worth</a:t>
                      </a:r>
                      <a:endParaRPr/>
                    </a:p>
                  </a:txBody>
                  <a:tcPr marL="91450" marR="91450" marT="45700" marB="4570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$ 45,268</a:t>
                      </a:r>
                      <a:endParaRPr/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82" name="Google Shape;382;p35"/>
          <p:cNvSpPr txBox="1"/>
          <p:nvPr/>
        </p:nvSpPr>
        <p:spPr>
          <a:xfrm>
            <a:off x="7194430" y="2905664"/>
            <a:ext cx="4589253" cy="310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None/>
            </a:pPr>
            <a:r>
              <a:rPr lang="en-US" sz="2800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equivalent present worth that  is obtained using adjusted – discount method (i =15.5%) is exactly same as the result obtained using the deflation method (f=5% and i’=10%)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6"/>
          <p:cNvSpPr/>
          <p:nvPr/>
        </p:nvSpPr>
        <p:spPr>
          <a:xfrm>
            <a:off x="1781998" y="1450676"/>
            <a:ext cx="1181893" cy="8382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6"/>
          <p:cNvSpPr/>
          <p:nvPr/>
        </p:nvSpPr>
        <p:spPr>
          <a:xfrm>
            <a:off x="3154392" y="1489758"/>
            <a:ext cx="990600" cy="722918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6"/>
          <p:cNvSpPr/>
          <p:nvPr/>
        </p:nvSpPr>
        <p:spPr>
          <a:xfrm>
            <a:off x="4602192" y="1526876"/>
            <a:ext cx="1066800" cy="7620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6"/>
          <p:cNvSpPr/>
          <p:nvPr/>
        </p:nvSpPr>
        <p:spPr>
          <a:xfrm>
            <a:off x="6126192" y="1523985"/>
            <a:ext cx="990600" cy="764891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6"/>
          <p:cNvSpPr/>
          <p:nvPr/>
        </p:nvSpPr>
        <p:spPr>
          <a:xfrm>
            <a:off x="7345392" y="1552060"/>
            <a:ext cx="990600" cy="736816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6"/>
          <p:cNvSpPr/>
          <p:nvPr/>
        </p:nvSpPr>
        <p:spPr>
          <a:xfrm>
            <a:off x="8640792" y="1450676"/>
            <a:ext cx="1066800" cy="7620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6"/>
          <p:cNvSpPr txBox="1"/>
          <p:nvPr/>
        </p:nvSpPr>
        <p:spPr>
          <a:xfrm>
            <a:off x="1782792" y="1679276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-$ 75,000</a:t>
            </a:r>
            <a:endParaRPr/>
          </a:p>
        </p:txBody>
      </p:sp>
      <p:sp>
        <p:nvSpPr>
          <p:cNvPr id="394" name="Google Shape;394;p36"/>
          <p:cNvSpPr txBox="1"/>
          <p:nvPr/>
        </p:nvSpPr>
        <p:spPr>
          <a:xfrm>
            <a:off x="3078192" y="1661814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$ 32,000</a:t>
            </a:r>
            <a:endParaRPr/>
          </a:p>
        </p:txBody>
      </p:sp>
      <p:sp>
        <p:nvSpPr>
          <p:cNvPr id="395" name="Google Shape;395;p36"/>
          <p:cNvSpPr txBox="1"/>
          <p:nvPr/>
        </p:nvSpPr>
        <p:spPr>
          <a:xfrm>
            <a:off x="4525992" y="1755476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$ 35,700</a:t>
            </a:r>
            <a:endParaRPr/>
          </a:p>
        </p:txBody>
      </p:sp>
      <p:sp>
        <p:nvSpPr>
          <p:cNvPr id="396" name="Google Shape;396;p36"/>
          <p:cNvSpPr txBox="1"/>
          <p:nvPr/>
        </p:nvSpPr>
        <p:spPr>
          <a:xfrm>
            <a:off x="6049992" y="1688801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$ 32,800</a:t>
            </a:r>
            <a:endParaRPr/>
          </a:p>
        </p:txBody>
      </p:sp>
      <p:sp>
        <p:nvSpPr>
          <p:cNvPr id="397" name="Google Shape;397;p36"/>
          <p:cNvSpPr txBox="1"/>
          <p:nvPr/>
        </p:nvSpPr>
        <p:spPr>
          <a:xfrm>
            <a:off x="7252838" y="1679276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$ 29,000</a:t>
            </a:r>
            <a:endParaRPr/>
          </a:p>
        </p:txBody>
      </p:sp>
      <p:sp>
        <p:nvSpPr>
          <p:cNvPr id="398" name="Google Shape;398;p36"/>
          <p:cNvSpPr txBox="1"/>
          <p:nvPr/>
        </p:nvSpPr>
        <p:spPr>
          <a:xfrm>
            <a:off x="8564592" y="1679276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$ 58,000</a:t>
            </a:r>
            <a:endParaRPr/>
          </a:p>
        </p:txBody>
      </p:sp>
      <p:sp>
        <p:nvSpPr>
          <p:cNvPr id="399" name="Google Shape;399;p36"/>
          <p:cNvSpPr txBox="1"/>
          <p:nvPr/>
        </p:nvSpPr>
        <p:spPr>
          <a:xfrm>
            <a:off x="2011392" y="1142399"/>
            <a:ext cx="838200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N = 0</a:t>
            </a:r>
            <a:endParaRPr/>
          </a:p>
        </p:txBody>
      </p:sp>
      <p:sp>
        <p:nvSpPr>
          <p:cNvPr id="400" name="Google Shape;400;p36"/>
          <p:cNvSpPr txBox="1"/>
          <p:nvPr/>
        </p:nvSpPr>
        <p:spPr>
          <a:xfrm>
            <a:off x="3344891" y="1141504"/>
            <a:ext cx="685800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N = 1</a:t>
            </a:r>
            <a:endParaRPr/>
          </a:p>
        </p:txBody>
      </p:sp>
      <p:sp>
        <p:nvSpPr>
          <p:cNvPr id="401" name="Google Shape;401;p36"/>
          <p:cNvSpPr txBox="1"/>
          <p:nvPr/>
        </p:nvSpPr>
        <p:spPr>
          <a:xfrm>
            <a:off x="4754592" y="1141504"/>
            <a:ext cx="838200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N = 2</a:t>
            </a:r>
            <a:endParaRPr/>
          </a:p>
        </p:txBody>
      </p:sp>
      <p:sp>
        <p:nvSpPr>
          <p:cNvPr id="402" name="Google Shape;402;p36"/>
          <p:cNvSpPr txBox="1"/>
          <p:nvPr/>
        </p:nvSpPr>
        <p:spPr>
          <a:xfrm>
            <a:off x="6240492" y="1154097"/>
            <a:ext cx="838200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N = 3</a:t>
            </a:r>
            <a:endParaRPr/>
          </a:p>
        </p:txBody>
      </p:sp>
      <p:sp>
        <p:nvSpPr>
          <p:cNvPr id="403" name="Google Shape;403;p36"/>
          <p:cNvSpPr txBox="1"/>
          <p:nvPr/>
        </p:nvSpPr>
        <p:spPr>
          <a:xfrm>
            <a:off x="7465084" y="1141504"/>
            <a:ext cx="838200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N = 4</a:t>
            </a:r>
            <a:endParaRPr/>
          </a:p>
        </p:txBody>
      </p:sp>
      <p:sp>
        <p:nvSpPr>
          <p:cNvPr id="404" name="Google Shape;404;p36"/>
          <p:cNvSpPr txBox="1"/>
          <p:nvPr/>
        </p:nvSpPr>
        <p:spPr>
          <a:xfrm>
            <a:off x="8831292" y="1141504"/>
            <a:ext cx="838200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N = 5</a:t>
            </a:r>
            <a:endParaRPr/>
          </a:p>
        </p:txBody>
      </p:sp>
      <p:sp>
        <p:nvSpPr>
          <p:cNvPr id="405" name="Google Shape;405;p36"/>
          <p:cNvSpPr txBox="1"/>
          <p:nvPr/>
        </p:nvSpPr>
        <p:spPr>
          <a:xfrm>
            <a:off x="3535392" y="3203277"/>
            <a:ext cx="3048000" cy="461665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 = i’ + f + i’ f  = 15.5%</a:t>
            </a:r>
            <a:endParaRPr/>
          </a:p>
        </p:txBody>
      </p:sp>
      <p:sp>
        <p:nvSpPr>
          <p:cNvPr id="406" name="Google Shape;406;p36"/>
          <p:cNvSpPr txBox="1"/>
          <p:nvPr/>
        </p:nvSpPr>
        <p:spPr>
          <a:xfrm>
            <a:off x="868392" y="1603077"/>
            <a:ext cx="9144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Actual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dollars</a:t>
            </a:r>
            <a:endParaRPr/>
          </a:p>
        </p:txBody>
      </p:sp>
      <p:sp>
        <p:nvSpPr>
          <p:cNvPr id="407" name="Google Shape;407;p36"/>
          <p:cNvSpPr/>
          <p:nvPr/>
        </p:nvSpPr>
        <p:spPr>
          <a:xfrm>
            <a:off x="1096992" y="2441276"/>
            <a:ext cx="381000" cy="2057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6"/>
          <p:cNvSpPr/>
          <p:nvPr/>
        </p:nvSpPr>
        <p:spPr>
          <a:xfrm>
            <a:off x="1706592" y="4955876"/>
            <a:ext cx="1143000" cy="990600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6"/>
          <p:cNvSpPr txBox="1"/>
          <p:nvPr/>
        </p:nvSpPr>
        <p:spPr>
          <a:xfrm>
            <a:off x="1630392" y="5184476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-$ 75,000</a:t>
            </a:r>
            <a:endParaRPr/>
          </a:p>
        </p:txBody>
      </p:sp>
      <p:sp>
        <p:nvSpPr>
          <p:cNvPr id="410" name="Google Shape;410;p36"/>
          <p:cNvSpPr/>
          <p:nvPr/>
        </p:nvSpPr>
        <p:spPr>
          <a:xfrm>
            <a:off x="3082865" y="5058082"/>
            <a:ext cx="990600" cy="838200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6"/>
          <p:cNvSpPr/>
          <p:nvPr/>
        </p:nvSpPr>
        <p:spPr>
          <a:xfrm>
            <a:off x="4556544" y="5032076"/>
            <a:ext cx="1066800" cy="762000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6"/>
          <p:cNvSpPr/>
          <p:nvPr/>
        </p:nvSpPr>
        <p:spPr>
          <a:xfrm>
            <a:off x="6088092" y="5108276"/>
            <a:ext cx="990600" cy="685800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6"/>
          <p:cNvSpPr/>
          <p:nvPr/>
        </p:nvSpPr>
        <p:spPr>
          <a:xfrm>
            <a:off x="7383492" y="5236489"/>
            <a:ext cx="990600" cy="457200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6"/>
          <p:cNvSpPr/>
          <p:nvPr/>
        </p:nvSpPr>
        <p:spPr>
          <a:xfrm>
            <a:off x="8716992" y="5032076"/>
            <a:ext cx="1066800" cy="762000"/>
          </a:xfrm>
          <a:prstGeom prst="ellipse">
            <a:avLst/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6"/>
          <p:cNvSpPr txBox="1"/>
          <p:nvPr/>
        </p:nvSpPr>
        <p:spPr>
          <a:xfrm>
            <a:off x="3010469" y="5260676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$ 27,706</a:t>
            </a:r>
            <a:endParaRPr/>
          </a:p>
        </p:txBody>
      </p:sp>
      <p:sp>
        <p:nvSpPr>
          <p:cNvPr id="416" name="Google Shape;416;p36"/>
          <p:cNvSpPr txBox="1"/>
          <p:nvPr/>
        </p:nvSpPr>
        <p:spPr>
          <a:xfrm>
            <a:off x="4514640" y="5234279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$ 26,761</a:t>
            </a:r>
            <a:endParaRPr/>
          </a:p>
        </p:txBody>
      </p:sp>
      <p:sp>
        <p:nvSpPr>
          <p:cNvPr id="417" name="Google Shape;417;p36"/>
          <p:cNvSpPr txBox="1"/>
          <p:nvPr/>
        </p:nvSpPr>
        <p:spPr>
          <a:xfrm>
            <a:off x="5950219" y="5260676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$ 21,288</a:t>
            </a:r>
            <a:endParaRPr/>
          </a:p>
        </p:txBody>
      </p:sp>
      <p:sp>
        <p:nvSpPr>
          <p:cNvPr id="418" name="Google Shape;418;p36"/>
          <p:cNvSpPr txBox="1"/>
          <p:nvPr/>
        </p:nvSpPr>
        <p:spPr>
          <a:xfrm>
            <a:off x="7281413" y="5277157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$ 16,295</a:t>
            </a:r>
            <a:endParaRPr/>
          </a:p>
        </p:txBody>
      </p:sp>
      <p:sp>
        <p:nvSpPr>
          <p:cNvPr id="419" name="Google Shape;419;p36"/>
          <p:cNvSpPr txBox="1"/>
          <p:nvPr/>
        </p:nvSpPr>
        <p:spPr>
          <a:xfrm>
            <a:off x="8640792" y="5241626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$ 28,218</a:t>
            </a:r>
            <a:endParaRPr/>
          </a:p>
        </p:txBody>
      </p:sp>
      <p:cxnSp>
        <p:nvCxnSpPr>
          <p:cNvPr id="420" name="Google Shape;420;p36"/>
          <p:cNvCxnSpPr>
            <a:stCxn id="387" idx="4"/>
          </p:cNvCxnSpPr>
          <p:nvPr/>
        </p:nvCxnSpPr>
        <p:spPr>
          <a:xfrm flipH="1">
            <a:off x="2315345" y="2288876"/>
            <a:ext cx="57600" cy="2667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miter lim="800000"/>
            <a:headEnd type="none" w="sm" len="sm"/>
            <a:tailEnd type="stealth" w="med" len="med"/>
          </a:ln>
        </p:spPr>
      </p:cxnSp>
      <p:cxnSp>
        <p:nvCxnSpPr>
          <p:cNvPr id="421" name="Google Shape;421;p36"/>
          <p:cNvCxnSpPr/>
          <p:nvPr/>
        </p:nvCxnSpPr>
        <p:spPr>
          <a:xfrm rot="5400000">
            <a:off x="2811492" y="4384376"/>
            <a:ext cx="1449388" cy="158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miter lim="800000"/>
            <a:headEnd type="none" w="sm" len="sm"/>
            <a:tailEnd type="stealth" w="med" len="med"/>
          </a:ln>
        </p:spPr>
      </p:cxnSp>
      <p:cxnSp>
        <p:nvCxnSpPr>
          <p:cNvPr id="422" name="Google Shape;422;p36"/>
          <p:cNvCxnSpPr/>
          <p:nvPr/>
        </p:nvCxnSpPr>
        <p:spPr>
          <a:xfrm rot="5400000">
            <a:off x="3040886" y="2707182"/>
            <a:ext cx="990600" cy="158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423" name="Google Shape;423;p36"/>
          <p:cNvCxnSpPr>
            <a:endCxn id="405" idx="0"/>
          </p:cNvCxnSpPr>
          <p:nvPr/>
        </p:nvCxnSpPr>
        <p:spPr>
          <a:xfrm>
            <a:off x="5059392" y="2288877"/>
            <a:ext cx="0" cy="914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424" name="Google Shape;424;p36"/>
          <p:cNvCxnSpPr>
            <a:stCxn id="405" idx="2"/>
          </p:cNvCxnSpPr>
          <p:nvPr/>
        </p:nvCxnSpPr>
        <p:spPr>
          <a:xfrm>
            <a:off x="5059392" y="3664942"/>
            <a:ext cx="0" cy="1367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miter lim="800000"/>
            <a:headEnd type="none" w="sm" len="sm"/>
            <a:tailEnd type="stealth" w="med" len="med"/>
          </a:ln>
        </p:spPr>
      </p:cxnSp>
      <p:cxnSp>
        <p:nvCxnSpPr>
          <p:cNvPr id="425" name="Google Shape;425;p36"/>
          <p:cNvCxnSpPr>
            <a:stCxn id="390" idx="4"/>
          </p:cNvCxnSpPr>
          <p:nvPr/>
        </p:nvCxnSpPr>
        <p:spPr>
          <a:xfrm flipH="1">
            <a:off x="6583392" y="2288876"/>
            <a:ext cx="38100" cy="2819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miter lim="800000"/>
            <a:headEnd type="none" w="sm" len="sm"/>
            <a:tailEnd type="stealth" w="med" len="med"/>
          </a:ln>
        </p:spPr>
      </p:cxnSp>
      <p:cxnSp>
        <p:nvCxnSpPr>
          <p:cNvPr id="426" name="Google Shape;426;p36"/>
          <p:cNvCxnSpPr>
            <a:stCxn id="391" idx="4"/>
          </p:cNvCxnSpPr>
          <p:nvPr/>
        </p:nvCxnSpPr>
        <p:spPr>
          <a:xfrm flipH="1">
            <a:off x="7802592" y="2288876"/>
            <a:ext cx="38100" cy="2971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miter lim="800000"/>
            <a:headEnd type="none" w="sm" len="sm"/>
            <a:tailEnd type="stealth" w="med" len="med"/>
          </a:ln>
        </p:spPr>
      </p:cxnSp>
      <p:cxnSp>
        <p:nvCxnSpPr>
          <p:cNvPr id="427" name="Google Shape;427;p36"/>
          <p:cNvCxnSpPr>
            <a:stCxn id="392" idx="4"/>
          </p:cNvCxnSpPr>
          <p:nvPr/>
        </p:nvCxnSpPr>
        <p:spPr>
          <a:xfrm flipH="1">
            <a:off x="9170892" y="2212676"/>
            <a:ext cx="3300" cy="2819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miter lim="800000"/>
            <a:headEnd type="none" w="sm" len="sm"/>
            <a:tailEnd type="stealth" w="med" len="med"/>
          </a:ln>
        </p:spPr>
      </p:cxnSp>
      <p:sp>
        <p:nvSpPr>
          <p:cNvPr id="428" name="Google Shape;428;p36"/>
          <p:cNvSpPr txBox="1"/>
          <p:nvPr/>
        </p:nvSpPr>
        <p:spPr>
          <a:xfrm>
            <a:off x="868392" y="4803477"/>
            <a:ext cx="1066800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2B04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32B04"/>
                </a:solidFill>
                <a:latin typeface="Calibri"/>
                <a:ea typeface="Calibri"/>
                <a:cs typeface="Calibri"/>
                <a:sym typeface="Calibri"/>
              </a:rPr>
              <a:t>Present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2B04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32B04"/>
                </a:solidFill>
                <a:latin typeface="Calibri"/>
                <a:ea typeface="Calibri"/>
                <a:cs typeface="Calibri"/>
                <a:sym typeface="Calibri"/>
              </a:rPr>
              <a:t>worth</a:t>
            </a:r>
            <a:endParaRPr/>
          </a:p>
        </p:txBody>
      </p:sp>
      <p:sp>
        <p:nvSpPr>
          <p:cNvPr id="429" name="Google Shape;429;p36"/>
          <p:cNvSpPr txBox="1">
            <a:spLocks noGrp="1"/>
          </p:cNvSpPr>
          <p:nvPr>
            <p:ph type="title"/>
          </p:nvPr>
        </p:nvSpPr>
        <p:spPr>
          <a:xfrm>
            <a:off x="484517" y="1"/>
            <a:ext cx="10515600" cy="107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Adjusted Discount Method Numerical (Cont’d….)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7"/>
          <p:cNvSpPr txBox="1">
            <a:spLocks noGrp="1"/>
          </p:cNvSpPr>
          <p:nvPr>
            <p:ph type="title"/>
          </p:nvPr>
        </p:nvSpPr>
        <p:spPr>
          <a:xfrm>
            <a:off x="914400" y="533400"/>
            <a:ext cx="88420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Case3: Some of the cash flow elements are estimated  in constant dollars and others are estimated in actual dollars.</a:t>
            </a:r>
            <a:br>
              <a:rPr lang="en-US"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37"/>
          <p:cNvSpPr txBox="1">
            <a:spLocks noGrp="1"/>
          </p:cNvSpPr>
          <p:nvPr>
            <p:ph type="body" idx="1"/>
          </p:nvPr>
        </p:nvSpPr>
        <p:spPr>
          <a:xfrm>
            <a:off x="1144437" y="1795733"/>
            <a:ext cx="9483305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2B04"/>
              </a:buClr>
              <a:buSzPts val="2800"/>
              <a:buFont typeface="Arial"/>
              <a:buNone/>
            </a:pPr>
            <a:r>
              <a:rPr lang="en-US" b="1">
                <a:solidFill>
                  <a:srgbClr val="032B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Mixed Dollar Analysis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Convert all cash flow elements into the same dollar units (either constant or actual)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If the cash flow is </a:t>
            </a: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converted into actual dollars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, the </a:t>
            </a: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interest rate is (i) should be used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in calculating the equivalence value.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If the cash flow is </a:t>
            </a: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converted in terms of constant dollars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, the </a:t>
            </a:r>
            <a:r>
              <a:rPr lang="en-US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inflation free interest rate (i’) should be used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8"/>
          <p:cNvSpPr txBox="1">
            <a:spLocks noGrp="1"/>
          </p:cNvSpPr>
          <p:nvPr>
            <p:ph type="title"/>
          </p:nvPr>
        </p:nvSpPr>
        <p:spPr>
          <a:xfrm>
            <a:off x="708804" y="89079"/>
            <a:ext cx="909080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of Inflation in engineering economic analysis</a:t>
            </a:r>
            <a:endParaRPr/>
          </a:p>
        </p:txBody>
      </p:sp>
      <p:sp>
        <p:nvSpPr>
          <p:cNvPr id="441" name="Google Shape;441;p38"/>
          <p:cNvSpPr txBox="1">
            <a:spLocks noGrp="1"/>
          </p:cNvSpPr>
          <p:nvPr>
            <p:ph type="body" idx="1"/>
          </p:nvPr>
        </p:nvSpPr>
        <p:spPr>
          <a:xfrm>
            <a:off x="510397" y="1414641"/>
            <a:ext cx="10515600" cy="508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The purchasing power of money never remains stationary or still, which indicates the importance of inflation in the economic world.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When inflation is modest, 2 to 4 percent per year, it is generally ignored in economic evaluations of proposals.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It is argued that all proposals are affected similarly by price changes and that there are too little differences between current and future costs to influence the order of preference.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When inflation is high and some goods and services escalate much more rapidly than others and there is a chance of project being suffered and cannot generate the income as expected. 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9"/>
          <p:cNvSpPr txBox="1">
            <a:spLocks noGrp="1"/>
          </p:cNvSpPr>
          <p:nvPr>
            <p:ph type="body" idx="1"/>
          </p:nvPr>
        </p:nvSpPr>
        <p:spPr>
          <a:xfrm>
            <a:off x="519023" y="1449148"/>
            <a:ext cx="10515600" cy="515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Therefore it is necessary to make some consideration regarding the inflation while making the analysis of investment proposals. </a:t>
            </a:r>
            <a:endParaRPr/>
          </a:p>
          <a:p>
            <a:pPr marL="228600" lvl="0" indent="-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There are two ways to make meaningful economic calculations when the value of the currency is changing [7]  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 (a) Convert the amounts that occur in the different time periods into amounts that make the currencies have the same value before time value calculations are made, or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(b) change the interest rate that is used in the economic equations in such a way that it accounts for the different valued currencies as well as the time value of money.</a:t>
            </a:r>
            <a:endParaRPr/>
          </a:p>
        </p:txBody>
      </p:sp>
      <p:sp>
        <p:nvSpPr>
          <p:cNvPr id="447" name="Google Shape;447;p39"/>
          <p:cNvSpPr txBox="1">
            <a:spLocks noGrp="1"/>
          </p:cNvSpPr>
          <p:nvPr>
            <p:ph type="title"/>
          </p:nvPr>
        </p:nvSpPr>
        <p:spPr>
          <a:xfrm>
            <a:off x="838200" y="123586"/>
            <a:ext cx="909943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of Inflation in engineering economic analysis (Cont’d….)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/>
          <p:cNvSpPr txBox="1">
            <a:spLocks noGrp="1"/>
          </p:cNvSpPr>
          <p:nvPr>
            <p:ph type="title"/>
          </p:nvPr>
        </p:nvSpPr>
        <p:spPr>
          <a:xfrm>
            <a:off x="613913" y="-18696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40"/>
          <p:cNvSpPr txBox="1">
            <a:spLocks noGrp="1"/>
          </p:cNvSpPr>
          <p:nvPr>
            <p:ph type="body" idx="1"/>
          </p:nvPr>
        </p:nvSpPr>
        <p:spPr>
          <a:xfrm>
            <a:off x="475891" y="773201"/>
            <a:ext cx="9987951" cy="5610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[1] </a:t>
            </a: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Basics of Engineering Economy: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Leland Blank and Anthony Tarquin, Indian Edition, Tata McGraw Hill Education Private Limited, New Delhi, India, 2013. 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Contemporary Engineering Economics,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Chan S. Park, Second Edition, Addison-Wesley Publishing Company, 1997.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[3] </a:t>
            </a: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Engineering Economics: R. Paneerselvam,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Eastern Economy Edition, Prentice Hall of India Private Limited, New Delhi, India, 2001.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1"/>
          <p:cNvSpPr txBox="1">
            <a:spLocks noGrp="1"/>
          </p:cNvSpPr>
          <p:nvPr>
            <p:ph type="body" idx="1"/>
          </p:nvPr>
        </p:nvSpPr>
        <p:spPr>
          <a:xfrm>
            <a:off x="510396" y="833587"/>
            <a:ext cx="9987951" cy="5886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[4] </a:t>
            </a:r>
            <a:r>
              <a:rPr lang="en-US" sz="2400" b="1" i="1">
                <a:latin typeface="Times New Roman"/>
                <a:ea typeface="Times New Roman"/>
                <a:cs typeface="Times New Roman"/>
                <a:sym typeface="Times New Roman"/>
              </a:rPr>
              <a:t>Engineering Economics: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James L. Riggs, David D. Bedworth and Sabah U. Randhawa, Fourth Edition, Tata McGraw Hill Education Private Limited, New Delhi, India, 2004. </a:t>
            </a:r>
            <a:endParaRPr sz="2400"/>
          </a:p>
          <a:p>
            <a:pPr marL="0" lvl="0" indent="0" algn="just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[5] </a:t>
            </a:r>
            <a:r>
              <a:rPr lang="en-US" sz="2400" b="1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https://www.businessinsider.com/personal-finance/causes-of-inflation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  (Viewed November 2022) </a:t>
            </a:r>
            <a:endParaRPr sz="2400"/>
          </a:p>
          <a:p>
            <a:pPr marL="0" lvl="0" indent="0" algn="just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[6] </a:t>
            </a:r>
            <a:r>
              <a:rPr lang="en-US" sz="2400" b="1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https://www.tutor2u.net/economics/reference/inflation-causes-of-inflation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 (Viewed November 2022) 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[7] </a:t>
            </a:r>
            <a:r>
              <a:rPr lang="en-US" sz="2400" b="1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http://engineering.utep.edu/enge/EE/14/02/1.htm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 (Viewed November 2022) 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/>
          </a:p>
        </p:txBody>
      </p:sp>
      <p:sp>
        <p:nvSpPr>
          <p:cNvPr id="459" name="Google Shape;459;p41"/>
          <p:cNvSpPr txBox="1">
            <a:spLocks noGrp="1"/>
          </p:cNvSpPr>
          <p:nvPr>
            <p:ph type="title"/>
          </p:nvPr>
        </p:nvSpPr>
        <p:spPr>
          <a:xfrm>
            <a:off x="605287" y="-19559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(Cont’d….) </a:t>
            </a:r>
            <a:endParaRPr sz="3200" b="1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endParaRPr sz="720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lang="en-US" sz="7200"/>
              <a:t>THANK YOU </a:t>
            </a:r>
            <a:endParaRPr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3547</Words>
  <Application>Microsoft Office PowerPoint</Application>
  <PresentationFormat>Widescreen</PresentationFormat>
  <Paragraphs>446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Noto Sans Symbols</vt:lpstr>
      <vt:lpstr>Times New Roman</vt:lpstr>
      <vt:lpstr>Office Theme</vt:lpstr>
      <vt:lpstr>COURSE TITLE ENGINEERING ECONOMIC ANALYSIS</vt:lpstr>
      <vt:lpstr>Learning Objective</vt:lpstr>
      <vt:lpstr>   Concept of inflation </vt:lpstr>
      <vt:lpstr>   Concept of inflation (Cont’d….) </vt:lpstr>
      <vt:lpstr>   Concept of inflation (Cont’d….) </vt:lpstr>
      <vt:lpstr>   Reasons of inflation </vt:lpstr>
      <vt:lpstr>Causes of inflation </vt:lpstr>
      <vt:lpstr>Causes of inflation (Cont’d….)  </vt:lpstr>
      <vt:lpstr>Causes of inflation (Cont’d….)  </vt:lpstr>
      <vt:lpstr>Causes of inflation (Cont’d….)  </vt:lpstr>
      <vt:lpstr>Inflation Terminologies </vt:lpstr>
      <vt:lpstr>Inflation Terminologies (Cont’d…..)  </vt:lpstr>
      <vt:lpstr>Measuring Inflation </vt:lpstr>
      <vt:lpstr>Measuring Inflation (Cont’d….)  </vt:lpstr>
      <vt:lpstr>Measuring Inflation (Cont’d….)  </vt:lpstr>
      <vt:lpstr>Measuring Inflation (Cont’d….)  </vt:lpstr>
      <vt:lpstr>Conversion of constant to actual dollar Example</vt:lpstr>
      <vt:lpstr>Conversion of constant to actual dollar Example (Cont’d….)</vt:lpstr>
      <vt:lpstr>Equivalence Calculation Under Inflation</vt:lpstr>
      <vt:lpstr>Procedure to adjust inflation under equivalence calculation[3]</vt:lpstr>
      <vt:lpstr>Case 1: If cash flow elements are estimated in Constant Dollar (Constant Dollar Analysis) </vt:lpstr>
      <vt:lpstr>Constant Dollar Analysis Numerical</vt:lpstr>
      <vt:lpstr>(Constant Dollar Analysis) Numerical </vt:lpstr>
      <vt:lpstr>Case 2: If cash flow elements are estimated in Actual Dollar (Actual Dollar Analysis) </vt:lpstr>
      <vt:lpstr>Case 2: If cash flow elements are estimated in Actual Dollar (Actual Dollar Analysis) (Cont’d…..) </vt:lpstr>
      <vt:lpstr>Actual Dollar Analysis (Deflation Method) Numerical </vt:lpstr>
      <vt:lpstr>Deflation Method Numerical (Cont’d….) </vt:lpstr>
      <vt:lpstr>Deflation Method Numerical (Cont’d….) </vt:lpstr>
      <vt:lpstr>Deflation Method Numerical (Cont’d….) </vt:lpstr>
      <vt:lpstr>Actual Dollar Analysis</vt:lpstr>
      <vt:lpstr>Adjusted – discount method (Cont’d…)</vt:lpstr>
      <vt:lpstr>Adjusted – discount method (Cont’d…)</vt:lpstr>
      <vt:lpstr>Adjusted Discount Method Numerical</vt:lpstr>
      <vt:lpstr>Adjusted Discount Method Numerical (Cont’d….) </vt:lpstr>
      <vt:lpstr>Adjusted Discount Method Numerical (Cont’d….) </vt:lpstr>
      <vt:lpstr>Case3: Some of the cash flow elements are estimated  in constant dollars and others are estimated in actual dollars. </vt:lpstr>
      <vt:lpstr>Impact of Inflation in engineering economic analysis</vt:lpstr>
      <vt:lpstr>Impact of Inflation in engineering economic analysis (Cont’d….)</vt:lpstr>
      <vt:lpstr>References </vt:lpstr>
      <vt:lpstr>References (Cont’d….)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Subham Shekhar Jha</cp:lastModifiedBy>
  <cp:revision>2</cp:revision>
  <dcterms:created xsi:type="dcterms:W3CDTF">2022-10-16T09:33:28Z</dcterms:created>
  <dcterms:modified xsi:type="dcterms:W3CDTF">2025-07-20T15:01:31Z</dcterms:modified>
</cp:coreProperties>
</file>